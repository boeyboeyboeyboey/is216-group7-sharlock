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2" r:id="rId4"/>
  </p:sldMasterIdLst>
  <p:notesMasterIdLst>
    <p:notesMasterId r:id="rId36"/>
  </p:notesMasterIdLst>
  <p:handoutMasterIdLst>
    <p:handoutMasterId r:id="rId37"/>
  </p:handoutMasterIdLst>
  <p:sldIdLst>
    <p:sldId id="455" r:id="rId5"/>
    <p:sldId id="414" r:id="rId6"/>
    <p:sldId id="330" r:id="rId7"/>
    <p:sldId id="460" r:id="rId8"/>
    <p:sldId id="388" r:id="rId9"/>
    <p:sldId id="390" r:id="rId10"/>
    <p:sldId id="502" r:id="rId11"/>
    <p:sldId id="450" r:id="rId12"/>
    <p:sldId id="472" r:id="rId13"/>
    <p:sldId id="430" r:id="rId14"/>
    <p:sldId id="463" r:id="rId15"/>
    <p:sldId id="431" r:id="rId16"/>
    <p:sldId id="433" r:id="rId17"/>
    <p:sldId id="451" r:id="rId18"/>
    <p:sldId id="434" r:id="rId19"/>
    <p:sldId id="436" r:id="rId20"/>
    <p:sldId id="438" r:id="rId21"/>
    <p:sldId id="498" r:id="rId22"/>
    <p:sldId id="459" r:id="rId23"/>
    <p:sldId id="503" r:id="rId24"/>
    <p:sldId id="437" r:id="rId25"/>
    <p:sldId id="501" r:id="rId26"/>
    <p:sldId id="458" r:id="rId27"/>
    <p:sldId id="440" r:id="rId28"/>
    <p:sldId id="454" r:id="rId29"/>
    <p:sldId id="466" r:id="rId30"/>
    <p:sldId id="467" r:id="rId31"/>
    <p:sldId id="525" r:id="rId32"/>
    <p:sldId id="469" r:id="rId33"/>
    <p:sldId id="470" r:id="rId34"/>
    <p:sldId id="471"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E285"/>
    <a:srgbClr val="FFFFFF"/>
    <a:srgbClr val="F1185C"/>
    <a:srgbClr val="F7F7F7"/>
    <a:srgbClr val="FBFBFB"/>
    <a:srgbClr val="1A47B6"/>
    <a:srgbClr val="102B72"/>
    <a:srgbClr val="DBA70B"/>
    <a:srgbClr val="F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29DFF-BB69-464B-B9BE-08E304DA9ED4}" v="5" dt="2025-10-07T10:00:05.45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91" autoAdjust="0"/>
    <p:restoredTop sz="61090" autoAdjust="0"/>
  </p:normalViewPr>
  <p:slideViewPr>
    <p:cSldViewPr snapToGrid="0" snapToObjects="1">
      <p:cViewPr varScale="1">
        <p:scale>
          <a:sx n="81" d="100"/>
          <a:sy n="81" d="100"/>
        </p:scale>
        <p:origin x="2160" y="192"/>
      </p:cViewPr>
      <p:guideLst>
        <p:guide orient="horz" pos="2160"/>
        <p:guide pos="3840"/>
      </p:guideLst>
    </p:cSldViewPr>
  </p:slideViewPr>
  <p:notesTextViewPr>
    <p:cViewPr>
      <p:scale>
        <a:sx n="1" d="1"/>
        <a:sy n="1" d="1"/>
      </p:scale>
      <p:origin x="0" y="-960"/>
    </p:cViewPr>
  </p:notesTextViewPr>
  <p:sorterViewPr>
    <p:cViewPr>
      <p:scale>
        <a:sx n="66" d="100"/>
        <a:sy n="66" d="100"/>
      </p:scale>
      <p:origin x="0" y="0"/>
    </p:cViewPr>
  </p:sorterViewPr>
  <p:notesViewPr>
    <p:cSldViewPr snapToGrid="0" snapToObjects="1" showGuides="1">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Guomin" userId="dccf0981-1625-43db-a7d9-40d73e3f3472" providerId="ADAL" clId="{C399935D-C2A0-45C7-96D6-5A6AEAC92798}"/>
    <pc:docChg chg="custSel modSld modMainMaster">
      <pc:chgData name="YANG Guomin" userId="dccf0981-1625-43db-a7d9-40d73e3f3472" providerId="ADAL" clId="{C399935D-C2A0-45C7-96D6-5A6AEAC92798}" dt="2023-03-06T14:47:20.396" v="11" actId="20577"/>
      <pc:docMkLst>
        <pc:docMk/>
      </pc:docMkLst>
      <pc:sldChg chg="modSp">
        <pc:chgData name="YANG Guomin" userId="dccf0981-1625-43db-a7d9-40d73e3f3472" providerId="ADAL" clId="{C399935D-C2A0-45C7-96D6-5A6AEAC92798}" dt="2023-03-01T08:45:24.732" v="0" actId="14100"/>
        <pc:sldMkLst>
          <pc:docMk/>
          <pc:sldMk cId="2252634631" sldId="436"/>
        </pc:sldMkLst>
      </pc:sldChg>
      <pc:sldChg chg="modAnim">
        <pc:chgData name="YANG Guomin" userId="dccf0981-1625-43db-a7d9-40d73e3f3472" providerId="ADAL" clId="{C399935D-C2A0-45C7-96D6-5A6AEAC92798}" dt="2023-03-06T14:40:14.402" v="6"/>
        <pc:sldMkLst>
          <pc:docMk/>
          <pc:sldMk cId="444031465" sldId="439"/>
        </pc:sldMkLst>
      </pc:sldChg>
      <pc:sldChg chg="modAnim">
        <pc:chgData name="YANG Guomin" userId="dccf0981-1625-43db-a7d9-40d73e3f3472" providerId="ADAL" clId="{C399935D-C2A0-45C7-96D6-5A6AEAC92798}" dt="2023-03-06T14:45:42.906" v="8"/>
        <pc:sldMkLst>
          <pc:docMk/>
          <pc:sldMk cId="3305619444" sldId="467"/>
        </pc:sldMkLst>
      </pc:sldChg>
      <pc:sldChg chg="modSp mod">
        <pc:chgData name="YANG Guomin" userId="dccf0981-1625-43db-a7d9-40d73e3f3472" providerId="ADAL" clId="{C399935D-C2A0-45C7-96D6-5A6AEAC92798}" dt="2023-03-06T14:47:20.396" v="11" actId="20577"/>
        <pc:sldMkLst>
          <pc:docMk/>
          <pc:sldMk cId="3121957545" sldId="470"/>
        </pc:sldMkLst>
      </pc:sldChg>
      <pc:sldMasterChg chg="delSp mod">
        <pc:chgData name="YANG Guomin" userId="dccf0981-1625-43db-a7d9-40d73e3f3472" providerId="ADAL" clId="{C399935D-C2A0-45C7-96D6-5A6AEAC92798}" dt="2023-03-01T09:02:13.570" v="1" actId="478"/>
        <pc:sldMasterMkLst>
          <pc:docMk/>
          <pc:sldMasterMk cId="3286693295" sldId="2147483792"/>
        </pc:sldMasterMkLst>
      </pc:sldMasterChg>
    </pc:docChg>
  </pc:docChgLst>
  <pc:docChgLst>
    <pc:chgData name="YANG Guomin" userId="dccf0981-1625-43db-a7d9-40d73e3f3472" providerId="ADAL" clId="{921FA38C-C211-47F1-BCF0-16A958A38EF3}"/>
    <pc:docChg chg="addSld delSld modSld">
      <pc:chgData name="YANG Guomin" userId="dccf0981-1625-43db-a7d9-40d73e3f3472" providerId="ADAL" clId="{921FA38C-C211-47F1-BCF0-16A958A38EF3}" dt="2024-10-10T05:39:20.286" v="8" actId="1076"/>
      <pc:docMkLst>
        <pc:docMk/>
      </pc:docMkLst>
      <pc:sldChg chg="modSp">
        <pc:chgData name="YANG Guomin" userId="dccf0981-1625-43db-a7d9-40d73e3f3472" providerId="ADAL" clId="{921FA38C-C211-47F1-BCF0-16A958A38EF3}" dt="2024-10-10T05:39:20.286" v="8" actId="1076"/>
        <pc:sldMkLst>
          <pc:docMk/>
          <pc:sldMk cId="0" sldId="390"/>
        </pc:sldMkLst>
      </pc:sldChg>
      <pc:sldChg chg="modSp mod">
        <pc:chgData name="YANG Guomin" userId="dccf0981-1625-43db-a7d9-40d73e3f3472" providerId="ADAL" clId="{921FA38C-C211-47F1-BCF0-16A958A38EF3}" dt="2024-10-10T05:33:19.394" v="6" actId="20577"/>
        <pc:sldMkLst>
          <pc:docMk/>
          <pc:sldMk cId="32326505" sldId="414"/>
        </pc:sldMkLst>
      </pc:sldChg>
      <pc:sldChg chg="add">
        <pc:chgData name="YANG Guomin" userId="dccf0981-1625-43db-a7d9-40d73e3f3472" providerId="ADAL" clId="{921FA38C-C211-47F1-BCF0-16A958A38EF3}" dt="2024-10-10T05:23:30.618" v="1"/>
        <pc:sldMkLst>
          <pc:docMk/>
          <pc:sldMk cId="2286654893" sldId="437"/>
        </pc:sldMkLst>
      </pc:sldChg>
      <pc:sldChg chg="modSp mod">
        <pc:chgData name="YANG Guomin" userId="dccf0981-1625-43db-a7d9-40d73e3f3472" providerId="ADAL" clId="{921FA38C-C211-47F1-BCF0-16A958A38EF3}" dt="2024-10-10T05:39:04.458" v="7" actId="403"/>
        <pc:sldMkLst>
          <pc:docMk/>
          <pc:sldMk cId="1466121936" sldId="460"/>
        </pc:sldMkLst>
      </pc:sldChg>
      <pc:sldChg chg="add">
        <pc:chgData name="YANG Guomin" userId="dccf0981-1625-43db-a7d9-40d73e3f3472" providerId="ADAL" clId="{921FA38C-C211-47F1-BCF0-16A958A38EF3}" dt="2024-10-10T05:32:32.254" v="3"/>
        <pc:sldMkLst>
          <pc:docMk/>
          <pc:sldMk cId="3126287328" sldId="480"/>
        </pc:sldMkLst>
      </pc:sldChg>
      <pc:sldChg chg="add">
        <pc:chgData name="YANG Guomin" userId="dccf0981-1625-43db-a7d9-40d73e3f3472" providerId="ADAL" clId="{921FA38C-C211-47F1-BCF0-16A958A38EF3}" dt="2024-10-10T05:29:48.581" v="2"/>
        <pc:sldMkLst>
          <pc:docMk/>
          <pc:sldMk cId="1657416581" sldId="491"/>
        </pc:sldMkLst>
      </pc:sldChg>
      <pc:sldChg chg="add">
        <pc:chgData name="YANG Guomin" userId="dccf0981-1625-43db-a7d9-40d73e3f3472" providerId="ADAL" clId="{921FA38C-C211-47F1-BCF0-16A958A38EF3}" dt="2024-10-10T05:29:48.581" v="2"/>
        <pc:sldMkLst>
          <pc:docMk/>
          <pc:sldMk cId="3706984216" sldId="492"/>
        </pc:sldMkLst>
      </pc:sldChg>
      <pc:sldChg chg="add">
        <pc:chgData name="YANG Guomin" userId="dccf0981-1625-43db-a7d9-40d73e3f3472" providerId="ADAL" clId="{921FA38C-C211-47F1-BCF0-16A958A38EF3}" dt="2024-10-10T05:29:48.581" v="2"/>
        <pc:sldMkLst>
          <pc:docMk/>
          <pc:sldMk cId="3900897722" sldId="493"/>
        </pc:sldMkLst>
      </pc:sldChg>
      <pc:sldChg chg="add">
        <pc:chgData name="YANG Guomin" userId="dccf0981-1625-43db-a7d9-40d73e3f3472" providerId="ADAL" clId="{921FA38C-C211-47F1-BCF0-16A958A38EF3}" dt="2024-10-10T05:29:48.581" v="2"/>
        <pc:sldMkLst>
          <pc:docMk/>
          <pc:sldMk cId="2816425638" sldId="494"/>
        </pc:sldMkLst>
      </pc:sldChg>
      <pc:sldChg chg="add">
        <pc:chgData name="YANG Guomin" userId="dccf0981-1625-43db-a7d9-40d73e3f3472" providerId="ADAL" clId="{921FA38C-C211-47F1-BCF0-16A958A38EF3}" dt="2024-10-10T05:29:48.581" v="2"/>
        <pc:sldMkLst>
          <pc:docMk/>
          <pc:sldMk cId="7230050" sldId="496"/>
        </pc:sldMkLst>
      </pc:sldChg>
      <pc:sldChg chg="del">
        <pc:chgData name="YANG Guomin" userId="dccf0981-1625-43db-a7d9-40d73e3f3472" providerId="ADAL" clId="{921FA38C-C211-47F1-BCF0-16A958A38EF3}" dt="2024-10-10T05:23:28.250" v="0" actId="47"/>
        <pc:sldMkLst>
          <pc:docMk/>
          <pc:sldMk cId="2286654893" sldId="500"/>
        </pc:sldMkLst>
      </pc:sldChg>
    </pc:docChg>
  </pc:docChgLst>
  <pc:docChgLst>
    <pc:chgData name="YANG Guomin" userId="dccf0981-1625-43db-a7d9-40d73e3f3472" providerId="ADAL" clId="{6DE29DFF-BB69-464B-B9BE-08E304DA9ED4}"/>
    <pc:docChg chg="custSel addSld delSld modSld">
      <pc:chgData name="YANG Guomin" userId="dccf0981-1625-43db-a7d9-40d73e3f3472" providerId="ADAL" clId="{6DE29DFF-BB69-464B-B9BE-08E304DA9ED4}" dt="2025-10-08T01:52:04.982" v="64" actId="20577"/>
      <pc:docMkLst>
        <pc:docMk/>
      </pc:docMkLst>
      <pc:sldChg chg="addSp delSp modSp mod modClrScheme chgLayout">
        <pc:chgData name="YANG Guomin" userId="dccf0981-1625-43db-a7d9-40d73e3f3472" providerId="ADAL" clId="{6DE29DFF-BB69-464B-B9BE-08E304DA9ED4}" dt="2025-10-08T01:49:37.692" v="51" actId="478"/>
        <pc:sldMkLst>
          <pc:docMk/>
          <pc:sldMk cId="1933674279" sldId="330"/>
        </pc:sldMkLst>
        <pc:spChg chg="add del mod ord">
          <ac:chgData name="YANG Guomin" userId="dccf0981-1625-43db-a7d9-40d73e3f3472" providerId="ADAL" clId="{6DE29DFF-BB69-464B-B9BE-08E304DA9ED4}" dt="2025-10-08T01:49:37.692" v="51" actId="478"/>
          <ac:spMkLst>
            <pc:docMk/>
            <pc:sldMk cId="1933674279" sldId="330"/>
            <ac:spMk id="2" creationId="{C45362DA-C652-47C0-6F5D-8C50DB1B9AF7}"/>
          </ac:spMkLst>
        </pc:spChg>
        <pc:spChg chg="mod ord">
          <ac:chgData name="YANG Guomin" userId="dccf0981-1625-43db-a7d9-40d73e3f3472" providerId="ADAL" clId="{6DE29DFF-BB69-464B-B9BE-08E304DA9ED4}" dt="2025-10-08T01:49:33.989" v="50" actId="700"/>
          <ac:spMkLst>
            <pc:docMk/>
            <pc:sldMk cId="1933674279" sldId="330"/>
            <ac:spMk id="3" creationId="{00000000-0000-0000-0000-000000000000}"/>
          </ac:spMkLst>
        </pc:spChg>
        <pc:spChg chg="add mod ord">
          <ac:chgData name="YANG Guomin" userId="dccf0981-1625-43db-a7d9-40d73e3f3472" providerId="ADAL" clId="{6DE29DFF-BB69-464B-B9BE-08E304DA9ED4}" dt="2025-10-08T01:49:33.989" v="50" actId="700"/>
          <ac:spMkLst>
            <pc:docMk/>
            <pc:sldMk cId="1933674279" sldId="330"/>
            <ac:spMk id="4" creationId="{CCCA99FD-74C0-2D00-D025-233C17490E49}"/>
          </ac:spMkLst>
        </pc:spChg>
      </pc:sldChg>
      <pc:sldChg chg="addSp delSp modSp mod modClrScheme chgLayout">
        <pc:chgData name="YANG Guomin" userId="dccf0981-1625-43db-a7d9-40d73e3f3472" providerId="ADAL" clId="{6DE29DFF-BB69-464B-B9BE-08E304DA9ED4}" dt="2025-10-08T01:49:45.075" v="53" actId="478"/>
        <pc:sldMkLst>
          <pc:docMk/>
          <pc:sldMk cId="0" sldId="388"/>
        </pc:sldMkLst>
        <pc:spChg chg="add del mod ord">
          <ac:chgData name="YANG Guomin" userId="dccf0981-1625-43db-a7d9-40d73e3f3472" providerId="ADAL" clId="{6DE29DFF-BB69-464B-B9BE-08E304DA9ED4}" dt="2025-10-08T01:49:45.075" v="53" actId="478"/>
          <ac:spMkLst>
            <pc:docMk/>
            <pc:sldMk cId="0" sldId="388"/>
            <ac:spMk id="2" creationId="{59A0AEC0-421A-567D-56D9-5C6E73040638}"/>
          </ac:spMkLst>
        </pc:spChg>
        <pc:spChg chg="add mod ord">
          <ac:chgData name="YANG Guomin" userId="dccf0981-1625-43db-a7d9-40d73e3f3472" providerId="ADAL" clId="{6DE29DFF-BB69-464B-B9BE-08E304DA9ED4}" dt="2025-10-08T01:49:42.514" v="52" actId="700"/>
          <ac:spMkLst>
            <pc:docMk/>
            <pc:sldMk cId="0" sldId="388"/>
            <ac:spMk id="3" creationId="{A7C38F2A-2384-D833-48F9-D9948ABF65E6}"/>
          </ac:spMkLst>
        </pc:spChg>
        <pc:spChg chg="mod ord">
          <ac:chgData name="YANG Guomin" userId="dccf0981-1625-43db-a7d9-40d73e3f3472" providerId="ADAL" clId="{6DE29DFF-BB69-464B-B9BE-08E304DA9ED4}" dt="2025-10-08T01:49:42.514" v="52" actId="700"/>
          <ac:spMkLst>
            <pc:docMk/>
            <pc:sldMk cId="0" sldId="388"/>
            <ac:spMk id="28673" creationId="{45525602-CD06-DF77-4246-82175D3E7C62}"/>
          </ac:spMkLst>
        </pc:spChg>
      </pc:sldChg>
      <pc:sldChg chg="addSp delSp modSp mod modClrScheme chgLayout">
        <pc:chgData name="YANG Guomin" userId="dccf0981-1625-43db-a7d9-40d73e3f3472" providerId="ADAL" clId="{6DE29DFF-BB69-464B-B9BE-08E304DA9ED4}" dt="2025-10-08T01:49:53.057" v="55" actId="478"/>
        <pc:sldMkLst>
          <pc:docMk/>
          <pc:sldMk cId="0" sldId="390"/>
        </pc:sldMkLst>
        <pc:spChg chg="add del mod ord">
          <ac:chgData name="YANG Guomin" userId="dccf0981-1625-43db-a7d9-40d73e3f3472" providerId="ADAL" clId="{6DE29DFF-BB69-464B-B9BE-08E304DA9ED4}" dt="2025-10-08T01:49:53.057" v="55" actId="478"/>
          <ac:spMkLst>
            <pc:docMk/>
            <pc:sldMk cId="0" sldId="390"/>
            <ac:spMk id="2" creationId="{6F729075-B56A-1574-864A-13C4F183E33A}"/>
          </ac:spMkLst>
        </pc:spChg>
        <pc:spChg chg="add mod ord">
          <ac:chgData name="YANG Guomin" userId="dccf0981-1625-43db-a7d9-40d73e3f3472" providerId="ADAL" clId="{6DE29DFF-BB69-464B-B9BE-08E304DA9ED4}" dt="2025-10-08T01:49:50.722" v="54" actId="700"/>
          <ac:spMkLst>
            <pc:docMk/>
            <pc:sldMk cId="0" sldId="390"/>
            <ac:spMk id="3" creationId="{56AD7156-395A-1F5C-1FD7-4BF4714CB944}"/>
          </ac:spMkLst>
        </pc:spChg>
        <pc:spChg chg="mod ord">
          <ac:chgData name="YANG Guomin" userId="dccf0981-1625-43db-a7d9-40d73e3f3472" providerId="ADAL" clId="{6DE29DFF-BB69-464B-B9BE-08E304DA9ED4}" dt="2025-10-08T01:49:50.722" v="54" actId="700"/>
          <ac:spMkLst>
            <pc:docMk/>
            <pc:sldMk cId="0" sldId="390"/>
            <ac:spMk id="30721" creationId="{742F9D03-0FF9-8EC2-FE10-6A3631394FF4}"/>
          </ac:spMkLst>
        </pc:spChg>
      </pc:sldChg>
      <pc:sldChg chg="modSp mod">
        <pc:chgData name="YANG Guomin" userId="dccf0981-1625-43db-a7d9-40d73e3f3472" providerId="ADAL" clId="{6DE29DFF-BB69-464B-B9BE-08E304DA9ED4}" dt="2025-10-07T09:59:17.947" v="45" actId="20577"/>
        <pc:sldMkLst>
          <pc:docMk/>
          <pc:sldMk cId="32326505" sldId="414"/>
        </pc:sldMkLst>
        <pc:spChg chg="mod">
          <ac:chgData name="YANG Guomin" userId="dccf0981-1625-43db-a7d9-40d73e3f3472" providerId="ADAL" clId="{6DE29DFF-BB69-464B-B9BE-08E304DA9ED4}" dt="2025-10-07T09:59:17.947" v="45" actId="20577"/>
          <ac:spMkLst>
            <pc:docMk/>
            <pc:sldMk cId="32326505" sldId="414"/>
            <ac:spMk id="3" creationId="{00000000-0000-0000-0000-000000000000}"/>
          </ac:spMkLst>
        </pc:spChg>
      </pc:sldChg>
      <pc:sldChg chg="add del">
        <pc:chgData name="YANG Guomin" userId="dccf0981-1625-43db-a7d9-40d73e3f3472" providerId="ADAL" clId="{6DE29DFF-BB69-464B-B9BE-08E304DA9ED4}" dt="2025-10-07T09:50:05.729" v="8"/>
        <pc:sldMkLst>
          <pc:docMk/>
          <pc:sldMk cId="2286654893" sldId="437"/>
        </pc:sldMkLst>
      </pc:sldChg>
      <pc:sldChg chg="add">
        <pc:chgData name="YANG Guomin" userId="dccf0981-1625-43db-a7d9-40d73e3f3472" providerId="ADAL" clId="{6DE29DFF-BB69-464B-B9BE-08E304DA9ED4}" dt="2025-10-07T09:56:55.661" v="11"/>
        <pc:sldMkLst>
          <pc:docMk/>
          <pc:sldMk cId="3646747150" sldId="466"/>
        </pc:sldMkLst>
      </pc:sldChg>
      <pc:sldChg chg="add">
        <pc:chgData name="YANG Guomin" userId="dccf0981-1625-43db-a7d9-40d73e3f3472" providerId="ADAL" clId="{6DE29DFF-BB69-464B-B9BE-08E304DA9ED4}" dt="2025-10-07T09:56:55.661" v="11"/>
        <pc:sldMkLst>
          <pc:docMk/>
          <pc:sldMk cId="3305619444" sldId="467"/>
        </pc:sldMkLst>
      </pc:sldChg>
      <pc:sldChg chg="modSp add mod">
        <pc:chgData name="YANG Guomin" userId="dccf0981-1625-43db-a7d9-40d73e3f3472" providerId="ADAL" clId="{6DE29DFF-BB69-464B-B9BE-08E304DA9ED4}" dt="2025-10-07T10:02:19.839" v="49" actId="207"/>
        <pc:sldMkLst>
          <pc:docMk/>
          <pc:sldMk cId="2017209221" sldId="469"/>
        </pc:sldMkLst>
        <pc:spChg chg="mod">
          <ac:chgData name="YANG Guomin" userId="dccf0981-1625-43db-a7d9-40d73e3f3472" providerId="ADAL" clId="{6DE29DFF-BB69-464B-B9BE-08E304DA9ED4}" dt="2025-10-07T10:02:19.839" v="49" actId="207"/>
          <ac:spMkLst>
            <pc:docMk/>
            <pc:sldMk cId="2017209221" sldId="469"/>
            <ac:spMk id="241667" creationId="{00000000-0000-0000-0000-000000000000}"/>
          </ac:spMkLst>
        </pc:spChg>
      </pc:sldChg>
      <pc:sldChg chg="add">
        <pc:chgData name="YANG Guomin" userId="dccf0981-1625-43db-a7d9-40d73e3f3472" providerId="ADAL" clId="{6DE29DFF-BB69-464B-B9BE-08E304DA9ED4}" dt="2025-10-07T09:56:55.661" v="11"/>
        <pc:sldMkLst>
          <pc:docMk/>
          <pc:sldMk cId="3121957545" sldId="470"/>
        </pc:sldMkLst>
      </pc:sldChg>
      <pc:sldChg chg="modSp add mod">
        <pc:chgData name="YANG Guomin" userId="dccf0981-1625-43db-a7d9-40d73e3f3472" providerId="ADAL" clId="{6DE29DFF-BB69-464B-B9BE-08E304DA9ED4}" dt="2025-10-08T01:52:04.982" v="64" actId="20577"/>
        <pc:sldMkLst>
          <pc:docMk/>
          <pc:sldMk cId="522809477" sldId="471"/>
        </pc:sldMkLst>
        <pc:spChg chg="mod">
          <ac:chgData name="YANG Guomin" userId="dccf0981-1625-43db-a7d9-40d73e3f3472" providerId="ADAL" clId="{6DE29DFF-BB69-464B-B9BE-08E304DA9ED4}" dt="2025-10-08T01:52:04.982" v="64" actId="20577"/>
          <ac:spMkLst>
            <pc:docMk/>
            <pc:sldMk cId="522809477" sldId="471"/>
            <ac:spMk id="3" creationId="{B98B372D-A8D1-A64B-8F7A-0A5EBFFF3F2A}"/>
          </ac:spMkLst>
        </pc:spChg>
      </pc:sldChg>
      <pc:sldChg chg="del">
        <pc:chgData name="YANG Guomin" userId="dccf0981-1625-43db-a7d9-40d73e3f3472" providerId="ADAL" clId="{6DE29DFF-BB69-464B-B9BE-08E304DA9ED4}" dt="2025-10-07T09:32:31.492" v="5" actId="47"/>
        <pc:sldMkLst>
          <pc:docMk/>
          <pc:sldMk cId="3126287328" sldId="480"/>
        </pc:sldMkLst>
      </pc:sldChg>
      <pc:sldChg chg="del">
        <pc:chgData name="YANG Guomin" userId="dccf0981-1625-43db-a7d9-40d73e3f3472" providerId="ADAL" clId="{6DE29DFF-BB69-464B-B9BE-08E304DA9ED4}" dt="2025-10-07T09:32:13.259" v="0" actId="47"/>
        <pc:sldMkLst>
          <pc:docMk/>
          <pc:sldMk cId="1657416581" sldId="491"/>
        </pc:sldMkLst>
      </pc:sldChg>
      <pc:sldChg chg="del">
        <pc:chgData name="YANG Guomin" userId="dccf0981-1625-43db-a7d9-40d73e3f3472" providerId="ADAL" clId="{6DE29DFF-BB69-464B-B9BE-08E304DA9ED4}" dt="2025-10-07T09:32:17.216" v="1" actId="47"/>
        <pc:sldMkLst>
          <pc:docMk/>
          <pc:sldMk cId="3706984216" sldId="492"/>
        </pc:sldMkLst>
      </pc:sldChg>
      <pc:sldChg chg="del">
        <pc:chgData name="YANG Guomin" userId="dccf0981-1625-43db-a7d9-40d73e3f3472" providerId="ADAL" clId="{6DE29DFF-BB69-464B-B9BE-08E304DA9ED4}" dt="2025-10-07T09:32:19.147" v="3" actId="47"/>
        <pc:sldMkLst>
          <pc:docMk/>
          <pc:sldMk cId="3900897722" sldId="493"/>
        </pc:sldMkLst>
      </pc:sldChg>
      <pc:sldChg chg="del">
        <pc:chgData name="YANG Guomin" userId="dccf0981-1625-43db-a7d9-40d73e3f3472" providerId="ADAL" clId="{6DE29DFF-BB69-464B-B9BE-08E304DA9ED4}" dt="2025-10-07T09:32:21.845" v="4" actId="47"/>
        <pc:sldMkLst>
          <pc:docMk/>
          <pc:sldMk cId="2816425638" sldId="494"/>
        </pc:sldMkLst>
      </pc:sldChg>
      <pc:sldChg chg="del">
        <pc:chgData name="YANG Guomin" userId="dccf0981-1625-43db-a7d9-40d73e3f3472" providerId="ADAL" clId="{6DE29DFF-BB69-464B-B9BE-08E304DA9ED4}" dt="2025-10-07T09:32:18.027" v="2" actId="47"/>
        <pc:sldMkLst>
          <pc:docMk/>
          <pc:sldMk cId="7230050" sldId="496"/>
        </pc:sldMkLst>
      </pc:sldChg>
      <pc:sldChg chg="del">
        <pc:chgData name="YANG Guomin" userId="dccf0981-1625-43db-a7d9-40d73e3f3472" providerId="ADAL" clId="{6DE29DFF-BB69-464B-B9BE-08E304DA9ED4}" dt="2025-10-07T09:51:33.292" v="9" actId="47"/>
        <pc:sldMkLst>
          <pc:docMk/>
          <pc:sldMk cId="1591640499" sldId="499"/>
        </pc:sldMkLst>
      </pc:sldChg>
      <pc:sldChg chg="modSp add mod">
        <pc:chgData name="YANG Guomin" userId="dccf0981-1625-43db-a7d9-40d73e3f3472" providerId="ADAL" clId="{6DE29DFF-BB69-464B-B9BE-08E304DA9ED4}" dt="2025-10-07T09:52:19.258" v="10" actId="1076"/>
        <pc:sldMkLst>
          <pc:docMk/>
          <pc:sldMk cId="3664583100" sldId="503"/>
        </pc:sldMkLst>
        <pc:spChg chg="mod">
          <ac:chgData name="YANG Guomin" userId="dccf0981-1625-43db-a7d9-40d73e3f3472" providerId="ADAL" clId="{6DE29DFF-BB69-464B-B9BE-08E304DA9ED4}" dt="2025-10-07T09:52:19.258" v="10" actId="1076"/>
          <ac:spMkLst>
            <pc:docMk/>
            <pc:sldMk cId="3664583100" sldId="503"/>
            <ac:spMk id="8" creationId="{7A205D5A-A504-3112-E4CC-0E524F916E52}"/>
          </ac:spMkLst>
        </pc:spChg>
      </pc:sldChg>
      <pc:sldChg chg="add">
        <pc:chgData name="YANG Guomin" userId="dccf0981-1625-43db-a7d9-40d73e3f3472" providerId="ADAL" clId="{6DE29DFF-BB69-464B-B9BE-08E304DA9ED4}" dt="2025-10-07T09:56:55.661" v="11"/>
        <pc:sldMkLst>
          <pc:docMk/>
          <pc:sldMk cId="2656603268" sldId="525"/>
        </pc:sldMkLst>
      </pc:sldChg>
    </pc:docChg>
  </pc:docChgLst>
  <pc:docChgLst>
    <pc:chgData name="YANG Guomin" userId="dccf0981-1625-43db-a7d9-40d73e3f3472" providerId="ADAL" clId="{7A004C49-1A06-4032-9F99-ABD073619801}"/>
    <pc:docChg chg="delSld">
      <pc:chgData name="YANG Guomin" userId="dccf0981-1625-43db-a7d9-40d73e3f3472" providerId="ADAL" clId="{7A004C49-1A06-4032-9F99-ABD073619801}" dt="2024-09-13T02:45:23.602" v="0" actId="2696"/>
      <pc:docMkLst>
        <pc:docMk/>
      </pc:docMkLst>
      <pc:sldChg chg="del">
        <pc:chgData name="YANG Guomin" userId="dccf0981-1625-43db-a7d9-40d73e3f3472" providerId="ADAL" clId="{7A004C49-1A06-4032-9F99-ABD073619801}" dt="2024-09-13T02:45:23.602" v="0" actId="2696"/>
        <pc:sldMkLst>
          <pc:docMk/>
          <pc:sldMk cId="3646747150" sldId="466"/>
        </pc:sldMkLst>
      </pc:sldChg>
      <pc:sldChg chg="del">
        <pc:chgData name="YANG Guomin" userId="dccf0981-1625-43db-a7d9-40d73e3f3472" providerId="ADAL" clId="{7A004C49-1A06-4032-9F99-ABD073619801}" dt="2024-09-13T02:45:23.602" v="0" actId="2696"/>
        <pc:sldMkLst>
          <pc:docMk/>
          <pc:sldMk cId="3305619444" sldId="467"/>
        </pc:sldMkLst>
      </pc:sldChg>
      <pc:sldChg chg="del">
        <pc:chgData name="YANG Guomin" userId="dccf0981-1625-43db-a7d9-40d73e3f3472" providerId="ADAL" clId="{7A004C49-1A06-4032-9F99-ABD073619801}" dt="2024-09-13T02:45:23.602" v="0" actId="2696"/>
        <pc:sldMkLst>
          <pc:docMk/>
          <pc:sldMk cId="2656603268" sldId="468"/>
        </pc:sldMkLst>
      </pc:sldChg>
      <pc:sldChg chg="del">
        <pc:chgData name="YANG Guomin" userId="dccf0981-1625-43db-a7d9-40d73e3f3472" providerId="ADAL" clId="{7A004C49-1A06-4032-9F99-ABD073619801}" dt="2024-09-13T02:45:23.602" v="0" actId="2696"/>
        <pc:sldMkLst>
          <pc:docMk/>
          <pc:sldMk cId="2017209221" sldId="469"/>
        </pc:sldMkLst>
      </pc:sldChg>
      <pc:sldChg chg="del">
        <pc:chgData name="YANG Guomin" userId="dccf0981-1625-43db-a7d9-40d73e3f3472" providerId="ADAL" clId="{7A004C49-1A06-4032-9F99-ABD073619801}" dt="2024-09-13T02:45:23.602" v="0" actId="2696"/>
        <pc:sldMkLst>
          <pc:docMk/>
          <pc:sldMk cId="3121957545" sldId="470"/>
        </pc:sldMkLst>
      </pc:sldChg>
      <pc:sldChg chg="del">
        <pc:chgData name="YANG Guomin" userId="dccf0981-1625-43db-a7d9-40d73e3f3472" providerId="ADAL" clId="{7A004C49-1A06-4032-9F99-ABD073619801}" dt="2024-09-13T02:45:23.602" v="0" actId="2696"/>
        <pc:sldMkLst>
          <pc:docMk/>
          <pc:sldMk cId="522809477" sldId="471"/>
        </pc:sldMkLst>
      </pc:sldChg>
    </pc:docChg>
  </pc:docChgLst>
  <pc:docChgLst>
    <pc:chgData name="YANG Guomin" userId="dccf0981-1625-43db-a7d9-40d73e3f3472" providerId="ADAL" clId="{CE435513-998D-437B-B12E-3985C9515B28}"/>
    <pc:docChg chg="modSld">
      <pc:chgData name="YANG Guomin" userId="dccf0981-1625-43db-a7d9-40d73e3f3472" providerId="ADAL" clId="{CE435513-998D-437B-B12E-3985C9515B28}" dt="2024-10-16T01:38:55.481" v="0"/>
      <pc:docMkLst>
        <pc:docMk/>
      </pc:docMkLst>
      <pc:sldChg chg="modAnim">
        <pc:chgData name="YANG Guomin" userId="dccf0981-1625-43db-a7d9-40d73e3f3472" providerId="ADAL" clId="{CE435513-998D-437B-B12E-3985C9515B28}" dt="2024-10-16T01:38:55.481" v="0"/>
        <pc:sldMkLst>
          <pc:docMk/>
          <pc:sldMk cId="2286654893" sldId="437"/>
        </pc:sldMkLst>
      </pc:sldChg>
    </pc:docChg>
  </pc:docChgLst>
  <pc:docChgLst>
    <pc:chgData name="YANG Guomin" userId="dccf0981-1625-43db-a7d9-40d73e3f3472" providerId="ADAL" clId="{22A83A93-6DCD-4798-A377-BE9FDFB55325}"/>
    <pc:docChg chg="undo redo custSel addSld delSld modSld sldOrd modMainMaster">
      <pc:chgData name="YANG Guomin" userId="dccf0981-1625-43db-a7d9-40d73e3f3472" providerId="ADAL" clId="{22A83A93-6DCD-4798-A377-BE9FDFB55325}" dt="2023-10-09T02:30:49.014" v="202"/>
      <pc:docMkLst>
        <pc:docMk/>
      </pc:docMkLst>
      <pc:sldChg chg="delSp modSp mod chgLayout">
        <pc:chgData name="YANG Guomin" userId="dccf0981-1625-43db-a7d9-40d73e3f3472" providerId="ADAL" clId="{22A83A93-6DCD-4798-A377-BE9FDFB55325}" dt="2023-10-05T06:48:37.806" v="178" actId="1076"/>
        <pc:sldMkLst>
          <pc:docMk/>
          <pc:sldMk cId="1933674279" sldId="330"/>
        </pc:sldMkLst>
      </pc:sldChg>
      <pc:sldChg chg="delSp modSp add mod">
        <pc:chgData name="YANG Guomin" userId="dccf0981-1625-43db-a7d9-40d73e3f3472" providerId="ADAL" clId="{22A83A93-6DCD-4798-A377-BE9FDFB55325}" dt="2023-10-05T06:32:48.956" v="97" actId="20577"/>
        <pc:sldMkLst>
          <pc:docMk/>
          <pc:sldMk cId="0" sldId="388"/>
        </pc:sldMkLst>
      </pc:sldChg>
      <pc:sldChg chg="modSp add mod">
        <pc:chgData name="YANG Guomin" userId="dccf0981-1625-43db-a7d9-40d73e3f3472" providerId="ADAL" clId="{22A83A93-6DCD-4798-A377-BE9FDFB55325}" dt="2023-10-05T06:47:31.643" v="175" actId="20577"/>
        <pc:sldMkLst>
          <pc:docMk/>
          <pc:sldMk cId="0" sldId="390"/>
        </pc:sldMkLst>
      </pc:sldChg>
      <pc:sldChg chg="modSp mod">
        <pc:chgData name="YANG Guomin" userId="dccf0981-1625-43db-a7d9-40d73e3f3472" providerId="ADAL" clId="{22A83A93-6DCD-4798-A377-BE9FDFB55325}" dt="2023-10-05T01:51:03.142" v="34" actId="20577"/>
        <pc:sldMkLst>
          <pc:docMk/>
          <pc:sldMk cId="32326505" sldId="414"/>
        </pc:sldMkLst>
      </pc:sldChg>
      <pc:sldChg chg="del">
        <pc:chgData name="YANG Guomin" userId="dccf0981-1625-43db-a7d9-40d73e3f3472" providerId="ADAL" clId="{22A83A93-6DCD-4798-A377-BE9FDFB55325}" dt="2023-10-05T06:06:31.289" v="39" actId="47"/>
        <pc:sldMkLst>
          <pc:docMk/>
          <pc:sldMk cId="3860647776" sldId="437"/>
        </pc:sldMkLst>
      </pc:sldChg>
      <pc:sldChg chg="del">
        <pc:chgData name="YANG Guomin" userId="dccf0981-1625-43db-a7d9-40d73e3f3472" providerId="ADAL" clId="{22A83A93-6DCD-4798-A377-BE9FDFB55325}" dt="2023-10-05T06:06:44.303" v="40" actId="47"/>
        <pc:sldMkLst>
          <pc:docMk/>
          <pc:sldMk cId="444031465" sldId="439"/>
        </pc:sldMkLst>
      </pc:sldChg>
      <pc:sldChg chg="add modAnim">
        <pc:chgData name="YANG Guomin" userId="dccf0981-1625-43db-a7d9-40d73e3f3472" providerId="ADAL" clId="{22A83A93-6DCD-4798-A377-BE9FDFB55325}" dt="2023-10-09T02:30:30.231" v="198"/>
        <pc:sldMkLst>
          <pc:docMk/>
          <pc:sldMk cId="3125201333" sldId="459"/>
        </pc:sldMkLst>
      </pc:sldChg>
      <pc:sldChg chg="modSp mod">
        <pc:chgData name="YANG Guomin" userId="dccf0981-1625-43db-a7d9-40d73e3f3472" providerId="ADAL" clId="{22A83A93-6DCD-4798-A377-BE9FDFB55325}" dt="2023-10-05T06:30:06.190" v="90" actId="20577"/>
        <pc:sldMkLst>
          <pc:docMk/>
          <pc:sldMk cId="1466121936" sldId="460"/>
        </pc:sldMkLst>
      </pc:sldChg>
      <pc:sldChg chg="addSp delSp modSp del mod chgLayout">
        <pc:chgData name="YANG Guomin" userId="dccf0981-1625-43db-a7d9-40d73e3f3472" providerId="ADAL" clId="{22A83A93-6DCD-4798-A377-BE9FDFB55325}" dt="2023-10-05T06:51:19.556" v="187" actId="47"/>
        <pc:sldMkLst>
          <pc:docMk/>
          <pc:sldMk cId="1059113265" sldId="462"/>
        </pc:sldMkLst>
      </pc:sldChg>
      <pc:sldChg chg="modSp mod">
        <pc:chgData name="YANG Guomin" userId="dccf0981-1625-43db-a7d9-40d73e3f3472" providerId="ADAL" clId="{22A83A93-6DCD-4798-A377-BE9FDFB55325}" dt="2023-10-05T06:17:51.750" v="84" actId="20577"/>
        <pc:sldMkLst>
          <pc:docMk/>
          <pc:sldMk cId="3646747150" sldId="466"/>
        </pc:sldMkLst>
      </pc:sldChg>
      <pc:sldChg chg="modSp mod">
        <pc:chgData name="YANG Guomin" userId="dccf0981-1625-43db-a7d9-40d73e3f3472" providerId="ADAL" clId="{22A83A93-6DCD-4798-A377-BE9FDFB55325}" dt="2023-10-05T06:18:15.876" v="88" actId="20577"/>
        <pc:sldMkLst>
          <pc:docMk/>
          <pc:sldMk cId="2656603268" sldId="468"/>
        </pc:sldMkLst>
      </pc:sldChg>
      <pc:sldChg chg="modSp mod">
        <pc:chgData name="YANG Guomin" userId="dccf0981-1625-43db-a7d9-40d73e3f3472" providerId="ADAL" clId="{22A83A93-6DCD-4798-A377-BE9FDFB55325}" dt="2023-10-05T06:17:06.013" v="80"/>
        <pc:sldMkLst>
          <pc:docMk/>
          <pc:sldMk cId="2017209221" sldId="469"/>
        </pc:sldMkLst>
      </pc:sldChg>
      <pc:sldChg chg="modSp mod">
        <pc:chgData name="YANG Guomin" userId="dccf0981-1625-43db-a7d9-40d73e3f3472" providerId="ADAL" clId="{22A83A93-6DCD-4798-A377-BE9FDFB55325}" dt="2023-10-05T06:16:20.902" v="75" actId="20577"/>
        <pc:sldMkLst>
          <pc:docMk/>
          <pc:sldMk cId="3121957545" sldId="470"/>
        </pc:sldMkLst>
      </pc:sldChg>
      <pc:sldChg chg="modSp mod">
        <pc:chgData name="YANG Guomin" userId="dccf0981-1625-43db-a7d9-40d73e3f3472" providerId="ADAL" clId="{22A83A93-6DCD-4798-A377-BE9FDFB55325}" dt="2023-10-05T06:11:38.834" v="41" actId="6549"/>
        <pc:sldMkLst>
          <pc:docMk/>
          <pc:sldMk cId="522809477" sldId="471"/>
        </pc:sldMkLst>
      </pc:sldChg>
      <pc:sldChg chg="add">
        <pc:chgData name="YANG Guomin" userId="dccf0981-1625-43db-a7d9-40d73e3f3472" providerId="ADAL" clId="{22A83A93-6DCD-4798-A377-BE9FDFB55325}" dt="2023-10-05T06:25:57.223" v="89"/>
        <pc:sldMkLst>
          <pc:docMk/>
          <pc:sldMk cId="396968518" sldId="472"/>
        </pc:sldMkLst>
      </pc:sldChg>
      <pc:sldChg chg="del">
        <pc:chgData name="YANG Guomin" userId="dccf0981-1625-43db-a7d9-40d73e3f3472" providerId="ADAL" clId="{22A83A93-6DCD-4798-A377-BE9FDFB55325}" dt="2023-10-05T06:06:25.719" v="38" actId="47"/>
        <pc:sldMkLst>
          <pc:docMk/>
          <pc:sldMk cId="1070877919" sldId="472"/>
        </pc:sldMkLst>
      </pc:sldChg>
      <pc:sldChg chg="add modAnim">
        <pc:chgData name="YANG Guomin" userId="dccf0981-1625-43db-a7d9-40d73e3f3472" providerId="ADAL" clId="{22A83A93-6DCD-4798-A377-BE9FDFB55325}" dt="2023-10-09T02:29:48.085" v="192"/>
        <pc:sldMkLst>
          <pc:docMk/>
          <pc:sldMk cId="3281972183" sldId="498"/>
        </pc:sldMkLst>
      </pc:sldChg>
      <pc:sldChg chg="add">
        <pc:chgData name="YANG Guomin" userId="dccf0981-1625-43db-a7d9-40d73e3f3472" providerId="ADAL" clId="{22A83A93-6DCD-4798-A377-BE9FDFB55325}" dt="2023-10-05T06:06:19.921" v="37"/>
        <pc:sldMkLst>
          <pc:docMk/>
          <pc:sldMk cId="1591640499" sldId="499"/>
        </pc:sldMkLst>
      </pc:sldChg>
      <pc:sldChg chg="add">
        <pc:chgData name="YANG Guomin" userId="dccf0981-1625-43db-a7d9-40d73e3f3472" providerId="ADAL" clId="{22A83A93-6DCD-4798-A377-BE9FDFB55325}" dt="2023-10-05T06:06:19.921" v="37"/>
        <pc:sldMkLst>
          <pc:docMk/>
          <pc:sldMk cId="2286654893" sldId="500"/>
        </pc:sldMkLst>
      </pc:sldChg>
      <pc:sldChg chg="add modAnim">
        <pc:chgData name="YANG Guomin" userId="dccf0981-1625-43db-a7d9-40d73e3f3472" providerId="ADAL" clId="{22A83A93-6DCD-4798-A377-BE9FDFB55325}" dt="2023-10-09T02:30:49.014" v="202"/>
        <pc:sldMkLst>
          <pc:docMk/>
          <pc:sldMk cId="476434383" sldId="501"/>
        </pc:sldMkLst>
      </pc:sldChg>
      <pc:sldChg chg="addSp modSp new mod ord">
        <pc:chgData name="YANG Guomin" userId="dccf0981-1625-43db-a7d9-40d73e3f3472" providerId="ADAL" clId="{22A83A93-6DCD-4798-A377-BE9FDFB55325}" dt="2023-10-05T06:51:22.544" v="189"/>
        <pc:sldMkLst>
          <pc:docMk/>
          <pc:sldMk cId="1138453766" sldId="502"/>
        </pc:sldMkLst>
      </pc:sldChg>
      <pc:sldMasterChg chg="modSldLayout">
        <pc:chgData name="YANG Guomin" userId="dccf0981-1625-43db-a7d9-40d73e3f3472" providerId="ADAL" clId="{22A83A93-6DCD-4798-A377-BE9FDFB55325}" dt="2023-10-05T06:47:26.582" v="173"/>
        <pc:sldMasterMkLst>
          <pc:docMk/>
          <pc:sldMasterMk cId="3286693295" sldId="2147483792"/>
        </pc:sldMasterMkLst>
        <pc:sldLayoutChg chg="modSp mod setBg">
          <pc:chgData name="YANG Guomin" userId="dccf0981-1625-43db-a7d9-40d73e3f3472" providerId="ADAL" clId="{22A83A93-6DCD-4798-A377-BE9FDFB55325}" dt="2023-10-05T06:47:26.582" v="173"/>
          <pc:sldLayoutMkLst>
            <pc:docMk/>
            <pc:sldMasterMk cId="3286693295" sldId="2147483792"/>
            <pc:sldLayoutMk cId="4135888393" sldId="214748381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2610B3-7AD2-443D-9EED-D272A55646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26924C13-04C5-44FB-B034-640B84AC7A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FD5BE7-7004-4067-ADFA-7CFE35CEFC19}" type="datetimeFigureOut">
              <a:rPr lang="en-SG" smtClean="0"/>
              <a:t>20/11/25</a:t>
            </a:fld>
            <a:endParaRPr lang="en-SG"/>
          </a:p>
        </p:txBody>
      </p:sp>
      <p:sp>
        <p:nvSpPr>
          <p:cNvPr id="4" name="Footer Placeholder 3">
            <a:extLst>
              <a:ext uri="{FF2B5EF4-FFF2-40B4-BE49-F238E27FC236}">
                <a16:creationId xmlns:a16="http://schemas.microsoft.com/office/drawing/2014/main" id="{881BDE46-AEBF-4095-B341-E86B41267A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02A93F1-2B31-47D7-9523-E01662595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CB8634-C501-4364-B041-147E7E897803}" type="slidenum">
              <a:rPr lang="en-SG" smtClean="0"/>
              <a:t>‹#›</a:t>
            </a:fld>
            <a:endParaRPr lang="en-SG"/>
          </a:p>
        </p:txBody>
      </p:sp>
    </p:spTree>
    <p:extLst>
      <p:ext uri="{BB962C8B-B14F-4D97-AF65-F5344CB8AC3E}">
        <p14:creationId xmlns:p14="http://schemas.microsoft.com/office/powerpoint/2010/main" val="1539267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B1A6E-CF2A-4D43-97E3-58FD378C223B}" type="datetimeFigureOut">
              <a:rPr lang="en-US" smtClean="0"/>
              <a:t>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D4FAC-B258-624A-81B3-9D14B0086038}" type="slidenum">
              <a:rPr lang="en-US" smtClean="0"/>
              <a:t>‹#›</a:t>
            </a:fld>
            <a:endParaRPr lang="en-US"/>
          </a:p>
        </p:txBody>
      </p:sp>
    </p:spTree>
    <p:extLst>
      <p:ext uri="{BB962C8B-B14F-4D97-AF65-F5344CB8AC3E}">
        <p14:creationId xmlns:p14="http://schemas.microsoft.com/office/powerpoint/2010/main" val="69050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a:t>
            </a:fld>
            <a:endParaRPr lang="en-US"/>
          </a:p>
        </p:txBody>
      </p:sp>
    </p:spTree>
    <p:extLst>
      <p:ext uri="{BB962C8B-B14F-4D97-AF65-F5344CB8AC3E}">
        <p14:creationId xmlns:p14="http://schemas.microsoft.com/office/powerpoint/2010/main" val="3082208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Payload is Application Payload like body, </a:t>
            </a:r>
            <a:r>
              <a:rPr lang="en-US" dirty="0" err="1"/>
              <a:t>json</a:t>
            </a:r>
            <a:r>
              <a:rPr lang="en-US" dirty="0"/>
              <a:t> etc. Header etc.</a:t>
            </a:r>
          </a:p>
        </p:txBody>
      </p:sp>
      <p:sp>
        <p:nvSpPr>
          <p:cNvPr id="4" name="Slide Number Placeholder 3"/>
          <p:cNvSpPr>
            <a:spLocks noGrp="1"/>
          </p:cNvSpPr>
          <p:nvPr>
            <p:ph type="sldNum" sz="quarter" idx="5"/>
          </p:nvPr>
        </p:nvSpPr>
        <p:spPr/>
        <p:txBody>
          <a:bodyPr/>
          <a:lstStyle/>
          <a:p>
            <a:fld id="{1CFD4FAC-B258-624A-81B3-9D14B0086038}" type="slidenum">
              <a:rPr lang="en-US" smtClean="0"/>
              <a:t>4</a:t>
            </a:fld>
            <a:endParaRPr lang="en-US"/>
          </a:p>
        </p:txBody>
      </p:sp>
    </p:spTree>
    <p:extLst>
      <p:ext uri="{BB962C8B-B14F-4D97-AF65-F5344CB8AC3E}">
        <p14:creationId xmlns:p14="http://schemas.microsoft.com/office/powerpoint/2010/main" val="3603095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Firewall will determine the rule based on information in identification, protocol, version, </a:t>
            </a:r>
            <a:r>
              <a:rPr lang="en-US" dirty="0" err="1"/>
              <a:t>ihl</a:t>
            </a:r>
            <a:r>
              <a:rPr lang="en-US" dirty="0"/>
              <a:t> etc.</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5</a:t>
            </a:fld>
            <a:endParaRPr lang="en-US"/>
          </a:p>
        </p:txBody>
      </p:sp>
    </p:spTree>
    <p:extLst>
      <p:ext uri="{BB962C8B-B14F-4D97-AF65-F5344CB8AC3E}">
        <p14:creationId xmlns:p14="http://schemas.microsoft.com/office/powerpoint/2010/main" val="2327828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Firewall is intrusion prevention.</a:t>
            </a:r>
          </a:p>
          <a:p>
            <a:r>
              <a:rPr lang="en-US" dirty="0"/>
              <a:t>Firewall blocks things like Google, block access to other countries lottery sites.</a:t>
            </a:r>
          </a:p>
        </p:txBody>
      </p:sp>
      <p:sp>
        <p:nvSpPr>
          <p:cNvPr id="4" name="Slide Number Placeholder 3"/>
          <p:cNvSpPr>
            <a:spLocks noGrp="1"/>
          </p:cNvSpPr>
          <p:nvPr>
            <p:ph type="sldNum" sz="quarter" idx="5"/>
          </p:nvPr>
        </p:nvSpPr>
        <p:spPr/>
        <p:txBody>
          <a:bodyPr/>
          <a:lstStyle/>
          <a:p>
            <a:fld id="{1CFD4FAC-B258-624A-81B3-9D14B0086038}" type="slidenum">
              <a:rPr lang="en-US" smtClean="0"/>
              <a:t>8</a:t>
            </a:fld>
            <a:endParaRPr lang="en-US"/>
          </a:p>
        </p:txBody>
      </p:sp>
    </p:spTree>
    <p:extLst>
      <p:ext uri="{BB962C8B-B14F-4D97-AF65-F5344CB8AC3E}">
        <p14:creationId xmlns:p14="http://schemas.microsoft.com/office/powerpoint/2010/main" val="4181749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barrier between private network and public network.</a:t>
            </a:r>
          </a:p>
          <a:p>
            <a:r>
              <a:rPr lang="en-US" dirty="0"/>
              <a:t>Public network may try to penetrate.</a:t>
            </a:r>
            <a:br>
              <a:rPr lang="en-US" dirty="0"/>
            </a:br>
            <a:br>
              <a:rPr lang="en-US" dirty="0"/>
            </a:br>
            <a:r>
              <a:rPr lang="en-US" dirty="0"/>
              <a:t>Host based firewall – installed on host (computer, only host)</a:t>
            </a:r>
            <a:br>
              <a:rPr lang="en-US" dirty="0"/>
            </a:br>
            <a:r>
              <a:rPr lang="en-US" dirty="0"/>
              <a:t>Network based firewall  - router controls.</a:t>
            </a:r>
          </a:p>
        </p:txBody>
      </p:sp>
      <p:sp>
        <p:nvSpPr>
          <p:cNvPr id="4" name="Slide Number Placeholder 3"/>
          <p:cNvSpPr>
            <a:spLocks noGrp="1"/>
          </p:cNvSpPr>
          <p:nvPr>
            <p:ph type="sldNum" sz="quarter" idx="5"/>
          </p:nvPr>
        </p:nvSpPr>
        <p:spPr/>
        <p:txBody>
          <a:bodyPr/>
          <a:lstStyle/>
          <a:p>
            <a:fld id="{1CFD4FAC-B258-624A-81B3-9D14B0086038}" type="slidenum">
              <a:rPr lang="en-US" smtClean="0"/>
              <a:t>9</a:t>
            </a:fld>
            <a:endParaRPr lang="en-US"/>
          </a:p>
        </p:txBody>
      </p:sp>
    </p:spTree>
    <p:extLst>
      <p:ext uri="{BB962C8B-B14F-4D97-AF65-F5344CB8AC3E}">
        <p14:creationId xmlns:p14="http://schemas.microsoft.com/office/powerpoint/2010/main" val="2844318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940668-93B1-4B8A-86C2-8CF7B5C65C51}" type="slidenum">
              <a:rPr lang="en-US"/>
              <a:pPr/>
              <a:t>10</a:t>
            </a:fld>
            <a:endParaRPr lang="en-US"/>
          </a:p>
        </p:txBody>
      </p:sp>
      <p:sp>
        <p:nvSpPr>
          <p:cNvPr id="265218" name="Rectangle 2"/>
          <p:cNvSpPr>
            <a:spLocks noGrp="1" noRot="1" noChangeAspect="1" noChangeArrowheads="1" noTextEdit="1"/>
          </p:cNvSpPr>
          <p:nvPr>
            <p:ph type="sldImg"/>
          </p:nvPr>
        </p:nvSpPr>
        <p:spPr>
          <a:xfrm>
            <a:off x="90488" y="744538"/>
            <a:ext cx="6616700" cy="3722687"/>
          </a:xfrm>
          <a:ln/>
        </p:spPr>
      </p:sp>
      <p:sp>
        <p:nvSpPr>
          <p:cNvPr id="265219" name="Rectangle 3"/>
          <p:cNvSpPr>
            <a:spLocks noGrp="1" noChangeArrowheads="1"/>
          </p:cNvSpPr>
          <p:nvPr>
            <p:ph type="body" idx="1"/>
          </p:nvPr>
        </p:nvSpPr>
        <p:spPr/>
        <p:txBody>
          <a:bodyPr/>
          <a:lstStyle/>
          <a:p>
            <a:r>
              <a:rPr lang="en-US" dirty="0"/>
              <a:t>Filtering traffic from outside. Prevent malicious access of the private network and unauthorized going traffic.</a:t>
            </a:r>
          </a:p>
          <a:p>
            <a:endParaRPr lang="en-US" dirty="0"/>
          </a:p>
        </p:txBody>
      </p:sp>
    </p:spTree>
    <p:extLst>
      <p:ext uri="{BB962C8B-B14F-4D97-AF65-F5344CB8AC3E}">
        <p14:creationId xmlns:p14="http://schemas.microsoft.com/office/powerpoint/2010/main" val="333011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 Open means everything is allowed except those that’s blocked.</a:t>
            </a:r>
          </a:p>
          <a:p>
            <a:r>
              <a:rPr lang="en-US" dirty="0"/>
              <a:t>Close means everything is not allowed except those that’s allowed.</a:t>
            </a:r>
          </a:p>
          <a:p>
            <a:pPr marL="171450" indent="-171450">
              <a:buFontTx/>
              <a:buChar char="-"/>
            </a:pPr>
            <a:r>
              <a:rPr lang="en-US" dirty="0"/>
              <a:t>If lets say packets from a source, 2 is ok, last is not ok from firewall rule, then it will not success.</a:t>
            </a:r>
          </a:p>
          <a:p>
            <a:pPr marL="171450" indent="-171450">
              <a:buFontTx/>
              <a:buChar char="-"/>
            </a:pPr>
            <a:r>
              <a:rPr lang="en-US" dirty="0"/>
              <a:t>Close policy – better for security, open is more common.</a:t>
            </a:r>
          </a:p>
          <a:p>
            <a:r>
              <a:rPr lang="en-US" dirty="0"/>
              <a:t>Functioning layer – At network layer, they filter things like IP addresses and via ports.</a:t>
            </a:r>
          </a:p>
          <a:p>
            <a:pPr marL="171450" indent="-171450">
              <a:buFontTx/>
              <a:buChar char="-"/>
            </a:pPr>
            <a:r>
              <a:rPr lang="en-US" dirty="0"/>
              <a:t>Look at metadata.</a:t>
            </a:r>
          </a:p>
          <a:p>
            <a:pPr marL="171450" indent="-171450">
              <a:buFontTx/>
              <a:buChar char="-"/>
            </a:pPr>
            <a:endParaRPr lang="en-US" dirty="0"/>
          </a:p>
          <a:p>
            <a:r>
              <a:rPr lang="en-US" dirty="0"/>
              <a:t>Application gateway – filter based on application data like payload.</a:t>
            </a:r>
          </a:p>
          <a:p>
            <a:pPr marL="171450" indent="-171450">
              <a:buFontTx/>
              <a:buChar char="-"/>
            </a:pPr>
            <a:r>
              <a:rPr lang="en-US" dirty="0"/>
              <a:t>Look at the body like payload, Header etc.</a:t>
            </a:r>
          </a:p>
          <a:p>
            <a:pPr marL="171450" indent="-171450">
              <a:buFontTx/>
              <a:buChar char="-"/>
            </a:pPr>
            <a:endParaRPr lang="en-US" dirty="0"/>
          </a:p>
          <a:p>
            <a:r>
              <a:rPr lang="en-US" dirty="0"/>
              <a:t>Position – Protection of whole network OR protection of host only.</a:t>
            </a:r>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11</a:t>
            </a:fld>
            <a:endParaRPr lang="en-US"/>
          </a:p>
        </p:txBody>
      </p:sp>
    </p:spTree>
    <p:extLst>
      <p:ext uri="{BB962C8B-B14F-4D97-AF65-F5344CB8AC3E}">
        <p14:creationId xmlns:p14="http://schemas.microsoft.com/office/powerpoint/2010/main" val="3271148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28FA66-B757-4979-BF34-D97BCCF880A1}" type="slidenum">
              <a:rPr lang="en-US"/>
              <a:pPr/>
              <a:t>12</a:t>
            </a:fld>
            <a:endParaRPr lang="en-US"/>
          </a:p>
        </p:txBody>
      </p:sp>
      <p:sp>
        <p:nvSpPr>
          <p:cNvPr id="267266" name="Rectangle 2"/>
          <p:cNvSpPr>
            <a:spLocks noGrp="1" noRot="1" noChangeAspect="1" noChangeArrowheads="1" noTextEdit="1"/>
          </p:cNvSpPr>
          <p:nvPr>
            <p:ph type="sldImg"/>
          </p:nvPr>
        </p:nvSpPr>
        <p:spPr>
          <a:xfrm>
            <a:off x="90488" y="744538"/>
            <a:ext cx="6616700" cy="3722687"/>
          </a:xfrm>
          <a:ln/>
        </p:spPr>
      </p:sp>
      <p:sp>
        <p:nvSpPr>
          <p:cNvPr id="267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58590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920B61-FDEC-47B6-96AC-1A1D9258C8E3}" type="slidenum">
              <a:rPr lang="en-US"/>
              <a:pPr/>
              <a:t>13</a:t>
            </a:fld>
            <a:endParaRPr lang="en-US"/>
          </a:p>
        </p:txBody>
      </p:sp>
      <p:sp>
        <p:nvSpPr>
          <p:cNvPr id="271362" name="Rectangle 2"/>
          <p:cNvSpPr>
            <a:spLocks noGrp="1" noRot="1" noChangeAspect="1" noChangeArrowheads="1" noTextEdit="1"/>
          </p:cNvSpPr>
          <p:nvPr>
            <p:ph type="sldImg"/>
          </p:nvPr>
        </p:nvSpPr>
        <p:spPr>
          <a:xfrm>
            <a:off x="90488" y="744538"/>
            <a:ext cx="6616700" cy="3722687"/>
          </a:xfrm>
          <a:ln/>
        </p:spPr>
      </p:sp>
      <p:sp>
        <p:nvSpPr>
          <p:cNvPr id="271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43762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filtering – examine packet headers.</a:t>
            </a:r>
          </a:p>
          <a:p>
            <a:r>
              <a:rPr lang="en-US" dirty="0"/>
              <a:t>Application layer – examine the body of the requests cos you need to check the content.</a:t>
            </a:r>
          </a:p>
        </p:txBody>
      </p:sp>
      <p:sp>
        <p:nvSpPr>
          <p:cNvPr id="4" name="Slide Number Placeholder 3"/>
          <p:cNvSpPr>
            <a:spLocks noGrp="1"/>
          </p:cNvSpPr>
          <p:nvPr>
            <p:ph type="sldNum" sz="quarter" idx="5"/>
          </p:nvPr>
        </p:nvSpPr>
        <p:spPr/>
        <p:txBody>
          <a:bodyPr/>
          <a:lstStyle/>
          <a:p>
            <a:fld id="{1CFD4FAC-B258-624A-81B3-9D14B0086038}" type="slidenum">
              <a:rPr lang="en-US" smtClean="0"/>
              <a:t>14</a:t>
            </a:fld>
            <a:endParaRPr lang="en-US"/>
          </a:p>
        </p:txBody>
      </p:sp>
    </p:spTree>
    <p:extLst>
      <p:ext uri="{BB962C8B-B14F-4D97-AF65-F5344CB8AC3E}">
        <p14:creationId xmlns:p14="http://schemas.microsoft.com/office/powerpoint/2010/main" val="11662228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530775-E253-40BE-9A19-9263424C23EE}" type="slidenum">
              <a:rPr lang="en-US"/>
              <a:pPr/>
              <a:t>15</a:t>
            </a:fld>
            <a:endParaRPr lang="en-US"/>
          </a:p>
        </p:txBody>
      </p:sp>
      <p:sp>
        <p:nvSpPr>
          <p:cNvPr id="273410" name="Rectangle 2"/>
          <p:cNvSpPr>
            <a:spLocks noGrp="1" noRot="1" noChangeAspect="1" noChangeArrowheads="1" noTextEdit="1"/>
          </p:cNvSpPr>
          <p:nvPr>
            <p:ph type="sldImg"/>
          </p:nvPr>
        </p:nvSpPr>
        <p:spPr>
          <a:xfrm>
            <a:off x="90488" y="744538"/>
            <a:ext cx="6616700" cy="3722687"/>
          </a:xfrm>
          <a:ln/>
        </p:spPr>
      </p:sp>
      <p:sp>
        <p:nvSpPr>
          <p:cNvPr id="273411" name="Rectangle 3"/>
          <p:cNvSpPr>
            <a:spLocks noGrp="1" noChangeArrowheads="1"/>
          </p:cNvSpPr>
          <p:nvPr>
            <p:ph type="body" idx="1"/>
          </p:nvPr>
        </p:nvSpPr>
        <p:spPr/>
        <p:txBody>
          <a:bodyPr/>
          <a:lstStyle/>
          <a:p>
            <a:r>
              <a:rPr lang="en-US" dirty="0"/>
              <a:t>single point of failure</a:t>
            </a:r>
          </a:p>
          <a:p>
            <a:endParaRPr lang="en-US" dirty="0"/>
          </a:p>
          <a:p>
            <a:r>
              <a:rPr lang="en-US" dirty="0"/>
              <a:t>You only have 1 way to protect your network, if this fails, your entire network will probably fail</a:t>
            </a:r>
            <a:br>
              <a:rPr lang="en-US" dirty="0"/>
            </a:br>
            <a:br>
              <a:rPr lang="en-US" dirty="0"/>
            </a:br>
            <a:r>
              <a:rPr lang="en-US" dirty="0"/>
              <a:t>If firewall is compromised, it will spoil whole network.</a:t>
            </a:r>
          </a:p>
          <a:p>
            <a:r>
              <a:rPr lang="en-US" dirty="0"/>
              <a:t>Bottleneck because since it is checking application layer, it will take up some time during the querying.</a:t>
            </a:r>
          </a:p>
        </p:txBody>
      </p:sp>
    </p:spTree>
    <p:extLst>
      <p:ext uri="{BB962C8B-B14F-4D97-AF65-F5344CB8AC3E}">
        <p14:creationId xmlns:p14="http://schemas.microsoft.com/office/powerpoint/2010/main" val="2466333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3CF95A-8257-49D7-9399-658B4EF7058B}" type="slidenum">
              <a:rPr lang="en-US"/>
              <a:pPr/>
              <a:t>16</a:t>
            </a:fld>
            <a:endParaRPr lang="en-US"/>
          </a:p>
        </p:txBody>
      </p:sp>
      <p:sp>
        <p:nvSpPr>
          <p:cNvPr id="276482" name="Rectangle 2"/>
          <p:cNvSpPr>
            <a:spLocks noGrp="1" noRot="1" noChangeAspect="1" noChangeArrowheads="1" noTextEdit="1"/>
          </p:cNvSpPr>
          <p:nvPr>
            <p:ph type="sldImg"/>
          </p:nvPr>
        </p:nvSpPr>
        <p:spPr>
          <a:xfrm>
            <a:off x="90488" y="744538"/>
            <a:ext cx="6616700" cy="3722687"/>
          </a:xfrm>
          <a:ln/>
        </p:spPr>
      </p:sp>
      <p:sp>
        <p:nvSpPr>
          <p:cNvPr id="276483" name="Rectangle 3"/>
          <p:cNvSpPr>
            <a:spLocks noGrp="1" noChangeArrowheads="1"/>
          </p:cNvSpPr>
          <p:nvPr>
            <p:ph type="body" idx="1"/>
          </p:nvPr>
        </p:nvSpPr>
        <p:spPr/>
        <p:txBody>
          <a:bodyPr/>
          <a:lstStyle/>
          <a:p>
            <a:r>
              <a:rPr lang="en-US" dirty="0"/>
              <a:t>Real time, 100% accuracy, Complete Diagnosis and recommendation</a:t>
            </a:r>
            <a:br>
              <a:rPr lang="en-US" dirty="0"/>
            </a:br>
            <a:br>
              <a:rPr lang="en-US" dirty="0"/>
            </a:br>
            <a:r>
              <a:rPr lang="en-US" dirty="0"/>
              <a:t>You need to detect if the person is an intruder or legit person.</a:t>
            </a:r>
          </a:p>
          <a:p>
            <a:endParaRPr lang="en-US" dirty="0"/>
          </a:p>
          <a:p>
            <a:r>
              <a:rPr lang="en-US" dirty="0"/>
              <a:t>Firewall– work based on rules so that can block traffic to certain servers.</a:t>
            </a:r>
          </a:p>
          <a:p>
            <a:endParaRPr lang="en-US" dirty="0"/>
          </a:p>
        </p:txBody>
      </p:sp>
    </p:spTree>
    <p:extLst>
      <p:ext uri="{BB962C8B-B14F-4D97-AF65-F5344CB8AC3E}">
        <p14:creationId xmlns:p14="http://schemas.microsoft.com/office/powerpoint/2010/main" val="38967598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F7C9C7-2DD7-45C2-AF89-B79A6FA38A4C}" type="slidenum">
              <a:rPr lang="en-US"/>
              <a:pPr/>
              <a:t>17</a:t>
            </a:fld>
            <a:endParaRPr lang="en-US"/>
          </a:p>
        </p:txBody>
      </p:sp>
      <p:sp>
        <p:nvSpPr>
          <p:cNvPr id="280578" name="Rectangle 2"/>
          <p:cNvSpPr>
            <a:spLocks noGrp="1" noRot="1" noChangeAspect="1" noChangeArrowheads="1" noTextEdit="1"/>
          </p:cNvSpPr>
          <p:nvPr>
            <p:ph type="sldImg"/>
          </p:nvPr>
        </p:nvSpPr>
        <p:spPr>
          <a:xfrm>
            <a:off x="90488" y="744538"/>
            <a:ext cx="6616700" cy="3722687"/>
          </a:xfrm>
          <a:ln/>
        </p:spPr>
      </p:sp>
      <p:sp>
        <p:nvSpPr>
          <p:cNvPr id="280579" name="Rectangle 3"/>
          <p:cNvSpPr>
            <a:spLocks noGrp="1" noChangeArrowheads="1"/>
          </p:cNvSpPr>
          <p:nvPr>
            <p:ph type="body" idx="1"/>
          </p:nvPr>
        </p:nvSpPr>
        <p:spPr/>
        <p:txBody>
          <a:bodyPr/>
          <a:lstStyle/>
          <a:p>
            <a:r>
              <a:rPr lang="en-US" dirty="0"/>
              <a:t>The “signature” here has</a:t>
            </a:r>
            <a:r>
              <a:rPr lang="en-US" baseline="0" dirty="0"/>
              <a:t> nothing to do with</a:t>
            </a:r>
            <a:r>
              <a:rPr lang="en-US" dirty="0"/>
              <a:t> “digital signatures”.</a:t>
            </a:r>
          </a:p>
          <a:p>
            <a:endParaRPr lang="en-US" dirty="0"/>
          </a:p>
          <a:p>
            <a:r>
              <a:rPr lang="en-US" dirty="0"/>
              <a:t>Signature based – you have a database with past pre-defined attack patterns (signatures) – basically, you know what is bad already and from there, everything that comes in if flagged. – there will be some buffer overflow. There will be some form of patterns coming out. </a:t>
            </a:r>
          </a:p>
          <a:p>
            <a:r>
              <a:rPr lang="en-US" dirty="0"/>
              <a:t>for(pattern of patterns){</a:t>
            </a:r>
            <a:br>
              <a:rPr lang="en-US" dirty="0"/>
            </a:br>
            <a:r>
              <a:rPr lang="en-US" dirty="0"/>
              <a:t>if(</a:t>
            </a:r>
            <a:r>
              <a:rPr lang="en-US" dirty="0" err="1"/>
              <a:t>patterns.isBad</a:t>
            </a:r>
            <a:r>
              <a:rPr lang="en-US" dirty="0"/>
              <a:t>()){</a:t>
            </a:r>
            <a:br>
              <a:rPr lang="en-US" dirty="0"/>
            </a:br>
            <a:r>
              <a:rPr lang="en-US" dirty="0"/>
              <a:t>//correct</a:t>
            </a:r>
            <a:br>
              <a:rPr lang="en-US" dirty="0"/>
            </a:br>
            <a:r>
              <a:rPr lang="en-US" dirty="0"/>
              <a:t>}</a:t>
            </a:r>
            <a:br>
              <a:rPr lang="en-US" dirty="0"/>
            </a:br>
            <a:r>
              <a:rPr lang="en-US" dirty="0"/>
              <a:t>}</a:t>
            </a:r>
          </a:p>
          <a:p>
            <a:endParaRPr lang="en-US" dirty="0"/>
          </a:p>
          <a:p>
            <a:r>
              <a:rPr lang="en-US" dirty="0"/>
              <a:t>Anomaly based– Instead of finding, you define a normal. If there is something that is not within the bound, then it will flag out. Something that does not match the normal model.</a:t>
            </a:r>
          </a:p>
          <a:p>
            <a:endParaRPr lang="en-US" dirty="0"/>
          </a:p>
        </p:txBody>
      </p:sp>
    </p:spTree>
    <p:extLst>
      <p:ext uri="{BB962C8B-B14F-4D97-AF65-F5344CB8AC3E}">
        <p14:creationId xmlns:p14="http://schemas.microsoft.com/office/powerpoint/2010/main" val="2696523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6C37-8174-4AD6-A7F0-9088066697EA}" type="slidenum">
              <a:rPr lang="en-US"/>
              <a:pPr/>
              <a:t>20</a:t>
            </a:fld>
            <a:endParaRPr lang="en-US"/>
          </a:p>
        </p:txBody>
      </p:sp>
      <p:sp>
        <p:nvSpPr>
          <p:cNvPr id="278530" name="Rectangle 2"/>
          <p:cNvSpPr>
            <a:spLocks noGrp="1" noRot="1" noChangeAspect="1" noChangeArrowheads="1" noTextEdit="1"/>
          </p:cNvSpPr>
          <p:nvPr>
            <p:ph type="sldImg"/>
          </p:nvPr>
        </p:nvSpPr>
        <p:spPr>
          <a:xfrm>
            <a:off x="90488" y="744538"/>
            <a:ext cx="6616700" cy="3722687"/>
          </a:xfrm>
          <a:ln/>
        </p:spPr>
      </p:sp>
      <p:sp>
        <p:nvSpPr>
          <p:cNvPr id="27853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Recall – how many real attacks you caught (Of all </a:t>
            </a:r>
            <a:r>
              <a:rPr lang="en-SG" dirty="0"/>
              <a:t>real</a:t>
            </a:r>
            <a:r>
              <a:rPr lang="en-US" baseline="0" dirty="0"/>
              <a:t> attacks, how many did I detect?)</a:t>
            </a:r>
          </a:p>
          <a:p>
            <a:r>
              <a:rPr lang="en-US" baseline="0" dirty="0"/>
              <a:t>True attack / true attack + false negative attacks </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Precision – how accurate the attacks are (</a:t>
            </a:r>
            <a:r>
              <a:rPr lang="en-SG" dirty="0"/>
              <a:t>Of all alerts I raised, how many were actually attacks?</a:t>
            </a:r>
            <a:r>
              <a:rPr lang="en-US" baseline="0" dirty="0"/>
              <a:t>)</a:t>
            </a:r>
          </a:p>
          <a:p>
            <a:r>
              <a:rPr lang="en-US" baseline="0" dirty="0"/>
              <a:t>True attack / all attacks (true attack + false positive attacks)</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Specificity – how well you ignored normal traffic (</a:t>
            </a:r>
            <a:r>
              <a:rPr lang="en-SG" dirty="0"/>
              <a:t>Of all normal cases, how many did I correctly not flag?</a:t>
            </a:r>
            <a:r>
              <a:rPr lang="en-US" baseline="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endParaRPr lang="en-US" baseline="0" dirty="0"/>
          </a:p>
          <a:p>
            <a:r>
              <a:rPr lang="en-US" baseline="0" dirty="0"/>
              <a:t>Precision = </a:t>
            </a:r>
            <a:r>
              <a:rPr lang="en-US" baseline="0" dirty="0" err="1"/>
              <a:t>tp</a:t>
            </a:r>
            <a:r>
              <a:rPr lang="en-US" baseline="0" dirty="0"/>
              <a:t> / </a:t>
            </a:r>
            <a:r>
              <a:rPr lang="en-US" baseline="0" dirty="0" err="1"/>
              <a:t>fp</a:t>
            </a:r>
            <a:r>
              <a:rPr lang="en-US" baseline="0" dirty="0"/>
              <a:t> + </a:t>
            </a:r>
            <a:r>
              <a:rPr lang="en-US" baseline="0" dirty="0" err="1"/>
              <a:t>tp</a:t>
            </a:r>
            <a:endParaRPr lang="en-US" baseline="0" dirty="0"/>
          </a:p>
          <a:p>
            <a:endParaRPr lang="en-US" baseline="0" dirty="0"/>
          </a:p>
          <a:p>
            <a:r>
              <a:rPr lang="en-US" baseline="0" dirty="0"/>
              <a:t>Odds for raising alarm for being positive/malicious = 999/1000 = 0.999</a:t>
            </a:r>
          </a:p>
          <a:p>
            <a:r>
              <a:rPr lang="en-US" baseline="0" dirty="0"/>
              <a:t>(recall) </a:t>
            </a:r>
          </a:p>
          <a:p>
            <a:endParaRPr lang="en-US" baseline="0" dirty="0"/>
          </a:p>
          <a:p>
            <a:r>
              <a:rPr lang="en-US" baseline="0" dirty="0"/>
              <a:t>Odds wrongly for raising an alarm for </a:t>
            </a:r>
            <a:r>
              <a:rPr lang="en-US" baseline="0" dirty="0" err="1"/>
              <a:t>beign</a:t>
            </a:r>
            <a:r>
              <a:rPr lang="en-US" baseline="0" dirty="0"/>
              <a:t> events = 1 / 100 (FPR) </a:t>
            </a:r>
          </a:p>
          <a:p>
            <a:r>
              <a:rPr lang="en-US" baseline="0" dirty="0" err="1"/>
              <a:t>fp</a:t>
            </a:r>
            <a:r>
              <a:rPr lang="en-US" baseline="0" dirty="0"/>
              <a:t>/actual negatives</a:t>
            </a:r>
          </a:p>
          <a:p>
            <a:endParaRPr lang="en-US" baseline="0" dirty="0"/>
          </a:p>
          <a:p>
            <a:r>
              <a:rPr lang="en-US" baseline="0" dirty="0"/>
              <a:t>1 / 100 000 = malicious case</a:t>
            </a:r>
          </a:p>
          <a:p>
            <a:endParaRPr lang="en-US" baseline="0" dirty="0"/>
          </a:p>
          <a:p>
            <a:endParaRPr lang="en-US" baseline="0" dirty="0"/>
          </a:p>
          <a:p>
            <a:r>
              <a:rPr lang="en-US" baseline="0" dirty="0"/>
              <a:t>1 * 0.999 = chance of being true alarm = </a:t>
            </a:r>
            <a:r>
              <a:rPr lang="en-US" baseline="0" dirty="0" err="1"/>
              <a:t>tp</a:t>
            </a:r>
            <a:endParaRPr lang="en-US" baseline="0" dirty="0"/>
          </a:p>
          <a:p>
            <a:endParaRPr lang="en-US" baseline="0" dirty="0"/>
          </a:p>
          <a:p>
            <a:r>
              <a:rPr lang="en-US" baseline="0" dirty="0"/>
              <a:t>99 999 (negative) * 1/100 = </a:t>
            </a:r>
            <a:r>
              <a:rPr lang="en-US" baseline="0" dirty="0" err="1"/>
              <a:t>fp</a:t>
            </a:r>
            <a:r>
              <a:rPr lang="en-US" baseline="0" dirty="0"/>
              <a:t> = chance of being false alarms</a:t>
            </a:r>
          </a:p>
          <a:p>
            <a:endParaRPr lang="en-US" baseline="0" dirty="0"/>
          </a:p>
          <a:p>
            <a:endParaRPr lang="en-US" baseline="0" dirty="0"/>
          </a:p>
          <a:p>
            <a:endParaRPr lang="en-US" baseline="0" dirty="0"/>
          </a:p>
          <a:p>
            <a:endParaRPr lang="en-US" baseline="0" dirty="0"/>
          </a:p>
        </p:txBody>
      </p:sp>
    </p:spTree>
    <p:extLst>
      <p:ext uri="{BB962C8B-B14F-4D97-AF65-F5344CB8AC3E}">
        <p14:creationId xmlns:p14="http://schemas.microsoft.com/office/powerpoint/2010/main" val="1925793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6C37-8174-4AD6-A7F0-9088066697EA}" type="slidenum">
              <a:rPr lang="en-US"/>
              <a:pPr/>
              <a:t>21</a:t>
            </a:fld>
            <a:endParaRPr lang="en-US"/>
          </a:p>
        </p:txBody>
      </p:sp>
      <p:sp>
        <p:nvSpPr>
          <p:cNvPr id="278530" name="Rectangle 2"/>
          <p:cNvSpPr>
            <a:spLocks noGrp="1" noRot="1" noChangeAspect="1" noChangeArrowheads="1" noTextEdit="1"/>
          </p:cNvSpPr>
          <p:nvPr>
            <p:ph type="sldImg"/>
          </p:nvPr>
        </p:nvSpPr>
        <p:spPr>
          <a:xfrm>
            <a:off x="90488" y="744538"/>
            <a:ext cx="6616700" cy="3722687"/>
          </a:xfrm>
          <a:ln/>
        </p:spPr>
      </p:sp>
      <p:sp>
        <p:nvSpPr>
          <p:cNvPr id="278531" name="Rectangle 3"/>
          <p:cNvSpPr>
            <a:spLocks noGrp="1" noChangeArrowheads="1"/>
          </p:cNvSpPr>
          <p:nvPr>
            <p:ph type="body" idx="1"/>
          </p:nvPr>
        </p:nvSpPr>
        <p:spPr/>
        <p:txBody>
          <a:bodyPr/>
          <a:lstStyle/>
          <a:p>
            <a:r>
              <a:rPr lang="en-US" baseline="0" dirty="0"/>
              <a:t>Real attacks are </a:t>
            </a:r>
            <a:r>
              <a:rPr lang="en-US" baseline="0" dirty="0" err="1"/>
              <a:t>tp</a:t>
            </a:r>
            <a:r>
              <a:rPr lang="en-US" baseline="0" dirty="0"/>
              <a:t> and fn.</a:t>
            </a:r>
          </a:p>
          <a:p>
            <a:r>
              <a:rPr lang="en-US" baseline="0" dirty="0"/>
              <a:t>Go and read and understand.</a:t>
            </a:r>
          </a:p>
        </p:txBody>
      </p:sp>
    </p:spTree>
    <p:extLst>
      <p:ext uri="{BB962C8B-B14F-4D97-AF65-F5344CB8AC3E}">
        <p14:creationId xmlns:p14="http://schemas.microsoft.com/office/powerpoint/2010/main" val="1925793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71844A-85DE-4464-9573-95D029C5E329}" type="slidenum">
              <a:rPr lang="en-US"/>
              <a:pPr/>
              <a:t>22</a:t>
            </a:fld>
            <a:endParaRPr lang="en-US"/>
          </a:p>
        </p:txBody>
      </p:sp>
      <p:sp>
        <p:nvSpPr>
          <p:cNvPr id="282626" name="Rectangle 2"/>
          <p:cNvSpPr>
            <a:spLocks noGrp="1" noRot="1" noChangeAspect="1" noChangeArrowheads="1" noTextEdit="1"/>
          </p:cNvSpPr>
          <p:nvPr>
            <p:ph type="sldImg"/>
          </p:nvPr>
        </p:nvSpPr>
        <p:spPr>
          <a:xfrm>
            <a:off x="90488" y="744538"/>
            <a:ext cx="6616700" cy="3722687"/>
          </a:xfrm>
          <a:ln/>
        </p:spPr>
      </p:sp>
      <p:sp>
        <p:nvSpPr>
          <p:cNvPr id="282627" name="Rectangle 3"/>
          <p:cNvSpPr>
            <a:spLocks noGrp="1" noChangeArrowheads="1"/>
          </p:cNvSpPr>
          <p:nvPr>
            <p:ph type="body" idx="1"/>
          </p:nvPr>
        </p:nvSpPr>
        <p:spPr/>
        <p:txBody>
          <a:bodyPr/>
          <a:lstStyle/>
          <a:p>
            <a:r>
              <a:rPr lang="en-US" dirty="0"/>
              <a:t>99% Accuracy but 1% Precision.</a:t>
            </a:r>
          </a:p>
          <a:p>
            <a:endParaRPr lang="en-US" dirty="0"/>
          </a:p>
          <a:p>
            <a:endParaRPr lang="en-US" dirty="0"/>
          </a:p>
          <a:p>
            <a:endParaRPr lang="en-US" dirty="0"/>
          </a:p>
          <a:p>
            <a:r>
              <a:rPr lang="en-US" dirty="0"/>
              <a:t>Precision = </a:t>
            </a:r>
          </a:p>
        </p:txBody>
      </p:sp>
    </p:spTree>
    <p:extLst>
      <p:ext uri="{BB962C8B-B14F-4D97-AF65-F5344CB8AC3E}">
        <p14:creationId xmlns:p14="http://schemas.microsoft.com/office/powerpoint/2010/main" val="2862757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F7C9C7-2DD7-45C2-AF89-B79A6FA38A4C}" type="slidenum">
              <a:rPr lang="en-US"/>
              <a:pPr/>
              <a:t>23</a:t>
            </a:fld>
            <a:endParaRPr lang="en-US"/>
          </a:p>
        </p:txBody>
      </p:sp>
      <p:sp>
        <p:nvSpPr>
          <p:cNvPr id="280578" name="Rectangle 2"/>
          <p:cNvSpPr>
            <a:spLocks noGrp="1" noRot="1" noChangeAspect="1" noChangeArrowheads="1" noTextEdit="1"/>
          </p:cNvSpPr>
          <p:nvPr>
            <p:ph type="sldImg"/>
          </p:nvPr>
        </p:nvSpPr>
        <p:spPr>
          <a:xfrm>
            <a:off x="90488" y="744538"/>
            <a:ext cx="6616700" cy="3722687"/>
          </a:xfrm>
          <a:ln/>
        </p:spPr>
      </p:sp>
      <p:sp>
        <p:nvSpPr>
          <p:cNvPr id="280579" name="Rectangle 3"/>
          <p:cNvSpPr>
            <a:spLocks noGrp="1" noChangeArrowheads="1"/>
          </p:cNvSpPr>
          <p:nvPr>
            <p:ph type="body" idx="1"/>
          </p:nvPr>
        </p:nvSpPr>
        <p:spPr/>
        <p:txBody>
          <a:bodyPr/>
          <a:lstStyle/>
          <a:p>
            <a:r>
              <a:rPr lang="en-US" dirty="0"/>
              <a:t>The “signature” here has</a:t>
            </a:r>
            <a:r>
              <a:rPr lang="en-US" baseline="0" dirty="0"/>
              <a:t> nothing to do with</a:t>
            </a:r>
            <a:r>
              <a:rPr lang="en-US" dirty="0"/>
              <a:t> “digital signatures”.</a:t>
            </a:r>
          </a:p>
          <a:p>
            <a:endParaRPr lang="en-US" dirty="0"/>
          </a:p>
          <a:p>
            <a:r>
              <a:rPr lang="en-US" dirty="0"/>
              <a:t>Low false alarm rates cos it is just a DB matching (</a:t>
            </a:r>
            <a:r>
              <a:rPr lang="en-US" dirty="0" err="1"/>
              <a:t>kinda</a:t>
            </a:r>
            <a:r>
              <a:rPr lang="en-US" dirty="0"/>
              <a:t>)</a:t>
            </a:r>
          </a:p>
          <a:p>
            <a:r>
              <a:rPr lang="en-US" dirty="0"/>
              <a:t>But bad is because if your DB don’t have that pattern, it will compromise.</a:t>
            </a:r>
          </a:p>
          <a:p>
            <a:endParaRPr lang="en-US" dirty="0"/>
          </a:p>
          <a:p>
            <a:r>
              <a:rPr lang="en-US" dirty="0"/>
              <a:t>Can detect </a:t>
            </a:r>
            <a:r>
              <a:rPr lang="en-US" dirty="0" err="1"/>
              <a:t>abnormalies</a:t>
            </a:r>
            <a:r>
              <a:rPr lang="en-US" dirty="0"/>
              <a:t> and can find abnormal network.</a:t>
            </a:r>
          </a:p>
          <a:p>
            <a:r>
              <a:rPr lang="en-US" dirty="0"/>
              <a:t>May have bad accuracy.</a:t>
            </a:r>
          </a:p>
          <a:p>
            <a:endParaRPr lang="en-US" dirty="0"/>
          </a:p>
          <a:p>
            <a:r>
              <a:rPr lang="en-US" dirty="0"/>
              <a:t>Usage of AI for anomaly based might be inaccurate, cause high false positive bad readings.</a:t>
            </a:r>
          </a:p>
          <a:p>
            <a:endParaRPr lang="en-US" dirty="0"/>
          </a:p>
        </p:txBody>
      </p:sp>
    </p:spTree>
    <p:extLst>
      <p:ext uri="{BB962C8B-B14F-4D97-AF65-F5344CB8AC3E}">
        <p14:creationId xmlns:p14="http://schemas.microsoft.com/office/powerpoint/2010/main" val="1144438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ECABBB-A5E8-4A02-8288-C79D67A9B21A}" type="slidenum">
              <a:rPr lang="en-US"/>
              <a:pPr/>
              <a:t>24</a:t>
            </a:fld>
            <a:endParaRPr lang="en-US"/>
          </a:p>
        </p:txBody>
      </p:sp>
      <p:sp>
        <p:nvSpPr>
          <p:cNvPr id="284674" name="Rectangle 2"/>
          <p:cNvSpPr>
            <a:spLocks noGrp="1" noRot="1" noChangeAspect="1" noChangeArrowheads="1" noTextEdit="1"/>
          </p:cNvSpPr>
          <p:nvPr>
            <p:ph type="sldImg"/>
          </p:nvPr>
        </p:nvSpPr>
        <p:spPr>
          <a:xfrm>
            <a:off x="90488" y="744538"/>
            <a:ext cx="6616700" cy="3722687"/>
          </a:xfrm>
          <a:ln/>
        </p:spPr>
      </p:sp>
      <p:sp>
        <p:nvSpPr>
          <p:cNvPr id="284675" name="Rectangle 3"/>
          <p:cNvSpPr>
            <a:spLocks noGrp="1" noChangeArrowheads="1"/>
          </p:cNvSpPr>
          <p:nvPr>
            <p:ph type="body" idx="1"/>
          </p:nvPr>
        </p:nvSpPr>
        <p:spPr/>
        <p:txBody>
          <a:bodyPr/>
          <a:lstStyle/>
          <a:p>
            <a:r>
              <a:rPr lang="en-US" dirty="0"/>
              <a:t>Not a single point of failure, both FW and IDS work together. </a:t>
            </a:r>
          </a:p>
          <a:p>
            <a:r>
              <a:rPr lang="en-US" dirty="0"/>
              <a:t>May have high rate of false predicts, may have single point of failure, and may not detect new attacks.</a:t>
            </a:r>
          </a:p>
        </p:txBody>
      </p:sp>
    </p:spTree>
    <p:extLst>
      <p:ext uri="{BB962C8B-B14F-4D97-AF65-F5344CB8AC3E}">
        <p14:creationId xmlns:p14="http://schemas.microsoft.com/office/powerpoint/2010/main" val="3723462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before the router. </a:t>
            </a:r>
          </a:p>
          <a:p>
            <a:r>
              <a:rPr lang="en-US" dirty="0"/>
              <a:t>Within router. But </a:t>
            </a:r>
            <a:r>
              <a:rPr lang="en-US" dirty="0" err="1"/>
              <a:t>perimter</a:t>
            </a:r>
            <a:r>
              <a:rPr lang="en-US" dirty="0"/>
              <a:t>.</a:t>
            </a:r>
          </a:p>
          <a:p>
            <a:r>
              <a:rPr lang="en-US" dirty="0"/>
              <a:t>Firewall between the ids?</a:t>
            </a:r>
          </a:p>
          <a:p>
            <a:endParaRPr lang="en-US" dirty="0"/>
          </a:p>
          <a:p>
            <a:r>
              <a:rPr lang="en-US" dirty="0"/>
              <a:t>IDS is the second layer </a:t>
            </a:r>
            <a:r>
              <a:rPr lang="en-US"/>
              <a:t>of secuirty</a:t>
            </a:r>
            <a:endParaRPr lang="en-US" dirty="0"/>
          </a:p>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25</a:t>
            </a:fld>
            <a:endParaRPr lang="en-US"/>
          </a:p>
        </p:txBody>
      </p:sp>
    </p:spTree>
    <p:extLst>
      <p:ext uri="{BB962C8B-B14F-4D97-AF65-F5344CB8AC3E}">
        <p14:creationId xmlns:p14="http://schemas.microsoft.com/office/powerpoint/2010/main" val="7660113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FB0FA2-B5BD-4CDF-A20B-54785D55F374}" type="slidenum">
              <a:rPr lang="en-US"/>
              <a:pPr/>
              <a:t>26</a:t>
            </a:fld>
            <a:endParaRPr lang="en-US"/>
          </a:p>
        </p:txBody>
      </p:sp>
      <p:sp>
        <p:nvSpPr>
          <p:cNvPr id="240642" name="Rectangle 2"/>
          <p:cNvSpPr>
            <a:spLocks noGrp="1" noRot="1" noChangeAspect="1" noChangeArrowheads="1" noTextEdit="1"/>
          </p:cNvSpPr>
          <p:nvPr>
            <p:ph type="sldImg"/>
          </p:nvPr>
        </p:nvSpPr>
        <p:spPr>
          <a:xfrm>
            <a:off x="90488" y="744538"/>
            <a:ext cx="6616700" cy="3722687"/>
          </a:xfrm>
          <a:ln/>
        </p:spPr>
      </p:sp>
      <p:sp>
        <p:nvSpPr>
          <p:cNvPr id="240643" name="Rectangle 3"/>
          <p:cNvSpPr>
            <a:spLocks noGrp="1" noChangeArrowheads="1"/>
          </p:cNvSpPr>
          <p:nvPr>
            <p:ph type="body" idx="1"/>
          </p:nvPr>
        </p:nvSpPr>
        <p:spPr/>
        <p:txBody>
          <a:bodyPr/>
          <a:lstStyle/>
          <a:p>
            <a:r>
              <a:rPr lang="en-US" dirty="0"/>
              <a:t>In the real</a:t>
            </a:r>
            <a:r>
              <a:rPr lang="en-US" baseline="0" dirty="0"/>
              <a:t> standard, SSL also supports client-end authentication. However, since most users do not have public key certificates, client-end authentication is not practical.   </a:t>
            </a:r>
          </a:p>
          <a:p>
            <a:r>
              <a:rPr lang="en-US" baseline="0" dirty="0"/>
              <a:t>Firewall conducts filtering (payload or </a:t>
            </a:r>
            <a:r>
              <a:rPr lang="en-US" baseline="0" dirty="0" err="1"/>
              <a:t>ip</a:t>
            </a:r>
            <a:r>
              <a:rPr lang="en-US" baseline="0" dirty="0"/>
              <a:t> address/port).</a:t>
            </a:r>
          </a:p>
          <a:p>
            <a:r>
              <a:rPr lang="en-US" baseline="0" dirty="0"/>
              <a:t>How to protect data in transit? -&gt; SSL and TLS is </a:t>
            </a:r>
            <a:r>
              <a:rPr lang="en-US" baseline="0" dirty="0" err="1"/>
              <a:t>ususually</a:t>
            </a:r>
            <a:r>
              <a:rPr lang="en-US" baseline="0" dirty="0"/>
              <a:t> used in confidentiality and integrity -&gt; usually above transport layer, below application layer.</a:t>
            </a:r>
          </a:p>
          <a:p>
            <a:r>
              <a:rPr lang="en-US" baseline="0" dirty="0"/>
              <a:t>TCP and IP layer will do </a:t>
            </a:r>
            <a:r>
              <a:rPr lang="en-US" baseline="0" dirty="0" err="1"/>
              <a:t>Ipsec</a:t>
            </a:r>
            <a:r>
              <a:rPr lang="en-US" baseline="0" dirty="0"/>
              <a:t> -&gt; filtering?</a:t>
            </a:r>
          </a:p>
          <a:p>
            <a:endParaRPr lang="en-US" baseline="0" dirty="0"/>
          </a:p>
        </p:txBody>
      </p:sp>
    </p:spTree>
    <p:extLst>
      <p:ext uri="{BB962C8B-B14F-4D97-AF65-F5344CB8AC3E}">
        <p14:creationId xmlns:p14="http://schemas.microsoft.com/office/powerpoint/2010/main" val="39423786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27</a:t>
            </a:fld>
            <a:endParaRPr lang="en-US"/>
          </a:p>
        </p:txBody>
      </p:sp>
    </p:spTree>
    <p:extLst>
      <p:ext uri="{BB962C8B-B14F-4D97-AF65-F5344CB8AC3E}">
        <p14:creationId xmlns:p14="http://schemas.microsoft.com/office/powerpoint/2010/main" val="2788592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 does not ensure that person is the real server or not. Just show the keys belong to this person.</a:t>
            </a:r>
          </a:p>
          <a:p>
            <a:r>
              <a:rPr lang="en-US" dirty="0"/>
              <a:t>To know if the person is truly the real server, you need to test it to see if it knows the private key or not .</a:t>
            </a:r>
          </a:p>
          <a:p>
            <a:endParaRPr lang="en-US"/>
          </a:p>
          <a:p>
            <a:endParaRPr lang="en-US"/>
          </a:p>
        </p:txBody>
      </p:sp>
      <p:sp>
        <p:nvSpPr>
          <p:cNvPr id="4" name="Slide Number Placeholder 3"/>
          <p:cNvSpPr>
            <a:spLocks noGrp="1"/>
          </p:cNvSpPr>
          <p:nvPr>
            <p:ph type="sldNum" sz="quarter" idx="5"/>
          </p:nvPr>
        </p:nvSpPr>
        <p:spPr/>
        <p:txBody>
          <a:bodyPr/>
          <a:lstStyle/>
          <a:p>
            <a:fld id="{1CFD4FAC-B258-624A-81B3-9D14B0086038}" type="slidenum">
              <a:rPr lang="en-US" smtClean="0"/>
              <a:t>28</a:t>
            </a:fld>
            <a:endParaRPr lang="en-US"/>
          </a:p>
        </p:txBody>
      </p:sp>
    </p:spTree>
    <p:extLst>
      <p:ext uri="{BB962C8B-B14F-4D97-AF65-F5344CB8AC3E}">
        <p14:creationId xmlns:p14="http://schemas.microsoft.com/office/powerpoint/2010/main" val="4114366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3C8B3C7-F319-40B0-BC6F-58A2AADBDD19}" type="slidenum">
              <a:rPr lang="en-US" smtClean="0"/>
              <a:pPr/>
              <a:t>29</a:t>
            </a:fld>
            <a:endParaRPr lang="en-US"/>
          </a:p>
        </p:txBody>
      </p:sp>
    </p:spTree>
    <p:extLst>
      <p:ext uri="{BB962C8B-B14F-4D97-AF65-F5344CB8AC3E}">
        <p14:creationId xmlns:p14="http://schemas.microsoft.com/office/powerpoint/2010/main" val="199106838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3" name="Text Placeholder 2">
            <a:extLst>
              <a:ext uri="{FF2B5EF4-FFF2-40B4-BE49-F238E27FC236}">
                <a16:creationId xmlns:a16="http://schemas.microsoft.com/office/drawing/2014/main" id="{CA5F7416-A3F0-4B2C-8382-6FB636DAF2E5}"/>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sp>
        <p:nvSpPr>
          <p:cNvPr id="14" name="TextBox 13">
            <a:extLst>
              <a:ext uri="{FF2B5EF4-FFF2-40B4-BE49-F238E27FC236}">
                <a16:creationId xmlns:a16="http://schemas.microsoft.com/office/drawing/2014/main" id="{E574CF7D-A872-4DD3-8F5C-DBA67CFC686C}"/>
              </a:ext>
            </a:extLst>
          </p:cNvPr>
          <p:cNvSpPr txBox="1"/>
          <p:nvPr userDrawn="1"/>
        </p:nvSpPr>
        <p:spPr>
          <a:xfrm>
            <a:off x="3041" y="4696518"/>
            <a:ext cx="12188959" cy="338554"/>
          </a:xfrm>
          <a:prstGeom prst="rect">
            <a:avLst/>
          </a:prstGeom>
          <a:noFill/>
        </p:spPr>
        <p:txBody>
          <a:bodyPr wrap="square">
            <a:spAutoFit/>
          </a:bodyPr>
          <a:lstStyle/>
          <a:p>
            <a:pPr algn="r"/>
            <a:r>
              <a:rPr lang="en-US" altLang="en-US" sz="1600" b="0" spc="0" dirty="0">
                <a:latin typeface="Arial Nova Light" panose="020B0304020202020204" pitchFamily="34" charset="0"/>
                <a:ea typeface="Roboto" panose="020B0604020202020204" pitchFamily="2" charset="0"/>
              </a:rPr>
              <a:t>Presented By: Shar Lwin </a:t>
            </a:r>
            <a:r>
              <a:rPr lang="en-US" altLang="en-US" sz="1600" b="0" spc="0" dirty="0" err="1">
                <a:latin typeface="Arial Nova Light" panose="020B0304020202020204" pitchFamily="34" charset="0"/>
                <a:ea typeface="Roboto" panose="020B0604020202020204" pitchFamily="2" charset="0"/>
              </a:rPr>
              <a:t>Khin</a:t>
            </a:r>
            <a:endParaRPr lang="en-SG" sz="1600" b="0" spc="0" dirty="0">
              <a:latin typeface="Arial Nova Light" panose="020B0304020202020204" pitchFamily="34" charset="0"/>
            </a:endParaRPr>
          </a:p>
        </p:txBody>
      </p:sp>
      <p:grpSp>
        <p:nvGrpSpPr>
          <p:cNvPr id="19" name="Group 18">
            <a:extLst>
              <a:ext uri="{FF2B5EF4-FFF2-40B4-BE49-F238E27FC236}">
                <a16:creationId xmlns:a16="http://schemas.microsoft.com/office/drawing/2014/main" id="{75375691-E25A-463F-A244-33D5283ECA07}"/>
              </a:ext>
            </a:extLst>
          </p:cNvPr>
          <p:cNvGrpSpPr/>
          <p:nvPr userDrawn="1"/>
        </p:nvGrpSpPr>
        <p:grpSpPr>
          <a:xfrm>
            <a:off x="219412" y="142004"/>
            <a:ext cx="3078914" cy="546273"/>
            <a:chOff x="798998" y="4391812"/>
            <a:chExt cx="3252915" cy="577145"/>
          </a:xfrm>
        </p:grpSpPr>
        <p:pic>
          <p:nvPicPr>
            <p:cNvPr id="20" name="Graphic 19">
              <a:extLst>
                <a:ext uri="{FF2B5EF4-FFF2-40B4-BE49-F238E27FC236}">
                  <a16:creationId xmlns:a16="http://schemas.microsoft.com/office/drawing/2014/main" id="{B4E13C30-8D5A-4621-B756-E54226B0312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21" name="Graphic 20">
              <a:extLst>
                <a:ext uri="{FF2B5EF4-FFF2-40B4-BE49-F238E27FC236}">
                  <a16:creationId xmlns:a16="http://schemas.microsoft.com/office/drawing/2014/main" id="{DA55FD92-6D03-43FA-AF8F-FC98AD97B56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3523435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No presented by)">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5" name="Text Placeholder 2">
            <a:extLst>
              <a:ext uri="{FF2B5EF4-FFF2-40B4-BE49-F238E27FC236}">
                <a16:creationId xmlns:a16="http://schemas.microsoft.com/office/drawing/2014/main" id="{EE169A0C-E452-4AAB-92DC-2B26D2D761D6}"/>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grpSp>
        <p:nvGrpSpPr>
          <p:cNvPr id="17" name="Group 16">
            <a:extLst>
              <a:ext uri="{FF2B5EF4-FFF2-40B4-BE49-F238E27FC236}">
                <a16:creationId xmlns:a16="http://schemas.microsoft.com/office/drawing/2014/main" id="{F87F7D5D-9E6A-4F19-BC0E-EEA8CF4CCCFB}"/>
              </a:ext>
            </a:extLst>
          </p:cNvPr>
          <p:cNvGrpSpPr/>
          <p:nvPr userDrawn="1"/>
        </p:nvGrpSpPr>
        <p:grpSpPr>
          <a:xfrm>
            <a:off x="219412" y="142004"/>
            <a:ext cx="3078914" cy="546273"/>
            <a:chOff x="798998" y="4391812"/>
            <a:chExt cx="3252915" cy="577145"/>
          </a:xfrm>
        </p:grpSpPr>
        <p:pic>
          <p:nvPicPr>
            <p:cNvPr id="18" name="Graphic 17">
              <a:extLst>
                <a:ext uri="{FF2B5EF4-FFF2-40B4-BE49-F238E27FC236}">
                  <a16:creationId xmlns:a16="http://schemas.microsoft.com/office/drawing/2014/main" id="{EF83F0FF-C3A1-4B8A-901B-5D525AE805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19" name="Graphic 18">
              <a:extLst>
                <a:ext uri="{FF2B5EF4-FFF2-40B4-BE49-F238E27FC236}">
                  <a16:creationId xmlns:a16="http://schemas.microsoft.com/office/drawing/2014/main" id="{32BA6559-BBDA-45C5-9199-66F8C4F0449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83432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31952-8378-46DA-9488-641778451731}"/>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SG" dirty="0"/>
          </a:p>
        </p:txBody>
      </p:sp>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0" y="2851952"/>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Autofit/>
          </a:bodyPr>
          <a:lstStyle>
            <a:lvl1pPr algn="l">
              <a:defRPr sz="4000">
                <a:latin typeface="Arial Nova" panose="020B0504020202020204" pitchFamily="34" charset="0"/>
              </a:defRPr>
            </a:lvl1pPr>
          </a:lstStyle>
          <a:p>
            <a:r>
              <a:rPr lang="en-GB" dirty="0"/>
              <a:t>Header Here</a:t>
            </a:r>
            <a:endParaRPr lang="en-US" dirty="0"/>
          </a:p>
        </p:txBody>
      </p:sp>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1" name="Text Placeholder 2">
            <a:extLst>
              <a:ext uri="{FF2B5EF4-FFF2-40B4-BE49-F238E27FC236}">
                <a16:creationId xmlns:a16="http://schemas.microsoft.com/office/drawing/2014/main" id="{1A420E72-2781-4109-9E57-B95FAD77AD31}"/>
              </a:ext>
            </a:extLst>
          </p:cNvPr>
          <p:cNvSpPr>
            <a:spLocks noGrp="1"/>
          </p:cNvSpPr>
          <p:nvPr>
            <p:ph type="body" idx="10" hasCustomPrompt="1"/>
          </p:nvPr>
        </p:nvSpPr>
        <p:spPr>
          <a:xfrm>
            <a:off x="-3041" y="3437316"/>
            <a:ext cx="10843491" cy="363116"/>
          </a:xfrm>
        </p:spPr>
        <p:txBody>
          <a:bodyPr lIns="360000" rIns="360000" anchor="ctr">
            <a:normAutofit/>
          </a:bodyPr>
          <a:lstStyle>
            <a:lvl1pPr marL="0" indent="0" algn="l">
              <a:buNone/>
              <a:defRPr sz="16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Flavour Text Here</a:t>
            </a:r>
          </a:p>
        </p:txBody>
      </p:sp>
      <p:grpSp>
        <p:nvGrpSpPr>
          <p:cNvPr id="16" name="Group 15">
            <a:extLst>
              <a:ext uri="{FF2B5EF4-FFF2-40B4-BE49-F238E27FC236}">
                <a16:creationId xmlns:a16="http://schemas.microsoft.com/office/drawing/2014/main" id="{6E4BDADD-B6C7-4717-9148-0B325B4E0F79}"/>
              </a:ext>
            </a:extLst>
          </p:cNvPr>
          <p:cNvGrpSpPr/>
          <p:nvPr userDrawn="1"/>
        </p:nvGrpSpPr>
        <p:grpSpPr>
          <a:xfrm>
            <a:off x="219412" y="142004"/>
            <a:ext cx="3078914" cy="546273"/>
            <a:chOff x="798998" y="4391812"/>
            <a:chExt cx="3252915" cy="577145"/>
          </a:xfrm>
        </p:grpSpPr>
        <p:pic>
          <p:nvPicPr>
            <p:cNvPr id="17" name="Graphic 16">
              <a:extLst>
                <a:ext uri="{FF2B5EF4-FFF2-40B4-BE49-F238E27FC236}">
                  <a16:creationId xmlns:a16="http://schemas.microsoft.com/office/drawing/2014/main" id="{58586D31-15C5-425D-85E1-187339544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6662" y="4391812"/>
              <a:ext cx="1635251" cy="577145"/>
            </a:xfrm>
            <a:prstGeom prst="rect">
              <a:avLst/>
            </a:prstGeom>
          </p:spPr>
        </p:pic>
        <p:pic>
          <p:nvPicPr>
            <p:cNvPr id="18" name="Graphic 17">
              <a:extLst>
                <a:ext uri="{FF2B5EF4-FFF2-40B4-BE49-F238E27FC236}">
                  <a16:creationId xmlns:a16="http://schemas.microsoft.com/office/drawing/2014/main" id="{D9C1CDC5-8FDA-44C4-ADA3-EC69A58B1F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138025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sX0" fmla="*/ 0 w 10840451"/>
              <a:gd name="csY0" fmla="*/ 0 h 584828"/>
              <a:gd name="csX1" fmla="*/ 10840451 w 10840451"/>
              <a:gd name="csY1" fmla="*/ 0 h 584828"/>
              <a:gd name="csX2" fmla="*/ 10840451 w 10840451"/>
              <a:gd name="csY2" fmla="*/ 584828 h 584828"/>
              <a:gd name="csX3" fmla="*/ 0 w 10840451"/>
              <a:gd name="csY3" fmla="*/ 584828 h 584828"/>
              <a:gd name="csX4" fmla="*/ 0 w 10840451"/>
              <a:gd name="csY4" fmla="*/ 0 h 584828"/>
            </a:gdLst>
            <a:ahLst/>
            <a:cxnLst>
              <a:cxn ang="0">
                <a:pos x="csX0" y="csY0"/>
              </a:cxn>
              <a:cxn ang="0">
                <a:pos x="csX1" y="csY1"/>
              </a:cxn>
              <a:cxn ang="0">
                <a:pos x="csX2" y="csY2"/>
              </a:cxn>
              <a:cxn ang="0">
                <a:pos x="csX3" y="csY3"/>
              </a:cxn>
              <a:cxn ang="0">
                <a:pos x="csX4" y="cs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4019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9907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p:cNvSpPr>
            <a:spLocks noGrp="1"/>
          </p:cNvSpPr>
          <p:nvPr>
            <p:ph type="sldNum" sz="quarter" idx="12"/>
          </p:nvPr>
        </p:nvSpPr>
        <p:spPr/>
        <p:txBody>
          <a:bodyPr/>
          <a:lstStyle>
            <a:lvl1pPr>
              <a:defRPr/>
            </a:lvl1pPr>
          </a:lstStyle>
          <a:p>
            <a:pPr>
              <a:defRPr/>
            </a:pPr>
            <a:endParaRPr lang="en-US" dirty="0"/>
          </a:p>
        </p:txBody>
      </p:sp>
    </p:spTree>
    <p:extLst>
      <p:ext uri="{BB962C8B-B14F-4D97-AF65-F5344CB8AC3E}">
        <p14:creationId xmlns:p14="http://schemas.microsoft.com/office/powerpoint/2010/main" val="4135888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sv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58824"/>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CB7AF6B-0044-4409-B454-9A80AC9E8B75}"/>
              </a:ext>
            </a:extLst>
          </p:cNvPr>
          <p:cNvSpPr/>
          <p:nvPr userDrawn="1"/>
        </p:nvSpPr>
        <p:spPr>
          <a:xfrm>
            <a:off x="0" y="6298033"/>
            <a:ext cx="12188959" cy="584828"/>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Placeholder 1"/>
          <p:cNvSpPr>
            <a:spLocks noGrp="1"/>
          </p:cNvSpPr>
          <p:nvPr>
            <p:ph type="title"/>
          </p:nvPr>
        </p:nvSpPr>
        <p:spPr>
          <a:xfrm>
            <a:off x="513349" y="30834"/>
            <a:ext cx="10840451"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513349" y="1465007"/>
            <a:ext cx="10840451" cy="472331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Box 3">
            <a:extLst>
              <a:ext uri="{FF2B5EF4-FFF2-40B4-BE49-F238E27FC236}">
                <a16:creationId xmlns:a16="http://schemas.microsoft.com/office/drawing/2014/main" id="{297ECBE6-2E2A-4698-82E4-D7E7B0744F06}"/>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grpSp>
        <p:nvGrpSpPr>
          <p:cNvPr id="34" name="Group 33">
            <a:extLst>
              <a:ext uri="{FF2B5EF4-FFF2-40B4-BE49-F238E27FC236}">
                <a16:creationId xmlns:a16="http://schemas.microsoft.com/office/drawing/2014/main" id="{EC7DA68C-E182-408B-8C2D-0709B36851EC}"/>
              </a:ext>
            </a:extLst>
          </p:cNvPr>
          <p:cNvGrpSpPr/>
          <p:nvPr userDrawn="1"/>
        </p:nvGrpSpPr>
        <p:grpSpPr>
          <a:xfrm>
            <a:off x="234855" y="6392470"/>
            <a:ext cx="2205449" cy="391250"/>
            <a:chOff x="798998" y="4391812"/>
            <a:chExt cx="3253331" cy="577145"/>
          </a:xfrm>
        </p:grpSpPr>
        <p:pic>
          <p:nvPicPr>
            <p:cNvPr id="35" name="Graphic 34">
              <a:extLst>
                <a:ext uri="{FF2B5EF4-FFF2-40B4-BE49-F238E27FC236}">
                  <a16:creationId xmlns:a16="http://schemas.microsoft.com/office/drawing/2014/main" id="{841ED958-BA93-481F-B5A4-8C585F19867F}"/>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7079" y="4391812"/>
              <a:ext cx="1635250" cy="577145"/>
            </a:xfrm>
            <a:prstGeom prst="rect">
              <a:avLst/>
            </a:prstGeom>
          </p:spPr>
        </p:pic>
        <p:pic>
          <p:nvPicPr>
            <p:cNvPr id="36" name="Graphic 35">
              <a:extLst>
                <a:ext uri="{FF2B5EF4-FFF2-40B4-BE49-F238E27FC236}">
                  <a16:creationId xmlns:a16="http://schemas.microsoft.com/office/drawing/2014/main" id="{1DA310D7-2E97-4E16-B93B-5F9ABF7D93DC}"/>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
        <p:nvSpPr>
          <p:cNvPr id="6" name="TextBox 5">
            <a:extLst>
              <a:ext uri="{FF2B5EF4-FFF2-40B4-BE49-F238E27FC236}">
                <a16:creationId xmlns:a16="http://schemas.microsoft.com/office/drawing/2014/main" id="{5A11800F-FAE9-E6F8-2239-FA829BB634AB}"/>
              </a:ext>
            </a:extLst>
          </p:cNvPr>
          <p:cNvSpPr txBox="1"/>
          <p:nvPr userDrawn="1">
            <p:extLst>
              <p:ext uri="{1162E1C5-73C7-4A58-AE30-91384D911F3F}">
                <p184:classification xmlns:p184="http://schemas.microsoft.com/office/powerpoint/2018/4/main" val="hdr"/>
              </p:ext>
            </p:extLst>
          </p:nvPr>
        </p:nvSpPr>
        <p:spPr>
          <a:xfrm>
            <a:off x="5480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3286693295"/>
      </p:ext>
    </p:extLst>
  </p:cSld>
  <p:clrMap bg1="lt1" tx1="dk1" bg2="lt2" tx2="dk2" accent1="accent1" accent2="accent2" accent3="accent3" accent4="accent4" accent5="accent5" accent6="accent6" hlink="hlink" folHlink="folHlink"/>
  <p:sldLayoutIdLst>
    <p:sldLayoutId id="2147483798" r:id="rId1"/>
    <p:sldLayoutId id="2147483818" r:id="rId2"/>
    <p:sldLayoutId id="2147483806" r:id="rId3"/>
    <p:sldLayoutId id="2147483804" r:id="rId4"/>
    <p:sldLayoutId id="2147483807" r:id="rId5"/>
    <p:sldLayoutId id="2147483819" r:id="rId6"/>
  </p:sldLayoutIdLst>
  <p:hf sldNum="0" hdr="0" ftr="0" dt="0"/>
  <p:txStyles>
    <p:titleStyle>
      <a:lvl1pPr algn="l" defTabSz="685800" rtl="0" eaLnBrk="1" latinLnBrk="0" hangingPunct="1">
        <a:lnSpc>
          <a:spcPct val="90000"/>
        </a:lnSpc>
        <a:spcBef>
          <a:spcPct val="0"/>
        </a:spcBef>
        <a:buNone/>
        <a:defRPr sz="3200" b="1"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p:titleStyle>
    <p:body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2.e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7.wmf"/><Relationship Id="rId4" Type="http://schemas.openxmlformats.org/officeDocument/2006/relationships/image" Target="../media/image16.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video" Target="https://www.youtube.com/embed/kDEX1HXybrU?feature=oembed" TargetMode="External"/><Relationship Id="rId5" Type="http://schemas.openxmlformats.org/officeDocument/2006/relationships/hyperlink" Target="https://www.youtube.com/watch?v=kDEX1HXybrU" TargetMode="Externa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23.emf"/><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5C42D3-0624-904C-8690-363EFE80F730}"/>
              </a:ext>
            </a:extLst>
          </p:cNvPr>
          <p:cNvSpPr>
            <a:spLocks noGrp="1"/>
          </p:cNvSpPr>
          <p:nvPr>
            <p:ph type="body" idx="10"/>
          </p:nvPr>
        </p:nvSpPr>
        <p:spPr/>
        <p:txBody>
          <a:bodyPr/>
          <a:lstStyle/>
          <a:p>
            <a:r>
              <a:rPr lang="en-US" dirty="0"/>
              <a:t>Network Security</a:t>
            </a:r>
          </a:p>
        </p:txBody>
      </p:sp>
    </p:spTree>
    <p:extLst>
      <p:ext uri="{BB962C8B-B14F-4D97-AF65-F5344CB8AC3E}">
        <p14:creationId xmlns:p14="http://schemas.microsoft.com/office/powerpoint/2010/main" val="235947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Overview</a:t>
            </a:r>
            <a:endParaRPr lang="en-US" dirty="0"/>
          </a:p>
        </p:txBody>
      </p:sp>
      <p:sp>
        <p:nvSpPr>
          <p:cNvPr id="6" name="Text Placeholder 5">
            <a:extLst>
              <a:ext uri="{FF2B5EF4-FFF2-40B4-BE49-F238E27FC236}">
                <a16:creationId xmlns:a16="http://schemas.microsoft.com/office/drawing/2014/main" id="{C603FB6C-6D64-1044-8A2A-F3F85A6FCD6C}"/>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normAutofit/>
          </a:bodyPr>
          <a:lstStyle/>
          <a:p>
            <a:r>
              <a:rPr lang="en-US" sz="2000" dirty="0"/>
              <a:t>Content</a:t>
            </a:r>
          </a:p>
          <a:p>
            <a:pPr lvl="1"/>
            <a:r>
              <a:rPr lang="en-US" sz="2000" dirty="0"/>
              <a:t>Introduction</a:t>
            </a:r>
          </a:p>
          <a:p>
            <a:pPr lvl="1"/>
            <a:r>
              <a:rPr lang="en-US" altLang="zh-CN" sz="2000" dirty="0">
                <a:ea typeface="宋体" charset="-122"/>
              </a:rPr>
              <a:t>Firewall (FW)</a:t>
            </a:r>
          </a:p>
          <a:p>
            <a:pPr lvl="1"/>
            <a:r>
              <a:rPr lang="en-US" altLang="zh-CN" sz="2000" dirty="0">
                <a:ea typeface="宋体" charset="-122"/>
              </a:rPr>
              <a:t>Intrusion Detection System (IDS)</a:t>
            </a:r>
          </a:p>
          <a:p>
            <a:pPr lvl="1"/>
            <a:r>
              <a:rPr lang="en-US" sz="2000" dirty="0"/>
              <a:t>SSL/TLS</a:t>
            </a:r>
            <a:endParaRPr lang="en-US" altLang="zh-CN" sz="2000" dirty="0">
              <a:ea typeface="宋体" charset="-122"/>
            </a:endParaRPr>
          </a:p>
          <a:p>
            <a:pPr marL="342900" lvl="1" indent="0">
              <a:buNone/>
            </a:pPr>
            <a:endParaRPr lang="en-US" sz="2000" dirty="0"/>
          </a:p>
          <a:p>
            <a:r>
              <a:rPr lang="en-US" sz="2000" dirty="0"/>
              <a:t>After this module, you should be able to</a:t>
            </a:r>
          </a:p>
          <a:p>
            <a:pPr lvl="1"/>
            <a:r>
              <a:rPr lang="en-US" sz="2000" dirty="0"/>
              <a:t>Describe what network firewall is and its applications</a:t>
            </a:r>
          </a:p>
          <a:p>
            <a:pPr lvl="1"/>
            <a:r>
              <a:rPr lang="en-US" sz="2000" dirty="0"/>
              <a:t>Describe what intrusion detection system is and its applications</a:t>
            </a:r>
          </a:p>
          <a:p>
            <a:pPr lvl="1"/>
            <a:r>
              <a:rPr lang="en-US" sz="2000" dirty="0"/>
              <a:t>Describe the SSL/TLS workflow</a:t>
            </a:r>
          </a:p>
        </p:txBody>
      </p:sp>
    </p:spTree>
    <p:extLst>
      <p:ext uri="{BB962C8B-B14F-4D97-AF65-F5344CB8AC3E}">
        <p14:creationId xmlns:p14="http://schemas.microsoft.com/office/powerpoint/2010/main" val="32326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Communication between computers</a:t>
            </a:r>
          </a:p>
        </p:txBody>
      </p:sp>
      <p:sp>
        <p:nvSpPr>
          <p:cNvPr id="4" name="Text Placeholder 3">
            <a:extLst>
              <a:ext uri="{FF2B5EF4-FFF2-40B4-BE49-F238E27FC236}">
                <a16:creationId xmlns:a16="http://schemas.microsoft.com/office/drawing/2014/main" id="{CCCA99FD-74C0-2D00-D025-233C17490E49}"/>
              </a:ext>
            </a:extLst>
          </p:cNvPr>
          <p:cNvSpPr>
            <a:spLocks noGrp="1"/>
          </p:cNvSpPr>
          <p:nvPr>
            <p:ph type="body" idx="11"/>
          </p:nvPr>
        </p:nvSpPr>
        <p:spPr/>
        <p:txBody>
          <a:bodyPr/>
          <a:lstStyle/>
          <a:p>
            <a:r>
              <a:rPr lang="en-SG" dirty="0"/>
              <a:t>Non Examinable.</a:t>
            </a:r>
          </a:p>
        </p:txBody>
      </p:sp>
      <p:sp>
        <p:nvSpPr>
          <p:cNvPr id="390148" name="Line 4"/>
          <p:cNvSpPr>
            <a:spLocks noChangeShapeType="1"/>
          </p:cNvSpPr>
          <p:nvPr/>
        </p:nvSpPr>
        <p:spPr bwMode="auto">
          <a:xfrm flipH="1">
            <a:off x="6858000" y="4410075"/>
            <a:ext cx="457200" cy="1066800"/>
          </a:xfrm>
          <a:prstGeom prst="line">
            <a:avLst/>
          </a:prstGeom>
          <a:noFill/>
          <a:ln w="9525">
            <a:solidFill>
              <a:schemeClr val="tx1"/>
            </a:solidFill>
            <a:round/>
            <a:headEnd/>
            <a:tailEnd/>
          </a:ln>
          <a:effectLst/>
        </p:spPr>
        <p:txBody>
          <a:bodyPr/>
          <a:lstStyle/>
          <a:p>
            <a:endParaRPr lang="en-US"/>
          </a:p>
        </p:txBody>
      </p:sp>
      <p:sp>
        <p:nvSpPr>
          <p:cNvPr id="390149" name="Line 5"/>
          <p:cNvSpPr>
            <a:spLocks noChangeShapeType="1"/>
          </p:cNvSpPr>
          <p:nvPr/>
        </p:nvSpPr>
        <p:spPr bwMode="auto">
          <a:xfrm>
            <a:off x="5029200" y="4486275"/>
            <a:ext cx="381000" cy="914400"/>
          </a:xfrm>
          <a:prstGeom prst="line">
            <a:avLst/>
          </a:prstGeom>
          <a:noFill/>
          <a:ln w="9525">
            <a:solidFill>
              <a:schemeClr val="tx1"/>
            </a:solidFill>
            <a:round/>
            <a:headEnd/>
            <a:tailEnd/>
          </a:ln>
          <a:effectLst/>
        </p:spPr>
        <p:txBody>
          <a:bodyPr/>
          <a:lstStyle/>
          <a:p>
            <a:endParaRPr lang="en-US"/>
          </a:p>
        </p:txBody>
      </p:sp>
      <p:graphicFrame>
        <p:nvGraphicFramePr>
          <p:cNvPr id="390150" name="Object 6">
            <a:hlinkClick r:id="" action="ppaction://ole?verb=0"/>
          </p:cNvPr>
          <p:cNvGraphicFramePr>
            <a:graphicFrameLocks/>
          </p:cNvGraphicFramePr>
          <p:nvPr/>
        </p:nvGraphicFramePr>
        <p:xfrm>
          <a:off x="3733800" y="3810001"/>
          <a:ext cx="2027238" cy="833438"/>
        </p:xfrm>
        <a:graphic>
          <a:graphicData uri="http://schemas.openxmlformats.org/presentationml/2006/ole">
            <mc:AlternateContent xmlns:mc="http://schemas.openxmlformats.org/markup-compatibility/2006">
              <mc:Choice xmlns:v="urn:schemas-microsoft-com:vml" Requires="v">
                <p:oleObj name="CorelDRAW!" r:id="rId3" imgW="3932238" imgH="2138363" progId="">
                  <p:embed/>
                </p:oleObj>
              </mc:Choice>
              <mc:Fallback>
                <p:oleObj name="CorelDRAW!" r:id="rId3" imgW="3932238" imgH="2138363" progId="">
                  <p:embed/>
                  <p:pic>
                    <p:nvPicPr>
                      <p:cNvPr id="390150" name="Object 6">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3810001"/>
                        <a:ext cx="2027238" cy="833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90151" name="Object 7">
            <a:hlinkClick r:id="" action="ppaction://ole?verb=0"/>
          </p:cNvPr>
          <p:cNvGraphicFramePr>
            <a:graphicFrameLocks/>
          </p:cNvGraphicFramePr>
          <p:nvPr/>
        </p:nvGraphicFramePr>
        <p:xfrm>
          <a:off x="6553201" y="3657601"/>
          <a:ext cx="1904999" cy="857250"/>
        </p:xfrm>
        <a:graphic>
          <a:graphicData uri="http://schemas.openxmlformats.org/presentationml/2006/ole">
            <mc:AlternateContent xmlns:mc="http://schemas.openxmlformats.org/markup-compatibility/2006">
              <mc:Choice xmlns:v="urn:schemas-microsoft-com:vml" Requires="v">
                <p:oleObj name="CorelDRAW!" r:id="rId3" imgW="3932238" imgH="2138363" progId="">
                  <p:embed/>
                </p:oleObj>
              </mc:Choice>
              <mc:Fallback>
                <p:oleObj name="CorelDRAW!" r:id="rId3" imgW="3932238" imgH="2138363" progId="">
                  <p:embed/>
                  <p:pic>
                    <p:nvPicPr>
                      <p:cNvPr id="390151" name="Object 7">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1" y="3657601"/>
                        <a:ext cx="1904999" cy="857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90152" name="Object 8">
            <a:hlinkClick r:id="" action="ppaction://ole?verb=0"/>
          </p:cNvPr>
          <p:cNvGraphicFramePr>
            <a:graphicFrameLocks/>
          </p:cNvGraphicFramePr>
          <p:nvPr/>
        </p:nvGraphicFramePr>
        <p:xfrm>
          <a:off x="4876800" y="5172076"/>
          <a:ext cx="2484438" cy="842963"/>
        </p:xfrm>
        <a:graphic>
          <a:graphicData uri="http://schemas.openxmlformats.org/presentationml/2006/ole">
            <mc:AlternateContent xmlns:mc="http://schemas.openxmlformats.org/markup-compatibility/2006">
              <mc:Choice xmlns:v="urn:schemas-microsoft-com:vml" Requires="v">
                <p:oleObj name="CorelDRAW!" r:id="rId5" imgW="3932238" imgH="2138363" progId="">
                  <p:embed/>
                </p:oleObj>
              </mc:Choice>
              <mc:Fallback>
                <p:oleObj name="CorelDRAW!" r:id="rId5" imgW="3932238" imgH="2138363" progId="">
                  <p:embed/>
                  <p:pic>
                    <p:nvPicPr>
                      <p:cNvPr id="390152" name="Object 8">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5172076"/>
                        <a:ext cx="2484438" cy="842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90153" name="Text Box 9"/>
          <p:cNvSpPr txBox="1">
            <a:spLocks noChangeArrowheads="1"/>
          </p:cNvSpPr>
          <p:nvPr/>
        </p:nvSpPr>
        <p:spPr bwMode="auto">
          <a:xfrm>
            <a:off x="5480050" y="5405438"/>
            <a:ext cx="1123950" cy="366712"/>
          </a:xfrm>
          <a:prstGeom prst="rect">
            <a:avLst/>
          </a:prstGeom>
          <a:noFill/>
          <a:ln w="9525" algn="ctr">
            <a:noFill/>
            <a:miter lim="800000"/>
            <a:headEnd/>
            <a:tailEnd/>
          </a:ln>
          <a:effectLst/>
        </p:spPr>
        <p:txBody>
          <a:bodyPr wrap="none">
            <a:spAutoFit/>
          </a:bodyPr>
          <a:lstStyle/>
          <a:p>
            <a:pPr marL="469900" indent="-469900"/>
            <a:r>
              <a:rPr lang="en-US">
                <a:latin typeface="Comic Sans MS" pitchFamily="66" charset="0"/>
              </a:rPr>
              <a:t>Internet</a:t>
            </a:r>
          </a:p>
        </p:txBody>
      </p:sp>
      <p:sp>
        <p:nvSpPr>
          <p:cNvPr id="390158" name="Oval 14"/>
          <p:cNvSpPr>
            <a:spLocks noChangeArrowheads="1"/>
          </p:cNvSpPr>
          <p:nvPr/>
        </p:nvSpPr>
        <p:spPr bwMode="auto">
          <a:xfrm>
            <a:off x="7696200" y="4114800"/>
            <a:ext cx="228600" cy="228600"/>
          </a:xfrm>
          <a:prstGeom prst="ellipse">
            <a:avLst/>
          </a:prstGeom>
          <a:solidFill>
            <a:srgbClr val="CC3300"/>
          </a:solidFill>
          <a:ln w="9525" algn="ctr">
            <a:solidFill>
              <a:schemeClr val="tx1"/>
            </a:solidFill>
            <a:round/>
            <a:headEnd/>
            <a:tailEnd/>
          </a:ln>
          <a:effectLst/>
        </p:spPr>
        <p:txBody>
          <a:bodyPr wrap="none" anchor="ctr"/>
          <a:lstStyle/>
          <a:p>
            <a:endParaRPr lang="en-US"/>
          </a:p>
        </p:txBody>
      </p:sp>
      <p:sp>
        <p:nvSpPr>
          <p:cNvPr id="390159" name="Oval 15"/>
          <p:cNvSpPr>
            <a:spLocks noChangeArrowheads="1"/>
          </p:cNvSpPr>
          <p:nvPr/>
        </p:nvSpPr>
        <p:spPr bwMode="auto">
          <a:xfrm>
            <a:off x="6553200" y="5553075"/>
            <a:ext cx="228600" cy="228600"/>
          </a:xfrm>
          <a:prstGeom prst="ellipse">
            <a:avLst/>
          </a:prstGeom>
          <a:solidFill>
            <a:srgbClr val="CC3300"/>
          </a:solidFill>
          <a:ln w="9525" algn="ctr">
            <a:solidFill>
              <a:schemeClr val="tx1"/>
            </a:solidFill>
            <a:round/>
            <a:headEnd/>
            <a:tailEnd/>
          </a:ln>
          <a:effectLst/>
        </p:spPr>
        <p:txBody>
          <a:bodyPr wrap="none" anchor="ctr"/>
          <a:lstStyle/>
          <a:p>
            <a:endParaRPr lang="en-US"/>
          </a:p>
        </p:txBody>
      </p:sp>
      <p:sp>
        <p:nvSpPr>
          <p:cNvPr id="390160" name="Oval 16"/>
          <p:cNvSpPr>
            <a:spLocks noChangeArrowheads="1"/>
          </p:cNvSpPr>
          <p:nvPr/>
        </p:nvSpPr>
        <p:spPr bwMode="auto">
          <a:xfrm>
            <a:off x="7620000" y="5172075"/>
            <a:ext cx="1600200" cy="685800"/>
          </a:xfrm>
          <a:prstGeom prst="ellipse">
            <a:avLst/>
          </a:prstGeom>
          <a:solidFill>
            <a:srgbClr val="CCFFFF"/>
          </a:solidFill>
          <a:ln w="9525" algn="ctr">
            <a:solidFill>
              <a:schemeClr val="tx1"/>
            </a:solidFill>
            <a:round/>
            <a:headEnd/>
            <a:tailEnd/>
          </a:ln>
          <a:effectLst/>
        </p:spPr>
        <p:txBody>
          <a:bodyPr wrap="none" anchor="ctr"/>
          <a:lstStyle/>
          <a:p>
            <a:pPr marL="469900" indent="-469900"/>
            <a:endParaRPr lang="en-US">
              <a:latin typeface="Comic Sans MS" pitchFamily="66" charset="0"/>
            </a:endParaRPr>
          </a:p>
        </p:txBody>
      </p:sp>
      <p:sp>
        <p:nvSpPr>
          <p:cNvPr id="390161" name="Rectangle 17"/>
          <p:cNvSpPr>
            <a:spLocks noChangeArrowheads="1"/>
          </p:cNvSpPr>
          <p:nvPr/>
        </p:nvSpPr>
        <p:spPr bwMode="auto">
          <a:xfrm>
            <a:off x="7848600" y="5476875"/>
            <a:ext cx="152400" cy="152400"/>
          </a:xfrm>
          <a:prstGeom prst="rect">
            <a:avLst/>
          </a:prstGeom>
          <a:solidFill>
            <a:srgbClr val="CCFFFF"/>
          </a:solidFill>
          <a:ln w="9525" algn="ctr">
            <a:solidFill>
              <a:schemeClr val="tx1"/>
            </a:solidFill>
            <a:miter lim="800000"/>
            <a:headEnd/>
            <a:tailEnd/>
          </a:ln>
          <a:effectLst/>
        </p:spPr>
        <p:txBody>
          <a:bodyPr wrap="none" anchor="ctr"/>
          <a:lstStyle/>
          <a:p>
            <a:endParaRPr lang="en-US"/>
          </a:p>
        </p:txBody>
      </p:sp>
      <p:sp>
        <p:nvSpPr>
          <p:cNvPr id="390162" name="Rectangle 18"/>
          <p:cNvSpPr>
            <a:spLocks noChangeArrowheads="1"/>
          </p:cNvSpPr>
          <p:nvPr/>
        </p:nvSpPr>
        <p:spPr bwMode="auto">
          <a:xfrm>
            <a:off x="8839200" y="5476875"/>
            <a:ext cx="152400" cy="152400"/>
          </a:xfrm>
          <a:prstGeom prst="rect">
            <a:avLst/>
          </a:prstGeom>
          <a:solidFill>
            <a:srgbClr val="CCFFFF"/>
          </a:solidFill>
          <a:ln w="9525" algn="ctr">
            <a:solidFill>
              <a:schemeClr val="tx1"/>
            </a:solidFill>
            <a:miter lim="800000"/>
            <a:headEnd/>
            <a:tailEnd/>
          </a:ln>
          <a:effectLst/>
        </p:spPr>
        <p:txBody>
          <a:bodyPr wrap="none" anchor="ctr"/>
          <a:lstStyle/>
          <a:p>
            <a:endParaRPr lang="en-US"/>
          </a:p>
        </p:txBody>
      </p:sp>
      <p:sp>
        <p:nvSpPr>
          <p:cNvPr id="390163" name="Line 19"/>
          <p:cNvSpPr>
            <a:spLocks noChangeShapeType="1"/>
          </p:cNvSpPr>
          <p:nvPr/>
        </p:nvSpPr>
        <p:spPr bwMode="auto">
          <a:xfrm flipH="1" flipV="1">
            <a:off x="7772400" y="5400675"/>
            <a:ext cx="152400" cy="76200"/>
          </a:xfrm>
          <a:prstGeom prst="line">
            <a:avLst/>
          </a:prstGeom>
          <a:noFill/>
          <a:ln w="9525">
            <a:solidFill>
              <a:schemeClr val="tx1"/>
            </a:solidFill>
            <a:round/>
            <a:headEnd/>
            <a:tailEnd/>
          </a:ln>
          <a:effectLst/>
        </p:spPr>
        <p:txBody>
          <a:bodyPr/>
          <a:lstStyle/>
          <a:p>
            <a:endParaRPr lang="en-US"/>
          </a:p>
        </p:txBody>
      </p:sp>
      <p:sp>
        <p:nvSpPr>
          <p:cNvPr id="390164" name="Line 20"/>
          <p:cNvSpPr>
            <a:spLocks noChangeShapeType="1"/>
          </p:cNvSpPr>
          <p:nvPr/>
        </p:nvSpPr>
        <p:spPr bwMode="auto">
          <a:xfrm>
            <a:off x="8001000" y="5629275"/>
            <a:ext cx="76200" cy="152400"/>
          </a:xfrm>
          <a:prstGeom prst="line">
            <a:avLst/>
          </a:prstGeom>
          <a:noFill/>
          <a:ln w="9525">
            <a:solidFill>
              <a:schemeClr val="tx1"/>
            </a:solidFill>
            <a:round/>
            <a:headEnd/>
            <a:tailEnd/>
          </a:ln>
          <a:effectLst/>
        </p:spPr>
        <p:txBody>
          <a:bodyPr/>
          <a:lstStyle/>
          <a:p>
            <a:endParaRPr lang="en-US"/>
          </a:p>
        </p:txBody>
      </p:sp>
      <p:sp>
        <p:nvSpPr>
          <p:cNvPr id="390165" name="Line 21"/>
          <p:cNvSpPr>
            <a:spLocks noChangeShapeType="1"/>
          </p:cNvSpPr>
          <p:nvPr/>
        </p:nvSpPr>
        <p:spPr bwMode="auto">
          <a:xfrm flipV="1">
            <a:off x="8915400" y="5324475"/>
            <a:ext cx="76200" cy="152400"/>
          </a:xfrm>
          <a:prstGeom prst="line">
            <a:avLst/>
          </a:prstGeom>
          <a:noFill/>
          <a:ln w="9525">
            <a:solidFill>
              <a:schemeClr val="tx1"/>
            </a:solidFill>
            <a:round/>
            <a:headEnd/>
            <a:tailEnd/>
          </a:ln>
          <a:effectLst/>
        </p:spPr>
        <p:txBody>
          <a:bodyPr/>
          <a:lstStyle/>
          <a:p>
            <a:endParaRPr lang="en-US"/>
          </a:p>
        </p:txBody>
      </p:sp>
      <p:sp>
        <p:nvSpPr>
          <p:cNvPr id="390166" name="Line 22"/>
          <p:cNvSpPr>
            <a:spLocks noChangeShapeType="1"/>
          </p:cNvSpPr>
          <p:nvPr/>
        </p:nvSpPr>
        <p:spPr bwMode="auto">
          <a:xfrm>
            <a:off x="8991600" y="5553075"/>
            <a:ext cx="228600" cy="0"/>
          </a:xfrm>
          <a:prstGeom prst="line">
            <a:avLst/>
          </a:prstGeom>
          <a:noFill/>
          <a:ln w="9525">
            <a:solidFill>
              <a:schemeClr val="tx1"/>
            </a:solidFill>
            <a:round/>
            <a:headEnd/>
            <a:tailEnd/>
          </a:ln>
          <a:effectLst/>
        </p:spPr>
        <p:txBody>
          <a:bodyPr/>
          <a:lstStyle/>
          <a:p>
            <a:endParaRPr lang="en-US"/>
          </a:p>
        </p:txBody>
      </p:sp>
      <p:sp>
        <p:nvSpPr>
          <p:cNvPr id="390167" name="Line 23"/>
          <p:cNvSpPr>
            <a:spLocks noChangeShapeType="1"/>
          </p:cNvSpPr>
          <p:nvPr/>
        </p:nvSpPr>
        <p:spPr bwMode="auto">
          <a:xfrm>
            <a:off x="8001000" y="5553075"/>
            <a:ext cx="838200" cy="0"/>
          </a:xfrm>
          <a:prstGeom prst="line">
            <a:avLst/>
          </a:prstGeom>
          <a:noFill/>
          <a:ln w="9525">
            <a:solidFill>
              <a:schemeClr val="tx1"/>
            </a:solidFill>
            <a:round/>
            <a:headEnd/>
            <a:tailEnd/>
          </a:ln>
          <a:effectLst/>
        </p:spPr>
        <p:txBody>
          <a:bodyPr/>
          <a:lstStyle/>
          <a:p>
            <a:endParaRPr lang="en-US"/>
          </a:p>
        </p:txBody>
      </p:sp>
      <p:sp>
        <p:nvSpPr>
          <p:cNvPr id="390168" name="Text Box 24"/>
          <p:cNvSpPr txBox="1">
            <a:spLocks noChangeArrowheads="1"/>
          </p:cNvSpPr>
          <p:nvPr/>
        </p:nvSpPr>
        <p:spPr bwMode="auto">
          <a:xfrm>
            <a:off x="7837489" y="5176838"/>
            <a:ext cx="1119187" cy="336550"/>
          </a:xfrm>
          <a:prstGeom prst="rect">
            <a:avLst/>
          </a:prstGeom>
          <a:noFill/>
          <a:ln w="9525" algn="ctr">
            <a:noFill/>
            <a:miter lim="800000"/>
            <a:headEnd/>
            <a:tailEnd/>
          </a:ln>
          <a:effectLst/>
        </p:spPr>
        <p:txBody>
          <a:bodyPr wrap="none">
            <a:spAutoFit/>
          </a:bodyPr>
          <a:lstStyle/>
          <a:p>
            <a:pPr marL="469900" indent="-469900"/>
            <a:r>
              <a:rPr lang="en-US" sz="1600">
                <a:latin typeface="Comic Sans MS" pitchFamily="66" charset="0"/>
              </a:rPr>
              <a:t>Link Level</a:t>
            </a:r>
          </a:p>
        </p:txBody>
      </p:sp>
      <p:sp>
        <p:nvSpPr>
          <p:cNvPr id="390169" name="Line 25"/>
          <p:cNvSpPr>
            <a:spLocks noChangeShapeType="1"/>
          </p:cNvSpPr>
          <p:nvPr/>
        </p:nvSpPr>
        <p:spPr bwMode="auto">
          <a:xfrm flipV="1">
            <a:off x="6629400" y="5248275"/>
            <a:ext cx="1219200" cy="304800"/>
          </a:xfrm>
          <a:prstGeom prst="line">
            <a:avLst/>
          </a:prstGeom>
          <a:noFill/>
          <a:ln w="9525">
            <a:solidFill>
              <a:schemeClr val="tx1"/>
            </a:solidFill>
            <a:prstDash val="dashDot"/>
            <a:round/>
            <a:headEnd/>
            <a:tailEnd/>
          </a:ln>
          <a:effectLst/>
        </p:spPr>
        <p:txBody>
          <a:bodyPr/>
          <a:lstStyle/>
          <a:p>
            <a:endParaRPr lang="en-US"/>
          </a:p>
        </p:txBody>
      </p:sp>
      <p:sp>
        <p:nvSpPr>
          <p:cNvPr id="390170" name="Line 26"/>
          <p:cNvSpPr>
            <a:spLocks noChangeShapeType="1"/>
          </p:cNvSpPr>
          <p:nvPr/>
        </p:nvSpPr>
        <p:spPr bwMode="auto">
          <a:xfrm>
            <a:off x="6705600" y="5781675"/>
            <a:ext cx="1600200" cy="76200"/>
          </a:xfrm>
          <a:prstGeom prst="line">
            <a:avLst/>
          </a:prstGeom>
          <a:noFill/>
          <a:ln w="9525">
            <a:solidFill>
              <a:schemeClr val="tx1"/>
            </a:solidFill>
            <a:prstDash val="dash"/>
            <a:round/>
            <a:headEnd/>
            <a:tailEnd/>
          </a:ln>
          <a:effectLst/>
        </p:spPr>
        <p:txBody>
          <a:bodyPr/>
          <a:lstStyle/>
          <a:p>
            <a:endParaRPr lang="en-US"/>
          </a:p>
        </p:txBody>
      </p:sp>
      <p:sp>
        <p:nvSpPr>
          <p:cNvPr id="390171" name="Line 27"/>
          <p:cNvSpPr>
            <a:spLocks noChangeShapeType="1"/>
          </p:cNvSpPr>
          <p:nvPr/>
        </p:nvSpPr>
        <p:spPr bwMode="auto">
          <a:xfrm flipH="1">
            <a:off x="7620000" y="4333875"/>
            <a:ext cx="76200" cy="1219200"/>
          </a:xfrm>
          <a:prstGeom prst="line">
            <a:avLst/>
          </a:prstGeom>
          <a:noFill/>
          <a:ln w="9525">
            <a:solidFill>
              <a:schemeClr val="tx1"/>
            </a:solidFill>
            <a:prstDash val="dash"/>
            <a:round/>
            <a:headEnd/>
            <a:tailEnd/>
          </a:ln>
          <a:effectLst/>
        </p:spPr>
        <p:txBody>
          <a:bodyPr/>
          <a:lstStyle/>
          <a:p>
            <a:endParaRPr lang="en-US"/>
          </a:p>
        </p:txBody>
      </p:sp>
      <p:sp>
        <p:nvSpPr>
          <p:cNvPr id="390172" name="Line 28"/>
          <p:cNvSpPr>
            <a:spLocks noChangeShapeType="1"/>
          </p:cNvSpPr>
          <p:nvPr/>
        </p:nvSpPr>
        <p:spPr bwMode="auto">
          <a:xfrm>
            <a:off x="7924800" y="4257675"/>
            <a:ext cx="1143000" cy="1066800"/>
          </a:xfrm>
          <a:prstGeom prst="line">
            <a:avLst/>
          </a:prstGeom>
          <a:noFill/>
          <a:ln w="9525">
            <a:solidFill>
              <a:schemeClr val="tx1"/>
            </a:solidFill>
            <a:prstDash val="dash"/>
            <a:round/>
            <a:headEnd/>
            <a:tailEnd/>
          </a:ln>
          <a:effectLst/>
        </p:spPr>
        <p:txBody>
          <a:bodyPr/>
          <a:lstStyle/>
          <a:p>
            <a:endParaRPr lang="en-US"/>
          </a:p>
        </p:txBody>
      </p:sp>
      <p:sp>
        <p:nvSpPr>
          <p:cNvPr id="390173" name="Text Box 29"/>
          <p:cNvSpPr txBox="1">
            <a:spLocks noChangeArrowheads="1"/>
          </p:cNvSpPr>
          <p:nvPr/>
        </p:nvSpPr>
        <p:spPr bwMode="auto">
          <a:xfrm>
            <a:off x="4114800" y="4038600"/>
            <a:ext cx="1236236" cy="400110"/>
          </a:xfrm>
          <a:prstGeom prst="rect">
            <a:avLst/>
          </a:prstGeom>
          <a:noFill/>
          <a:ln w="9525" algn="ctr">
            <a:noFill/>
            <a:miter lim="800000"/>
            <a:headEnd/>
            <a:tailEnd/>
          </a:ln>
          <a:effectLst/>
        </p:spPr>
        <p:txBody>
          <a:bodyPr wrap="none">
            <a:spAutoFit/>
          </a:bodyPr>
          <a:lstStyle/>
          <a:p>
            <a:pPr marL="469900" indent="-469900"/>
            <a:r>
              <a:rPr lang="en-US" sz="2000" dirty="0">
                <a:latin typeface="Comic Sans MS" pitchFamily="66" charset="0"/>
              </a:rPr>
              <a:t>Subnet 1</a:t>
            </a:r>
            <a:endParaRPr lang="en-US" dirty="0">
              <a:latin typeface="Comic Sans MS" pitchFamily="66" charset="0"/>
            </a:endParaRPr>
          </a:p>
        </p:txBody>
      </p:sp>
      <p:sp>
        <p:nvSpPr>
          <p:cNvPr id="390174" name="Text Box 30"/>
          <p:cNvSpPr txBox="1">
            <a:spLocks noChangeArrowheads="1"/>
          </p:cNvSpPr>
          <p:nvPr/>
        </p:nvSpPr>
        <p:spPr bwMode="auto">
          <a:xfrm>
            <a:off x="6781800" y="3886200"/>
            <a:ext cx="1277914" cy="400110"/>
          </a:xfrm>
          <a:prstGeom prst="rect">
            <a:avLst/>
          </a:prstGeom>
          <a:noFill/>
          <a:ln w="9525" algn="ctr">
            <a:noFill/>
            <a:miter lim="800000"/>
            <a:headEnd/>
            <a:tailEnd/>
          </a:ln>
          <a:effectLst/>
        </p:spPr>
        <p:txBody>
          <a:bodyPr wrap="none">
            <a:spAutoFit/>
          </a:bodyPr>
          <a:lstStyle/>
          <a:p>
            <a:pPr marL="469900" indent="-469900"/>
            <a:r>
              <a:rPr lang="en-US" sz="2000" dirty="0">
                <a:latin typeface="Comic Sans MS" pitchFamily="66" charset="0"/>
              </a:rPr>
              <a:t>Subnet 2</a:t>
            </a:r>
          </a:p>
        </p:txBody>
      </p:sp>
      <p:sp>
        <p:nvSpPr>
          <p:cNvPr id="390179" name="Rectangle 35"/>
          <p:cNvSpPr>
            <a:spLocks noChangeArrowheads="1"/>
          </p:cNvSpPr>
          <p:nvPr/>
        </p:nvSpPr>
        <p:spPr bwMode="auto">
          <a:xfrm>
            <a:off x="2362200" y="1828800"/>
            <a:ext cx="2362200" cy="1219200"/>
          </a:xfrm>
          <a:prstGeom prst="rect">
            <a:avLst/>
          </a:prstGeom>
          <a:solidFill>
            <a:srgbClr val="99CC00"/>
          </a:solidFill>
          <a:ln w="9525" algn="ctr">
            <a:solidFill>
              <a:schemeClr val="tx1"/>
            </a:solidFill>
            <a:miter lim="800000"/>
            <a:headEnd/>
            <a:tailEnd/>
          </a:ln>
          <a:effectLst/>
        </p:spPr>
        <p:txBody>
          <a:bodyPr wrap="none" anchor="ctr"/>
          <a:lstStyle/>
          <a:p>
            <a:pPr marL="469900" indent="-469900"/>
            <a:endParaRPr lang="en-US">
              <a:latin typeface="Comic Sans MS" pitchFamily="66" charset="0"/>
            </a:endParaRPr>
          </a:p>
        </p:txBody>
      </p:sp>
      <p:sp>
        <p:nvSpPr>
          <p:cNvPr id="390181" name="Text Box 37"/>
          <p:cNvSpPr txBox="1">
            <a:spLocks noChangeArrowheads="1"/>
          </p:cNvSpPr>
          <p:nvPr/>
        </p:nvSpPr>
        <p:spPr bwMode="auto">
          <a:xfrm>
            <a:off x="2438400" y="1905000"/>
            <a:ext cx="1125460" cy="369332"/>
          </a:xfrm>
          <a:prstGeom prst="rect">
            <a:avLst/>
          </a:prstGeom>
          <a:noFill/>
          <a:ln w="9525" algn="ctr">
            <a:solidFill>
              <a:schemeClr val="tx1"/>
            </a:solidFill>
            <a:miter lim="800000"/>
            <a:headEnd/>
            <a:tailEnd/>
          </a:ln>
          <a:effectLst/>
        </p:spPr>
        <p:txBody>
          <a:bodyPr wrap="square">
            <a:spAutoFit/>
          </a:bodyPr>
          <a:lstStyle/>
          <a:p>
            <a:pPr marL="469900" indent="-469900"/>
            <a:r>
              <a:rPr lang="en-US" dirty="0">
                <a:latin typeface="Comic Sans MS" pitchFamily="66" charset="0"/>
              </a:rPr>
              <a:t>App A</a:t>
            </a:r>
          </a:p>
        </p:txBody>
      </p:sp>
      <p:sp>
        <p:nvSpPr>
          <p:cNvPr id="390182" name="Text Box 38"/>
          <p:cNvSpPr txBox="1">
            <a:spLocks noChangeArrowheads="1"/>
          </p:cNvSpPr>
          <p:nvPr/>
        </p:nvSpPr>
        <p:spPr bwMode="auto">
          <a:xfrm>
            <a:off x="3048000" y="2438400"/>
            <a:ext cx="1295400" cy="369332"/>
          </a:xfrm>
          <a:prstGeom prst="rect">
            <a:avLst/>
          </a:prstGeom>
          <a:noFill/>
          <a:ln w="9525" algn="ctr">
            <a:solidFill>
              <a:schemeClr val="tx1"/>
            </a:solidFill>
            <a:miter lim="800000"/>
            <a:headEnd/>
            <a:tailEnd/>
          </a:ln>
          <a:effectLst/>
        </p:spPr>
        <p:txBody>
          <a:bodyPr wrap="square">
            <a:spAutoFit/>
          </a:bodyPr>
          <a:lstStyle/>
          <a:p>
            <a:pPr marL="469900" indent="-469900"/>
            <a:r>
              <a:rPr lang="en-US" dirty="0">
                <a:latin typeface="Comic Sans MS" pitchFamily="66" charset="0"/>
              </a:rPr>
              <a:t>App B</a:t>
            </a:r>
          </a:p>
        </p:txBody>
      </p:sp>
      <p:sp>
        <p:nvSpPr>
          <p:cNvPr id="390183" name="Rectangle 39"/>
          <p:cNvSpPr>
            <a:spLocks noChangeArrowheads="1"/>
          </p:cNvSpPr>
          <p:nvPr/>
        </p:nvSpPr>
        <p:spPr bwMode="auto">
          <a:xfrm>
            <a:off x="7010400" y="1828800"/>
            <a:ext cx="2286000" cy="1219200"/>
          </a:xfrm>
          <a:prstGeom prst="rect">
            <a:avLst/>
          </a:prstGeom>
          <a:solidFill>
            <a:srgbClr val="99CC00"/>
          </a:solidFill>
          <a:ln w="9525" algn="ctr">
            <a:solidFill>
              <a:schemeClr val="tx1"/>
            </a:solidFill>
            <a:miter lim="800000"/>
            <a:headEnd/>
            <a:tailEnd/>
          </a:ln>
          <a:effectLst/>
        </p:spPr>
        <p:txBody>
          <a:bodyPr wrap="none" anchor="ctr"/>
          <a:lstStyle/>
          <a:p>
            <a:pPr marL="469900" indent="-469900"/>
            <a:endParaRPr lang="en-US">
              <a:latin typeface="Comic Sans MS" pitchFamily="66" charset="0"/>
            </a:endParaRPr>
          </a:p>
        </p:txBody>
      </p:sp>
      <p:sp>
        <p:nvSpPr>
          <p:cNvPr id="390185" name="Text Box 41"/>
          <p:cNvSpPr txBox="1">
            <a:spLocks noChangeArrowheads="1"/>
          </p:cNvSpPr>
          <p:nvPr/>
        </p:nvSpPr>
        <p:spPr bwMode="auto">
          <a:xfrm>
            <a:off x="7086600" y="1905000"/>
            <a:ext cx="1382712" cy="369332"/>
          </a:xfrm>
          <a:prstGeom prst="rect">
            <a:avLst/>
          </a:prstGeom>
          <a:noFill/>
          <a:ln w="9525" algn="ctr">
            <a:solidFill>
              <a:schemeClr val="tx1"/>
            </a:solidFill>
            <a:miter lim="800000"/>
            <a:headEnd/>
            <a:tailEnd/>
          </a:ln>
          <a:effectLst/>
        </p:spPr>
        <p:txBody>
          <a:bodyPr wrap="square">
            <a:spAutoFit/>
          </a:bodyPr>
          <a:lstStyle/>
          <a:p>
            <a:pPr marL="469900" indent="-469900"/>
            <a:r>
              <a:rPr lang="en-US" dirty="0">
                <a:latin typeface="Comic Sans MS" pitchFamily="66" charset="0"/>
              </a:rPr>
              <a:t>App A</a:t>
            </a:r>
          </a:p>
        </p:txBody>
      </p:sp>
      <p:sp>
        <p:nvSpPr>
          <p:cNvPr id="390186" name="Text Box 42"/>
          <p:cNvSpPr txBox="1">
            <a:spLocks noChangeArrowheads="1"/>
          </p:cNvSpPr>
          <p:nvPr/>
        </p:nvSpPr>
        <p:spPr bwMode="auto">
          <a:xfrm>
            <a:off x="7783512" y="2443162"/>
            <a:ext cx="1147762" cy="369332"/>
          </a:xfrm>
          <a:prstGeom prst="rect">
            <a:avLst/>
          </a:prstGeom>
          <a:noFill/>
          <a:ln w="9525" algn="ctr">
            <a:solidFill>
              <a:schemeClr val="tx1"/>
            </a:solidFill>
            <a:miter lim="800000"/>
            <a:headEnd/>
            <a:tailEnd/>
          </a:ln>
          <a:effectLst/>
        </p:spPr>
        <p:txBody>
          <a:bodyPr wrap="square">
            <a:spAutoFit/>
          </a:bodyPr>
          <a:lstStyle/>
          <a:p>
            <a:pPr marL="469900" indent="-469900"/>
            <a:r>
              <a:rPr lang="en-US" dirty="0">
                <a:latin typeface="Comic Sans MS" pitchFamily="66" charset="0"/>
              </a:rPr>
              <a:t>App B</a:t>
            </a:r>
          </a:p>
        </p:txBody>
      </p:sp>
      <p:sp>
        <p:nvSpPr>
          <p:cNvPr id="51" name="Cube 50"/>
          <p:cNvSpPr/>
          <p:nvPr/>
        </p:nvSpPr>
        <p:spPr>
          <a:xfrm>
            <a:off x="6858000" y="4724400"/>
            <a:ext cx="457200" cy="381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Cube 51"/>
          <p:cNvSpPr/>
          <p:nvPr/>
        </p:nvSpPr>
        <p:spPr>
          <a:xfrm>
            <a:off x="5105400" y="4800600"/>
            <a:ext cx="457200" cy="381000"/>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p:cNvSpPr txBox="1"/>
          <p:nvPr/>
        </p:nvSpPr>
        <p:spPr>
          <a:xfrm>
            <a:off x="3048000" y="1295400"/>
            <a:ext cx="800860" cy="369332"/>
          </a:xfrm>
          <a:prstGeom prst="rect">
            <a:avLst/>
          </a:prstGeom>
          <a:noFill/>
        </p:spPr>
        <p:txBody>
          <a:bodyPr wrap="none" rtlCol="0">
            <a:spAutoFit/>
          </a:bodyPr>
          <a:lstStyle/>
          <a:p>
            <a:r>
              <a:rPr lang="en-US" dirty="0"/>
              <a:t>Host A</a:t>
            </a:r>
          </a:p>
        </p:txBody>
      </p:sp>
      <p:sp>
        <p:nvSpPr>
          <p:cNvPr id="57" name="TextBox 56"/>
          <p:cNvSpPr txBox="1"/>
          <p:nvPr/>
        </p:nvSpPr>
        <p:spPr>
          <a:xfrm>
            <a:off x="7391400" y="1295400"/>
            <a:ext cx="792846" cy="369332"/>
          </a:xfrm>
          <a:prstGeom prst="rect">
            <a:avLst/>
          </a:prstGeom>
          <a:noFill/>
        </p:spPr>
        <p:txBody>
          <a:bodyPr wrap="none" rtlCol="0">
            <a:spAutoFit/>
          </a:bodyPr>
          <a:lstStyle/>
          <a:p>
            <a:r>
              <a:rPr lang="en-US" dirty="0"/>
              <a:t>Host B</a:t>
            </a:r>
          </a:p>
        </p:txBody>
      </p:sp>
      <p:sp>
        <p:nvSpPr>
          <p:cNvPr id="58" name="TextBox 57"/>
          <p:cNvSpPr txBox="1"/>
          <p:nvPr/>
        </p:nvSpPr>
        <p:spPr>
          <a:xfrm>
            <a:off x="4114800" y="4800600"/>
            <a:ext cx="818622" cy="369332"/>
          </a:xfrm>
          <a:prstGeom prst="rect">
            <a:avLst/>
          </a:prstGeom>
          <a:noFill/>
        </p:spPr>
        <p:txBody>
          <a:bodyPr wrap="none" rtlCol="0">
            <a:spAutoFit/>
          </a:bodyPr>
          <a:lstStyle/>
          <a:p>
            <a:r>
              <a:rPr lang="en-US" dirty="0"/>
              <a:t>Router</a:t>
            </a:r>
          </a:p>
        </p:txBody>
      </p:sp>
      <p:pic>
        <p:nvPicPr>
          <p:cNvPr id="38929" name="Picture 17"/>
          <p:cNvPicPr>
            <a:picLocks noChangeAspect="1" noChangeArrowheads="1"/>
          </p:cNvPicPr>
          <p:nvPr/>
        </p:nvPicPr>
        <p:blipFill>
          <a:blip r:embed="rId6" cstate="print"/>
          <a:srcRect/>
          <a:stretch>
            <a:fillRect/>
          </a:stretch>
        </p:blipFill>
        <p:spPr bwMode="auto">
          <a:xfrm>
            <a:off x="3505201" y="3048001"/>
            <a:ext cx="677863" cy="679549"/>
          </a:xfrm>
          <a:prstGeom prst="rect">
            <a:avLst/>
          </a:prstGeom>
          <a:noFill/>
          <a:ln w="9525">
            <a:noFill/>
            <a:miter lim="800000"/>
            <a:headEnd/>
            <a:tailEnd/>
          </a:ln>
          <a:effectLst/>
        </p:spPr>
      </p:pic>
      <p:pic>
        <p:nvPicPr>
          <p:cNvPr id="44" name="Picture 17"/>
          <p:cNvPicPr>
            <a:picLocks noChangeAspect="1" noChangeArrowheads="1"/>
          </p:cNvPicPr>
          <p:nvPr/>
        </p:nvPicPr>
        <p:blipFill>
          <a:blip r:embed="rId6" cstate="print"/>
          <a:srcRect/>
          <a:stretch>
            <a:fillRect/>
          </a:stretch>
        </p:blipFill>
        <p:spPr bwMode="auto">
          <a:xfrm>
            <a:off x="7620001" y="3124201"/>
            <a:ext cx="677863" cy="679549"/>
          </a:xfrm>
          <a:prstGeom prst="rect">
            <a:avLst/>
          </a:prstGeom>
          <a:noFill/>
          <a:ln w="9525">
            <a:noFill/>
            <a:miter lim="800000"/>
            <a:headEnd/>
            <a:tailEnd/>
          </a:ln>
          <a:effectLst/>
        </p:spPr>
      </p:pic>
      <p:sp>
        <p:nvSpPr>
          <p:cNvPr id="390177" name="Line 33"/>
          <p:cNvSpPr>
            <a:spLocks noChangeShapeType="1"/>
          </p:cNvSpPr>
          <p:nvPr/>
        </p:nvSpPr>
        <p:spPr bwMode="auto">
          <a:xfrm>
            <a:off x="3505200" y="3048001"/>
            <a:ext cx="838200" cy="914400"/>
          </a:xfrm>
          <a:prstGeom prst="line">
            <a:avLst/>
          </a:prstGeom>
          <a:noFill/>
          <a:ln w="9525">
            <a:solidFill>
              <a:schemeClr val="tx1"/>
            </a:solidFill>
            <a:round/>
            <a:headEnd/>
            <a:tailEnd/>
          </a:ln>
          <a:effectLst/>
        </p:spPr>
        <p:txBody>
          <a:bodyPr/>
          <a:lstStyle/>
          <a:p>
            <a:endParaRPr lang="en-US"/>
          </a:p>
        </p:txBody>
      </p:sp>
      <p:cxnSp>
        <p:nvCxnSpPr>
          <p:cNvPr id="55" name="Straight Connector 54"/>
          <p:cNvCxnSpPr>
            <a:endCxn id="390183" idx="2"/>
          </p:cNvCxnSpPr>
          <p:nvPr/>
        </p:nvCxnSpPr>
        <p:spPr>
          <a:xfrm flipV="1">
            <a:off x="7467600" y="3048000"/>
            <a:ext cx="685800" cy="685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367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 Packets or Datagram</a:t>
            </a:r>
          </a:p>
        </p:txBody>
      </p:sp>
      <p:sp>
        <p:nvSpPr>
          <p:cNvPr id="3" name="Content Placeholder 2"/>
          <p:cNvSpPr>
            <a:spLocks noGrp="1"/>
          </p:cNvSpPr>
          <p:nvPr>
            <p:ph idx="1"/>
          </p:nvPr>
        </p:nvSpPr>
        <p:spPr>
          <a:xfrm>
            <a:off x="523375" y="1000878"/>
            <a:ext cx="10654378" cy="3755183"/>
          </a:xfrm>
        </p:spPr>
        <p:txBody>
          <a:bodyPr>
            <a:normAutofit lnSpcReduction="10000"/>
          </a:bodyPr>
          <a:lstStyle/>
          <a:p>
            <a:pPr>
              <a:lnSpc>
                <a:spcPct val="120000"/>
              </a:lnSpc>
            </a:pPr>
            <a:r>
              <a:rPr lang="en-US" sz="1600" b="1" dirty="0"/>
              <a:t>Internet Protocol</a:t>
            </a:r>
            <a:r>
              <a:rPr lang="en-US" sz="1600" dirty="0"/>
              <a:t> (</a:t>
            </a:r>
            <a:r>
              <a:rPr lang="en-US" sz="1600" b="1" dirty="0"/>
              <a:t>IP</a:t>
            </a:r>
            <a:r>
              <a:rPr lang="en-US" sz="1600" dirty="0"/>
              <a:t>) Address</a:t>
            </a:r>
          </a:p>
          <a:p>
            <a:pPr lvl="1">
              <a:lnSpc>
                <a:spcPct val="120000"/>
              </a:lnSpc>
            </a:pPr>
            <a:r>
              <a:rPr lang="en-US" sz="1600" dirty="0">
                <a:solidFill>
                  <a:srgbClr val="FF6600"/>
                </a:solidFill>
              </a:rPr>
              <a:t>4 bytes or 32 bits</a:t>
            </a:r>
            <a:r>
              <a:rPr lang="en-US" sz="1600" dirty="0"/>
              <a:t>, usually in dot decimal notation, used by </a:t>
            </a:r>
            <a:r>
              <a:rPr lang="en-US" sz="1600" u="sng" dirty="0"/>
              <a:t>network interfaces</a:t>
            </a:r>
            <a:r>
              <a:rPr lang="en-US" sz="1600" dirty="0"/>
              <a:t>.</a:t>
            </a:r>
          </a:p>
          <a:p>
            <a:pPr lvl="1">
              <a:lnSpc>
                <a:spcPct val="120000"/>
              </a:lnSpc>
            </a:pPr>
            <a:r>
              <a:rPr lang="en-US" sz="1600" dirty="0"/>
              <a:t>e.g.,  203.116.221.170</a:t>
            </a:r>
          </a:p>
          <a:p>
            <a:pPr>
              <a:lnSpc>
                <a:spcPct val="120000"/>
              </a:lnSpc>
            </a:pPr>
            <a:r>
              <a:rPr lang="en-US" sz="1600" dirty="0"/>
              <a:t>Most IP addresses are publicly accessible in the Internet. Some are for private addresses, i.e., they cannot be </a:t>
            </a:r>
            <a:r>
              <a:rPr lang="en-US" sz="1600" b="1" dirty="0"/>
              <a:t>directly</a:t>
            </a:r>
            <a:r>
              <a:rPr lang="en-US" sz="1600" dirty="0"/>
              <a:t> reached in the Internet, e.g., the SMU IP address assigned to your computer.</a:t>
            </a:r>
          </a:p>
          <a:p>
            <a:pPr>
              <a:lnSpc>
                <a:spcPct val="120000"/>
              </a:lnSpc>
            </a:pPr>
            <a:r>
              <a:rPr lang="en-US" sz="1600" b="1" dirty="0"/>
              <a:t>Ports</a:t>
            </a:r>
            <a:r>
              <a:rPr lang="en-US" sz="1600" dirty="0"/>
              <a:t>:</a:t>
            </a:r>
          </a:p>
          <a:p>
            <a:pPr lvl="1">
              <a:lnSpc>
                <a:spcPct val="120000"/>
              </a:lnSpc>
            </a:pPr>
            <a:r>
              <a:rPr lang="en-US" sz="1600" dirty="0"/>
              <a:t>two bytes or 16 bits, used by </a:t>
            </a:r>
            <a:r>
              <a:rPr lang="en-US" sz="1600" u="sng" dirty="0"/>
              <a:t>applications</a:t>
            </a:r>
            <a:r>
              <a:rPr lang="en-US" sz="1600" dirty="0"/>
              <a:t> within one device.</a:t>
            </a:r>
          </a:p>
          <a:p>
            <a:pPr lvl="1">
              <a:lnSpc>
                <a:spcPct val="120000"/>
              </a:lnSpc>
            </a:pPr>
            <a:r>
              <a:rPr lang="en-US" sz="1600" dirty="0"/>
              <a:t>There are two types of ports: TCP ports and UDP ports. The uses of them follow different protocols</a:t>
            </a:r>
          </a:p>
          <a:p>
            <a:pPr>
              <a:lnSpc>
                <a:spcPct val="120000"/>
              </a:lnSpc>
            </a:pPr>
            <a:r>
              <a:rPr lang="en-US" sz="1600" dirty="0"/>
              <a:t>Internet communications are in the form of a stream of packets which usually specify four addresses: source IP, destination IP, source port and destination port</a:t>
            </a:r>
          </a:p>
        </p:txBody>
      </p:sp>
      <p:sp>
        <p:nvSpPr>
          <p:cNvPr id="5" name="Rectangle 9">
            <a:extLst>
              <a:ext uri="{FF2B5EF4-FFF2-40B4-BE49-F238E27FC236}">
                <a16:creationId xmlns:a16="http://schemas.microsoft.com/office/drawing/2014/main" id="{0C079775-DEC0-B74D-9E58-1C204E1360B0}"/>
              </a:ext>
            </a:extLst>
          </p:cNvPr>
          <p:cNvSpPr>
            <a:spLocks noChangeArrowheads="1"/>
          </p:cNvSpPr>
          <p:nvPr/>
        </p:nvSpPr>
        <p:spPr bwMode="auto">
          <a:xfrm>
            <a:off x="1324303" y="5217726"/>
            <a:ext cx="8229600" cy="533400"/>
          </a:xfrm>
          <a:prstGeom prst="rect">
            <a:avLst/>
          </a:prstGeom>
          <a:solidFill>
            <a:srgbClr val="CCFFFF"/>
          </a:solidFill>
          <a:ln w="9525" algn="ctr">
            <a:solidFill>
              <a:schemeClr val="tx1"/>
            </a:solidFill>
            <a:miter lim="800000"/>
            <a:headEnd/>
            <a:tailEnd/>
          </a:ln>
          <a:effectLst/>
        </p:spPr>
        <p:txBody>
          <a:bodyPr wrap="none" anchor="ctr"/>
          <a:lstStyle/>
          <a:p>
            <a:pPr marL="469900" indent="-469900" algn="l"/>
            <a:r>
              <a:rPr lang="en-US" sz="2000" dirty="0" err="1">
                <a:latin typeface="Comic Sans MS" pitchFamily="66" charset="0"/>
              </a:rPr>
              <a:t>Src</a:t>
            </a:r>
            <a:r>
              <a:rPr lang="en-US" sz="2000" dirty="0">
                <a:latin typeface="Comic Sans MS" pitchFamily="66" charset="0"/>
              </a:rPr>
              <a:t> IP </a:t>
            </a:r>
            <a:r>
              <a:rPr lang="en-US" sz="2000" dirty="0" err="1">
                <a:latin typeface="Comic Sans MS" pitchFamily="66" charset="0"/>
              </a:rPr>
              <a:t>Adr</a:t>
            </a:r>
            <a:r>
              <a:rPr lang="en-US" sz="2000" dirty="0">
                <a:latin typeface="Comic Sans MS" pitchFamily="66" charset="0"/>
              </a:rPr>
              <a:t>; Des IP </a:t>
            </a:r>
            <a:r>
              <a:rPr lang="en-US" sz="2000" dirty="0" err="1">
                <a:latin typeface="Comic Sans MS" pitchFamily="66" charset="0"/>
              </a:rPr>
              <a:t>Adr</a:t>
            </a:r>
            <a:r>
              <a:rPr lang="en-US" sz="2000" dirty="0">
                <a:latin typeface="Comic Sans MS" pitchFamily="66" charset="0"/>
              </a:rPr>
              <a:t>     </a:t>
            </a:r>
            <a:r>
              <a:rPr lang="en-US" sz="2000" dirty="0" err="1">
                <a:solidFill>
                  <a:srgbClr val="C00000"/>
                </a:solidFill>
                <a:latin typeface="Comic Sans MS" pitchFamily="66" charset="0"/>
              </a:rPr>
              <a:t>Src</a:t>
            </a:r>
            <a:r>
              <a:rPr lang="en-US" sz="2000" dirty="0">
                <a:solidFill>
                  <a:srgbClr val="C00000"/>
                </a:solidFill>
                <a:latin typeface="Comic Sans MS" pitchFamily="66" charset="0"/>
              </a:rPr>
              <a:t> Port#; Des Port#            </a:t>
            </a:r>
            <a:r>
              <a:rPr lang="en-US" sz="2000" dirty="0">
                <a:latin typeface="Comic Sans MS" pitchFamily="66" charset="0"/>
              </a:rPr>
              <a:t>Payload</a:t>
            </a:r>
          </a:p>
        </p:txBody>
      </p:sp>
      <p:sp>
        <p:nvSpPr>
          <p:cNvPr id="6" name="Line 10">
            <a:extLst>
              <a:ext uri="{FF2B5EF4-FFF2-40B4-BE49-F238E27FC236}">
                <a16:creationId xmlns:a16="http://schemas.microsoft.com/office/drawing/2014/main" id="{D4B8BE3D-BAF4-3044-AC37-9E552D104EAC}"/>
              </a:ext>
            </a:extLst>
          </p:cNvPr>
          <p:cNvSpPr>
            <a:spLocks noChangeShapeType="1"/>
          </p:cNvSpPr>
          <p:nvPr/>
        </p:nvSpPr>
        <p:spPr bwMode="auto">
          <a:xfrm>
            <a:off x="4346903" y="5217726"/>
            <a:ext cx="0" cy="533400"/>
          </a:xfrm>
          <a:prstGeom prst="line">
            <a:avLst/>
          </a:prstGeom>
          <a:noFill/>
          <a:ln w="9525">
            <a:solidFill>
              <a:schemeClr val="tx1"/>
            </a:solidFill>
            <a:round/>
            <a:headEnd/>
            <a:tailEnd/>
          </a:ln>
          <a:effectLst/>
        </p:spPr>
        <p:txBody>
          <a:bodyPr/>
          <a:lstStyle/>
          <a:p>
            <a:endParaRPr lang="en-US"/>
          </a:p>
        </p:txBody>
      </p:sp>
      <p:sp>
        <p:nvSpPr>
          <p:cNvPr id="7" name="Line 11">
            <a:extLst>
              <a:ext uri="{FF2B5EF4-FFF2-40B4-BE49-F238E27FC236}">
                <a16:creationId xmlns:a16="http://schemas.microsoft.com/office/drawing/2014/main" id="{529AF881-F928-444B-BCD7-A45CC1E0C700}"/>
              </a:ext>
            </a:extLst>
          </p:cNvPr>
          <p:cNvSpPr>
            <a:spLocks noChangeShapeType="1"/>
          </p:cNvSpPr>
          <p:nvPr/>
        </p:nvSpPr>
        <p:spPr bwMode="auto">
          <a:xfrm>
            <a:off x="7420303" y="5217726"/>
            <a:ext cx="0" cy="533400"/>
          </a:xfrm>
          <a:prstGeom prst="line">
            <a:avLst/>
          </a:prstGeom>
          <a:noFill/>
          <a:ln w="9525">
            <a:solidFill>
              <a:schemeClr val="tx1"/>
            </a:solidFill>
            <a:round/>
            <a:headEnd/>
            <a:tailEnd/>
          </a:ln>
          <a:effectLst/>
        </p:spPr>
        <p:txBody>
          <a:bodyPr/>
          <a:lstStyle/>
          <a:p>
            <a:endParaRPr lang="en-US"/>
          </a:p>
        </p:txBody>
      </p:sp>
      <p:sp>
        <p:nvSpPr>
          <p:cNvPr id="8" name="Left Brace 7">
            <a:extLst>
              <a:ext uri="{FF2B5EF4-FFF2-40B4-BE49-F238E27FC236}">
                <a16:creationId xmlns:a16="http://schemas.microsoft.com/office/drawing/2014/main" id="{9EFA8652-5DFE-924D-9CE9-5B81A81ECBA7}"/>
              </a:ext>
            </a:extLst>
          </p:cNvPr>
          <p:cNvSpPr/>
          <p:nvPr/>
        </p:nvSpPr>
        <p:spPr>
          <a:xfrm rot="16200000" flipV="1">
            <a:off x="2734003" y="4493826"/>
            <a:ext cx="152400" cy="2971800"/>
          </a:xfrm>
          <a:prstGeom prst="lef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9B12E172-39CA-4645-A3CA-3DA1E04B6A9D}"/>
              </a:ext>
            </a:extLst>
          </p:cNvPr>
          <p:cNvSpPr/>
          <p:nvPr/>
        </p:nvSpPr>
        <p:spPr>
          <a:xfrm rot="16200000" flipV="1">
            <a:off x="5782003" y="4417626"/>
            <a:ext cx="228600" cy="3048000"/>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BF93973-D2E0-A04D-99AE-C842B90B1CF4}"/>
              </a:ext>
            </a:extLst>
          </p:cNvPr>
          <p:cNvSpPr txBox="1"/>
          <p:nvPr/>
        </p:nvSpPr>
        <p:spPr>
          <a:xfrm>
            <a:off x="2238703" y="5979726"/>
            <a:ext cx="1604927" cy="461665"/>
          </a:xfrm>
          <a:prstGeom prst="rect">
            <a:avLst/>
          </a:prstGeom>
          <a:noFill/>
        </p:spPr>
        <p:txBody>
          <a:bodyPr wrap="none" rtlCol="0">
            <a:spAutoFit/>
          </a:bodyPr>
          <a:lstStyle/>
          <a:p>
            <a:r>
              <a:rPr lang="en-US" dirty="0">
                <a:latin typeface="Comic Sans MS" pitchFamily="66" charset="0"/>
                <a:cs typeface="Calibri" pitchFamily="34" charset="0"/>
              </a:rPr>
              <a:t>IP header</a:t>
            </a:r>
          </a:p>
        </p:txBody>
      </p:sp>
      <p:sp>
        <p:nvSpPr>
          <p:cNvPr id="11" name="TextBox 10">
            <a:extLst>
              <a:ext uri="{FF2B5EF4-FFF2-40B4-BE49-F238E27FC236}">
                <a16:creationId xmlns:a16="http://schemas.microsoft.com/office/drawing/2014/main" id="{073475EF-A5B7-8645-B5D6-CFAE94ADE0DF}"/>
              </a:ext>
            </a:extLst>
          </p:cNvPr>
          <p:cNvSpPr txBox="1"/>
          <p:nvPr/>
        </p:nvSpPr>
        <p:spPr>
          <a:xfrm>
            <a:off x="4905703" y="6055926"/>
            <a:ext cx="2598788" cy="461665"/>
          </a:xfrm>
          <a:prstGeom prst="rect">
            <a:avLst/>
          </a:prstGeom>
          <a:noFill/>
        </p:spPr>
        <p:txBody>
          <a:bodyPr wrap="none" rtlCol="0">
            <a:spAutoFit/>
          </a:bodyPr>
          <a:lstStyle/>
          <a:p>
            <a:r>
              <a:rPr lang="en-US" dirty="0">
                <a:latin typeface="Comic Sans MS" pitchFamily="66" charset="0"/>
              </a:rPr>
              <a:t>TCP/UDP header</a:t>
            </a:r>
          </a:p>
        </p:txBody>
      </p:sp>
      <p:sp>
        <p:nvSpPr>
          <p:cNvPr id="12" name="Left Brace 11">
            <a:extLst>
              <a:ext uri="{FF2B5EF4-FFF2-40B4-BE49-F238E27FC236}">
                <a16:creationId xmlns:a16="http://schemas.microsoft.com/office/drawing/2014/main" id="{EEEEC664-25E1-8548-897B-F5615E3492B6}"/>
              </a:ext>
            </a:extLst>
          </p:cNvPr>
          <p:cNvSpPr/>
          <p:nvPr/>
        </p:nvSpPr>
        <p:spPr>
          <a:xfrm rot="5400000">
            <a:off x="5324803" y="912426"/>
            <a:ext cx="228600" cy="822960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6612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45525602-CD06-DF77-4246-82175D3E7C62}"/>
              </a:ext>
            </a:extLst>
          </p:cNvPr>
          <p:cNvSpPr>
            <a:spLocks noGrp="1" noChangeArrowheads="1"/>
          </p:cNvSpPr>
          <p:nvPr>
            <p:ph type="title"/>
          </p:nvPr>
        </p:nvSpPr>
        <p:spPr/>
        <p:txBody>
          <a:bodyPr/>
          <a:lstStyle/>
          <a:p>
            <a:r>
              <a:rPr lang="en-US" altLang="zh-CN">
                <a:ea typeface="宋体" panose="02010600030101010101" pitchFamily="2" charset="-122"/>
              </a:rPr>
              <a:t>IPv4 Header</a:t>
            </a:r>
          </a:p>
        </p:txBody>
      </p:sp>
      <p:sp>
        <p:nvSpPr>
          <p:cNvPr id="3" name="Text Placeholder 2">
            <a:extLst>
              <a:ext uri="{FF2B5EF4-FFF2-40B4-BE49-F238E27FC236}">
                <a16:creationId xmlns:a16="http://schemas.microsoft.com/office/drawing/2014/main" id="{A7C38F2A-2384-D833-48F9-D9948ABF65E6}"/>
              </a:ext>
            </a:extLst>
          </p:cNvPr>
          <p:cNvSpPr>
            <a:spLocks noGrp="1"/>
          </p:cNvSpPr>
          <p:nvPr>
            <p:ph type="body" idx="11"/>
          </p:nvPr>
        </p:nvSpPr>
        <p:spPr/>
        <p:txBody>
          <a:bodyPr/>
          <a:lstStyle/>
          <a:p>
            <a:endParaRPr lang="en-SG"/>
          </a:p>
        </p:txBody>
      </p:sp>
      <p:pic>
        <p:nvPicPr>
          <p:cNvPr id="28674" name="Picture 4">
            <a:extLst>
              <a:ext uri="{FF2B5EF4-FFF2-40B4-BE49-F238E27FC236}">
                <a16:creationId xmlns:a16="http://schemas.microsoft.com/office/drawing/2014/main" id="{5613304D-2772-9920-31BD-8C63BD84C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3" y="2133601"/>
            <a:ext cx="7797800" cy="358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Oval 5">
            <a:extLst>
              <a:ext uri="{FF2B5EF4-FFF2-40B4-BE49-F238E27FC236}">
                <a16:creationId xmlns:a16="http://schemas.microsoft.com/office/drawing/2014/main" id="{51B34525-B04C-A9FA-6F5E-A8D54F5F1F00}"/>
              </a:ext>
            </a:extLst>
          </p:cNvPr>
          <p:cNvSpPr>
            <a:spLocks noChangeArrowheads="1"/>
          </p:cNvSpPr>
          <p:nvPr/>
        </p:nvSpPr>
        <p:spPr bwMode="auto">
          <a:xfrm>
            <a:off x="5087939" y="3789363"/>
            <a:ext cx="2232025" cy="6477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Monotype Sorts" pitchFamily="36" charset="2"/>
              <a:buChar char="n"/>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sz="2800">
              <a:latin typeface="Times New Roman" panose="02020603050405020304" pitchFamily="18" charset="0"/>
            </a:endParaRPr>
          </a:p>
        </p:txBody>
      </p:sp>
      <p:sp>
        <p:nvSpPr>
          <p:cNvPr id="28676" name="Line 6">
            <a:extLst>
              <a:ext uri="{FF2B5EF4-FFF2-40B4-BE49-F238E27FC236}">
                <a16:creationId xmlns:a16="http://schemas.microsoft.com/office/drawing/2014/main" id="{E288060A-0D9B-8BC4-1C59-3C81A437D037}"/>
              </a:ext>
            </a:extLst>
          </p:cNvPr>
          <p:cNvSpPr>
            <a:spLocks noChangeShapeType="1"/>
          </p:cNvSpPr>
          <p:nvPr/>
        </p:nvSpPr>
        <p:spPr bwMode="auto">
          <a:xfrm flipH="1" flipV="1">
            <a:off x="7175500" y="4365625"/>
            <a:ext cx="865188" cy="10795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77" name="Oval 8">
            <a:extLst>
              <a:ext uri="{FF2B5EF4-FFF2-40B4-BE49-F238E27FC236}">
                <a16:creationId xmlns:a16="http://schemas.microsoft.com/office/drawing/2014/main" id="{166BA8AC-4D2D-DB90-D381-6583A6480E7E}"/>
              </a:ext>
            </a:extLst>
          </p:cNvPr>
          <p:cNvSpPr>
            <a:spLocks noChangeArrowheads="1"/>
          </p:cNvSpPr>
          <p:nvPr/>
        </p:nvSpPr>
        <p:spPr bwMode="auto">
          <a:xfrm>
            <a:off x="5087939" y="3789363"/>
            <a:ext cx="2232025" cy="6477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Monotype Sorts" pitchFamily="36" charset="2"/>
              <a:buChar char="n"/>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sz="2800">
              <a:latin typeface="Times New Roman" panose="02020603050405020304" pitchFamily="18" charset="0"/>
            </a:endParaRPr>
          </a:p>
        </p:txBody>
      </p:sp>
      <p:sp>
        <p:nvSpPr>
          <p:cNvPr id="28678" name="Line 9">
            <a:extLst>
              <a:ext uri="{FF2B5EF4-FFF2-40B4-BE49-F238E27FC236}">
                <a16:creationId xmlns:a16="http://schemas.microsoft.com/office/drawing/2014/main" id="{94B602B4-374A-2BF5-5344-DE05FCB29CFE}"/>
              </a:ext>
            </a:extLst>
          </p:cNvPr>
          <p:cNvSpPr>
            <a:spLocks noChangeShapeType="1"/>
          </p:cNvSpPr>
          <p:nvPr/>
        </p:nvSpPr>
        <p:spPr bwMode="auto">
          <a:xfrm flipH="1" flipV="1">
            <a:off x="7175500" y="4365625"/>
            <a:ext cx="865188" cy="10795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679" name="Text Box 10">
            <a:extLst>
              <a:ext uri="{FF2B5EF4-FFF2-40B4-BE49-F238E27FC236}">
                <a16:creationId xmlns:a16="http://schemas.microsoft.com/office/drawing/2014/main" id="{AB56EDEC-B2E1-3A8E-48B5-2BA42B6A8925}"/>
              </a:ext>
            </a:extLst>
          </p:cNvPr>
          <p:cNvSpPr txBox="1">
            <a:spLocks noChangeArrowheads="1"/>
          </p:cNvSpPr>
          <p:nvPr/>
        </p:nvSpPr>
        <p:spPr bwMode="auto">
          <a:xfrm>
            <a:off x="7464425" y="5661025"/>
            <a:ext cx="2376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SzPct val="70000"/>
              <a:buFont typeface="Monotype Sorts" pitchFamily="36" charset="2"/>
              <a:buChar char="n"/>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a:spcBef>
                <a:spcPct val="50000"/>
              </a:spcBef>
              <a:buClrTx/>
              <a:buSzTx/>
              <a:buFontTx/>
              <a:buNone/>
            </a:pPr>
            <a:r>
              <a:rPr kumimoji="0" lang="en-US" altLang="zh-CN" sz="2000" dirty="0">
                <a:latin typeface="Times New Roman" panose="02020603050405020304" pitchFamily="18" charset="0"/>
                <a:ea typeface="宋体" panose="02010600030101010101" pitchFamily="2" charset="-122"/>
              </a:rPr>
              <a:t>IP Address</a:t>
            </a:r>
          </a:p>
        </p:txBody>
      </p:sp>
      <p:sp>
        <p:nvSpPr>
          <p:cNvPr id="28681" name="Line 12">
            <a:extLst>
              <a:ext uri="{FF2B5EF4-FFF2-40B4-BE49-F238E27FC236}">
                <a16:creationId xmlns:a16="http://schemas.microsoft.com/office/drawing/2014/main" id="{A171D49C-2E30-9E90-0750-7FAF4BFF0B97}"/>
              </a:ext>
            </a:extLst>
          </p:cNvPr>
          <p:cNvSpPr>
            <a:spLocks noChangeShapeType="1"/>
          </p:cNvSpPr>
          <p:nvPr/>
        </p:nvSpPr>
        <p:spPr bwMode="auto">
          <a:xfrm flipH="1" flipV="1">
            <a:off x="7175500" y="4365625"/>
            <a:ext cx="865188" cy="10795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742F9D03-0FF9-8EC2-FE10-6A3631394FF4}"/>
              </a:ext>
            </a:extLst>
          </p:cNvPr>
          <p:cNvSpPr>
            <a:spLocks noGrp="1" noChangeArrowheads="1"/>
          </p:cNvSpPr>
          <p:nvPr>
            <p:ph type="title"/>
          </p:nvPr>
        </p:nvSpPr>
        <p:spPr/>
        <p:txBody>
          <a:bodyPr/>
          <a:lstStyle/>
          <a:p>
            <a:r>
              <a:rPr lang="en-US" altLang="zh-CN">
                <a:ea typeface="宋体" panose="02010600030101010101" pitchFamily="2" charset="-122"/>
              </a:rPr>
              <a:t>TCP Header</a:t>
            </a:r>
          </a:p>
        </p:txBody>
      </p:sp>
      <p:sp>
        <p:nvSpPr>
          <p:cNvPr id="3" name="Text Placeholder 2">
            <a:extLst>
              <a:ext uri="{FF2B5EF4-FFF2-40B4-BE49-F238E27FC236}">
                <a16:creationId xmlns:a16="http://schemas.microsoft.com/office/drawing/2014/main" id="{56AD7156-395A-1F5C-1FD7-4BF4714CB944}"/>
              </a:ext>
            </a:extLst>
          </p:cNvPr>
          <p:cNvSpPr>
            <a:spLocks noGrp="1"/>
          </p:cNvSpPr>
          <p:nvPr>
            <p:ph type="body" idx="11"/>
          </p:nvPr>
        </p:nvSpPr>
        <p:spPr/>
        <p:txBody>
          <a:bodyPr/>
          <a:lstStyle/>
          <a:p>
            <a:endParaRPr lang="en-SG"/>
          </a:p>
        </p:txBody>
      </p:sp>
      <p:pic>
        <p:nvPicPr>
          <p:cNvPr id="30722" name="Picture 4">
            <a:extLst>
              <a:ext uri="{FF2B5EF4-FFF2-40B4-BE49-F238E27FC236}">
                <a16:creationId xmlns:a16="http://schemas.microsoft.com/office/drawing/2014/main" id="{D3EA23C5-9215-AC84-8D49-54B137EE27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1547018"/>
            <a:ext cx="7272338" cy="376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 Box 5">
            <a:extLst>
              <a:ext uri="{FF2B5EF4-FFF2-40B4-BE49-F238E27FC236}">
                <a16:creationId xmlns:a16="http://schemas.microsoft.com/office/drawing/2014/main" id="{A93FA25A-E4CA-57F0-26CF-737098367414}"/>
              </a:ext>
            </a:extLst>
          </p:cNvPr>
          <p:cNvSpPr txBox="1">
            <a:spLocks noChangeArrowheads="1"/>
          </p:cNvSpPr>
          <p:nvPr/>
        </p:nvSpPr>
        <p:spPr bwMode="auto">
          <a:xfrm>
            <a:off x="6672264" y="897731"/>
            <a:ext cx="2016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SzPct val="70000"/>
              <a:buFont typeface="Monotype Sorts" pitchFamily="36" charset="2"/>
              <a:buChar char="n"/>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a:spcBef>
                <a:spcPct val="50000"/>
              </a:spcBef>
              <a:buClrTx/>
              <a:buSzTx/>
              <a:buFontTx/>
              <a:buNone/>
            </a:pPr>
            <a:r>
              <a:rPr kumimoji="0" lang="en-US" altLang="zh-CN" sz="2000">
                <a:latin typeface="Times New Roman" panose="02020603050405020304" pitchFamily="18" charset="0"/>
                <a:ea typeface="宋体" panose="02010600030101010101" pitchFamily="2" charset="-122"/>
              </a:rPr>
              <a:t>Port Address</a:t>
            </a:r>
          </a:p>
        </p:txBody>
      </p:sp>
      <p:sp>
        <p:nvSpPr>
          <p:cNvPr id="30724" name="Oval 6">
            <a:extLst>
              <a:ext uri="{FF2B5EF4-FFF2-40B4-BE49-F238E27FC236}">
                <a16:creationId xmlns:a16="http://schemas.microsoft.com/office/drawing/2014/main" id="{498C9B1B-CE5A-02C4-7C38-FE9726C84200}"/>
              </a:ext>
            </a:extLst>
          </p:cNvPr>
          <p:cNvSpPr>
            <a:spLocks noChangeArrowheads="1"/>
          </p:cNvSpPr>
          <p:nvPr/>
        </p:nvSpPr>
        <p:spPr bwMode="auto">
          <a:xfrm>
            <a:off x="3792539" y="1978817"/>
            <a:ext cx="2232025" cy="6477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Monotype Sorts" pitchFamily="36" charset="2"/>
              <a:buChar char="n"/>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sz="2800">
              <a:latin typeface="Times New Roman" panose="02020603050405020304" pitchFamily="18" charset="0"/>
            </a:endParaRPr>
          </a:p>
        </p:txBody>
      </p:sp>
      <p:sp>
        <p:nvSpPr>
          <p:cNvPr id="30725" name="Line 7">
            <a:extLst>
              <a:ext uri="{FF2B5EF4-FFF2-40B4-BE49-F238E27FC236}">
                <a16:creationId xmlns:a16="http://schemas.microsoft.com/office/drawing/2014/main" id="{34134435-2D63-61ED-A768-2948D7C51938}"/>
              </a:ext>
            </a:extLst>
          </p:cNvPr>
          <p:cNvSpPr>
            <a:spLocks noChangeShapeType="1"/>
          </p:cNvSpPr>
          <p:nvPr/>
        </p:nvSpPr>
        <p:spPr bwMode="auto">
          <a:xfrm flipH="1">
            <a:off x="5951539" y="1329530"/>
            <a:ext cx="936625" cy="7921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6" name="Oval 8">
            <a:extLst>
              <a:ext uri="{FF2B5EF4-FFF2-40B4-BE49-F238E27FC236}">
                <a16:creationId xmlns:a16="http://schemas.microsoft.com/office/drawing/2014/main" id="{481E2CF2-2A67-E58D-4477-19655216F278}"/>
              </a:ext>
            </a:extLst>
          </p:cNvPr>
          <p:cNvSpPr>
            <a:spLocks noChangeArrowheads="1"/>
          </p:cNvSpPr>
          <p:nvPr/>
        </p:nvSpPr>
        <p:spPr bwMode="auto">
          <a:xfrm>
            <a:off x="6743701" y="1978817"/>
            <a:ext cx="2232025" cy="647700"/>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FF0000"/>
              </a:buClr>
              <a:buSzPct val="70000"/>
              <a:buFont typeface="Monotype Sorts" pitchFamily="36" charset="2"/>
              <a:buChar char="n"/>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sz="2800">
              <a:latin typeface="Times New Roman" panose="02020603050405020304" pitchFamily="18" charset="0"/>
            </a:endParaRPr>
          </a:p>
        </p:txBody>
      </p:sp>
      <p:sp>
        <p:nvSpPr>
          <p:cNvPr id="30727" name="Line 9">
            <a:extLst>
              <a:ext uri="{FF2B5EF4-FFF2-40B4-BE49-F238E27FC236}">
                <a16:creationId xmlns:a16="http://schemas.microsoft.com/office/drawing/2014/main" id="{FD9DA195-1EDC-2F3E-95D7-A33BB88C3D46}"/>
              </a:ext>
            </a:extLst>
          </p:cNvPr>
          <p:cNvSpPr>
            <a:spLocks noChangeShapeType="1"/>
          </p:cNvSpPr>
          <p:nvPr/>
        </p:nvSpPr>
        <p:spPr bwMode="auto">
          <a:xfrm>
            <a:off x="7392989" y="1329530"/>
            <a:ext cx="71437" cy="5762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728" name="Text Box 11">
            <a:extLst>
              <a:ext uri="{FF2B5EF4-FFF2-40B4-BE49-F238E27FC236}">
                <a16:creationId xmlns:a16="http://schemas.microsoft.com/office/drawing/2014/main" id="{1B139193-8328-B053-2F26-0F61379B99D4}"/>
              </a:ext>
            </a:extLst>
          </p:cNvPr>
          <p:cNvSpPr txBox="1">
            <a:spLocks noChangeArrowheads="1"/>
          </p:cNvSpPr>
          <p:nvPr/>
        </p:nvSpPr>
        <p:spPr bwMode="auto">
          <a:xfrm>
            <a:off x="2855913" y="5074442"/>
            <a:ext cx="66976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SzPct val="70000"/>
              <a:buFont typeface="Monotype Sorts" pitchFamily="36" charset="2"/>
              <a:buChar char="n"/>
              <a:defRPr kumimoji="1"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kumimoji="1"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kumimoji="1"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kumimoji="1"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34" charset="-128"/>
              </a:defRPr>
            </a:lvl9pPr>
          </a:lstStyle>
          <a:p>
            <a:pPr>
              <a:spcBef>
                <a:spcPct val="50000"/>
              </a:spcBef>
              <a:buClrTx/>
              <a:buSzTx/>
              <a:buFontTx/>
              <a:buNone/>
            </a:pPr>
            <a:r>
              <a:rPr kumimoji="0" lang="en-US" altLang="zh-CN" sz="2000" dirty="0">
                <a:latin typeface="Times New Roman" panose="02020603050405020304" pitchFamily="18" charset="0"/>
                <a:ea typeface="宋体" panose="02010600030101010101" pitchFamily="2" charset="-122"/>
              </a:rPr>
              <a:t>TCP ports: FTP(20 &amp; 21), SSH(22), TELNET(23), SMTP(25), HTTP(80), HTTPS(443)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F3527-8973-FC4B-1294-1E3A384DCDFA}"/>
              </a:ext>
            </a:extLst>
          </p:cNvPr>
          <p:cNvSpPr txBox="1">
            <a:spLocks/>
          </p:cNvSpPr>
          <p:nvPr/>
        </p:nvSpPr>
        <p:spPr>
          <a:xfrm>
            <a:off x="404608" y="413621"/>
            <a:ext cx="10841037" cy="1325562"/>
          </a:xfrm>
          <a:prstGeom prst="rect">
            <a:avLst/>
          </a:prstGeom>
        </p:spPr>
        <p:txBody>
          <a:bodyPr/>
          <a:lstStyle>
            <a:lvl1pPr algn="l" defTabSz="685800" rtl="0" eaLnBrk="1" latinLnBrk="0" hangingPunct="1">
              <a:lnSpc>
                <a:spcPct val="90000"/>
              </a:lnSpc>
              <a:spcBef>
                <a:spcPct val="0"/>
              </a:spcBef>
              <a:buNone/>
              <a:defRPr sz="3200" b="1"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stStyle>
          <a:p>
            <a:r>
              <a:rPr lang="en-US"/>
              <a:t>Exercise</a:t>
            </a:r>
            <a:endParaRPr lang="en-US" dirty="0"/>
          </a:p>
        </p:txBody>
      </p:sp>
      <p:sp>
        <p:nvSpPr>
          <p:cNvPr id="3" name="Content Placeholder 2">
            <a:extLst>
              <a:ext uri="{FF2B5EF4-FFF2-40B4-BE49-F238E27FC236}">
                <a16:creationId xmlns:a16="http://schemas.microsoft.com/office/drawing/2014/main" id="{02CCA764-BB63-2A70-4118-0C7E77D4AE44}"/>
              </a:ext>
            </a:extLst>
          </p:cNvPr>
          <p:cNvSpPr txBox="1">
            <a:spLocks/>
          </p:cNvSpPr>
          <p:nvPr/>
        </p:nvSpPr>
        <p:spPr>
          <a:xfrm>
            <a:off x="404608" y="1848721"/>
            <a:ext cx="10841037" cy="4722812"/>
          </a:xfrm>
          <a:prstGeom prst="rect">
            <a:avLst/>
          </a:prstGeom>
        </p:spPr>
        <p:txBody>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Launch a terminal in MAC or a DOS command window in Windows</a:t>
            </a:r>
          </a:p>
          <a:p>
            <a:r>
              <a:rPr lang="en-US"/>
              <a:t>Mac users: run “ifconfig”</a:t>
            </a:r>
          </a:p>
          <a:p>
            <a:r>
              <a:rPr lang="en-US"/>
              <a:t>Windows users: run “ipconfig”</a:t>
            </a:r>
          </a:p>
          <a:p>
            <a:r>
              <a:rPr lang="en-US"/>
              <a:t>Find your laptop’s MAC address and its IP address (if any) </a:t>
            </a:r>
            <a:endParaRPr lang="en-US" dirty="0"/>
          </a:p>
        </p:txBody>
      </p:sp>
    </p:spTree>
    <p:extLst>
      <p:ext uri="{BB962C8B-B14F-4D97-AF65-F5344CB8AC3E}">
        <p14:creationId xmlns:p14="http://schemas.microsoft.com/office/powerpoint/2010/main" val="1138453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r>
              <a:rPr lang="en-US" dirty="0"/>
              <a:t>FW vs IDS</a:t>
            </a:r>
          </a:p>
        </p:txBody>
      </p:sp>
      <p:sp>
        <p:nvSpPr>
          <p:cNvPr id="297987" name="Rectangle 3"/>
          <p:cNvSpPr>
            <a:spLocks noGrp="1" noChangeArrowheads="1"/>
          </p:cNvSpPr>
          <p:nvPr>
            <p:ph idx="1"/>
          </p:nvPr>
        </p:nvSpPr>
        <p:spPr>
          <a:xfrm>
            <a:off x="513350" y="1268243"/>
            <a:ext cx="5298872" cy="914400"/>
          </a:xfrm>
        </p:spPr>
        <p:txBody>
          <a:bodyPr/>
          <a:lstStyle/>
          <a:p>
            <a:r>
              <a:rPr lang="en-US" dirty="0"/>
              <a:t>Intrusion Detection Systems (IDS)</a:t>
            </a:r>
          </a:p>
        </p:txBody>
      </p:sp>
      <p:pic>
        <p:nvPicPr>
          <p:cNvPr id="297989" name="Picture 5" descr="MMj02837910000[1]"/>
          <p:cNvPicPr>
            <a:picLocks noChangeAspect="1" noChangeArrowheads="1" noCrop="1"/>
          </p:cNvPicPr>
          <p:nvPr/>
        </p:nvPicPr>
        <p:blipFill>
          <a:blip r:embed="rId3"/>
          <a:srcRect/>
          <a:stretch>
            <a:fillRect/>
          </a:stretch>
        </p:blipFill>
        <p:spPr bwMode="auto">
          <a:xfrm>
            <a:off x="2774731" y="3527846"/>
            <a:ext cx="1752600" cy="1524000"/>
          </a:xfrm>
          <a:prstGeom prst="rect">
            <a:avLst/>
          </a:prstGeom>
          <a:noFill/>
        </p:spPr>
      </p:pic>
      <p:pic>
        <p:nvPicPr>
          <p:cNvPr id="297991" name="Picture 7" descr="MCj02871560000[1]"/>
          <p:cNvPicPr>
            <a:picLocks noChangeAspect="1" noChangeArrowheads="1"/>
          </p:cNvPicPr>
          <p:nvPr/>
        </p:nvPicPr>
        <p:blipFill>
          <a:blip r:embed="rId4"/>
          <a:srcRect/>
          <a:stretch>
            <a:fillRect/>
          </a:stretch>
        </p:blipFill>
        <p:spPr bwMode="auto">
          <a:xfrm>
            <a:off x="1479331" y="3527847"/>
            <a:ext cx="857250" cy="1025225"/>
          </a:xfrm>
          <a:prstGeom prst="rect">
            <a:avLst/>
          </a:prstGeom>
          <a:noFill/>
        </p:spPr>
      </p:pic>
      <p:sp>
        <p:nvSpPr>
          <p:cNvPr id="297992" name="AutoShape 8"/>
          <p:cNvSpPr>
            <a:spLocks noChangeArrowheads="1"/>
          </p:cNvSpPr>
          <p:nvPr/>
        </p:nvSpPr>
        <p:spPr bwMode="auto">
          <a:xfrm>
            <a:off x="1250731" y="2308646"/>
            <a:ext cx="2286000" cy="914400"/>
          </a:xfrm>
          <a:prstGeom prst="cloudCallout">
            <a:avLst>
              <a:gd name="adj1" fmla="val -35907"/>
              <a:gd name="adj2" fmla="val 90539"/>
            </a:avLst>
          </a:prstGeom>
          <a:solidFill>
            <a:srgbClr val="CCFFFF"/>
          </a:solidFill>
          <a:ln w="9525">
            <a:noFill/>
            <a:round/>
            <a:headEnd/>
            <a:tailEnd/>
          </a:ln>
          <a:effectLst/>
        </p:spPr>
        <p:txBody>
          <a:bodyPr/>
          <a:lstStyle/>
          <a:p>
            <a:pPr algn="ctr"/>
            <a:r>
              <a:rPr lang="en-US" sz="2000" dirty="0"/>
              <a:t>catch me if you can</a:t>
            </a:r>
          </a:p>
        </p:txBody>
      </p:sp>
      <p:pic>
        <p:nvPicPr>
          <p:cNvPr id="13" name="Picture 31" descr="MCBL00506_0000[1]"/>
          <p:cNvPicPr>
            <a:picLocks noChangeAspect="1" noChangeArrowheads="1"/>
          </p:cNvPicPr>
          <p:nvPr/>
        </p:nvPicPr>
        <p:blipFill>
          <a:blip r:embed="rId5"/>
          <a:srcRect/>
          <a:stretch>
            <a:fillRect/>
          </a:stretch>
        </p:blipFill>
        <p:spPr bwMode="auto">
          <a:xfrm>
            <a:off x="6710856" y="2281658"/>
            <a:ext cx="3097204" cy="2770188"/>
          </a:xfrm>
          <a:prstGeom prst="rect">
            <a:avLst/>
          </a:prstGeom>
          <a:noFill/>
        </p:spPr>
      </p:pic>
      <p:sp>
        <p:nvSpPr>
          <p:cNvPr id="7" name="Text Placeholder 6">
            <a:extLst>
              <a:ext uri="{FF2B5EF4-FFF2-40B4-BE49-F238E27FC236}">
                <a16:creationId xmlns:a16="http://schemas.microsoft.com/office/drawing/2014/main" id="{5D528E08-39ED-CD4D-A9AA-4D2AD24E6B71}"/>
              </a:ext>
            </a:extLst>
          </p:cNvPr>
          <p:cNvSpPr>
            <a:spLocks noGrp="1"/>
          </p:cNvSpPr>
          <p:nvPr>
            <p:ph type="body" idx="11"/>
          </p:nvPr>
        </p:nvSpPr>
        <p:spPr/>
        <p:txBody>
          <a:bodyPr/>
          <a:lstStyle/>
          <a:p>
            <a:endParaRPr lang="en-US"/>
          </a:p>
        </p:txBody>
      </p:sp>
      <p:sp>
        <p:nvSpPr>
          <p:cNvPr id="15" name="Text Placeholder 11">
            <a:extLst>
              <a:ext uri="{FF2B5EF4-FFF2-40B4-BE49-F238E27FC236}">
                <a16:creationId xmlns:a16="http://schemas.microsoft.com/office/drawing/2014/main" id="{63BB11BF-E110-B040-91B7-935CD64B68FF}"/>
              </a:ext>
            </a:extLst>
          </p:cNvPr>
          <p:cNvSpPr txBox="1">
            <a:spLocks/>
          </p:cNvSpPr>
          <p:nvPr/>
        </p:nvSpPr>
        <p:spPr>
          <a:xfrm>
            <a:off x="6197600" y="1295400"/>
            <a:ext cx="5384800" cy="765448"/>
          </a:xfrm>
          <a:prstGeom prst="rect">
            <a:avLst/>
          </a:prstGeom>
        </p:spPr>
        <p:txBody>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t>Firewall (FW)</a:t>
            </a:r>
            <a:endParaRPr lang="en-US" dirty="0"/>
          </a:p>
        </p:txBody>
      </p:sp>
    </p:spTree>
    <p:extLst>
      <p:ext uri="{BB962C8B-B14F-4D97-AF65-F5344CB8AC3E}">
        <p14:creationId xmlns:p14="http://schemas.microsoft.com/office/powerpoint/2010/main" val="1192091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56E97-8275-3242-A51D-BD3C9674E07F}"/>
              </a:ext>
            </a:extLst>
          </p:cNvPr>
          <p:cNvSpPr>
            <a:spLocks noGrp="1"/>
          </p:cNvSpPr>
          <p:nvPr>
            <p:ph type="title"/>
          </p:nvPr>
        </p:nvSpPr>
        <p:spPr/>
        <p:txBody>
          <a:bodyPr anchor="ctr">
            <a:normAutofit/>
          </a:bodyPr>
          <a:lstStyle/>
          <a:p>
            <a:r>
              <a:rPr lang="en-US" dirty="0"/>
              <a:t>Firewall</a:t>
            </a:r>
          </a:p>
        </p:txBody>
      </p:sp>
      <p:sp>
        <p:nvSpPr>
          <p:cNvPr id="9" name="Text Placeholder 8">
            <a:extLst>
              <a:ext uri="{FF2B5EF4-FFF2-40B4-BE49-F238E27FC236}">
                <a16:creationId xmlns:a16="http://schemas.microsoft.com/office/drawing/2014/main" id="{8192B9EF-2F4A-A34C-A65F-E09597E5D949}"/>
              </a:ext>
            </a:extLst>
          </p:cNvPr>
          <p:cNvSpPr>
            <a:spLocks noGrp="1"/>
          </p:cNvSpPr>
          <p:nvPr>
            <p:ph type="body" idx="11"/>
          </p:nvPr>
        </p:nvSpPr>
        <p:spPr/>
        <p:txBody>
          <a:bodyPr/>
          <a:lstStyle/>
          <a:p>
            <a:endParaRPr lang="en-US"/>
          </a:p>
        </p:txBody>
      </p:sp>
      <p:pic>
        <p:nvPicPr>
          <p:cNvPr id="5" name="Online Media 4" descr="What is a Firewall?">
            <a:hlinkClick r:id="" action="ppaction://media"/>
            <a:extLst>
              <a:ext uri="{FF2B5EF4-FFF2-40B4-BE49-F238E27FC236}">
                <a16:creationId xmlns:a16="http://schemas.microsoft.com/office/drawing/2014/main" id="{E86565EC-B22F-9B44-AAA5-56C58C3AB104}"/>
              </a:ext>
            </a:extLst>
          </p:cNvPr>
          <p:cNvPicPr>
            <a:picLocks noGrp="1" noRot="1" noChangeAspect="1"/>
          </p:cNvPicPr>
          <p:nvPr>
            <p:ph idx="1"/>
            <a:videoFile r:link="rId1"/>
          </p:nvPr>
        </p:nvPicPr>
        <p:blipFill>
          <a:blip r:embed="rId4"/>
          <a:stretch>
            <a:fillRect/>
          </a:stretch>
        </p:blipFill>
        <p:spPr>
          <a:xfrm>
            <a:off x="2831977" y="1045775"/>
            <a:ext cx="6355266" cy="4766450"/>
          </a:xfrm>
          <a:noFill/>
        </p:spPr>
      </p:pic>
      <p:sp>
        <p:nvSpPr>
          <p:cNvPr id="3" name="TextBox 2">
            <a:extLst>
              <a:ext uri="{FF2B5EF4-FFF2-40B4-BE49-F238E27FC236}">
                <a16:creationId xmlns:a16="http://schemas.microsoft.com/office/drawing/2014/main" id="{7D2DC425-0181-AB46-8542-4E06C1E35AC7}"/>
              </a:ext>
            </a:extLst>
          </p:cNvPr>
          <p:cNvSpPr txBox="1"/>
          <p:nvPr/>
        </p:nvSpPr>
        <p:spPr>
          <a:xfrm>
            <a:off x="3598869" y="5897953"/>
            <a:ext cx="4583837" cy="307777"/>
          </a:xfrm>
          <a:prstGeom prst="rect">
            <a:avLst/>
          </a:prstGeom>
          <a:noFill/>
        </p:spPr>
        <p:txBody>
          <a:bodyPr wrap="square" rtlCol="0">
            <a:spAutoFit/>
          </a:bodyPr>
          <a:lstStyle/>
          <a:p>
            <a:r>
              <a:rPr lang="en-US" sz="1400" dirty="0">
                <a:latin typeface="Helvetica Neue" panose="02000503000000020004" pitchFamily="2" charset="0"/>
                <a:ea typeface="Helvetica Neue" panose="02000503000000020004" pitchFamily="2" charset="0"/>
                <a:cs typeface="Helvetica Neue" panose="02000503000000020004" pitchFamily="2" charset="0"/>
                <a:hlinkClick r:id="rId5"/>
              </a:rPr>
              <a:t>https://www.youtube.com/watch?v=kDEX1HXybrU</a:t>
            </a:r>
            <a:r>
              <a:rPr lang="en-US" sz="1400" dirty="0">
                <a:latin typeface="Helvetica Neue" panose="02000503000000020004" pitchFamily="2" charset="0"/>
                <a:ea typeface="Helvetica Neue" panose="02000503000000020004" pitchFamily="2" charset="0"/>
                <a:cs typeface="Helvetica Neue" panose="02000503000000020004" pitchFamily="2" charset="0"/>
              </a:rPr>
              <a:t> </a:t>
            </a:r>
          </a:p>
        </p:txBody>
      </p:sp>
    </p:spTree>
    <p:extLst>
      <p:ext uri="{BB962C8B-B14F-4D97-AF65-F5344CB8AC3E}">
        <p14:creationId xmlns:p14="http://schemas.microsoft.com/office/powerpoint/2010/main" val="39696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altLang="zh-CN" dirty="0"/>
              <a:t>Network Firewall</a:t>
            </a:r>
            <a:endParaRPr lang="en-US" dirty="0"/>
          </a:p>
        </p:txBody>
      </p:sp>
      <p:sp>
        <p:nvSpPr>
          <p:cNvPr id="4" name="Text Placeholder 3">
            <a:extLst>
              <a:ext uri="{FF2B5EF4-FFF2-40B4-BE49-F238E27FC236}">
                <a16:creationId xmlns:a16="http://schemas.microsoft.com/office/drawing/2014/main" id="{DC9C76C1-4DC3-2642-9A34-18CA842BC38D}"/>
              </a:ext>
            </a:extLst>
          </p:cNvPr>
          <p:cNvSpPr>
            <a:spLocks noGrp="1"/>
          </p:cNvSpPr>
          <p:nvPr>
            <p:ph type="body" idx="11"/>
          </p:nvPr>
        </p:nvSpPr>
        <p:spPr/>
        <p:txBody>
          <a:bodyPr/>
          <a:lstStyle/>
          <a:p>
            <a:endParaRPr lang="en-US"/>
          </a:p>
        </p:txBody>
      </p:sp>
      <p:sp>
        <p:nvSpPr>
          <p:cNvPr id="264195" name="Rectangle 3"/>
          <p:cNvSpPr>
            <a:spLocks noGrp="1" noChangeArrowheads="1"/>
          </p:cNvSpPr>
          <p:nvPr>
            <p:ph idx="1"/>
          </p:nvPr>
        </p:nvSpPr>
        <p:spPr>
          <a:xfrm>
            <a:off x="513349" y="3536949"/>
            <a:ext cx="10840451" cy="2454611"/>
          </a:xfrm>
        </p:spPr>
        <p:txBody>
          <a:bodyPr>
            <a:normAutofit lnSpcReduction="10000"/>
          </a:bodyPr>
          <a:lstStyle/>
          <a:p>
            <a:r>
              <a:rPr lang="en-US" dirty="0"/>
              <a:t>Main functions: by </a:t>
            </a:r>
            <a:r>
              <a:rPr lang="en-US" dirty="0">
                <a:solidFill>
                  <a:srgbClr val="002060"/>
                </a:solidFill>
              </a:rPr>
              <a:t>filtering and auditing </a:t>
            </a:r>
            <a:r>
              <a:rPr lang="en-US" dirty="0"/>
              <a:t>traffic between internal and external network</a:t>
            </a:r>
          </a:p>
          <a:p>
            <a:pPr lvl="1"/>
            <a:r>
              <a:rPr lang="en-US" dirty="0">
                <a:solidFill>
                  <a:srgbClr val="002060"/>
                </a:solidFill>
              </a:rPr>
              <a:t>Prevent</a:t>
            </a:r>
            <a:r>
              <a:rPr lang="en-US" dirty="0"/>
              <a:t> unauthorized access to a private network and unauthorized outgoing traffic.</a:t>
            </a:r>
          </a:p>
          <a:p>
            <a:pPr lvl="1"/>
            <a:r>
              <a:rPr lang="en-US" dirty="0"/>
              <a:t>Traffic volume/speed regulation.</a:t>
            </a:r>
          </a:p>
          <a:p>
            <a:r>
              <a:rPr lang="en-US" dirty="0"/>
              <a:t>Deployed at the network boundary, the exit/entrance point.</a:t>
            </a:r>
          </a:p>
        </p:txBody>
      </p:sp>
      <p:sp>
        <p:nvSpPr>
          <p:cNvPr id="264196" name="Firewall"/>
          <p:cNvSpPr>
            <a:spLocks noEditPoints="1" noChangeArrowheads="1"/>
          </p:cNvSpPr>
          <p:nvPr/>
        </p:nvSpPr>
        <p:spPr bwMode="auto">
          <a:xfrm>
            <a:off x="5257800" y="1981201"/>
            <a:ext cx="1447800" cy="752475"/>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a:effectLst/>
        </p:spPr>
        <p:txBody>
          <a:bodyPr/>
          <a:lstStyle/>
          <a:p>
            <a:endParaRPr lang="en-US"/>
          </a:p>
        </p:txBody>
      </p:sp>
      <p:sp>
        <p:nvSpPr>
          <p:cNvPr id="264197" name="Cloud"/>
          <p:cNvSpPr>
            <a:spLocks noChangeAspect="1" noEditPoints="1" noChangeArrowheads="1"/>
          </p:cNvSpPr>
          <p:nvPr/>
        </p:nvSpPr>
        <p:spPr bwMode="auto">
          <a:xfrm>
            <a:off x="2438400" y="1752600"/>
            <a:ext cx="1752600" cy="11747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sp>
        <p:nvSpPr>
          <p:cNvPr id="264198" name="Cloud"/>
          <p:cNvSpPr>
            <a:spLocks noChangeAspect="1" noEditPoints="1" noChangeArrowheads="1"/>
          </p:cNvSpPr>
          <p:nvPr/>
        </p:nvSpPr>
        <p:spPr bwMode="auto">
          <a:xfrm>
            <a:off x="7772400" y="1752600"/>
            <a:ext cx="1752600" cy="11747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sp>
        <p:nvSpPr>
          <p:cNvPr id="264199" name="Text Box 7"/>
          <p:cNvSpPr txBox="1">
            <a:spLocks noChangeArrowheads="1"/>
          </p:cNvSpPr>
          <p:nvPr/>
        </p:nvSpPr>
        <p:spPr bwMode="auto">
          <a:xfrm>
            <a:off x="2895600" y="1981201"/>
            <a:ext cx="1143000" cy="581025"/>
          </a:xfrm>
          <a:prstGeom prst="rect">
            <a:avLst/>
          </a:prstGeom>
          <a:noFill/>
          <a:ln w="9525">
            <a:noFill/>
            <a:miter lim="800000"/>
            <a:headEnd/>
            <a:tailEnd/>
          </a:ln>
          <a:effectLst/>
        </p:spPr>
        <p:txBody>
          <a:bodyPr>
            <a:spAutoFit/>
          </a:bodyPr>
          <a:lstStyle/>
          <a:p>
            <a:pPr>
              <a:spcBef>
                <a:spcPct val="50000"/>
              </a:spcBef>
            </a:pPr>
            <a:r>
              <a:rPr lang="en-US" sz="1600"/>
              <a:t>Internal network</a:t>
            </a:r>
          </a:p>
        </p:txBody>
      </p:sp>
      <p:sp>
        <p:nvSpPr>
          <p:cNvPr id="264200" name="Text Box 8"/>
          <p:cNvSpPr txBox="1">
            <a:spLocks noChangeArrowheads="1"/>
          </p:cNvSpPr>
          <p:nvPr/>
        </p:nvSpPr>
        <p:spPr bwMode="auto">
          <a:xfrm>
            <a:off x="8229600" y="1981201"/>
            <a:ext cx="1143000" cy="581025"/>
          </a:xfrm>
          <a:prstGeom prst="rect">
            <a:avLst/>
          </a:prstGeom>
          <a:noFill/>
          <a:ln w="9525">
            <a:noFill/>
            <a:miter lim="800000"/>
            <a:headEnd/>
            <a:tailEnd/>
          </a:ln>
          <a:effectLst/>
        </p:spPr>
        <p:txBody>
          <a:bodyPr>
            <a:spAutoFit/>
          </a:bodyPr>
          <a:lstStyle/>
          <a:p>
            <a:pPr>
              <a:spcBef>
                <a:spcPct val="50000"/>
              </a:spcBef>
            </a:pPr>
            <a:r>
              <a:rPr lang="en-US" sz="1600"/>
              <a:t>External network</a:t>
            </a:r>
          </a:p>
        </p:txBody>
      </p:sp>
      <p:sp>
        <p:nvSpPr>
          <p:cNvPr id="264201" name="Text Box 9"/>
          <p:cNvSpPr txBox="1">
            <a:spLocks noChangeArrowheads="1"/>
          </p:cNvSpPr>
          <p:nvPr/>
        </p:nvSpPr>
        <p:spPr bwMode="auto">
          <a:xfrm>
            <a:off x="5486400" y="2209801"/>
            <a:ext cx="1066800" cy="396875"/>
          </a:xfrm>
          <a:prstGeom prst="rect">
            <a:avLst/>
          </a:prstGeom>
          <a:noFill/>
          <a:ln w="9525">
            <a:noFill/>
            <a:miter lim="800000"/>
            <a:headEnd/>
            <a:tailEnd/>
          </a:ln>
          <a:effectLst/>
        </p:spPr>
        <p:txBody>
          <a:bodyPr>
            <a:spAutoFit/>
          </a:bodyPr>
          <a:lstStyle/>
          <a:p>
            <a:pPr>
              <a:spcBef>
                <a:spcPct val="50000"/>
              </a:spcBef>
            </a:pPr>
            <a:r>
              <a:rPr lang="en-US" sz="2000">
                <a:solidFill>
                  <a:srgbClr val="FFFFFF"/>
                </a:solidFill>
              </a:rPr>
              <a:t>Firewall</a:t>
            </a:r>
          </a:p>
        </p:txBody>
      </p:sp>
      <p:sp>
        <p:nvSpPr>
          <p:cNvPr id="264202" name="Line 10"/>
          <p:cNvSpPr>
            <a:spLocks noChangeShapeType="1"/>
          </p:cNvSpPr>
          <p:nvPr/>
        </p:nvSpPr>
        <p:spPr bwMode="auto">
          <a:xfrm>
            <a:off x="4191000" y="2362200"/>
            <a:ext cx="1066800" cy="0"/>
          </a:xfrm>
          <a:prstGeom prst="line">
            <a:avLst/>
          </a:prstGeom>
          <a:noFill/>
          <a:ln w="38100">
            <a:solidFill>
              <a:schemeClr val="tx1"/>
            </a:solidFill>
            <a:round/>
            <a:headEnd/>
            <a:tailEnd type="triangle" w="med" len="med"/>
          </a:ln>
          <a:effectLst/>
        </p:spPr>
        <p:txBody>
          <a:bodyPr/>
          <a:lstStyle/>
          <a:p>
            <a:endParaRPr lang="en-US"/>
          </a:p>
        </p:txBody>
      </p:sp>
      <p:sp>
        <p:nvSpPr>
          <p:cNvPr id="264203" name="Line 11"/>
          <p:cNvSpPr>
            <a:spLocks noChangeShapeType="1"/>
          </p:cNvSpPr>
          <p:nvPr/>
        </p:nvSpPr>
        <p:spPr bwMode="auto">
          <a:xfrm flipH="1">
            <a:off x="4191000" y="2362200"/>
            <a:ext cx="1066800" cy="0"/>
          </a:xfrm>
          <a:prstGeom prst="line">
            <a:avLst/>
          </a:prstGeom>
          <a:noFill/>
          <a:ln w="38100">
            <a:solidFill>
              <a:schemeClr val="tx1"/>
            </a:solidFill>
            <a:round/>
            <a:headEnd/>
            <a:tailEnd type="triangle" w="med" len="med"/>
          </a:ln>
          <a:effectLst/>
        </p:spPr>
        <p:txBody>
          <a:bodyPr/>
          <a:lstStyle/>
          <a:p>
            <a:endParaRPr lang="en-US"/>
          </a:p>
        </p:txBody>
      </p:sp>
      <p:sp>
        <p:nvSpPr>
          <p:cNvPr id="264204" name="Line 12"/>
          <p:cNvSpPr>
            <a:spLocks noChangeShapeType="1"/>
          </p:cNvSpPr>
          <p:nvPr/>
        </p:nvSpPr>
        <p:spPr bwMode="auto">
          <a:xfrm>
            <a:off x="6705600" y="2362200"/>
            <a:ext cx="1066800" cy="0"/>
          </a:xfrm>
          <a:prstGeom prst="line">
            <a:avLst/>
          </a:prstGeom>
          <a:noFill/>
          <a:ln w="38100">
            <a:solidFill>
              <a:schemeClr val="tx1"/>
            </a:solidFill>
            <a:round/>
            <a:headEnd/>
            <a:tailEnd type="triangle" w="med" len="med"/>
          </a:ln>
          <a:effectLst/>
        </p:spPr>
        <p:txBody>
          <a:bodyPr/>
          <a:lstStyle/>
          <a:p>
            <a:endParaRPr lang="en-US"/>
          </a:p>
        </p:txBody>
      </p:sp>
      <p:sp>
        <p:nvSpPr>
          <p:cNvPr id="264205" name="Line 13"/>
          <p:cNvSpPr>
            <a:spLocks noChangeShapeType="1"/>
          </p:cNvSpPr>
          <p:nvPr/>
        </p:nvSpPr>
        <p:spPr bwMode="auto">
          <a:xfrm flipH="1">
            <a:off x="6705600" y="2362200"/>
            <a:ext cx="1066800" cy="0"/>
          </a:xfrm>
          <a:prstGeom prst="line">
            <a:avLst/>
          </a:prstGeom>
          <a:noFill/>
          <a:ln w="38100">
            <a:solidFill>
              <a:schemeClr val="tx1"/>
            </a:solidFill>
            <a:round/>
            <a:headEnd/>
            <a:tailEnd type="triangle" w="med" len="med"/>
          </a:ln>
          <a:effectLst/>
        </p:spPr>
        <p:txBody>
          <a:bodyPr/>
          <a:lstStyle/>
          <a:p>
            <a:endParaRPr lang="en-US"/>
          </a:p>
        </p:txBody>
      </p:sp>
    </p:spTree>
    <p:extLst>
      <p:ext uri="{BB962C8B-B14F-4D97-AF65-F5344CB8AC3E}">
        <p14:creationId xmlns:p14="http://schemas.microsoft.com/office/powerpoint/2010/main" val="1683338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categorization</a:t>
            </a:r>
          </a:p>
        </p:txBody>
      </p:sp>
      <p:sp>
        <p:nvSpPr>
          <p:cNvPr id="11" name="Text Placeholder 10">
            <a:extLst>
              <a:ext uri="{FF2B5EF4-FFF2-40B4-BE49-F238E27FC236}">
                <a16:creationId xmlns:a16="http://schemas.microsoft.com/office/drawing/2014/main" id="{13533D83-524F-FA4C-B431-14EB5C28EDE3}"/>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lstStyle/>
          <a:p>
            <a:r>
              <a:rPr lang="en-US" dirty="0">
                <a:solidFill>
                  <a:srgbClr val="002060"/>
                </a:solidFill>
              </a:rPr>
              <a:t>Policy</a:t>
            </a:r>
            <a:r>
              <a:rPr lang="en-US" dirty="0"/>
              <a:t>: open policy vs close policy</a:t>
            </a:r>
          </a:p>
          <a:p>
            <a:r>
              <a:rPr lang="en-US" dirty="0">
                <a:solidFill>
                  <a:srgbClr val="002060"/>
                </a:solidFill>
              </a:rPr>
              <a:t>Functioning level</a:t>
            </a:r>
            <a:r>
              <a:rPr lang="en-US" dirty="0"/>
              <a:t>: IP filter vs Application gateway</a:t>
            </a:r>
          </a:p>
          <a:p>
            <a:r>
              <a:rPr lang="en-US" dirty="0">
                <a:solidFill>
                  <a:srgbClr val="002060"/>
                </a:solidFill>
              </a:rPr>
              <a:t>Position</a:t>
            </a:r>
            <a:r>
              <a:rPr lang="en-US" dirty="0"/>
              <a:t>: network based vs host based</a:t>
            </a:r>
          </a:p>
        </p:txBody>
      </p:sp>
      <p:cxnSp>
        <p:nvCxnSpPr>
          <p:cNvPr id="6" name="Straight Arrow Connector 5"/>
          <p:cNvCxnSpPr/>
          <p:nvPr/>
        </p:nvCxnSpPr>
        <p:spPr>
          <a:xfrm>
            <a:off x="4724400" y="5791200"/>
            <a:ext cx="3200400" cy="0"/>
          </a:xfrm>
          <a:prstGeom prst="straightConnector1">
            <a:avLst/>
          </a:prstGeom>
          <a:ln w="57150" cmpd="sng">
            <a:solidFill>
              <a:srgbClr val="660066"/>
            </a:solidFill>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flipV="1">
            <a:off x="4724400" y="3733800"/>
            <a:ext cx="0" cy="2057400"/>
          </a:xfrm>
          <a:prstGeom prst="straightConnector1">
            <a:avLst/>
          </a:prstGeom>
          <a:ln w="57150" cmpd="sng">
            <a:solidFill>
              <a:srgbClr val="660066"/>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flipV="1">
            <a:off x="4724400" y="3810000"/>
            <a:ext cx="1600200" cy="1981200"/>
          </a:xfrm>
          <a:prstGeom prst="straightConnector1">
            <a:avLst/>
          </a:prstGeom>
          <a:ln w="38100" cmpd="sng">
            <a:solidFill>
              <a:srgbClr val="660066"/>
            </a:solidFill>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84894" y="3657601"/>
            <a:ext cx="851515" cy="369332"/>
          </a:xfrm>
          <a:prstGeom prst="rect">
            <a:avLst/>
          </a:prstGeom>
          <a:noFill/>
        </p:spPr>
        <p:txBody>
          <a:bodyPr wrap="none" rtlCol="0">
            <a:spAutoFit/>
          </a:bodyPr>
          <a:lstStyle/>
          <a:p>
            <a:r>
              <a:rPr lang="en-US" b="1" dirty="0">
                <a:solidFill>
                  <a:srgbClr val="660066"/>
                </a:solidFill>
              </a:rPr>
              <a:t>policy</a:t>
            </a:r>
          </a:p>
        </p:txBody>
      </p:sp>
      <p:sp>
        <p:nvSpPr>
          <p:cNvPr id="15" name="TextBox 14"/>
          <p:cNvSpPr txBox="1"/>
          <p:nvPr/>
        </p:nvSpPr>
        <p:spPr>
          <a:xfrm>
            <a:off x="2286000" y="3581401"/>
            <a:ext cx="2438400" cy="369332"/>
          </a:xfrm>
          <a:prstGeom prst="rect">
            <a:avLst/>
          </a:prstGeom>
          <a:noFill/>
        </p:spPr>
        <p:txBody>
          <a:bodyPr wrap="square" rtlCol="0">
            <a:spAutoFit/>
          </a:bodyPr>
          <a:lstStyle/>
          <a:p>
            <a:r>
              <a:rPr lang="en-US" b="1" dirty="0">
                <a:solidFill>
                  <a:srgbClr val="660066"/>
                </a:solidFill>
              </a:rPr>
              <a:t>functioning layer</a:t>
            </a:r>
          </a:p>
        </p:txBody>
      </p:sp>
      <p:sp>
        <p:nvSpPr>
          <p:cNvPr id="16" name="TextBox 15"/>
          <p:cNvSpPr txBox="1"/>
          <p:nvPr/>
        </p:nvSpPr>
        <p:spPr>
          <a:xfrm>
            <a:off x="8001001" y="5638801"/>
            <a:ext cx="1082348" cy="369332"/>
          </a:xfrm>
          <a:prstGeom prst="rect">
            <a:avLst/>
          </a:prstGeom>
          <a:noFill/>
        </p:spPr>
        <p:txBody>
          <a:bodyPr wrap="none" rtlCol="0">
            <a:spAutoFit/>
          </a:bodyPr>
          <a:lstStyle/>
          <a:p>
            <a:r>
              <a:rPr lang="en-US" b="1" dirty="0">
                <a:solidFill>
                  <a:srgbClr val="660066"/>
                </a:solidFill>
              </a:rPr>
              <a:t>position</a:t>
            </a:r>
          </a:p>
        </p:txBody>
      </p:sp>
      <p:cxnSp>
        <p:nvCxnSpPr>
          <p:cNvPr id="7" name="Straight Connector 6"/>
          <p:cNvCxnSpPr/>
          <p:nvPr/>
        </p:nvCxnSpPr>
        <p:spPr>
          <a:xfrm>
            <a:off x="5638800" y="5638800"/>
            <a:ext cx="0" cy="228600"/>
          </a:xfrm>
          <a:prstGeom prst="line">
            <a:avLst/>
          </a:prstGeom>
          <a:ln>
            <a:solidFill>
              <a:srgbClr val="66006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7010400" y="5638800"/>
            <a:ext cx="0" cy="228600"/>
          </a:xfrm>
          <a:prstGeom prst="line">
            <a:avLst/>
          </a:prstGeom>
          <a:ln>
            <a:solidFill>
              <a:srgbClr val="66006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322074" y="5715001"/>
            <a:ext cx="620683" cy="369332"/>
          </a:xfrm>
          <a:prstGeom prst="rect">
            <a:avLst/>
          </a:prstGeom>
          <a:noFill/>
        </p:spPr>
        <p:txBody>
          <a:bodyPr wrap="none" rtlCol="0">
            <a:spAutoFit/>
          </a:bodyPr>
          <a:lstStyle/>
          <a:p>
            <a:r>
              <a:rPr lang="en-US" dirty="0"/>
              <a:t>host</a:t>
            </a:r>
          </a:p>
        </p:txBody>
      </p:sp>
      <p:sp>
        <p:nvSpPr>
          <p:cNvPr id="18" name="TextBox 17"/>
          <p:cNvSpPr txBox="1"/>
          <p:nvPr/>
        </p:nvSpPr>
        <p:spPr>
          <a:xfrm>
            <a:off x="6477000" y="5715001"/>
            <a:ext cx="992579" cy="369332"/>
          </a:xfrm>
          <a:prstGeom prst="rect">
            <a:avLst/>
          </a:prstGeom>
          <a:noFill/>
        </p:spPr>
        <p:txBody>
          <a:bodyPr wrap="none" rtlCol="0">
            <a:spAutoFit/>
          </a:bodyPr>
          <a:lstStyle/>
          <a:p>
            <a:r>
              <a:rPr lang="en-US" dirty="0"/>
              <a:t>network</a:t>
            </a:r>
          </a:p>
        </p:txBody>
      </p:sp>
      <p:cxnSp>
        <p:nvCxnSpPr>
          <p:cNvPr id="19" name="Straight Connector 18"/>
          <p:cNvCxnSpPr/>
          <p:nvPr/>
        </p:nvCxnSpPr>
        <p:spPr>
          <a:xfrm>
            <a:off x="5257800" y="4953000"/>
            <a:ext cx="0" cy="228600"/>
          </a:xfrm>
          <a:prstGeom prst="line">
            <a:avLst/>
          </a:prstGeom>
          <a:ln>
            <a:solidFill>
              <a:srgbClr val="660066"/>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715000" y="4343400"/>
            <a:ext cx="0" cy="228600"/>
          </a:xfrm>
          <a:prstGeom prst="line">
            <a:avLst/>
          </a:prstGeom>
          <a:ln>
            <a:solidFill>
              <a:srgbClr val="66006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32406" y="4953001"/>
            <a:ext cx="697627" cy="369332"/>
          </a:xfrm>
          <a:prstGeom prst="rect">
            <a:avLst/>
          </a:prstGeom>
          <a:noFill/>
        </p:spPr>
        <p:txBody>
          <a:bodyPr wrap="none" rtlCol="0">
            <a:spAutoFit/>
          </a:bodyPr>
          <a:lstStyle/>
          <a:p>
            <a:r>
              <a:rPr lang="en-US" dirty="0"/>
              <a:t>open</a:t>
            </a:r>
          </a:p>
        </p:txBody>
      </p:sp>
      <p:sp>
        <p:nvSpPr>
          <p:cNvPr id="24" name="TextBox 23"/>
          <p:cNvSpPr txBox="1"/>
          <p:nvPr/>
        </p:nvSpPr>
        <p:spPr>
          <a:xfrm>
            <a:off x="5715001" y="4343401"/>
            <a:ext cx="723275" cy="369332"/>
          </a:xfrm>
          <a:prstGeom prst="rect">
            <a:avLst/>
          </a:prstGeom>
          <a:noFill/>
        </p:spPr>
        <p:txBody>
          <a:bodyPr wrap="none" rtlCol="0">
            <a:spAutoFit/>
          </a:bodyPr>
          <a:lstStyle/>
          <a:p>
            <a:r>
              <a:rPr lang="en-US" dirty="0"/>
              <a:t>close</a:t>
            </a:r>
          </a:p>
        </p:txBody>
      </p:sp>
      <p:cxnSp>
        <p:nvCxnSpPr>
          <p:cNvPr id="27" name="Straight Connector 26"/>
          <p:cNvCxnSpPr/>
          <p:nvPr/>
        </p:nvCxnSpPr>
        <p:spPr>
          <a:xfrm flipH="1">
            <a:off x="4648200" y="5257800"/>
            <a:ext cx="228600" cy="0"/>
          </a:xfrm>
          <a:prstGeom prst="line">
            <a:avLst/>
          </a:prstGeom>
          <a:ln>
            <a:solidFill>
              <a:srgbClr val="660066"/>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flipH="1">
            <a:off x="4648200" y="4343400"/>
            <a:ext cx="228600" cy="0"/>
          </a:xfrm>
          <a:prstGeom prst="line">
            <a:avLst/>
          </a:prstGeom>
          <a:ln>
            <a:solidFill>
              <a:srgbClr val="66006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352800" y="5029201"/>
            <a:ext cx="992579" cy="369332"/>
          </a:xfrm>
          <a:prstGeom prst="rect">
            <a:avLst/>
          </a:prstGeom>
          <a:noFill/>
        </p:spPr>
        <p:txBody>
          <a:bodyPr wrap="none" rtlCol="0">
            <a:spAutoFit/>
          </a:bodyPr>
          <a:lstStyle/>
          <a:p>
            <a:r>
              <a:rPr lang="en-US" dirty="0"/>
              <a:t>network</a:t>
            </a:r>
          </a:p>
        </p:txBody>
      </p:sp>
      <p:sp>
        <p:nvSpPr>
          <p:cNvPr id="32" name="TextBox 31"/>
          <p:cNvSpPr txBox="1"/>
          <p:nvPr/>
        </p:nvSpPr>
        <p:spPr>
          <a:xfrm>
            <a:off x="3048000" y="4038601"/>
            <a:ext cx="1287532" cy="369332"/>
          </a:xfrm>
          <a:prstGeom prst="rect">
            <a:avLst/>
          </a:prstGeom>
          <a:noFill/>
        </p:spPr>
        <p:txBody>
          <a:bodyPr wrap="none" rtlCol="0">
            <a:spAutoFit/>
          </a:bodyPr>
          <a:lstStyle/>
          <a:p>
            <a:r>
              <a:rPr lang="en-US" dirty="0"/>
              <a:t>application</a:t>
            </a:r>
          </a:p>
        </p:txBody>
      </p:sp>
    </p:spTree>
    <p:extLst>
      <p:ext uri="{BB962C8B-B14F-4D97-AF65-F5344CB8AC3E}">
        <p14:creationId xmlns:p14="http://schemas.microsoft.com/office/powerpoint/2010/main" val="264396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r>
              <a:rPr lang="en-US" dirty="0"/>
              <a:t>Close Policy</a:t>
            </a:r>
          </a:p>
        </p:txBody>
      </p:sp>
      <p:sp>
        <p:nvSpPr>
          <p:cNvPr id="10" name="Text Placeholder 9">
            <a:extLst>
              <a:ext uri="{FF2B5EF4-FFF2-40B4-BE49-F238E27FC236}">
                <a16:creationId xmlns:a16="http://schemas.microsoft.com/office/drawing/2014/main" id="{FABD210E-E497-FB49-826A-A1EA5A4935F4}"/>
              </a:ext>
            </a:extLst>
          </p:cNvPr>
          <p:cNvSpPr>
            <a:spLocks noGrp="1"/>
          </p:cNvSpPr>
          <p:nvPr>
            <p:ph type="body" idx="11"/>
          </p:nvPr>
        </p:nvSpPr>
        <p:spPr/>
        <p:txBody>
          <a:bodyPr/>
          <a:lstStyle/>
          <a:p>
            <a:endParaRPr lang="en-US"/>
          </a:p>
        </p:txBody>
      </p:sp>
      <p:sp>
        <p:nvSpPr>
          <p:cNvPr id="266243" name="Rectangle 3"/>
          <p:cNvSpPr>
            <a:spLocks noGrp="1" noChangeArrowheads="1"/>
          </p:cNvSpPr>
          <p:nvPr>
            <p:ph idx="1"/>
          </p:nvPr>
        </p:nvSpPr>
        <p:spPr>
          <a:xfrm>
            <a:off x="513350" y="1268243"/>
            <a:ext cx="5068744" cy="584828"/>
          </a:xfrm>
        </p:spPr>
        <p:txBody>
          <a:bodyPr>
            <a:normAutofit fontScale="85000" lnSpcReduction="10000"/>
          </a:bodyPr>
          <a:lstStyle/>
          <a:p>
            <a:r>
              <a:rPr lang="en-US" dirty="0"/>
              <a:t>Only whitelisted packets are forwarded: </a:t>
            </a:r>
          </a:p>
        </p:txBody>
      </p:sp>
      <p:sp>
        <p:nvSpPr>
          <p:cNvPr id="22" name="Rectangle 3">
            <a:extLst>
              <a:ext uri="{FF2B5EF4-FFF2-40B4-BE49-F238E27FC236}">
                <a16:creationId xmlns:a16="http://schemas.microsoft.com/office/drawing/2014/main" id="{EA884BE6-D2F2-B045-8519-09084B0B4748}"/>
              </a:ext>
            </a:extLst>
          </p:cNvPr>
          <p:cNvSpPr txBox="1">
            <a:spLocks noChangeArrowheads="1"/>
          </p:cNvSpPr>
          <p:nvPr/>
        </p:nvSpPr>
        <p:spPr bwMode="auto">
          <a:xfrm>
            <a:off x="527782" y="1646973"/>
            <a:ext cx="4571257" cy="312085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1800">
                <a:solidFill>
                  <a:schemeClr val="tx1"/>
                </a:solidFill>
                <a:latin typeface="+mn-lt"/>
              </a:defRPr>
            </a:lvl4pPr>
            <a:lvl5pPr marL="2057400" indent="-228600" algn="l" rtl="0" eaLnBrk="1" fontAlgn="base" hangingPunct="1">
              <a:spcBef>
                <a:spcPct val="20000"/>
              </a:spcBef>
              <a:spcAft>
                <a:spcPct val="0"/>
              </a:spcAft>
              <a:buChar char="»"/>
              <a:defRPr sz="1800">
                <a:solidFill>
                  <a:schemeClr val="tx1"/>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2400" b="0" i="1" u="none" strike="noStrike" kern="0" cap="none" spc="0" normalizeH="0" baseline="0" noProof="0" dirty="0">
              <a:ln>
                <a:noFill/>
              </a:ln>
              <a:solidFill>
                <a:srgbClr val="333399"/>
              </a:solidFill>
              <a:effectLst/>
              <a:uLnTx/>
              <a:uFillTx/>
              <a:latin typeface="Arial"/>
              <a:ea typeface="+mn-ea"/>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ea typeface="+mn-ea"/>
                <a:cs typeface="+mn-cs"/>
              </a:rPr>
              <a:t>    </a:t>
            </a:r>
            <a:r>
              <a:rPr kumimoji="0" lang="en-US" sz="2000" b="0" i="1" u="none" strike="noStrike" kern="0" cap="none" spc="0" normalizeH="0" baseline="0" noProof="0" dirty="0">
                <a:ln>
                  <a:noFill/>
                </a:ln>
                <a:solidFill>
                  <a:srgbClr val="333399"/>
                </a:solidFill>
                <a:effectLst/>
                <a:uLnTx/>
                <a:uFillTx/>
                <a:latin typeface="Arial"/>
                <a:ea typeface="+mn-ea"/>
                <a:cs typeface="+mn-cs"/>
              </a:rPr>
              <a:t>Firewall-filter (packet p) </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kern="0" cap="none" spc="0" normalizeH="0" baseline="0" noProof="0" dirty="0">
                <a:ln>
                  <a:noFill/>
                </a:ln>
                <a:solidFill>
                  <a:srgbClr val="333399"/>
                </a:solidFill>
                <a:effectLst/>
                <a:uLnTx/>
                <a:uFillTx/>
                <a:latin typeface="Arial"/>
                <a:ea typeface="+mn-ea"/>
                <a:cs typeface="+mn-cs"/>
              </a:rPr>
              <a:t>     {</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kern="0" cap="none" spc="0" normalizeH="0" baseline="0" noProof="0" dirty="0">
                <a:ln>
                  <a:noFill/>
                </a:ln>
                <a:solidFill>
                  <a:srgbClr val="333399"/>
                </a:solidFill>
                <a:effectLst/>
                <a:uLnTx/>
                <a:uFillTx/>
                <a:latin typeface="Arial"/>
              </a:rPr>
              <a:t>   if (</a:t>
            </a:r>
            <a:r>
              <a:rPr kumimoji="0" lang="en-US" sz="2000" b="0" i="1" u="sng" strike="noStrike" kern="0" cap="none" spc="0" normalizeH="0" baseline="0" noProof="0" dirty="0">
                <a:ln>
                  <a:noFill/>
                </a:ln>
                <a:solidFill>
                  <a:srgbClr val="333399"/>
                </a:solidFill>
                <a:effectLst/>
                <a:uLnTx/>
                <a:uFillTx/>
                <a:latin typeface="Arial"/>
              </a:rPr>
              <a:t>allow</a:t>
            </a:r>
            <a:r>
              <a:rPr kumimoji="0" lang="en-US" sz="2000" b="0" i="1" u="none" strike="noStrike" kern="0" cap="none" spc="0" normalizeH="0" baseline="0" noProof="0" dirty="0">
                <a:ln>
                  <a:noFill/>
                </a:ln>
                <a:solidFill>
                  <a:srgbClr val="333399"/>
                </a:solidFill>
                <a:effectLst/>
                <a:uLnTx/>
                <a:uFillTx/>
                <a:latin typeface="Arial"/>
              </a:rPr>
              <a:t>(p)) </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kern="0" cap="none" spc="0" normalizeH="0" baseline="0" noProof="0" dirty="0">
                <a:ln>
                  <a:noFill/>
                </a:ln>
                <a:solidFill>
                  <a:srgbClr val="333399"/>
                </a:solidFill>
                <a:effectLst/>
                <a:uLnTx/>
                <a:uFillTx/>
                <a:latin typeface="Arial"/>
              </a:rPr>
              <a:t>        forward(p);</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kern="0" cap="none" spc="0" normalizeH="0" baseline="0" noProof="0" dirty="0">
                <a:ln>
                  <a:noFill/>
                </a:ln>
                <a:solidFill>
                  <a:srgbClr val="333399"/>
                </a:solidFill>
                <a:effectLst/>
                <a:uLnTx/>
                <a:uFillTx/>
                <a:latin typeface="Arial"/>
              </a:rPr>
              <a:t>  else </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kern="0" cap="none" spc="0" normalizeH="0" baseline="0" noProof="0" dirty="0">
                <a:ln>
                  <a:noFill/>
                </a:ln>
                <a:solidFill>
                  <a:srgbClr val="333399"/>
                </a:solidFill>
                <a:effectLst/>
                <a:uLnTx/>
                <a:uFillTx/>
                <a:latin typeface="Arial"/>
              </a:rPr>
              <a:t>     drop(p);</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kern="0" cap="none" spc="0" normalizeH="0" baseline="0" noProof="0" dirty="0">
                <a:ln>
                  <a:noFill/>
                </a:ln>
                <a:solidFill>
                  <a:srgbClr val="333399"/>
                </a:solidFill>
                <a:effectLst/>
                <a:uLnTx/>
                <a:uFillTx/>
                <a:latin typeface="Arial"/>
              </a:rPr>
              <a:t> }</a:t>
            </a:r>
            <a:endParaRPr kumimoji="0" lang="en-US" sz="2400" b="0" i="1" u="none" strike="noStrike" kern="0" cap="none" spc="0" normalizeH="0" baseline="0" noProof="0" dirty="0">
              <a:ln>
                <a:noFill/>
              </a:ln>
              <a:solidFill>
                <a:srgbClr val="333399"/>
              </a:solidFill>
              <a:effectLst/>
              <a:uLnTx/>
              <a:uFillTx/>
              <a:latin typeface="Arial"/>
            </a:endParaRPr>
          </a:p>
        </p:txBody>
      </p:sp>
      <p:sp>
        <p:nvSpPr>
          <p:cNvPr id="23" name="TextBox 22">
            <a:extLst>
              <a:ext uri="{FF2B5EF4-FFF2-40B4-BE49-F238E27FC236}">
                <a16:creationId xmlns:a16="http://schemas.microsoft.com/office/drawing/2014/main" id="{1AC667D0-B46C-7A44-A99C-280464429AA3}"/>
              </a:ext>
            </a:extLst>
          </p:cNvPr>
          <p:cNvSpPr txBox="1"/>
          <p:nvPr/>
        </p:nvSpPr>
        <p:spPr>
          <a:xfrm>
            <a:off x="6045200" y="1803939"/>
            <a:ext cx="4875336" cy="3471720"/>
          </a:xfrm>
          <a:prstGeom prst="rect">
            <a:avLst/>
          </a:prstGeom>
          <a:noFill/>
        </p:spPr>
        <p:txBody>
          <a:bodyPr wrap="square" rtlCol="0">
            <a:spAutoFit/>
          </a:bodyPr>
          <a:lstStyle/>
          <a:p>
            <a:pPr defTabSz="914400" fontAlgn="base">
              <a:lnSpc>
                <a:spcPct val="80000"/>
              </a:lnSpc>
              <a:spcBef>
                <a:spcPct val="0"/>
              </a:spcBef>
              <a:spcAft>
                <a:spcPct val="0"/>
              </a:spcAft>
            </a:pPr>
            <a:r>
              <a:rPr lang="en-US" dirty="0" err="1">
                <a:solidFill>
                  <a:srgbClr val="333399"/>
                </a:solidFill>
                <a:latin typeface="Arial" pitchFamily="34" charset="0"/>
              </a:rPr>
              <a:t>boolean</a:t>
            </a:r>
            <a:r>
              <a:rPr lang="en-US" dirty="0">
                <a:solidFill>
                  <a:srgbClr val="333399"/>
                </a:solidFill>
                <a:latin typeface="Arial" pitchFamily="34" charset="0"/>
              </a:rPr>
              <a:t> </a:t>
            </a:r>
            <a:r>
              <a:rPr lang="en-US" dirty="0">
                <a:solidFill>
                  <a:srgbClr val="CC0000"/>
                </a:solidFill>
                <a:latin typeface="Arial" pitchFamily="34" charset="0"/>
              </a:rPr>
              <a:t>allow</a:t>
            </a:r>
            <a:r>
              <a:rPr lang="en-US" dirty="0">
                <a:solidFill>
                  <a:srgbClr val="333399"/>
                </a:solidFill>
                <a:latin typeface="Arial" pitchFamily="34" charset="0"/>
              </a:rPr>
              <a:t>(packet p)</a:t>
            </a:r>
          </a:p>
          <a:p>
            <a:pPr defTabSz="914400" fontAlgn="base">
              <a:lnSpc>
                <a:spcPct val="80000"/>
              </a:lnSpc>
              <a:spcBef>
                <a:spcPct val="0"/>
              </a:spcBef>
              <a:spcAft>
                <a:spcPct val="0"/>
              </a:spcAft>
            </a:pPr>
            <a:r>
              <a:rPr lang="en-US" dirty="0">
                <a:solidFill>
                  <a:srgbClr val="333399"/>
                </a:solidFill>
                <a:latin typeface="Arial" pitchFamily="34" charset="0"/>
              </a:rPr>
              <a:t>{</a:t>
            </a:r>
          </a:p>
          <a:p>
            <a:pPr defTabSz="914400" fontAlgn="base">
              <a:lnSpc>
                <a:spcPct val="80000"/>
              </a:lnSpc>
              <a:spcBef>
                <a:spcPct val="0"/>
              </a:spcBef>
              <a:spcAft>
                <a:spcPct val="0"/>
              </a:spcAft>
            </a:pPr>
            <a:r>
              <a:rPr lang="en-US" dirty="0">
                <a:solidFill>
                  <a:srgbClr val="333399"/>
                </a:solidFill>
                <a:latin typeface="Arial" pitchFamily="34" charset="0"/>
              </a:rPr>
              <a:t>  if (p is from NUS)</a:t>
            </a:r>
          </a:p>
          <a:p>
            <a:pPr defTabSz="914400" fontAlgn="base">
              <a:lnSpc>
                <a:spcPct val="80000"/>
              </a:lnSpc>
              <a:spcBef>
                <a:spcPct val="0"/>
              </a:spcBef>
              <a:spcAft>
                <a:spcPct val="0"/>
              </a:spcAft>
            </a:pPr>
            <a:r>
              <a:rPr lang="en-US" dirty="0">
                <a:solidFill>
                  <a:srgbClr val="333399"/>
                </a:solidFill>
                <a:latin typeface="Arial" pitchFamily="34" charset="0"/>
              </a:rPr>
              <a:t>      return true; </a:t>
            </a:r>
          </a:p>
          <a:p>
            <a:pPr defTabSz="914400" fontAlgn="base">
              <a:lnSpc>
                <a:spcPct val="80000"/>
              </a:lnSpc>
              <a:spcBef>
                <a:spcPct val="0"/>
              </a:spcBef>
              <a:spcAft>
                <a:spcPct val="0"/>
              </a:spcAft>
            </a:pPr>
            <a:endParaRPr lang="en-US" dirty="0">
              <a:solidFill>
                <a:srgbClr val="333399"/>
              </a:solidFill>
              <a:latin typeface="Arial" pitchFamily="34" charset="0"/>
            </a:endParaRPr>
          </a:p>
          <a:p>
            <a:pPr defTabSz="914400" fontAlgn="base">
              <a:lnSpc>
                <a:spcPct val="80000"/>
              </a:lnSpc>
              <a:spcBef>
                <a:spcPct val="0"/>
              </a:spcBef>
              <a:spcAft>
                <a:spcPct val="0"/>
              </a:spcAft>
            </a:pPr>
            <a:r>
              <a:rPr lang="en-US" dirty="0">
                <a:solidFill>
                  <a:srgbClr val="333399"/>
                </a:solidFill>
                <a:latin typeface="Arial" pitchFamily="34" charset="0"/>
              </a:rPr>
              <a:t>  if (p is from .gov)</a:t>
            </a:r>
          </a:p>
          <a:p>
            <a:pPr defTabSz="914400" fontAlgn="base">
              <a:lnSpc>
                <a:spcPct val="80000"/>
              </a:lnSpc>
              <a:spcBef>
                <a:spcPct val="0"/>
              </a:spcBef>
              <a:spcAft>
                <a:spcPct val="0"/>
              </a:spcAft>
            </a:pPr>
            <a:r>
              <a:rPr lang="en-US" dirty="0">
                <a:solidFill>
                  <a:srgbClr val="333399"/>
                </a:solidFill>
                <a:latin typeface="Arial" pitchFamily="34" charset="0"/>
              </a:rPr>
              <a:t>       return true;</a:t>
            </a:r>
          </a:p>
          <a:p>
            <a:pPr defTabSz="914400" fontAlgn="base">
              <a:lnSpc>
                <a:spcPct val="80000"/>
              </a:lnSpc>
              <a:spcBef>
                <a:spcPct val="0"/>
              </a:spcBef>
              <a:spcAft>
                <a:spcPct val="0"/>
              </a:spcAft>
            </a:pPr>
            <a:endParaRPr lang="en-US" dirty="0">
              <a:solidFill>
                <a:srgbClr val="333399"/>
              </a:solidFill>
              <a:latin typeface="Arial" pitchFamily="34" charset="0"/>
            </a:endParaRPr>
          </a:p>
          <a:p>
            <a:pPr defTabSz="914400" fontAlgn="base">
              <a:lnSpc>
                <a:spcPct val="80000"/>
              </a:lnSpc>
              <a:spcBef>
                <a:spcPct val="0"/>
              </a:spcBef>
              <a:spcAft>
                <a:spcPct val="0"/>
              </a:spcAft>
            </a:pPr>
            <a:r>
              <a:rPr lang="en-US" dirty="0">
                <a:solidFill>
                  <a:srgbClr val="333399"/>
                </a:solidFill>
                <a:latin typeface="Arial" pitchFamily="34" charset="0"/>
              </a:rPr>
              <a:t> if (p is a ping packet)</a:t>
            </a:r>
          </a:p>
          <a:p>
            <a:pPr defTabSz="914400" fontAlgn="base">
              <a:lnSpc>
                <a:spcPct val="80000"/>
              </a:lnSpc>
              <a:spcBef>
                <a:spcPct val="0"/>
              </a:spcBef>
              <a:spcAft>
                <a:spcPct val="0"/>
              </a:spcAft>
            </a:pPr>
            <a:r>
              <a:rPr lang="en-US" dirty="0">
                <a:solidFill>
                  <a:srgbClr val="333399"/>
                </a:solidFill>
                <a:latin typeface="Arial" pitchFamily="34" charset="0"/>
              </a:rPr>
              <a:t>       return true;</a:t>
            </a:r>
          </a:p>
          <a:p>
            <a:pPr defTabSz="914400" fontAlgn="base">
              <a:lnSpc>
                <a:spcPct val="80000"/>
              </a:lnSpc>
              <a:spcBef>
                <a:spcPct val="0"/>
              </a:spcBef>
              <a:spcAft>
                <a:spcPct val="0"/>
              </a:spcAft>
            </a:pPr>
            <a:endParaRPr lang="en-US" dirty="0">
              <a:solidFill>
                <a:srgbClr val="333399"/>
              </a:solidFill>
              <a:latin typeface="Arial" pitchFamily="34" charset="0"/>
            </a:endParaRPr>
          </a:p>
          <a:p>
            <a:pPr defTabSz="914400" fontAlgn="base">
              <a:lnSpc>
                <a:spcPct val="80000"/>
              </a:lnSpc>
              <a:spcBef>
                <a:spcPct val="0"/>
              </a:spcBef>
              <a:spcAft>
                <a:spcPct val="0"/>
              </a:spcAft>
            </a:pPr>
            <a:r>
              <a:rPr lang="en-US" dirty="0">
                <a:solidFill>
                  <a:srgbClr val="333399"/>
                </a:solidFill>
                <a:latin typeface="Arial" pitchFamily="34" charset="0"/>
              </a:rPr>
              <a:t>  return false;</a:t>
            </a:r>
          </a:p>
          <a:p>
            <a:pPr defTabSz="914400" fontAlgn="base">
              <a:lnSpc>
                <a:spcPct val="80000"/>
              </a:lnSpc>
              <a:spcBef>
                <a:spcPct val="0"/>
              </a:spcBef>
              <a:spcAft>
                <a:spcPct val="0"/>
              </a:spcAft>
            </a:pPr>
            <a:endParaRPr lang="en-US" dirty="0">
              <a:solidFill>
                <a:srgbClr val="333399"/>
              </a:solidFill>
              <a:latin typeface="Arial" pitchFamily="34" charset="0"/>
            </a:endParaRPr>
          </a:p>
          <a:p>
            <a:pPr defTabSz="914400" fontAlgn="base">
              <a:lnSpc>
                <a:spcPct val="80000"/>
              </a:lnSpc>
              <a:spcBef>
                <a:spcPct val="0"/>
              </a:spcBef>
              <a:spcAft>
                <a:spcPct val="0"/>
              </a:spcAft>
            </a:pPr>
            <a:r>
              <a:rPr lang="en-US" dirty="0">
                <a:solidFill>
                  <a:srgbClr val="333399"/>
                </a:solidFill>
                <a:latin typeface="Arial" pitchFamily="34" charset="0"/>
              </a:rPr>
              <a:t>}</a:t>
            </a:r>
          </a:p>
          <a:p>
            <a:pPr defTabSz="914400" fontAlgn="base">
              <a:spcBef>
                <a:spcPct val="0"/>
              </a:spcBef>
              <a:spcAft>
                <a:spcPct val="0"/>
              </a:spcAft>
            </a:pPr>
            <a:endParaRPr lang="en-US" dirty="0">
              <a:solidFill>
                <a:srgbClr val="000000"/>
              </a:solidFill>
              <a:latin typeface="Arial" pitchFamily="34" charset="0"/>
            </a:endParaRPr>
          </a:p>
        </p:txBody>
      </p:sp>
      <p:sp>
        <p:nvSpPr>
          <p:cNvPr id="24" name="Rectangle 23">
            <a:extLst>
              <a:ext uri="{FF2B5EF4-FFF2-40B4-BE49-F238E27FC236}">
                <a16:creationId xmlns:a16="http://schemas.microsoft.com/office/drawing/2014/main" id="{E703A64C-95FD-0B43-B7EF-37EC1D8FD0C8}"/>
              </a:ext>
            </a:extLst>
          </p:cNvPr>
          <p:cNvSpPr/>
          <p:nvPr/>
        </p:nvSpPr>
        <p:spPr>
          <a:xfrm>
            <a:off x="9342429" y="1825064"/>
            <a:ext cx="1872208" cy="1603936"/>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25" name="TextBox 24">
            <a:extLst>
              <a:ext uri="{FF2B5EF4-FFF2-40B4-BE49-F238E27FC236}">
                <a16:creationId xmlns:a16="http://schemas.microsoft.com/office/drawing/2014/main" id="{1EC281BB-D546-B148-900F-486C00647C56}"/>
              </a:ext>
            </a:extLst>
          </p:cNvPr>
          <p:cNvSpPr txBox="1"/>
          <p:nvPr/>
        </p:nvSpPr>
        <p:spPr>
          <a:xfrm>
            <a:off x="9350074" y="1831200"/>
            <a:ext cx="928459" cy="1200329"/>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pitchFamily="34" charset="0"/>
              </a:rPr>
              <a:t>1. NUS</a:t>
            </a:r>
          </a:p>
          <a:p>
            <a:pPr defTabSz="914400" fontAlgn="base">
              <a:spcBef>
                <a:spcPct val="0"/>
              </a:spcBef>
              <a:spcAft>
                <a:spcPct val="0"/>
              </a:spcAft>
            </a:pPr>
            <a:r>
              <a:rPr lang="en-US" dirty="0">
                <a:solidFill>
                  <a:srgbClr val="000000"/>
                </a:solidFill>
                <a:latin typeface="Arial" pitchFamily="34" charset="0"/>
              </a:rPr>
              <a:t>2. .gov</a:t>
            </a:r>
          </a:p>
          <a:p>
            <a:pPr defTabSz="914400" fontAlgn="base">
              <a:spcBef>
                <a:spcPct val="0"/>
              </a:spcBef>
              <a:spcAft>
                <a:spcPct val="0"/>
              </a:spcAft>
            </a:pPr>
            <a:r>
              <a:rPr lang="en-US" dirty="0">
                <a:solidFill>
                  <a:srgbClr val="000000"/>
                </a:solidFill>
                <a:latin typeface="Arial" pitchFamily="34" charset="0"/>
              </a:rPr>
              <a:t>3. ping</a:t>
            </a:r>
          </a:p>
          <a:p>
            <a:pPr defTabSz="914400" fontAlgn="base">
              <a:spcBef>
                <a:spcPct val="0"/>
              </a:spcBef>
              <a:spcAft>
                <a:spcPct val="0"/>
              </a:spcAft>
            </a:pPr>
            <a:r>
              <a:rPr lang="en-US" dirty="0">
                <a:solidFill>
                  <a:srgbClr val="000000"/>
                </a:solidFill>
                <a:latin typeface="Arial" pitchFamily="34" charset="0"/>
              </a:rPr>
              <a:t>…</a:t>
            </a:r>
          </a:p>
        </p:txBody>
      </p:sp>
      <p:sp>
        <p:nvSpPr>
          <p:cNvPr id="26" name="TextBox 25">
            <a:extLst>
              <a:ext uri="{FF2B5EF4-FFF2-40B4-BE49-F238E27FC236}">
                <a16:creationId xmlns:a16="http://schemas.microsoft.com/office/drawing/2014/main" id="{2D84177F-BC7B-414E-8B1A-251B5DDD726C}"/>
              </a:ext>
            </a:extLst>
          </p:cNvPr>
          <p:cNvSpPr txBox="1"/>
          <p:nvPr/>
        </p:nvSpPr>
        <p:spPr>
          <a:xfrm>
            <a:off x="9480376" y="3789040"/>
            <a:ext cx="1056700"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pitchFamily="34" charset="0"/>
              </a:rPr>
              <a:t>Whitelist</a:t>
            </a:r>
          </a:p>
        </p:txBody>
      </p:sp>
    </p:spTree>
    <p:extLst>
      <p:ext uri="{BB962C8B-B14F-4D97-AF65-F5344CB8AC3E}">
        <p14:creationId xmlns:p14="http://schemas.microsoft.com/office/powerpoint/2010/main" val="1314998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dirty="0"/>
              <a:t>Open Policy</a:t>
            </a:r>
          </a:p>
        </p:txBody>
      </p:sp>
      <p:sp>
        <p:nvSpPr>
          <p:cNvPr id="270339" name="Rectangle 3"/>
          <p:cNvSpPr>
            <a:spLocks noGrp="1" noChangeArrowheads="1"/>
          </p:cNvSpPr>
          <p:nvPr>
            <p:ph idx="1"/>
          </p:nvPr>
        </p:nvSpPr>
        <p:spPr>
          <a:xfrm>
            <a:off x="513349" y="1268243"/>
            <a:ext cx="10840451" cy="584828"/>
          </a:xfrm>
        </p:spPr>
        <p:txBody>
          <a:bodyPr>
            <a:normAutofit/>
          </a:bodyPr>
          <a:lstStyle/>
          <a:p>
            <a:pPr defTabSz="914400" fontAlgn="base">
              <a:spcBef>
                <a:spcPct val="20000"/>
              </a:spcBef>
              <a:spcAft>
                <a:spcPct val="0"/>
              </a:spcAft>
              <a:defRPr/>
            </a:pPr>
            <a:r>
              <a:rPr lang="en-US" sz="2000" kern="0" dirty="0">
                <a:solidFill>
                  <a:srgbClr val="000000"/>
                </a:solidFill>
              </a:rPr>
              <a:t>Only blacklisted packets are dropped:</a:t>
            </a:r>
          </a:p>
        </p:txBody>
      </p:sp>
      <p:sp>
        <p:nvSpPr>
          <p:cNvPr id="11" name="Text Placeholder 10">
            <a:extLst>
              <a:ext uri="{FF2B5EF4-FFF2-40B4-BE49-F238E27FC236}">
                <a16:creationId xmlns:a16="http://schemas.microsoft.com/office/drawing/2014/main" id="{2E6261BE-1194-E040-AD52-EC574D0B56BC}"/>
              </a:ext>
            </a:extLst>
          </p:cNvPr>
          <p:cNvSpPr>
            <a:spLocks noGrp="1"/>
          </p:cNvSpPr>
          <p:nvPr>
            <p:ph type="body" idx="11"/>
          </p:nvPr>
        </p:nvSpPr>
        <p:spPr/>
        <p:txBody>
          <a:bodyPr/>
          <a:lstStyle/>
          <a:p>
            <a:endParaRPr lang="en-US"/>
          </a:p>
        </p:txBody>
      </p:sp>
      <p:sp>
        <p:nvSpPr>
          <p:cNvPr id="19" name="Rectangle 3">
            <a:extLst>
              <a:ext uri="{FF2B5EF4-FFF2-40B4-BE49-F238E27FC236}">
                <a16:creationId xmlns:a16="http://schemas.microsoft.com/office/drawing/2014/main" id="{07A432DA-4122-384D-B166-FF44A62CA182}"/>
              </a:ext>
            </a:extLst>
          </p:cNvPr>
          <p:cNvSpPr txBox="1">
            <a:spLocks noChangeArrowheads="1"/>
          </p:cNvSpPr>
          <p:nvPr/>
        </p:nvSpPr>
        <p:spPr bwMode="auto">
          <a:xfrm>
            <a:off x="6569388" y="1674201"/>
            <a:ext cx="3024336" cy="39149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1800">
                <a:solidFill>
                  <a:schemeClr val="tx1"/>
                </a:solidFill>
                <a:latin typeface="+mn-lt"/>
              </a:defRPr>
            </a:lvl4pPr>
            <a:lvl5pPr marL="2057400" indent="-228600" algn="l" rtl="0" eaLnBrk="1" fontAlgn="base" hangingPunct="1">
              <a:spcBef>
                <a:spcPct val="20000"/>
              </a:spcBef>
              <a:spcAft>
                <a:spcPct val="0"/>
              </a:spcAft>
              <a:buChar char="»"/>
              <a:defRPr sz="1800">
                <a:solidFill>
                  <a:schemeClr val="tx1"/>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342900" marR="0" lvl="0" indent="-342900" algn="l" defTabSz="914400" rtl="0" eaLnBrk="1" fontAlgn="base" latinLnBrk="0" hangingPunct="1">
              <a:lnSpc>
                <a:spcPct val="80000"/>
              </a:lnSpc>
              <a:spcBef>
                <a:spcPct val="2000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boolean </a:t>
            </a:r>
            <a:r>
              <a:rPr kumimoji="0" lang="en-US" sz="1800" b="0" i="0" u="none" strike="noStrike" kern="0" cap="none" spc="0" normalizeH="0" baseline="0" noProof="0">
                <a:ln>
                  <a:noFill/>
                </a:ln>
                <a:solidFill>
                  <a:srgbClr val="CC0000"/>
                </a:solidFill>
                <a:effectLst/>
                <a:uLnTx/>
                <a:uFillTx/>
                <a:latin typeface="Arial"/>
                <a:ea typeface="+mn-ea"/>
                <a:cs typeface="+mn-cs"/>
              </a:rPr>
              <a:t>deny</a:t>
            </a:r>
            <a:r>
              <a:rPr kumimoji="0" lang="en-US" sz="1800" b="0" i="0" u="none" strike="noStrike" kern="0" cap="none" spc="0" normalizeH="0" baseline="0" noProof="0">
                <a:ln>
                  <a:noFill/>
                </a:ln>
                <a:solidFill>
                  <a:srgbClr val="333399"/>
                </a:solidFill>
                <a:effectLst/>
                <a:uLnTx/>
                <a:uFillTx/>
                <a:latin typeface="Arial"/>
                <a:ea typeface="+mn-ea"/>
                <a:cs typeface="+mn-cs"/>
              </a:rPr>
              <a:t>(packet p)</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if (p is a ping packet)</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return true;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if (p is from NTU)</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return true;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if (p is from .org)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return true;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return false;</a:t>
            </a:r>
          </a:p>
          <a:p>
            <a:pPr marL="342900" marR="0" lvl="0" indent="-342900" algn="l" defTabSz="914400" rtl="0" eaLnBrk="1" fontAlgn="base" latinLnBrk="0" hangingPunct="1">
              <a:lnSpc>
                <a:spcPct val="8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333399"/>
                </a:solidFill>
                <a:effectLst/>
                <a:uLnTx/>
                <a:uFillTx/>
                <a:latin typeface="Arial"/>
                <a:ea typeface="+mn-ea"/>
                <a:cs typeface="+mn-cs"/>
              </a:rPr>
              <a:t>  }</a:t>
            </a:r>
            <a:endParaRPr kumimoji="0" lang="en-US" sz="1800" b="0" i="0" u="none" strike="noStrike" kern="0" cap="none" spc="0" normalizeH="0" baseline="0" noProof="0" dirty="0">
              <a:ln>
                <a:noFill/>
              </a:ln>
              <a:solidFill>
                <a:srgbClr val="333399"/>
              </a:solidFill>
              <a:effectLst/>
              <a:uLnTx/>
              <a:uFillTx/>
              <a:latin typeface="Arial"/>
              <a:ea typeface="+mn-ea"/>
              <a:cs typeface="+mn-cs"/>
            </a:endParaRPr>
          </a:p>
        </p:txBody>
      </p:sp>
      <p:sp>
        <p:nvSpPr>
          <p:cNvPr id="20" name="Content Placeholder 5">
            <a:extLst>
              <a:ext uri="{FF2B5EF4-FFF2-40B4-BE49-F238E27FC236}">
                <a16:creationId xmlns:a16="http://schemas.microsoft.com/office/drawing/2014/main" id="{08137808-627F-1647-A3F8-339BBD91209B}"/>
              </a:ext>
            </a:extLst>
          </p:cNvPr>
          <p:cNvSpPr txBox="1">
            <a:spLocks/>
          </p:cNvSpPr>
          <p:nvPr/>
        </p:nvSpPr>
        <p:spPr bwMode="auto">
          <a:xfrm>
            <a:off x="838200" y="1853071"/>
            <a:ext cx="4320480" cy="36256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1800">
                <a:solidFill>
                  <a:schemeClr val="tx1"/>
                </a:solidFill>
                <a:latin typeface="+mn-lt"/>
              </a:defRPr>
            </a:lvl4pPr>
            <a:lvl5pPr marL="2057400" indent="-228600" algn="l" rtl="0" eaLnBrk="1" fontAlgn="base" hangingPunct="1">
              <a:spcBef>
                <a:spcPct val="20000"/>
              </a:spcBef>
              <a:spcAft>
                <a:spcPct val="0"/>
              </a:spcAft>
              <a:buChar char="»"/>
              <a:defRPr sz="1800">
                <a:solidFill>
                  <a:schemeClr val="tx1"/>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2800" b="0" i="0" u="sng" strike="noStrike" kern="0" cap="none" spc="0" normalizeH="0" baseline="0" noProof="0" dirty="0">
              <a:ln>
                <a:noFill/>
              </a:ln>
              <a:solidFill>
                <a:srgbClr val="000000"/>
              </a:solidFill>
              <a:effectLst/>
              <a:uLnTx/>
              <a:uFillTx/>
              <a:latin typeface="Arial"/>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rPr>
              <a:t>Firewall (packet p)</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rPr>
              <a:t>{</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rPr>
              <a:t> if (</a:t>
            </a:r>
            <a:r>
              <a:rPr kumimoji="0" lang="en-US" sz="2400" b="0" i="1" u="sng" strike="noStrike" kern="0" cap="none" spc="0" normalizeH="0" baseline="0" noProof="0" dirty="0">
                <a:ln>
                  <a:noFill/>
                </a:ln>
                <a:solidFill>
                  <a:srgbClr val="333399"/>
                </a:solidFill>
                <a:effectLst/>
                <a:uLnTx/>
                <a:uFillTx/>
                <a:latin typeface="Arial"/>
              </a:rPr>
              <a:t>deny</a:t>
            </a:r>
            <a:r>
              <a:rPr kumimoji="0" lang="en-US" sz="2400" b="0" i="1" u="none" strike="noStrike" kern="0" cap="none" spc="0" normalizeH="0" baseline="0" noProof="0" dirty="0">
                <a:ln>
                  <a:noFill/>
                </a:ln>
                <a:solidFill>
                  <a:srgbClr val="333399"/>
                </a:solidFill>
                <a:effectLst/>
                <a:uLnTx/>
                <a:uFillTx/>
                <a:latin typeface="Arial"/>
              </a:rPr>
              <a:t>(p)) </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rPr>
              <a:t>      drop(p);</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rPr>
              <a:t>else </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rPr>
              <a:t>     forward(p);</a:t>
            </a:r>
          </a:p>
          <a:p>
            <a:pPr marL="742950" marR="0" lvl="1" indent="-285750" algn="l" defTabSz="914400" rtl="0" eaLnBrk="1" fontAlgn="base" latinLnBrk="0" hangingPunct="1">
              <a:lnSpc>
                <a:spcPct val="100000"/>
              </a:lnSpc>
              <a:spcBef>
                <a:spcPct val="20000"/>
              </a:spcBef>
              <a:spcAft>
                <a:spcPct val="0"/>
              </a:spcAft>
              <a:buClrTx/>
              <a:buSzTx/>
              <a:buFontTx/>
              <a:buNone/>
              <a:tabLst/>
              <a:defRPr/>
            </a:pPr>
            <a:r>
              <a:rPr kumimoji="0" lang="en-US" sz="2400" b="0" i="1" u="none" strike="noStrike" kern="0" cap="none" spc="0" normalizeH="0" baseline="0" noProof="0" dirty="0">
                <a:ln>
                  <a:noFill/>
                </a:ln>
                <a:solidFill>
                  <a:srgbClr val="333399"/>
                </a:solidFill>
                <a:effectLst/>
                <a:uLnTx/>
                <a:uFillTx/>
                <a:latin typeface="Arial"/>
              </a:rPr>
              <a:t>}</a:t>
            </a:r>
          </a:p>
        </p:txBody>
      </p:sp>
      <p:sp>
        <p:nvSpPr>
          <p:cNvPr id="21" name="Rectangle 20">
            <a:extLst>
              <a:ext uri="{FF2B5EF4-FFF2-40B4-BE49-F238E27FC236}">
                <a16:creationId xmlns:a16="http://schemas.microsoft.com/office/drawing/2014/main" id="{A02DD98C-B1DD-024D-9F4E-A60C64665853}"/>
              </a:ext>
            </a:extLst>
          </p:cNvPr>
          <p:cNvSpPr/>
          <p:nvPr/>
        </p:nvSpPr>
        <p:spPr>
          <a:xfrm>
            <a:off x="9537552" y="2420888"/>
            <a:ext cx="1872208" cy="1603936"/>
          </a:xfrm>
          <a:prstGeom prst="rect">
            <a:avLst/>
          </a:prstGeom>
          <a:solidFill>
            <a:srgbClr val="0000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22" name="TextBox 21">
            <a:extLst>
              <a:ext uri="{FF2B5EF4-FFF2-40B4-BE49-F238E27FC236}">
                <a16:creationId xmlns:a16="http://schemas.microsoft.com/office/drawing/2014/main" id="{1DA22BCE-547A-7243-B880-759ED843C9DA}"/>
              </a:ext>
            </a:extLst>
          </p:cNvPr>
          <p:cNvSpPr txBox="1"/>
          <p:nvPr/>
        </p:nvSpPr>
        <p:spPr>
          <a:xfrm>
            <a:off x="9558021" y="2431331"/>
            <a:ext cx="941283" cy="1200329"/>
          </a:xfrm>
          <a:prstGeom prst="rect">
            <a:avLst/>
          </a:prstGeom>
          <a:noFill/>
        </p:spPr>
        <p:txBody>
          <a:bodyPr wrap="none" rtlCol="0">
            <a:spAutoFit/>
          </a:bodyPr>
          <a:lstStyle/>
          <a:p>
            <a:pPr defTabSz="914400" fontAlgn="base">
              <a:spcBef>
                <a:spcPct val="0"/>
              </a:spcBef>
              <a:spcAft>
                <a:spcPct val="0"/>
              </a:spcAft>
            </a:pPr>
            <a:r>
              <a:rPr lang="en-US" dirty="0">
                <a:solidFill>
                  <a:srgbClr val="FFFFFF"/>
                </a:solidFill>
                <a:latin typeface="Arial" pitchFamily="34" charset="0"/>
              </a:rPr>
              <a:t>1. ping </a:t>
            </a:r>
          </a:p>
          <a:p>
            <a:pPr defTabSz="914400" fontAlgn="base">
              <a:spcBef>
                <a:spcPct val="0"/>
              </a:spcBef>
              <a:spcAft>
                <a:spcPct val="0"/>
              </a:spcAft>
            </a:pPr>
            <a:r>
              <a:rPr lang="en-US" dirty="0">
                <a:solidFill>
                  <a:srgbClr val="FFFFFF"/>
                </a:solidFill>
                <a:latin typeface="Arial" pitchFamily="34" charset="0"/>
              </a:rPr>
              <a:t>2. NTU</a:t>
            </a:r>
          </a:p>
          <a:p>
            <a:pPr defTabSz="914400" fontAlgn="base">
              <a:spcBef>
                <a:spcPct val="0"/>
              </a:spcBef>
              <a:spcAft>
                <a:spcPct val="0"/>
              </a:spcAft>
            </a:pPr>
            <a:r>
              <a:rPr lang="en-US" dirty="0">
                <a:solidFill>
                  <a:srgbClr val="FFFFFF"/>
                </a:solidFill>
                <a:latin typeface="Arial" pitchFamily="34" charset="0"/>
              </a:rPr>
              <a:t>3. .org</a:t>
            </a:r>
          </a:p>
          <a:p>
            <a:pPr defTabSz="914400" fontAlgn="base">
              <a:spcBef>
                <a:spcPct val="0"/>
              </a:spcBef>
              <a:spcAft>
                <a:spcPct val="0"/>
              </a:spcAft>
            </a:pPr>
            <a:r>
              <a:rPr lang="en-US" dirty="0">
                <a:solidFill>
                  <a:srgbClr val="000000"/>
                </a:solidFill>
                <a:latin typeface="Arial" pitchFamily="34" charset="0"/>
              </a:rPr>
              <a:t>…</a:t>
            </a:r>
          </a:p>
        </p:txBody>
      </p:sp>
      <p:sp>
        <p:nvSpPr>
          <p:cNvPr id="23" name="TextBox 22">
            <a:extLst>
              <a:ext uri="{FF2B5EF4-FFF2-40B4-BE49-F238E27FC236}">
                <a16:creationId xmlns:a16="http://schemas.microsoft.com/office/drawing/2014/main" id="{53921C4B-520F-394B-9566-719F4B14E08C}"/>
              </a:ext>
            </a:extLst>
          </p:cNvPr>
          <p:cNvSpPr txBox="1"/>
          <p:nvPr/>
        </p:nvSpPr>
        <p:spPr>
          <a:xfrm>
            <a:off x="9763007" y="4070074"/>
            <a:ext cx="1031051"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pitchFamily="34" charset="0"/>
              </a:rPr>
              <a:t>Blacklist</a:t>
            </a:r>
          </a:p>
        </p:txBody>
      </p:sp>
    </p:spTree>
    <p:extLst>
      <p:ext uri="{BB962C8B-B14F-4D97-AF65-F5344CB8AC3E}">
        <p14:creationId xmlns:p14="http://schemas.microsoft.com/office/powerpoint/2010/main" val="403942194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lstStyle/>
          <a:p>
            <a:r>
              <a:rPr lang="en-US" altLang="zh-CN" dirty="0"/>
              <a:t> FW’s functioning layer</a:t>
            </a:r>
            <a:endParaRPr lang="en-US" dirty="0"/>
          </a:p>
        </p:txBody>
      </p:sp>
      <p:sp>
        <p:nvSpPr>
          <p:cNvPr id="7" name="Text Placeholder 6">
            <a:extLst>
              <a:ext uri="{FF2B5EF4-FFF2-40B4-BE49-F238E27FC236}">
                <a16:creationId xmlns:a16="http://schemas.microsoft.com/office/drawing/2014/main" id="{A3EFF20A-F4F3-EC41-9AFF-399D3B67964D}"/>
              </a:ext>
            </a:extLst>
          </p:cNvPr>
          <p:cNvSpPr>
            <a:spLocks noGrp="1"/>
          </p:cNvSpPr>
          <p:nvPr>
            <p:ph type="body" idx="11"/>
          </p:nvPr>
        </p:nvSpPr>
        <p:spPr/>
        <p:txBody>
          <a:bodyPr/>
          <a:lstStyle/>
          <a:p>
            <a:endParaRPr lang="en-US"/>
          </a:p>
        </p:txBody>
      </p:sp>
      <p:sp>
        <p:nvSpPr>
          <p:cNvPr id="4" name="Content Placeholder 3"/>
          <p:cNvSpPr>
            <a:spLocks noGrp="1"/>
          </p:cNvSpPr>
          <p:nvPr>
            <p:ph idx="1"/>
          </p:nvPr>
        </p:nvSpPr>
        <p:spPr>
          <a:xfrm>
            <a:off x="513349" y="1268243"/>
            <a:ext cx="8290409" cy="4723318"/>
          </a:xfrm>
        </p:spPr>
        <p:txBody>
          <a:bodyPr/>
          <a:lstStyle/>
          <a:p>
            <a:r>
              <a:rPr lang="en-US" dirty="0">
                <a:solidFill>
                  <a:srgbClr val="002060"/>
                </a:solidFill>
              </a:rPr>
              <a:t>IP layer</a:t>
            </a:r>
            <a:r>
              <a:rPr lang="en-US" dirty="0"/>
              <a:t>: Packet filtering gateway</a:t>
            </a:r>
          </a:p>
          <a:p>
            <a:pPr lvl="1"/>
            <a:r>
              <a:rPr lang="en-US" dirty="0"/>
              <a:t>make decision based on </a:t>
            </a:r>
            <a:r>
              <a:rPr lang="en-US" dirty="0">
                <a:solidFill>
                  <a:srgbClr val="002060"/>
                </a:solidFill>
              </a:rPr>
              <a:t>individual </a:t>
            </a:r>
            <a:r>
              <a:rPr lang="en-US" dirty="0"/>
              <a:t>packet</a:t>
            </a:r>
          </a:p>
          <a:p>
            <a:pPr lvl="1"/>
            <a:r>
              <a:rPr lang="en-US" dirty="0"/>
              <a:t>examine packet </a:t>
            </a:r>
            <a:r>
              <a:rPr lang="en-US" dirty="0">
                <a:solidFill>
                  <a:srgbClr val="002060"/>
                </a:solidFill>
              </a:rPr>
              <a:t>headers</a:t>
            </a:r>
            <a:r>
              <a:rPr lang="en-US" dirty="0"/>
              <a:t> (i.e., metadata) only </a:t>
            </a:r>
          </a:p>
          <a:p>
            <a:pPr lvl="1"/>
            <a:endParaRPr lang="en-US" dirty="0"/>
          </a:p>
          <a:p>
            <a:r>
              <a:rPr lang="en-US" dirty="0">
                <a:solidFill>
                  <a:srgbClr val="002060"/>
                </a:solidFill>
              </a:rPr>
              <a:t>Application layer</a:t>
            </a:r>
            <a:r>
              <a:rPr lang="en-US" dirty="0"/>
              <a:t>: a.k.a. Application proxy gateway (bastion host), Guard</a:t>
            </a:r>
          </a:p>
          <a:p>
            <a:pPr lvl="1"/>
            <a:r>
              <a:rPr lang="en-US" dirty="0"/>
              <a:t>inspect the </a:t>
            </a:r>
            <a:r>
              <a:rPr lang="en-US" dirty="0">
                <a:solidFill>
                  <a:srgbClr val="002060"/>
                </a:solidFill>
              </a:rPr>
              <a:t>contents</a:t>
            </a:r>
            <a:r>
              <a:rPr lang="en-US" dirty="0"/>
              <a:t> of </a:t>
            </a:r>
            <a:r>
              <a:rPr lang="en-US" dirty="0">
                <a:solidFill>
                  <a:srgbClr val="002060"/>
                </a:solidFill>
              </a:rPr>
              <a:t>communication</a:t>
            </a:r>
            <a:r>
              <a:rPr lang="en-US" dirty="0"/>
              <a:t> by simulating the effect of the application.</a:t>
            </a:r>
          </a:p>
          <a:p>
            <a:pPr lvl="1"/>
            <a:endParaRPr lang="en-US" dirty="0"/>
          </a:p>
        </p:txBody>
      </p:sp>
      <p:sp>
        <p:nvSpPr>
          <p:cNvPr id="5" name="TextBox 4"/>
          <p:cNvSpPr txBox="1"/>
          <p:nvPr/>
        </p:nvSpPr>
        <p:spPr>
          <a:xfrm>
            <a:off x="9101609" y="1628800"/>
            <a:ext cx="1082348"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weak;</a:t>
            </a:r>
          </a:p>
          <a:p>
            <a:r>
              <a:rPr lang="en-US" dirty="0"/>
              <a:t>low cost;</a:t>
            </a:r>
          </a:p>
        </p:txBody>
      </p:sp>
      <p:sp>
        <p:nvSpPr>
          <p:cNvPr id="11" name="TextBox 10"/>
          <p:cNvSpPr txBox="1"/>
          <p:nvPr/>
        </p:nvSpPr>
        <p:spPr>
          <a:xfrm>
            <a:off x="9067800" y="3436204"/>
            <a:ext cx="1172116"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strong;</a:t>
            </a:r>
          </a:p>
          <a:p>
            <a:r>
              <a:rPr lang="en-US" dirty="0"/>
              <a:t>high cost;</a:t>
            </a:r>
          </a:p>
        </p:txBody>
      </p:sp>
    </p:spTree>
    <p:extLst>
      <p:ext uri="{BB962C8B-B14F-4D97-AF65-F5344CB8AC3E}">
        <p14:creationId xmlns:p14="http://schemas.microsoft.com/office/powerpoint/2010/main" val="2887171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r>
              <a:rPr lang="en-US" altLang="zh-CN"/>
              <a:t>Limitations of FW</a:t>
            </a:r>
            <a:endParaRPr lang="en-US"/>
          </a:p>
        </p:txBody>
      </p:sp>
      <p:sp>
        <p:nvSpPr>
          <p:cNvPr id="7" name="Text Placeholder 6">
            <a:extLst>
              <a:ext uri="{FF2B5EF4-FFF2-40B4-BE49-F238E27FC236}">
                <a16:creationId xmlns:a16="http://schemas.microsoft.com/office/drawing/2014/main" id="{8671BF40-F6CB-9A4C-8033-4485FFD0805C}"/>
              </a:ext>
            </a:extLst>
          </p:cNvPr>
          <p:cNvSpPr>
            <a:spLocks noGrp="1"/>
          </p:cNvSpPr>
          <p:nvPr>
            <p:ph type="body" idx="11"/>
          </p:nvPr>
        </p:nvSpPr>
        <p:spPr/>
        <p:txBody>
          <a:bodyPr/>
          <a:lstStyle/>
          <a:p>
            <a:endParaRPr lang="en-US"/>
          </a:p>
        </p:txBody>
      </p:sp>
      <p:sp>
        <p:nvSpPr>
          <p:cNvPr id="272387" name="Firewall"/>
          <p:cNvSpPr>
            <a:spLocks noEditPoints="1" noChangeArrowheads="1"/>
          </p:cNvSpPr>
          <p:nvPr/>
        </p:nvSpPr>
        <p:spPr bwMode="auto">
          <a:xfrm>
            <a:off x="5293561" y="1978591"/>
            <a:ext cx="2286000" cy="990600"/>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a:effectLst/>
        </p:spPr>
        <p:txBody>
          <a:bodyPr/>
          <a:lstStyle/>
          <a:p>
            <a:endParaRPr lang="en-US"/>
          </a:p>
        </p:txBody>
      </p:sp>
      <p:sp>
        <p:nvSpPr>
          <p:cNvPr id="272388" name="Cloud"/>
          <p:cNvSpPr>
            <a:spLocks noChangeAspect="1" noEditPoints="1" noChangeArrowheads="1"/>
          </p:cNvSpPr>
          <p:nvPr/>
        </p:nvSpPr>
        <p:spPr bwMode="auto">
          <a:xfrm>
            <a:off x="1152442" y="1653131"/>
            <a:ext cx="3876758" cy="32004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sp>
        <p:nvSpPr>
          <p:cNvPr id="272389" name="Cloud"/>
          <p:cNvSpPr>
            <a:spLocks noChangeAspect="1" noEditPoints="1" noChangeArrowheads="1"/>
          </p:cNvSpPr>
          <p:nvPr/>
        </p:nvSpPr>
        <p:spPr bwMode="auto">
          <a:xfrm>
            <a:off x="8802281" y="1886516"/>
            <a:ext cx="1752600" cy="117475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sp>
        <p:nvSpPr>
          <p:cNvPr id="272390" name="Text Box 6"/>
          <p:cNvSpPr txBox="1">
            <a:spLocks noChangeArrowheads="1"/>
          </p:cNvSpPr>
          <p:nvPr/>
        </p:nvSpPr>
        <p:spPr bwMode="auto">
          <a:xfrm>
            <a:off x="1676400" y="1447801"/>
            <a:ext cx="2438400" cy="369332"/>
          </a:xfrm>
          <a:prstGeom prst="rect">
            <a:avLst/>
          </a:prstGeom>
          <a:noFill/>
          <a:ln w="9525">
            <a:noFill/>
            <a:miter lim="800000"/>
            <a:headEnd/>
            <a:tailEnd/>
          </a:ln>
          <a:effectLst/>
        </p:spPr>
        <p:txBody>
          <a:bodyPr wrap="square">
            <a:spAutoFit/>
          </a:bodyPr>
          <a:lstStyle/>
          <a:p>
            <a:pPr>
              <a:spcBef>
                <a:spcPct val="50000"/>
              </a:spcBef>
            </a:pPr>
            <a:r>
              <a:rPr lang="en-US" b="1" dirty="0"/>
              <a:t>Internal network</a:t>
            </a:r>
          </a:p>
        </p:txBody>
      </p:sp>
      <p:sp>
        <p:nvSpPr>
          <p:cNvPr id="272391" name="Text Box 7"/>
          <p:cNvSpPr txBox="1">
            <a:spLocks noChangeArrowheads="1"/>
          </p:cNvSpPr>
          <p:nvPr/>
        </p:nvSpPr>
        <p:spPr bwMode="auto">
          <a:xfrm>
            <a:off x="9209112" y="2175235"/>
            <a:ext cx="1143000" cy="581025"/>
          </a:xfrm>
          <a:prstGeom prst="rect">
            <a:avLst/>
          </a:prstGeom>
          <a:noFill/>
          <a:ln w="9525">
            <a:noFill/>
            <a:miter lim="800000"/>
            <a:headEnd/>
            <a:tailEnd/>
          </a:ln>
          <a:effectLst/>
        </p:spPr>
        <p:txBody>
          <a:bodyPr>
            <a:spAutoFit/>
          </a:bodyPr>
          <a:lstStyle/>
          <a:p>
            <a:pPr>
              <a:spcBef>
                <a:spcPct val="50000"/>
              </a:spcBef>
            </a:pPr>
            <a:r>
              <a:rPr lang="en-US" sz="1600" dirty="0"/>
              <a:t>External network</a:t>
            </a:r>
          </a:p>
        </p:txBody>
      </p:sp>
      <p:sp>
        <p:nvSpPr>
          <p:cNvPr id="272392" name="Text Box 8"/>
          <p:cNvSpPr txBox="1">
            <a:spLocks noChangeArrowheads="1"/>
          </p:cNvSpPr>
          <p:nvPr/>
        </p:nvSpPr>
        <p:spPr bwMode="auto">
          <a:xfrm>
            <a:off x="5906681" y="2273836"/>
            <a:ext cx="1828800" cy="400110"/>
          </a:xfrm>
          <a:prstGeom prst="rect">
            <a:avLst/>
          </a:prstGeom>
          <a:noFill/>
          <a:ln w="9525">
            <a:noFill/>
            <a:miter lim="800000"/>
            <a:headEnd/>
            <a:tailEnd/>
          </a:ln>
          <a:effectLst/>
        </p:spPr>
        <p:txBody>
          <a:bodyPr wrap="square">
            <a:spAutoFit/>
          </a:bodyPr>
          <a:lstStyle/>
          <a:p>
            <a:pPr>
              <a:spcBef>
                <a:spcPct val="50000"/>
              </a:spcBef>
            </a:pPr>
            <a:r>
              <a:rPr lang="en-US" sz="2000" dirty="0">
                <a:solidFill>
                  <a:srgbClr val="FFFFFF"/>
                </a:solidFill>
              </a:rPr>
              <a:t>Firewall</a:t>
            </a:r>
          </a:p>
        </p:txBody>
      </p:sp>
      <p:sp>
        <p:nvSpPr>
          <p:cNvPr id="272393" name="Line 9"/>
          <p:cNvSpPr>
            <a:spLocks noChangeShapeType="1"/>
          </p:cNvSpPr>
          <p:nvPr/>
        </p:nvSpPr>
        <p:spPr bwMode="auto">
          <a:xfrm>
            <a:off x="4191000" y="2362200"/>
            <a:ext cx="1066800" cy="0"/>
          </a:xfrm>
          <a:prstGeom prst="line">
            <a:avLst/>
          </a:prstGeom>
          <a:noFill/>
          <a:ln w="38100">
            <a:solidFill>
              <a:schemeClr val="tx1"/>
            </a:solidFill>
            <a:round/>
            <a:headEnd/>
            <a:tailEnd type="triangle" w="med" len="med"/>
          </a:ln>
          <a:effectLst/>
        </p:spPr>
        <p:txBody>
          <a:bodyPr/>
          <a:lstStyle/>
          <a:p>
            <a:endParaRPr lang="en-US"/>
          </a:p>
        </p:txBody>
      </p:sp>
      <p:sp>
        <p:nvSpPr>
          <p:cNvPr id="272394" name="Line 10"/>
          <p:cNvSpPr>
            <a:spLocks noChangeShapeType="1"/>
          </p:cNvSpPr>
          <p:nvPr/>
        </p:nvSpPr>
        <p:spPr bwMode="auto">
          <a:xfrm flipH="1">
            <a:off x="4191000" y="2362200"/>
            <a:ext cx="1066800" cy="0"/>
          </a:xfrm>
          <a:prstGeom prst="line">
            <a:avLst/>
          </a:prstGeom>
          <a:noFill/>
          <a:ln w="38100">
            <a:solidFill>
              <a:schemeClr val="tx1"/>
            </a:solidFill>
            <a:round/>
            <a:headEnd/>
            <a:tailEnd type="triangle" w="med" len="med"/>
          </a:ln>
          <a:effectLst/>
        </p:spPr>
        <p:txBody>
          <a:bodyPr/>
          <a:lstStyle/>
          <a:p>
            <a:endParaRPr lang="en-US"/>
          </a:p>
        </p:txBody>
      </p:sp>
      <p:sp>
        <p:nvSpPr>
          <p:cNvPr id="272395" name="Line 11"/>
          <p:cNvSpPr>
            <a:spLocks noChangeShapeType="1"/>
          </p:cNvSpPr>
          <p:nvPr/>
        </p:nvSpPr>
        <p:spPr bwMode="auto">
          <a:xfrm>
            <a:off x="7543800" y="2491222"/>
            <a:ext cx="1066800" cy="0"/>
          </a:xfrm>
          <a:prstGeom prst="line">
            <a:avLst/>
          </a:prstGeom>
          <a:noFill/>
          <a:ln w="38100">
            <a:solidFill>
              <a:schemeClr val="tx1"/>
            </a:solidFill>
            <a:round/>
            <a:headEnd type="triangle"/>
            <a:tailEnd type="triangle" w="med" len="med"/>
          </a:ln>
          <a:effectLst/>
        </p:spPr>
        <p:txBody>
          <a:bodyPr/>
          <a:lstStyle/>
          <a:p>
            <a:endParaRPr lang="en-US"/>
          </a:p>
        </p:txBody>
      </p:sp>
      <p:sp>
        <p:nvSpPr>
          <p:cNvPr id="272401" name="Text Box 17"/>
          <p:cNvSpPr txBox="1">
            <a:spLocks noChangeArrowheads="1"/>
          </p:cNvSpPr>
          <p:nvPr/>
        </p:nvSpPr>
        <p:spPr bwMode="auto">
          <a:xfrm>
            <a:off x="5774409" y="4806058"/>
            <a:ext cx="5434739" cy="830997"/>
          </a:xfrm>
          <a:prstGeom prst="rect">
            <a:avLst/>
          </a:prstGeom>
          <a:solidFill>
            <a:srgbClr val="CC0000"/>
          </a:solidFill>
          <a:ln w="9525">
            <a:noFill/>
            <a:miter lim="800000"/>
            <a:headEnd/>
            <a:tailEnd/>
          </a:ln>
          <a:effectLst>
            <a:outerShdw dist="107763" dir="2700000" algn="ctr" rotWithShape="0">
              <a:schemeClr val="bg2">
                <a:alpha val="50000"/>
              </a:schemeClr>
            </a:outerShdw>
          </a:effectLst>
        </p:spPr>
        <p:txBody>
          <a:bodyPr wrap="square">
            <a:spAutoFit/>
          </a:bodyPr>
          <a:lstStyle/>
          <a:p>
            <a:pPr>
              <a:buFontTx/>
              <a:buChar char="•"/>
            </a:pPr>
            <a:r>
              <a:rPr lang="en-US" sz="2400" dirty="0">
                <a:solidFill>
                  <a:schemeClr val="bg1"/>
                </a:solidFill>
              </a:rPr>
              <a:t> Single Point of Failure</a:t>
            </a:r>
          </a:p>
          <a:p>
            <a:pPr>
              <a:buFontTx/>
              <a:buChar char="•"/>
            </a:pPr>
            <a:r>
              <a:rPr lang="en-US" sz="2400" dirty="0">
                <a:solidFill>
                  <a:schemeClr val="bg1"/>
                </a:solidFill>
              </a:rPr>
              <a:t> Performance bottleneck</a:t>
            </a:r>
          </a:p>
        </p:txBody>
      </p:sp>
      <p:pic>
        <p:nvPicPr>
          <p:cNvPr id="1026" name="Picture 2"/>
          <p:cNvPicPr>
            <a:picLocks noChangeAspect="1" noChangeArrowheads="1"/>
          </p:cNvPicPr>
          <p:nvPr/>
        </p:nvPicPr>
        <p:blipFill>
          <a:blip r:embed="rId3"/>
          <a:srcRect/>
          <a:stretch>
            <a:fillRect/>
          </a:stretch>
        </p:blipFill>
        <p:spPr bwMode="auto">
          <a:xfrm>
            <a:off x="2209800" y="2514601"/>
            <a:ext cx="838200" cy="847117"/>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2057400" y="3581400"/>
            <a:ext cx="762000" cy="6858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a:srcRect/>
          <a:stretch>
            <a:fillRect/>
          </a:stretch>
        </p:blipFill>
        <p:spPr bwMode="auto">
          <a:xfrm>
            <a:off x="4267200" y="3429001"/>
            <a:ext cx="533400" cy="752549"/>
          </a:xfrm>
          <a:prstGeom prst="rect">
            <a:avLst/>
          </a:prstGeom>
          <a:noFill/>
          <a:ln w="9525">
            <a:noFill/>
            <a:miter lim="800000"/>
            <a:headEnd/>
            <a:tailEnd/>
          </a:ln>
          <a:effectLst/>
        </p:spPr>
      </p:pic>
      <p:pic>
        <p:nvPicPr>
          <p:cNvPr id="1030" name="Picture 6"/>
          <p:cNvPicPr>
            <a:picLocks noChangeAspect="1" noChangeArrowheads="1"/>
          </p:cNvPicPr>
          <p:nvPr/>
        </p:nvPicPr>
        <p:blipFill>
          <a:blip r:embed="rId6"/>
          <a:srcRect/>
          <a:stretch>
            <a:fillRect/>
          </a:stretch>
        </p:blipFill>
        <p:spPr bwMode="auto">
          <a:xfrm>
            <a:off x="3124200" y="4114800"/>
            <a:ext cx="838200" cy="825436"/>
          </a:xfrm>
          <a:prstGeom prst="rect">
            <a:avLst/>
          </a:prstGeom>
          <a:noFill/>
          <a:ln w="9525">
            <a:noFill/>
            <a:miter lim="800000"/>
            <a:headEnd/>
            <a:tailEnd/>
          </a:ln>
          <a:effectLst/>
        </p:spPr>
      </p:pic>
      <p:pic>
        <p:nvPicPr>
          <p:cNvPr id="1031" name="Picture 7"/>
          <p:cNvPicPr>
            <a:picLocks noChangeAspect="1" noChangeArrowheads="1"/>
          </p:cNvPicPr>
          <p:nvPr/>
        </p:nvPicPr>
        <p:blipFill>
          <a:blip r:embed="rId7"/>
          <a:srcRect/>
          <a:stretch>
            <a:fillRect/>
          </a:stretch>
        </p:blipFill>
        <p:spPr bwMode="auto">
          <a:xfrm>
            <a:off x="3429000" y="2514601"/>
            <a:ext cx="890588" cy="923925"/>
          </a:xfrm>
          <a:prstGeom prst="rect">
            <a:avLst/>
          </a:prstGeom>
          <a:noFill/>
          <a:ln w="9525">
            <a:noFill/>
            <a:miter lim="800000"/>
            <a:headEnd/>
            <a:tailEnd/>
          </a:ln>
          <a:effectLst/>
        </p:spPr>
      </p:pic>
    </p:spTree>
    <p:extLst>
      <p:ext uri="{BB962C8B-B14F-4D97-AF65-F5344CB8AC3E}">
        <p14:creationId xmlns:p14="http://schemas.microsoft.com/office/powerpoint/2010/main" val="1481630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r>
              <a:rPr lang="en-US" dirty="0"/>
              <a:t>Intrusion Detection System (IDS)</a:t>
            </a:r>
          </a:p>
        </p:txBody>
      </p:sp>
      <p:sp>
        <p:nvSpPr>
          <p:cNvPr id="4" name="Text Placeholder 3">
            <a:extLst>
              <a:ext uri="{FF2B5EF4-FFF2-40B4-BE49-F238E27FC236}">
                <a16:creationId xmlns:a16="http://schemas.microsoft.com/office/drawing/2014/main" id="{0602DB39-D254-A842-87BE-066F7D28960D}"/>
              </a:ext>
            </a:extLst>
          </p:cNvPr>
          <p:cNvSpPr>
            <a:spLocks noGrp="1"/>
          </p:cNvSpPr>
          <p:nvPr>
            <p:ph type="body" idx="11"/>
          </p:nvPr>
        </p:nvSpPr>
        <p:spPr/>
        <p:txBody>
          <a:bodyPr/>
          <a:lstStyle/>
          <a:p>
            <a:endParaRPr lang="en-US"/>
          </a:p>
        </p:txBody>
      </p:sp>
      <p:sp>
        <p:nvSpPr>
          <p:cNvPr id="275459" name="Rectangle 3"/>
          <p:cNvSpPr>
            <a:spLocks noGrp="1" noChangeArrowheads="1"/>
          </p:cNvSpPr>
          <p:nvPr>
            <p:ph idx="1"/>
          </p:nvPr>
        </p:nvSpPr>
        <p:spPr/>
        <p:txBody>
          <a:bodyPr/>
          <a:lstStyle/>
          <a:p>
            <a:r>
              <a:rPr lang="en-US" dirty="0">
                <a:solidFill>
                  <a:srgbClr val="002060"/>
                </a:solidFill>
              </a:rPr>
              <a:t>Main Function</a:t>
            </a:r>
            <a:r>
              <a:rPr lang="en-US" dirty="0"/>
              <a:t>: </a:t>
            </a:r>
            <a:r>
              <a:rPr lang="en-US" dirty="0">
                <a:solidFill>
                  <a:srgbClr val="002060"/>
                </a:solidFill>
              </a:rPr>
              <a:t>inspect</a:t>
            </a:r>
            <a:r>
              <a:rPr lang="en-US" dirty="0"/>
              <a:t> network traffic within a network to detect attacks</a:t>
            </a:r>
          </a:p>
          <a:p>
            <a:r>
              <a:rPr lang="en-US" dirty="0"/>
              <a:t>An ideal IDS should notify security manager of an ongoing attack </a:t>
            </a:r>
          </a:p>
          <a:p>
            <a:pPr lvl="1"/>
            <a:r>
              <a:rPr lang="en-US" dirty="0"/>
              <a:t>100% accuracy</a:t>
            </a:r>
          </a:p>
          <a:p>
            <a:pPr lvl="1"/>
            <a:r>
              <a:rPr lang="en-US" dirty="0"/>
              <a:t>In real time manner</a:t>
            </a:r>
          </a:p>
          <a:p>
            <a:pPr lvl="1"/>
            <a:r>
              <a:rPr lang="en-US" dirty="0"/>
              <a:t>Complete diagnosis</a:t>
            </a:r>
          </a:p>
          <a:p>
            <a:pPr lvl="1"/>
            <a:r>
              <a:rPr lang="en-US" dirty="0"/>
              <a:t>Effective recommendations on how to react</a:t>
            </a:r>
          </a:p>
          <a:p>
            <a:endParaRPr lang="en-US" dirty="0"/>
          </a:p>
        </p:txBody>
      </p:sp>
      <p:pic>
        <p:nvPicPr>
          <p:cNvPr id="1026" name="Picture 2" descr="Image result for cctv camera">
            <a:extLst>
              <a:ext uri="{FF2B5EF4-FFF2-40B4-BE49-F238E27FC236}">
                <a16:creationId xmlns:a16="http://schemas.microsoft.com/office/drawing/2014/main" id="{2F6A412E-40B9-0A4D-A2C6-1ABC59CD99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4577" y="0"/>
            <a:ext cx="1461155" cy="1461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634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r>
              <a:rPr lang="en-US" altLang="zh-CN" dirty="0"/>
              <a:t>Signature-Based vs Anomaly-Based</a:t>
            </a:r>
            <a:endParaRPr lang="en-US" dirty="0"/>
          </a:p>
        </p:txBody>
      </p:sp>
      <p:sp>
        <p:nvSpPr>
          <p:cNvPr id="279555" name="Rectangle 3"/>
          <p:cNvSpPr>
            <a:spLocks noGrp="1" noChangeArrowheads="1"/>
          </p:cNvSpPr>
          <p:nvPr>
            <p:ph idx="1"/>
          </p:nvPr>
        </p:nvSpPr>
        <p:spPr>
          <a:xfrm>
            <a:off x="513349" y="1268243"/>
            <a:ext cx="5999651" cy="4723318"/>
          </a:xfrm>
          <a:ln>
            <a:noFill/>
          </a:ln>
        </p:spPr>
        <p:txBody>
          <a:bodyPr>
            <a:normAutofit fontScale="92500" lnSpcReduction="10000"/>
          </a:bodyPr>
          <a:lstStyle/>
          <a:p>
            <a:pPr marL="0" indent="0">
              <a:buNone/>
            </a:pPr>
            <a:r>
              <a:rPr lang="en-US" dirty="0">
                <a:solidFill>
                  <a:srgbClr val="002060"/>
                </a:solidFill>
              </a:rPr>
              <a:t>Signature based IDS</a:t>
            </a:r>
          </a:p>
          <a:p>
            <a:r>
              <a:rPr lang="en-US" dirty="0"/>
              <a:t>basic idea: to match network traffic with pre-defined attack patterns (i.e., signatures).</a:t>
            </a:r>
          </a:p>
          <a:p>
            <a:r>
              <a:rPr lang="en-US" dirty="0"/>
              <a:t>e.g., signature of code red worm.</a:t>
            </a:r>
          </a:p>
          <a:p>
            <a:endParaRPr lang="en-US" dirty="0"/>
          </a:p>
          <a:p>
            <a:pPr marL="0" indent="0">
              <a:buNone/>
            </a:pPr>
            <a:r>
              <a:rPr lang="en-US" dirty="0">
                <a:solidFill>
                  <a:srgbClr val="002060"/>
                </a:solidFill>
              </a:rPr>
              <a:t>Anomaly based IDS</a:t>
            </a:r>
          </a:p>
          <a:p>
            <a:r>
              <a:rPr lang="en-US" dirty="0"/>
              <a:t>Profile: model of normal behaviors</a:t>
            </a:r>
          </a:p>
          <a:p>
            <a:r>
              <a:rPr lang="en-US" dirty="0"/>
              <a:t>IDS reports situations that deviates from profiles</a:t>
            </a:r>
          </a:p>
          <a:p>
            <a:r>
              <a:rPr lang="en-US" dirty="0"/>
              <a:t>basic idea: IDS has been trained to differentiate normal traffic and abnormal traffic, by using machine learning techs.</a:t>
            </a:r>
          </a:p>
        </p:txBody>
      </p:sp>
      <p:pic>
        <p:nvPicPr>
          <p:cNvPr id="6" name="Picture 5"/>
          <p:cNvPicPr>
            <a:picLocks noChangeAspect="1"/>
          </p:cNvPicPr>
          <p:nvPr/>
        </p:nvPicPr>
        <p:blipFill>
          <a:blip r:embed="rId3"/>
          <a:stretch>
            <a:fillRect/>
          </a:stretch>
        </p:blipFill>
        <p:spPr>
          <a:xfrm>
            <a:off x="9032099" y="3270211"/>
            <a:ext cx="1295400" cy="1513647"/>
          </a:xfrm>
          <a:prstGeom prst="rect">
            <a:avLst/>
          </a:prstGeom>
        </p:spPr>
      </p:pic>
      <p:sp>
        <p:nvSpPr>
          <p:cNvPr id="2" name="Rectangle 1">
            <a:extLst>
              <a:ext uri="{FF2B5EF4-FFF2-40B4-BE49-F238E27FC236}">
                <a16:creationId xmlns:a16="http://schemas.microsoft.com/office/drawing/2014/main" id="{5A7A8611-04B8-1A41-8629-B97CBB65E8AD}"/>
              </a:ext>
            </a:extLst>
          </p:cNvPr>
          <p:cNvSpPr/>
          <p:nvPr/>
        </p:nvSpPr>
        <p:spPr>
          <a:xfrm>
            <a:off x="6353512" y="993921"/>
            <a:ext cx="5519936" cy="2246769"/>
          </a:xfrm>
          <a:prstGeom prst="rect">
            <a:avLst/>
          </a:prstGeom>
          <a:solidFill>
            <a:srgbClr val="FFFF00"/>
          </a:solidFill>
        </p:spPr>
        <p:txBody>
          <a:bodyPr wrap="square">
            <a:spAutoFit/>
          </a:bodyPr>
          <a:lstStyle/>
          <a:p>
            <a:r>
              <a:rPr lang="en-SG" sz="1400" dirty="0"/>
              <a:t>GET /</a:t>
            </a:r>
            <a:r>
              <a:rPr lang="en-SG" sz="1400" dirty="0" err="1"/>
              <a:t>default.ida?NNNNNNNNNNNNNNNNNNNNNNNNN</a:t>
            </a:r>
            <a:r>
              <a:rPr lang="en-SG" sz="1400" dirty="0"/>
              <a:t> NNNNNNNNNNNNNNNNNNNNNNNNNNNNNNNNNNNN NNNNNNNNNNNNNNNNNNNNNNNNNNNNNNNNNNNN NNNNNNNNNNNNNNNNNNNNNNNNNNNNNNNNNNNN NNNNNNNNNNNNNNNNNNNNNNNNNNNNNNNNNNNN NNNNNNNNNNNNNNNNNNNNNNNNNNNNNNNNNNNN NNNNNNNNNNNNNNNNNNN %u9090%u6858%ucbd3%u7801%u9090%u6858%ucbd3%u7801 %u9090%u6858%ucbd3%u7801%u9090%u9090%u8190%u00c3 %u0003%u8b00%u531b%u53ff%u0078%u0000%u00=a HTTP/1.0</a:t>
            </a:r>
            <a:endParaRPr lang="en-US" sz="1400" dirty="0"/>
          </a:p>
        </p:txBody>
      </p:sp>
      <p:pic>
        <p:nvPicPr>
          <p:cNvPr id="2052" name="Picture 4" descr="Image result for thief">
            <a:extLst>
              <a:ext uri="{FF2B5EF4-FFF2-40B4-BE49-F238E27FC236}">
                <a16:creationId xmlns:a16="http://schemas.microsoft.com/office/drawing/2014/main" id="{CF78AD89-AEB3-3642-B7E7-D14CC5CE5E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7434" y="3365203"/>
            <a:ext cx="1119051" cy="160684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mage result for thief">
            <a:extLst>
              <a:ext uri="{FF2B5EF4-FFF2-40B4-BE49-F238E27FC236}">
                <a16:creationId xmlns:a16="http://schemas.microsoft.com/office/drawing/2014/main" id="{F8001148-5579-0D48-9391-014E6E8F66E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7105" y="4881024"/>
            <a:ext cx="1173912" cy="143500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 result for boy">
            <a:extLst>
              <a:ext uri="{FF2B5EF4-FFF2-40B4-BE49-F238E27FC236}">
                <a16:creationId xmlns:a16="http://schemas.microsoft.com/office/drawing/2014/main" id="{617BA46A-0446-1347-A3C6-2743F18906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97374" y="5039259"/>
            <a:ext cx="1119051" cy="1267551"/>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036447A3-33D0-794F-8CB3-0993CB0834E8}"/>
              </a:ext>
            </a:extLst>
          </p:cNvPr>
          <p:cNvSpPr>
            <a:spLocks noGrp="1"/>
          </p:cNvSpPr>
          <p:nvPr>
            <p:ph type="body" idx="11"/>
          </p:nvPr>
        </p:nvSpPr>
        <p:spPr/>
        <p:txBody>
          <a:bodyPr/>
          <a:lstStyle/>
          <a:p>
            <a:endParaRPr lang="en-US"/>
          </a:p>
        </p:txBody>
      </p:sp>
    </p:spTree>
    <p:extLst>
      <p:ext uri="{BB962C8B-B14F-4D97-AF65-F5344CB8AC3E}">
        <p14:creationId xmlns:p14="http://schemas.microsoft.com/office/powerpoint/2010/main" val="2355882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Accuracy</a:t>
            </a:r>
          </a:p>
        </p:txBody>
      </p:sp>
      <p:sp>
        <p:nvSpPr>
          <p:cNvPr id="9" name="Text Placeholder 8">
            <a:extLst>
              <a:ext uri="{FF2B5EF4-FFF2-40B4-BE49-F238E27FC236}">
                <a16:creationId xmlns:a16="http://schemas.microsoft.com/office/drawing/2014/main" id="{EA6D22AA-ED26-3740-8882-1708F724CD41}"/>
              </a:ext>
            </a:extLst>
          </p:cNvPr>
          <p:cNvSpPr>
            <a:spLocks noGrp="1"/>
          </p:cNvSpPr>
          <p:nvPr>
            <p:ph type="body" idx="11"/>
          </p:nvPr>
        </p:nvSpPr>
        <p:spPr/>
        <p:txBody>
          <a:bodyPr/>
          <a:lstStyle/>
          <a:p>
            <a:endParaRPr lang="en-US"/>
          </a:p>
        </p:txBody>
      </p:sp>
      <p:sp>
        <p:nvSpPr>
          <p:cNvPr id="2" name="Content Placeholder 1">
            <a:extLst>
              <a:ext uri="{FF2B5EF4-FFF2-40B4-BE49-F238E27FC236}">
                <a16:creationId xmlns:a16="http://schemas.microsoft.com/office/drawing/2014/main" id="{554A9580-5554-504C-BC35-C756194C38B0}"/>
              </a:ext>
            </a:extLst>
          </p:cNvPr>
          <p:cNvSpPr>
            <a:spLocks noGrp="1"/>
          </p:cNvSpPr>
          <p:nvPr>
            <p:ph idx="1"/>
          </p:nvPr>
        </p:nvSpPr>
        <p:spPr>
          <a:xfrm>
            <a:off x="523284" y="948204"/>
            <a:ext cx="11193795" cy="544551"/>
          </a:xfrm>
        </p:spPr>
        <p:txBody>
          <a:bodyPr>
            <a:normAutofit/>
          </a:bodyPr>
          <a:lstStyle/>
          <a:p>
            <a:r>
              <a:rPr lang="en-US" sz="2000" dirty="0"/>
              <a:t>Both signature-based IDS and Anomaly-based IDS are not 100% accurate in the following sense:</a:t>
            </a:r>
          </a:p>
        </p:txBody>
      </p:sp>
      <p:sp>
        <p:nvSpPr>
          <p:cNvPr id="68" name="TextBox 67">
            <a:extLst>
              <a:ext uri="{FF2B5EF4-FFF2-40B4-BE49-F238E27FC236}">
                <a16:creationId xmlns:a16="http://schemas.microsoft.com/office/drawing/2014/main" id="{47E16586-680B-1A41-9097-D8D4A4319191}"/>
              </a:ext>
            </a:extLst>
          </p:cNvPr>
          <p:cNvSpPr txBox="1"/>
          <p:nvPr/>
        </p:nvSpPr>
        <p:spPr>
          <a:xfrm>
            <a:off x="223313" y="1538511"/>
            <a:ext cx="4762842"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Nova" panose="020B0504020202020204" pitchFamily="34" charset="0"/>
              </a:rPr>
              <a:t>If IDS raises an alarm, is it indeed an attack?</a:t>
            </a:r>
          </a:p>
        </p:txBody>
      </p:sp>
      <p:sp>
        <p:nvSpPr>
          <p:cNvPr id="69" name="TextBox 68">
            <a:extLst>
              <a:ext uri="{FF2B5EF4-FFF2-40B4-BE49-F238E27FC236}">
                <a16:creationId xmlns:a16="http://schemas.microsoft.com/office/drawing/2014/main" id="{398775ED-CBFE-B449-8EC6-F8FEF7EBD843}"/>
              </a:ext>
            </a:extLst>
          </p:cNvPr>
          <p:cNvSpPr txBox="1"/>
          <p:nvPr/>
        </p:nvSpPr>
        <p:spPr>
          <a:xfrm>
            <a:off x="6268584" y="1515264"/>
            <a:ext cx="5302414"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Nova" panose="020B0504020202020204" pitchFamily="34" charset="0"/>
              </a:rPr>
              <a:t>If IDS does not raise an alarm, is it indeed benign?</a:t>
            </a:r>
          </a:p>
        </p:txBody>
      </p:sp>
      <p:sp>
        <p:nvSpPr>
          <p:cNvPr id="70" name="Rectangle 69">
            <a:extLst>
              <a:ext uri="{FF2B5EF4-FFF2-40B4-BE49-F238E27FC236}">
                <a16:creationId xmlns:a16="http://schemas.microsoft.com/office/drawing/2014/main" id="{95B6687B-8642-3442-9D69-3F29BDE7BCD1}"/>
              </a:ext>
            </a:extLst>
          </p:cNvPr>
          <p:cNvSpPr/>
          <p:nvPr/>
        </p:nvSpPr>
        <p:spPr>
          <a:xfrm>
            <a:off x="223313" y="1957503"/>
            <a:ext cx="5352747" cy="513664"/>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If no,  this is called a false alarm or </a:t>
            </a:r>
            <a:r>
              <a:rPr kumimoji="0" lang="en-US" sz="1800" b="1" i="0" u="none" strike="noStrike" kern="0" cap="none" spc="0" normalizeH="0" baseline="0" noProof="0" dirty="0">
                <a:ln>
                  <a:noFill/>
                </a:ln>
                <a:solidFill>
                  <a:srgbClr val="FFFF00"/>
                </a:solidFill>
                <a:effectLst/>
                <a:uLnTx/>
                <a:uFillTx/>
                <a:latin typeface="Arial Nova" panose="020B0504020202020204" pitchFamily="34" charset="0"/>
              </a:rPr>
              <a:t>false positive</a:t>
            </a: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 otherwise, called true alarm or true positive.</a:t>
            </a:r>
          </a:p>
        </p:txBody>
      </p:sp>
      <p:sp>
        <p:nvSpPr>
          <p:cNvPr id="71" name="Rectangle 70">
            <a:extLst>
              <a:ext uri="{FF2B5EF4-FFF2-40B4-BE49-F238E27FC236}">
                <a16:creationId xmlns:a16="http://schemas.microsoft.com/office/drawing/2014/main" id="{E61B59D7-EFE4-164F-8CD1-8AA5099CFAC4}"/>
              </a:ext>
            </a:extLst>
          </p:cNvPr>
          <p:cNvSpPr/>
          <p:nvPr/>
        </p:nvSpPr>
        <p:spPr>
          <a:xfrm>
            <a:off x="6377026" y="1973006"/>
            <a:ext cx="5132532" cy="482658"/>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If no,  this is called a </a:t>
            </a:r>
            <a:r>
              <a:rPr kumimoji="0" lang="en-US" sz="1800" b="1" i="0" u="none" strike="noStrike" kern="0" cap="none" spc="0" normalizeH="0" baseline="0" noProof="0" dirty="0">
                <a:ln>
                  <a:noFill/>
                </a:ln>
                <a:solidFill>
                  <a:srgbClr val="FFFF00"/>
                </a:solidFill>
                <a:effectLst/>
                <a:uLnTx/>
                <a:uFillTx/>
                <a:latin typeface="Arial Nova" panose="020B0504020202020204" pitchFamily="34" charset="0"/>
              </a:rPr>
              <a:t>false negative </a:t>
            </a: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or a miss; otherwise, called true negative or a catch</a:t>
            </a:r>
          </a:p>
        </p:txBody>
      </p:sp>
      <p:graphicFrame>
        <p:nvGraphicFramePr>
          <p:cNvPr id="3" name="Table 3">
            <a:extLst>
              <a:ext uri="{FF2B5EF4-FFF2-40B4-BE49-F238E27FC236}">
                <a16:creationId xmlns:a16="http://schemas.microsoft.com/office/drawing/2014/main" id="{DDFB993B-87E8-08C3-FF8E-C7DA3325238A}"/>
              </a:ext>
            </a:extLst>
          </p:cNvPr>
          <p:cNvGraphicFramePr>
            <a:graphicFrameLocks noGrp="1"/>
          </p:cNvGraphicFramePr>
          <p:nvPr/>
        </p:nvGraphicFramePr>
        <p:xfrm>
          <a:off x="1123406" y="3559806"/>
          <a:ext cx="9784080" cy="1893637"/>
        </p:xfrm>
        <a:graphic>
          <a:graphicData uri="http://schemas.openxmlformats.org/drawingml/2006/table">
            <a:tbl>
              <a:tblPr firstRow="1" bandRow="1">
                <a:tableStyleId>{5940675A-B579-460E-94D1-54222C63F5DA}</a:tableStyleId>
              </a:tblPr>
              <a:tblGrid>
                <a:gridCol w="3261360">
                  <a:extLst>
                    <a:ext uri="{9D8B030D-6E8A-4147-A177-3AD203B41FA5}">
                      <a16:colId xmlns:a16="http://schemas.microsoft.com/office/drawing/2014/main" val="817440197"/>
                    </a:ext>
                  </a:extLst>
                </a:gridCol>
                <a:gridCol w="3261360">
                  <a:extLst>
                    <a:ext uri="{9D8B030D-6E8A-4147-A177-3AD203B41FA5}">
                      <a16:colId xmlns:a16="http://schemas.microsoft.com/office/drawing/2014/main" val="693020253"/>
                    </a:ext>
                  </a:extLst>
                </a:gridCol>
                <a:gridCol w="3261360">
                  <a:extLst>
                    <a:ext uri="{9D8B030D-6E8A-4147-A177-3AD203B41FA5}">
                      <a16:colId xmlns:a16="http://schemas.microsoft.com/office/drawing/2014/main" val="2542381210"/>
                    </a:ext>
                  </a:extLst>
                </a:gridCol>
              </a:tblGrid>
              <a:tr h="491557">
                <a:tc>
                  <a:txBody>
                    <a:bodyPr/>
                    <a:lstStyle/>
                    <a:p>
                      <a:pPr algn="ct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Is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Is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not</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extLst>
                  <a:ext uri="{0D108BD9-81ED-4DB2-BD59-A6C34878D82A}">
                    <a16:rowId xmlns:a16="http://schemas.microsoft.com/office/drawing/2014/main" val="260773434"/>
                  </a:ext>
                </a:extLst>
              </a:tr>
              <a:tr h="666632">
                <a:tc>
                  <a:txBody>
                    <a:bodyPr/>
                    <a:lstStyle/>
                    <a:p>
                      <a:pPr algn="ctr"/>
                      <a:r>
                        <a:rPr lang="en-US" altLang="zh-CN" sz="2000" b="0" i="0" kern="1200" dirty="0">
                          <a:solidFill>
                            <a:schemeClr val="tx1"/>
                          </a:solidFill>
                          <a:latin typeface="Arial Nova" panose="020B0504020202020204" pitchFamily="34" charset="0"/>
                        </a:rPr>
                        <a:t>Identified</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True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Positive</a:t>
                      </a:r>
                      <a:r>
                        <a:rPr lang="zh-CN" altLang="en-US" sz="2000" b="0" i="0" kern="1200" dirty="0">
                          <a:solidFill>
                            <a:schemeClr val="tx1"/>
                          </a:solidFill>
                          <a:latin typeface="Arial Nova" panose="020B0504020202020204" pitchFamily="34" charset="0"/>
                        </a:rPr>
                        <a:t> </a:t>
                      </a:r>
                      <a:endParaRPr lang="en-SG" altLang="zh-CN" sz="2000" b="0" i="0" kern="1200" dirty="0">
                        <a:solidFill>
                          <a:schemeClr val="tx1"/>
                        </a:solidFill>
                        <a:latin typeface="Arial Nova" panose="020B0504020202020204" pitchFamily="34" charset="0"/>
                      </a:endParaRPr>
                    </a:p>
                    <a:p>
                      <a:pPr algn="ctr"/>
                      <a:r>
                        <a:rPr lang="en-US" altLang="zh-CN" sz="2000" b="0" i="0" kern="1200" dirty="0">
                          <a:solidFill>
                            <a:schemeClr val="tx1"/>
                          </a:solidFill>
                          <a:latin typeface="Arial Nova" panose="020B0504020202020204" pitchFamily="34" charset="0"/>
                        </a:rPr>
                        <a:t>(TP)</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False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Positive</a:t>
                      </a:r>
                    </a:p>
                    <a:p>
                      <a:pPr algn="ctr"/>
                      <a:r>
                        <a:rPr lang="en-US" altLang="zh-CN" sz="2000" b="0" i="0" kern="1200" dirty="0">
                          <a:solidFill>
                            <a:schemeClr val="tx1"/>
                          </a:solidFill>
                          <a:latin typeface="Arial Nova" panose="020B0504020202020204" pitchFamily="34" charset="0"/>
                        </a:rPr>
                        <a:t>(FP)</a:t>
                      </a:r>
                      <a:endParaRPr lang="en-US" sz="2000" b="0" i="0" kern="1200" dirty="0">
                        <a:solidFill>
                          <a:schemeClr val="tx1"/>
                        </a:solidFill>
                        <a:latin typeface="Arial Nova" panose="020B0504020202020204" pitchFamily="34" charset="0"/>
                      </a:endParaRPr>
                    </a:p>
                  </a:txBody>
                  <a:tcPr/>
                </a:tc>
                <a:extLst>
                  <a:ext uri="{0D108BD9-81ED-4DB2-BD59-A6C34878D82A}">
                    <a16:rowId xmlns:a16="http://schemas.microsoft.com/office/drawing/2014/main" val="2057989414"/>
                  </a:ext>
                </a:extLst>
              </a:tr>
              <a:tr h="666632">
                <a:tc>
                  <a:txBody>
                    <a:bodyPr/>
                    <a:lstStyle/>
                    <a:p>
                      <a:pPr algn="ctr"/>
                      <a:r>
                        <a:rPr lang="en-US" altLang="zh-CN" sz="2000" b="0" i="0" kern="1200" dirty="0">
                          <a:solidFill>
                            <a:schemeClr val="tx1"/>
                          </a:solidFill>
                          <a:latin typeface="Arial Nova" panose="020B0504020202020204" pitchFamily="34" charset="0"/>
                        </a:rPr>
                        <a:t>Identified</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not</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False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Negative</a:t>
                      </a:r>
                    </a:p>
                    <a:p>
                      <a:pPr algn="ctr"/>
                      <a:r>
                        <a:rPr lang="en-US" altLang="zh-CN" sz="2000" b="0" i="0" kern="1200" dirty="0">
                          <a:solidFill>
                            <a:schemeClr val="tx1"/>
                          </a:solidFill>
                          <a:latin typeface="Arial Nova" panose="020B0504020202020204" pitchFamily="34" charset="0"/>
                        </a:rPr>
                        <a:t>(FN)</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True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Negative</a:t>
                      </a:r>
                    </a:p>
                    <a:p>
                      <a:pPr algn="ctr"/>
                      <a:r>
                        <a:rPr lang="en-US" altLang="zh-CN" sz="2000" b="0" i="0" kern="1200" dirty="0">
                          <a:solidFill>
                            <a:schemeClr val="tx1"/>
                          </a:solidFill>
                          <a:latin typeface="Arial Nova" panose="020B0504020202020204" pitchFamily="34" charset="0"/>
                        </a:rPr>
                        <a:t>(TN)</a:t>
                      </a:r>
                      <a:endParaRPr lang="en-US" sz="2000" b="0" i="0" kern="1200" dirty="0">
                        <a:solidFill>
                          <a:schemeClr val="tx1"/>
                        </a:solidFill>
                        <a:latin typeface="Arial Nova" panose="020B0504020202020204" pitchFamily="34" charset="0"/>
                      </a:endParaRPr>
                    </a:p>
                  </a:txBody>
                  <a:tcPr/>
                </a:tc>
                <a:extLst>
                  <a:ext uri="{0D108BD9-81ED-4DB2-BD59-A6C34878D82A}">
                    <a16:rowId xmlns:a16="http://schemas.microsoft.com/office/drawing/2014/main" val="2820563668"/>
                  </a:ext>
                </a:extLst>
              </a:tr>
            </a:tbl>
          </a:graphicData>
        </a:graphic>
      </p:graphicFrame>
    </p:spTree>
    <p:extLst>
      <p:ext uri="{BB962C8B-B14F-4D97-AF65-F5344CB8AC3E}">
        <p14:creationId xmlns:p14="http://schemas.microsoft.com/office/powerpoint/2010/main" val="328197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animBg="1"/>
      <p:bldP spid="7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Accuracy</a:t>
            </a:r>
          </a:p>
        </p:txBody>
      </p:sp>
      <p:sp>
        <p:nvSpPr>
          <p:cNvPr id="9" name="Text Placeholder 8">
            <a:extLst>
              <a:ext uri="{FF2B5EF4-FFF2-40B4-BE49-F238E27FC236}">
                <a16:creationId xmlns:a16="http://schemas.microsoft.com/office/drawing/2014/main" id="{EA6D22AA-ED26-3740-8882-1708F724CD41}"/>
              </a:ext>
            </a:extLst>
          </p:cNvPr>
          <p:cNvSpPr>
            <a:spLocks noGrp="1"/>
          </p:cNvSpPr>
          <p:nvPr>
            <p:ph type="body" idx="11"/>
          </p:nvPr>
        </p:nvSpPr>
        <p:spPr/>
        <p:txBody>
          <a:bodyPr/>
          <a:lstStyle/>
          <a:p>
            <a:endParaRPr lang="en-US" dirty="0"/>
          </a:p>
        </p:txBody>
      </p:sp>
      <p:sp>
        <p:nvSpPr>
          <p:cNvPr id="2" name="Content Placeholder 1">
            <a:extLst>
              <a:ext uri="{FF2B5EF4-FFF2-40B4-BE49-F238E27FC236}">
                <a16:creationId xmlns:a16="http://schemas.microsoft.com/office/drawing/2014/main" id="{554A9580-5554-504C-BC35-C756194C38B0}"/>
              </a:ext>
            </a:extLst>
          </p:cNvPr>
          <p:cNvSpPr>
            <a:spLocks noGrp="1"/>
          </p:cNvSpPr>
          <p:nvPr>
            <p:ph idx="1"/>
          </p:nvPr>
        </p:nvSpPr>
        <p:spPr>
          <a:xfrm>
            <a:off x="523284" y="948204"/>
            <a:ext cx="11193795" cy="544551"/>
          </a:xfrm>
        </p:spPr>
        <p:txBody>
          <a:bodyPr>
            <a:normAutofit/>
          </a:bodyPr>
          <a:lstStyle/>
          <a:p>
            <a:r>
              <a:rPr lang="en-US" sz="2000" dirty="0"/>
              <a:t>Both signature-based IDS and Anomaly-based IDS are not 100% accurate in the following sense:</a:t>
            </a:r>
          </a:p>
        </p:txBody>
      </p:sp>
      <p:sp>
        <p:nvSpPr>
          <p:cNvPr id="68" name="TextBox 67">
            <a:extLst>
              <a:ext uri="{FF2B5EF4-FFF2-40B4-BE49-F238E27FC236}">
                <a16:creationId xmlns:a16="http://schemas.microsoft.com/office/drawing/2014/main" id="{47E16586-680B-1A41-9097-D8D4A4319191}"/>
              </a:ext>
            </a:extLst>
          </p:cNvPr>
          <p:cNvSpPr txBox="1"/>
          <p:nvPr/>
        </p:nvSpPr>
        <p:spPr>
          <a:xfrm>
            <a:off x="223313" y="1538511"/>
            <a:ext cx="4762842"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Nova" panose="020B0504020202020204" pitchFamily="34" charset="0"/>
              </a:rPr>
              <a:t>If IDS raises an alarm, is it indeed an attack?</a:t>
            </a:r>
          </a:p>
        </p:txBody>
      </p:sp>
      <p:sp>
        <p:nvSpPr>
          <p:cNvPr id="69" name="TextBox 68">
            <a:extLst>
              <a:ext uri="{FF2B5EF4-FFF2-40B4-BE49-F238E27FC236}">
                <a16:creationId xmlns:a16="http://schemas.microsoft.com/office/drawing/2014/main" id="{398775ED-CBFE-B449-8EC6-F8FEF7EBD843}"/>
              </a:ext>
            </a:extLst>
          </p:cNvPr>
          <p:cNvSpPr txBox="1"/>
          <p:nvPr/>
        </p:nvSpPr>
        <p:spPr>
          <a:xfrm>
            <a:off x="6268584" y="1515264"/>
            <a:ext cx="5302414"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Nova" panose="020B0504020202020204" pitchFamily="34" charset="0"/>
              </a:rPr>
              <a:t>If IDS does not raise an alarm, is it indeed benign?</a:t>
            </a:r>
          </a:p>
        </p:txBody>
      </p:sp>
      <p:sp>
        <p:nvSpPr>
          <p:cNvPr id="70" name="Rectangle 69">
            <a:extLst>
              <a:ext uri="{FF2B5EF4-FFF2-40B4-BE49-F238E27FC236}">
                <a16:creationId xmlns:a16="http://schemas.microsoft.com/office/drawing/2014/main" id="{95B6687B-8642-3442-9D69-3F29BDE7BCD1}"/>
              </a:ext>
            </a:extLst>
          </p:cNvPr>
          <p:cNvSpPr/>
          <p:nvPr/>
        </p:nvSpPr>
        <p:spPr>
          <a:xfrm>
            <a:off x="223313" y="1957503"/>
            <a:ext cx="5352747" cy="513664"/>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If no,  this is called a false alarm or </a:t>
            </a:r>
            <a:r>
              <a:rPr kumimoji="0" lang="en-US" sz="1800" b="1" i="0" u="none" strike="noStrike" kern="0" cap="none" spc="0" normalizeH="0" baseline="0" noProof="0" dirty="0">
                <a:ln>
                  <a:noFill/>
                </a:ln>
                <a:solidFill>
                  <a:srgbClr val="FFFF00"/>
                </a:solidFill>
                <a:effectLst/>
                <a:uLnTx/>
                <a:uFillTx/>
                <a:latin typeface="Arial Nova" panose="020B0504020202020204" pitchFamily="34" charset="0"/>
              </a:rPr>
              <a:t>false positive</a:t>
            </a: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 otherwise, called true alarm or true positive.</a:t>
            </a:r>
          </a:p>
        </p:txBody>
      </p:sp>
      <p:sp>
        <p:nvSpPr>
          <p:cNvPr id="71" name="Rectangle 70">
            <a:extLst>
              <a:ext uri="{FF2B5EF4-FFF2-40B4-BE49-F238E27FC236}">
                <a16:creationId xmlns:a16="http://schemas.microsoft.com/office/drawing/2014/main" id="{E61B59D7-EFE4-164F-8CD1-8AA5099CFAC4}"/>
              </a:ext>
            </a:extLst>
          </p:cNvPr>
          <p:cNvSpPr/>
          <p:nvPr/>
        </p:nvSpPr>
        <p:spPr>
          <a:xfrm>
            <a:off x="6377026" y="1973006"/>
            <a:ext cx="5132532" cy="482658"/>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If no,  this is called a </a:t>
            </a:r>
            <a:r>
              <a:rPr kumimoji="0" lang="en-US" sz="1800" b="1" i="0" u="none" strike="noStrike" kern="0" cap="none" spc="0" normalizeH="0" baseline="0" noProof="0" dirty="0">
                <a:ln>
                  <a:noFill/>
                </a:ln>
                <a:solidFill>
                  <a:srgbClr val="FFFF00"/>
                </a:solidFill>
                <a:effectLst/>
                <a:uLnTx/>
                <a:uFillTx/>
                <a:latin typeface="Arial Nova" panose="020B0504020202020204" pitchFamily="34" charset="0"/>
              </a:rPr>
              <a:t>false negative </a:t>
            </a:r>
            <a:r>
              <a:rPr kumimoji="0" lang="en-US" sz="1800" b="0" i="0" u="none" strike="noStrike" kern="0" cap="none" spc="0" normalizeH="0" baseline="0" noProof="0" dirty="0">
                <a:ln>
                  <a:noFill/>
                </a:ln>
                <a:solidFill>
                  <a:srgbClr val="FFFFFF"/>
                </a:solidFill>
                <a:effectLst/>
                <a:uLnTx/>
                <a:uFillTx/>
                <a:latin typeface="Arial Nova" panose="020B0504020202020204" pitchFamily="34" charset="0"/>
              </a:rPr>
              <a:t>or a miss; otherwise, called true negative or a catch</a:t>
            </a:r>
          </a:p>
        </p:txBody>
      </p:sp>
      <p:sp>
        <p:nvSpPr>
          <p:cNvPr id="72" name="Oval 71">
            <a:extLst>
              <a:ext uri="{FF2B5EF4-FFF2-40B4-BE49-F238E27FC236}">
                <a16:creationId xmlns:a16="http://schemas.microsoft.com/office/drawing/2014/main" id="{0E573582-3B1F-EF45-9C0A-05AEEE5A277E}"/>
              </a:ext>
            </a:extLst>
          </p:cNvPr>
          <p:cNvSpPr/>
          <p:nvPr/>
        </p:nvSpPr>
        <p:spPr>
          <a:xfrm>
            <a:off x="263352" y="3264142"/>
            <a:ext cx="1296000" cy="1296000"/>
          </a:xfrm>
          <a:prstGeom prst="ellipse">
            <a:avLst/>
          </a:prstGeom>
          <a:solidFill>
            <a:srgbClr val="92D05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Benign </a:t>
            </a:r>
          </a:p>
        </p:txBody>
      </p:sp>
      <p:sp>
        <p:nvSpPr>
          <p:cNvPr id="73" name="Oval 72">
            <a:extLst>
              <a:ext uri="{FF2B5EF4-FFF2-40B4-BE49-F238E27FC236}">
                <a16:creationId xmlns:a16="http://schemas.microsoft.com/office/drawing/2014/main" id="{EEF36B81-0654-FA4A-B50E-5D84D9CC1E01}"/>
              </a:ext>
            </a:extLst>
          </p:cNvPr>
          <p:cNvSpPr/>
          <p:nvPr/>
        </p:nvSpPr>
        <p:spPr>
          <a:xfrm>
            <a:off x="1559496" y="3264142"/>
            <a:ext cx="1296000" cy="1296000"/>
          </a:xfrm>
          <a:prstGeom prst="ellipse">
            <a:avLst/>
          </a:prstGeom>
          <a:solidFill>
            <a:srgbClr val="FF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Attack </a:t>
            </a:r>
          </a:p>
        </p:txBody>
      </p:sp>
      <p:sp>
        <p:nvSpPr>
          <p:cNvPr id="74" name="Oval 73">
            <a:extLst>
              <a:ext uri="{FF2B5EF4-FFF2-40B4-BE49-F238E27FC236}">
                <a16:creationId xmlns:a16="http://schemas.microsoft.com/office/drawing/2014/main" id="{60CB56E7-3A25-394E-9160-C0317932D1C7}"/>
              </a:ext>
            </a:extLst>
          </p:cNvPr>
          <p:cNvSpPr/>
          <p:nvPr/>
        </p:nvSpPr>
        <p:spPr>
          <a:xfrm>
            <a:off x="4367808" y="3264142"/>
            <a:ext cx="1296000" cy="1296000"/>
          </a:xfrm>
          <a:prstGeom prst="ellipse">
            <a:avLst/>
          </a:prstGeom>
          <a:solidFill>
            <a:srgbClr val="92D05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Benign </a:t>
            </a:r>
          </a:p>
        </p:txBody>
      </p:sp>
      <p:sp>
        <p:nvSpPr>
          <p:cNvPr id="75" name="Oval 74">
            <a:extLst>
              <a:ext uri="{FF2B5EF4-FFF2-40B4-BE49-F238E27FC236}">
                <a16:creationId xmlns:a16="http://schemas.microsoft.com/office/drawing/2014/main" id="{1AC7F0EE-2FC6-1B4E-BDE8-89AE1F402421}"/>
              </a:ext>
            </a:extLst>
          </p:cNvPr>
          <p:cNvSpPr/>
          <p:nvPr/>
        </p:nvSpPr>
        <p:spPr>
          <a:xfrm>
            <a:off x="5663952" y="3264142"/>
            <a:ext cx="1296000" cy="1296000"/>
          </a:xfrm>
          <a:prstGeom prst="ellipse">
            <a:avLst/>
          </a:prstGeom>
          <a:solidFill>
            <a:srgbClr val="FF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Attack </a:t>
            </a:r>
          </a:p>
        </p:txBody>
      </p:sp>
      <p:sp>
        <p:nvSpPr>
          <p:cNvPr id="76" name="Oval 75">
            <a:extLst>
              <a:ext uri="{FF2B5EF4-FFF2-40B4-BE49-F238E27FC236}">
                <a16:creationId xmlns:a16="http://schemas.microsoft.com/office/drawing/2014/main" id="{5A631034-3B5C-9B4C-85B8-4A7E0154CDB0}"/>
              </a:ext>
            </a:extLst>
          </p:cNvPr>
          <p:cNvSpPr/>
          <p:nvPr/>
        </p:nvSpPr>
        <p:spPr>
          <a:xfrm>
            <a:off x="8544272" y="3264142"/>
            <a:ext cx="1296000" cy="1296000"/>
          </a:xfrm>
          <a:prstGeom prst="ellipse">
            <a:avLst/>
          </a:prstGeom>
          <a:solidFill>
            <a:srgbClr val="92D05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Benign </a:t>
            </a:r>
          </a:p>
        </p:txBody>
      </p:sp>
      <p:sp>
        <p:nvSpPr>
          <p:cNvPr id="77" name="Oval 76">
            <a:extLst>
              <a:ext uri="{FF2B5EF4-FFF2-40B4-BE49-F238E27FC236}">
                <a16:creationId xmlns:a16="http://schemas.microsoft.com/office/drawing/2014/main" id="{DC206E94-B0FD-444F-8113-DC610E0F1098}"/>
              </a:ext>
            </a:extLst>
          </p:cNvPr>
          <p:cNvSpPr/>
          <p:nvPr/>
        </p:nvSpPr>
        <p:spPr>
          <a:xfrm>
            <a:off x="9840416" y="3264142"/>
            <a:ext cx="1296000" cy="1296000"/>
          </a:xfrm>
          <a:prstGeom prst="ellipse">
            <a:avLst/>
          </a:prstGeom>
          <a:solidFill>
            <a:srgbClr val="FF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Attack </a:t>
            </a:r>
          </a:p>
        </p:txBody>
      </p:sp>
      <p:sp>
        <p:nvSpPr>
          <p:cNvPr id="78" name="TextBox 77">
            <a:extLst>
              <a:ext uri="{FF2B5EF4-FFF2-40B4-BE49-F238E27FC236}">
                <a16:creationId xmlns:a16="http://schemas.microsoft.com/office/drawing/2014/main" id="{B75607A5-2602-EA42-B420-E7AB86B51D95}"/>
              </a:ext>
            </a:extLst>
          </p:cNvPr>
          <p:cNvSpPr txBox="1"/>
          <p:nvPr/>
        </p:nvSpPr>
        <p:spPr>
          <a:xfrm>
            <a:off x="944003" y="2752916"/>
            <a:ext cx="1196546"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Nova" panose="020B0504020202020204" pitchFamily="34" charset="0"/>
              </a:rPr>
              <a:t>Typical IDS</a:t>
            </a:r>
          </a:p>
        </p:txBody>
      </p:sp>
      <p:sp>
        <p:nvSpPr>
          <p:cNvPr id="79" name="TextBox 78">
            <a:extLst>
              <a:ext uri="{FF2B5EF4-FFF2-40B4-BE49-F238E27FC236}">
                <a16:creationId xmlns:a16="http://schemas.microsoft.com/office/drawing/2014/main" id="{EDBB0079-D6C1-7648-A7A1-3069BA273F0D}"/>
              </a:ext>
            </a:extLst>
          </p:cNvPr>
          <p:cNvSpPr txBox="1"/>
          <p:nvPr/>
        </p:nvSpPr>
        <p:spPr>
          <a:xfrm>
            <a:off x="4367808" y="2726298"/>
            <a:ext cx="2445093"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Nova" panose="020B0504020202020204" pitchFamily="34" charset="0"/>
              </a:rPr>
              <a:t>IDS with no false positive</a:t>
            </a:r>
          </a:p>
        </p:txBody>
      </p:sp>
      <p:sp>
        <p:nvSpPr>
          <p:cNvPr id="80" name="Oval 79">
            <a:extLst>
              <a:ext uri="{FF2B5EF4-FFF2-40B4-BE49-F238E27FC236}">
                <a16:creationId xmlns:a16="http://schemas.microsoft.com/office/drawing/2014/main" id="{413F195D-EF26-8545-8C5F-FFC2A5A84222}"/>
              </a:ext>
            </a:extLst>
          </p:cNvPr>
          <p:cNvSpPr/>
          <p:nvPr/>
        </p:nvSpPr>
        <p:spPr>
          <a:xfrm>
            <a:off x="1184825" y="3461758"/>
            <a:ext cx="1080120" cy="1080000"/>
          </a:xfrm>
          <a:prstGeom prst="ellipse">
            <a:avLst/>
          </a:prstGeom>
          <a:solidFill>
            <a:srgbClr val="00B0F0">
              <a:alpha val="78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81" name="TextBox 80">
            <a:extLst>
              <a:ext uri="{FF2B5EF4-FFF2-40B4-BE49-F238E27FC236}">
                <a16:creationId xmlns:a16="http://schemas.microsoft.com/office/drawing/2014/main" id="{6BD08783-C945-B641-B82E-ADBD4E73E287}"/>
              </a:ext>
            </a:extLst>
          </p:cNvPr>
          <p:cNvSpPr txBox="1"/>
          <p:nvPr/>
        </p:nvSpPr>
        <p:spPr>
          <a:xfrm>
            <a:off x="1293571" y="3669862"/>
            <a:ext cx="877142" cy="646331"/>
          </a:xfrm>
          <a:prstGeom prst="rect">
            <a:avLst/>
          </a:prstGeom>
          <a:noFill/>
        </p:spPr>
        <p:txBody>
          <a:bodyPr wrap="square" rtlCol="0">
            <a:spAutoFit/>
          </a:bodyPr>
          <a:lstStyle/>
          <a:p>
            <a:pPr defTabSz="914400" fontAlgn="base">
              <a:spcBef>
                <a:spcPct val="0"/>
              </a:spcBef>
              <a:spcAft>
                <a:spcPct val="0"/>
              </a:spcAft>
            </a:pPr>
            <a:r>
              <a:rPr lang="en-US" dirty="0">
                <a:solidFill>
                  <a:srgbClr val="000000"/>
                </a:solidFill>
                <a:latin typeface="Arial" pitchFamily="34" charset="0"/>
              </a:rPr>
              <a:t>IDS alarms</a:t>
            </a:r>
          </a:p>
        </p:txBody>
      </p:sp>
      <p:sp>
        <p:nvSpPr>
          <p:cNvPr id="82" name="Oval 81">
            <a:extLst>
              <a:ext uri="{FF2B5EF4-FFF2-40B4-BE49-F238E27FC236}">
                <a16:creationId xmlns:a16="http://schemas.microsoft.com/office/drawing/2014/main" id="{76803470-9858-4C4C-9FD7-E58C9D92ACCF}"/>
              </a:ext>
            </a:extLst>
          </p:cNvPr>
          <p:cNvSpPr/>
          <p:nvPr/>
        </p:nvSpPr>
        <p:spPr>
          <a:xfrm>
            <a:off x="5834764" y="3379042"/>
            <a:ext cx="1080120" cy="1080000"/>
          </a:xfrm>
          <a:prstGeom prst="ellipse">
            <a:avLst/>
          </a:prstGeom>
          <a:solidFill>
            <a:srgbClr val="00B0F0">
              <a:alpha val="85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83" name="TextBox 82">
            <a:extLst>
              <a:ext uri="{FF2B5EF4-FFF2-40B4-BE49-F238E27FC236}">
                <a16:creationId xmlns:a16="http://schemas.microsoft.com/office/drawing/2014/main" id="{6E32EEC5-0BAD-B34A-AC86-68E13FED17FE}"/>
              </a:ext>
            </a:extLst>
          </p:cNvPr>
          <p:cNvSpPr txBox="1"/>
          <p:nvPr/>
        </p:nvSpPr>
        <p:spPr>
          <a:xfrm>
            <a:off x="5943510" y="3587146"/>
            <a:ext cx="877142" cy="646331"/>
          </a:xfrm>
          <a:prstGeom prst="rect">
            <a:avLst/>
          </a:prstGeom>
          <a:noFill/>
        </p:spPr>
        <p:txBody>
          <a:bodyPr wrap="square" rtlCol="0">
            <a:spAutoFit/>
          </a:bodyPr>
          <a:lstStyle/>
          <a:p>
            <a:pPr defTabSz="914400" fontAlgn="base">
              <a:spcBef>
                <a:spcPct val="0"/>
              </a:spcBef>
              <a:spcAft>
                <a:spcPct val="0"/>
              </a:spcAft>
            </a:pPr>
            <a:r>
              <a:rPr lang="en-US" dirty="0">
                <a:solidFill>
                  <a:srgbClr val="000000"/>
                </a:solidFill>
                <a:latin typeface="Arial" pitchFamily="34" charset="0"/>
              </a:rPr>
              <a:t>IDS alarms</a:t>
            </a:r>
          </a:p>
        </p:txBody>
      </p:sp>
      <p:sp>
        <p:nvSpPr>
          <p:cNvPr id="84" name="Oval 83">
            <a:extLst>
              <a:ext uri="{FF2B5EF4-FFF2-40B4-BE49-F238E27FC236}">
                <a16:creationId xmlns:a16="http://schemas.microsoft.com/office/drawing/2014/main" id="{BE1D2E0F-9128-0D4A-A3D2-6FF775126B65}"/>
              </a:ext>
            </a:extLst>
          </p:cNvPr>
          <p:cNvSpPr/>
          <p:nvPr/>
        </p:nvSpPr>
        <p:spPr>
          <a:xfrm>
            <a:off x="9470780" y="3086661"/>
            <a:ext cx="1692000" cy="1692000"/>
          </a:xfrm>
          <a:prstGeom prst="ellipse">
            <a:avLst/>
          </a:prstGeom>
          <a:solidFill>
            <a:srgbClr val="00B0F0">
              <a:alpha val="8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85" name="TextBox 84">
            <a:extLst>
              <a:ext uri="{FF2B5EF4-FFF2-40B4-BE49-F238E27FC236}">
                <a16:creationId xmlns:a16="http://schemas.microsoft.com/office/drawing/2014/main" id="{755A68E3-377A-A641-A1C3-D47F17F223D8}"/>
              </a:ext>
            </a:extLst>
          </p:cNvPr>
          <p:cNvSpPr txBox="1"/>
          <p:nvPr/>
        </p:nvSpPr>
        <p:spPr>
          <a:xfrm>
            <a:off x="9975270" y="3609495"/>
            <a:ext cx="1074401" cy="646331"/>
          </a:xfrm>
          <a:prstGeom prst="rect">
            <a:avLst/>
          </a:prstGeom>
          <a:noFill/>
        </p:spPr>
        <p:txBody>
          <a:bodyPr wrap="square" rtlCol="0">
            <a:spAutoFit/>
          </a:bodyPr>
          <a:lstStyle/>
          <a:p>
            <a:pPr defTabSz="914400" fontAlgn="base">
              <a:spcBef>
                <a:spcPct val="0"/>
              </a:spcBef>
              <a:spcAft>
                <a:spcPct val="0"/>
              </a:spcAft>
            </a:pPr>
            <a:r>
              <a:rPr lang="en-US" dirty="0">
                <a:solidFill>
                  <a:srgbClr val="000000"/>
                </a:solidFill>
                <a:latin typeface="Arial" pitchFamily="34" charset="0"/>
              </a:rPr>
              <a:t>IDS alarms</a:t>
            </a:r>
          </a:p>
        </p:txBody>
      </p:sp>
      <p:sp>
        <p:nvSpPr>
          <p:cNvPr id="86" name="TextBox 85">
            <a:extLst>
              <a:ext uri="{FF2B5EF4-FFF2-40B4-BE49-F238E27FC236}">
                <a16:creationId xmlns:a16="http://schemas.microsoft.com/office/drawing/2014/main" id="{329F67FA-4056-F64B-A6EF-BC9C74FC73D4}"/>
              </a:ext>
            </a:extLst>
          </p:cNvPr>
          <p:cNvSpPr txBox="1"/>
          <p:nvPr/>
        </p:nvSpPr>
        <p:spPr>
          <a:xfrm>
            <a:off x="8318551" y="2726298"/>
            <a:ext cx="2517356"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Nova" panose="020B0504020202020204" pitchFamily="34" charset="0"/>
              </a:rPr>
              <a:t>IDS with no false negative</a:t>
            </a:r>
          </a:p>
        </p:txBody>
      </p:sp>
      <p:sp>
        <p:nvSpPr>
          <p:cNvPr id="87" name="Oval 86">
            <a:extLst>
              <a:ext uri="{FF2B5EF4-FFF2-40B4-BE49-F238E27FC236}">
                <a16:creationId xmlns:a16="http://schemas.microsoft.com/office/drawing/2014/main" id="{C0754602-CD48-D347-826D-0780B22B114C}"/>
              </a:ext>
            </a:extLst>
          </p:cNvPr>
          <p:cNvSpPr/>
          <p:nvPr/>
        </p:nvSpPr>
        <p:spPr>
          <a:xfrm>
            <a:off x="2025005" y="4950437"/>
            <a:ext cx="1296000" cy="1296000"/>
          </a:xfrm>
          <a:prstGeom prst="ellipse">
            <a:avLst/>
          </a:prstGeom>
          <a:solidFill>
            <a:srgbClr val="92D05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Benign </a:t>
            </a:r>
          </a:p>
        </p:txBody>
      </p:sp>
      <p:sp>
        <p:nvSpPr>
          <p:cNvPr id="88" name="Oval 87">
            <a:extLst>
              <a:ext uri="{FF2B5EF4-FFF2-40B4-BE49-F238E27FC236}">
                <a16:creationId xmlns:a16="http://schemas.microsoft.com/office/drawing/2014/main" id="{B2FEF5BA-4682-664C-807B-86C6715B8C25}"/>
              </a:ext>
            </a:extLst>
          </p:cNvPr>
          <p:cNvSpPr/>
          <p:nvPr/>
        </p:nvSpPr>
        <p:spPr>
          <a:xfrm>
            <a:off x="3321149" y="4950437"/>
            <a:ext cx="1296000" cy="1296000"/>
          </a:xfrm>
          <a:prstGeom prst="ellipse">
            <a:avLst/>
          </a:prstGeom>
          <a:solidFill>
            <a:srgbClr val="FF00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Attack </a:t>
            </a:r>
          </a:p>
        </p:txBody>
      </p:sp>
      <p:sp>
        <p:nvSpPr>
          <p:cNvPr id="89" name="Oval 88">
            <a:extLst>
              <a:ext uri="{FF2B5EF4-FFF2-40B4-BE49-F238E27FC236}">
                <a16:creationId xmlns:a16="http://schemas.microsoft.com/office/drawing/2014/main" id="{8E623A1C-8E17-BF4E-AD3C-54C0F88FC75C}"/>
              </a:ext>
            </a:extLst>
          </p:cNvPr>
          <p:cNvSpPr/>
          <p:nvPr/>
        </p:nvSpPr>
        <p:spPr>
          <a:xfrm>
            <a:off x="3318947" y="4950437"/>
            <a:ext cx="1296000" cy="1296000"/>
          </a:xfrm>
          <a:prstGeom prst="ellipse">
            <a:avLst/>
          </a:prstGeom>
          <a:solidFill>
            <a:srgbClr val="00B0F0">
              <a:alpha val="78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90" name="TextBox 89">
            <a:extLst>
              <a:ext uri="{FF2B5EF4-FFF2-40B4-BE49-F238E27FC236}">
                <a16:creationId xmlns:a16="http://schemas.microsoft.com/office/drawing/2014/main" id="{809DB917-B12F-5241-B470-9F9FA1FDDC7E}"/>
              </a:ext>
            </a:extLst>
          </p:cNvPr>
          <p:cNvSpPr txBox="1"/>
          <p:nvPr/>
        </p:nvSpPr>
        <p:spPr>
          <a:xfrm>
            <a:off x="3535633" y="5256817"/>
            <a:ext cx="877142" cy="646331"/>
          </a:xfrm>
          <a:prstGeom prst="rect">
            <a:avLst/>
          </a:prstGeom>
          <a:noFill/>
        </p:spPr>
        <p:txBody>
          <a:bodyPr wrap="square" rtlCol="0">
            <a:spAutoFit/>
          </a:bodyPr>
          <a:lstStyle/>
          <a:p>
            <a:pPr defTabSz="914400" fontAlgn="base">
              <a:spcBef>
                <a:spcPct val="0"/>
              </a:spcBef>
              <a:spcAft>
                <a:spcPct val="0"/>
              </a:spcAft>
            </a:pPr>
            <a:r>
              <a:rPr lang="en-US" dirty="0">
                <a:solidFill>
                  <a:srgbClr val="000000"/>
                </a:solidFill>
                <a:latin typeface="Arial" pitchFamily="34" charset="0"/>
              </a:rPr>
              <a:t>IDS alarms</a:t>
            </a:r>
          </a:p>
        </p:txBody>
      </p:sp>
      <p:sp>
        <p:nvSpPr>
          <p:cNvPr id="91" name="TextBox 90">
            <a:extLst>
              <a:ext uri="{FF2B5EF4-FFF2-40B4-BE49-F238E27FC236}">
                <a16:creationId xmlns:a16="http://schemas.microsoft.com/office/drawing/2014/main" id="{A33F9E4D-AB68-AB42-A24F-3D930C75245D}"/>
              </a:ext>
            </a:extLst>
          </p:cNvPr>
          <p:cNvSpPr txBox="1"/>
          <p:nvPr/>
        </p:nvSpPr>
        <p:spPr>
          <a:xfrm>
            <a:off x="116121" y="5346467"/>
            <a:ext cx="1861407" cy="523220"/>
          </a:xfrm>
          <a:prstGeom prst="rect">
            <a:avLst/>
          </a:prstGeom>
          <a:solidFill>
            <a:srgbClr val="FFFF00"/>
          </a:solidFill>
        </p:spPr>
        <p:txBody>
          <a:bodyPr wrap="none" rtlCol="0">
            <a:spAutoFit/>
          </a:bodyPr>
          <a:lstStyle/>
          <a:p>
            <a:pPr defTabSz="914400" fontAlgn="base">
              <a:spcBef>
                <a:spcPct val="0"/>
              </a:spcBef>
              <a:spcAft>
                <a:spcPct val="0"/>
              </a:spcAft>
            </a:pPr>
            <a:r>
              <a:rPr lang="en-US" sz="2800" dirty="0">
                <a:solidFill>
                  <a:srgbClr val="000000"/>
                </a:solidFill>
                <a:latin typeface="Arial" pitchFamily="34" charset="0"/>
              </a:rPr>
              <a:t>Ideal IDS!!</a:t>
            </a:r>
          </a:p>
        </p:txBody>
      </p:sp>
      <p:sp>
        <p:nvSpPr>
          <p:cNvPr id="3" name="TextBox 2">
            <a:extLst>
              <a:ext uri="{FF2B5EF4-FFF2-40B4-BE49-F238E27FC236}">
                <a16:creationId xmlns:a16="http://schemas.microsoft.com/office/drawing/2014/main" id="{86E206CC-656B-10A8-7503-6401BBA0C300}"/>
              </a:ext>
            </a:extLst>
          </p:cNvPr>
          <p:cNvSpPr txBox="1"/>
          <p:nvPr/>
        </p:nvSpPr>
        <p:spPr>
          <a:xfrm rot="21327170">
            <a:off x="5255300" y="5152161"/>
            <a:ext cx="3115202" cy="369332"/>
          </a:xfrm>
          <a:prstGeom prst="rect">
            <a:avLst/>
          </a:prstGeom>
          <a:solidFill>
            <a:srgbClr val="008000"/>
          </a:solidFill>
          <a:ln w="9525" cap="flat" cmpd="sng" algn="ctr">
            <a:solidFill>
              <a:srgbClr val="BBE0E3">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low false positive rate</a:t>
            </a:r>
          </a:p>
        </p:txBody>
      </p:sp>
      <p:sp>
        <p:nvSpPr>
          <p:cNvPr id="4" name="TextBox 3">
            <a:extLst>
              <a:ext uri="{FF2B5EF4-FFF2-40B4-BE49-F238E27FC236}">
                <a16:creationId xmlns:a16="http://schemas.microsoft.com/office/drawing/2014/main" id="{385A4CD5-ED64-2C25-DF21-F9CA8F9D4264}"/>
              </a:ext>
            </a:extLst>
          </p:cNvPr>
          <p:cNvSpPr txBox="1"/>
          <p:nvPr/>
        </p:nvSpPr>
        <p:spPr>
          <a:xfrm rot="21249663">
            <a:off x="10195564" y="4800802"/>
            <a:ext cx="1531188" cy="369332"/>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low miss rate</a:t>
            </a:r>
          </a:p>
        </p:txBody>
      </p:sp>
      <p:cxnSp>
        <p:nvCxnSpPr>
          <p:cNvPr id="5" name="Straight Connector 4">
            <a:extLst>
              <a:ext uri="{FF2B5EF4-FFF2-40B4-BE49-F238E27FC236}">
                <a16:creationId xmlns:a16="http://schemas.microsoft.com/office/drawing/2014/main" id="{8DEC9F0B-0BF3-C3E7-38F2-96440A81F8C1}"/>
              </a:ext>
            </a:extLst>
          </p:cNvPr>
          <p:cNvCxnSpPr/>
          <p:nvPr/>
        </p:nvCxnSpPr>
        <p:spPr>
          <a:xfrm flipV="1">
            <a:off x="5704812" y="5211835"/>
            <a:ext cx="6172200" cy="533400"/>
          </a:xfrm>
          <a:prstGeom prst="line">
            <a:avLst/>
          </a:prstGeom>
          <a:noFill/>
          <a:ln w="25400" cap="flat" cmpd="sng" algn="ctr">
            <a:solidFill>
              <a:srgbClr val="FF00FF"/>
            </a:solidFill>
            <a:prstDash val="solid"/>
          </a:ln>
          <a:effectLst>
            <a:outerShdw blurRad="40000" dist="20000" dir="5400000" rotWithShape="0">
              <a:srgbClr val="000000">
                <a:alpha val="38000"/>
              </a:srgbClr>
            </a:outerShdw>
          </a:effectLst>
        </p:spPr>
      </p:cxnSp>
      <p:sp>
        <p:nvSpPr>
          <p:cNvPr id="7" name="Isosceles Triangle 21">
            <a:extLst>
              <a:ext uri="{FF2B5EF4-FFF2-40B4-BE49-F238E27FC236}">
                <a16:creationId xmlns:a16="http://schemas.microsoft.com/office/drawing/2014/main" id="{2B9EE9AA-EAED-4162-247E-DF6143DFD9DB}"/>
              </a:ext>
            </a:extLst>
          </p:cNvPr>
          <p:cNvSpPr/>
          <p:nvPr/>
        </p:nvSpPr>
        <p:spPr>
          <a:xfrm>
            <a:off x="8387650" y="5516635"/>
            <a:ext cx="914400" cy="670321"/>
          </a:xfrm>
          <a:prstGeom prst="triangle">
            <a:avLst/>
          </a:prstGeom>
          <a:solidFill>
            <a:srgbClr val="FF00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12520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animBg="1"/>
      <p:bldP spid="74" grpId="0" animBg="1"/>
      <p:bldP spid="75" grpId="0" animBg="1"/>
      <p:bldP spid="76" grpId="0" animBg="1"/>
      <p:bldP spid="77" grpId="0" animBg="1"/>
      <p:bldP spid="78" grpId="0"/>
      <p:bldP spid="79" grpId="0"/>
      <p:bldP spid="80" grpId="0" animBg="1"/>
      <p:bldP spid="81" grpId="0"/>
      <p:bldP spid="82" grpId="0" animBg="1"/>
      <p:bldP spid="83" grpId="0"/>
      <p:bldP spid="84" grpId="0" animBg="1"/>
      <p:bldP spid="85" grpId="0"/>
      <p:bldP spid="86" grpId="0"/>
      <p:bldP spid="87" grpId="0" animBg="1"/>
      <p:bldP spid="88" grpId="0" animBg="1"/>
      <p:bldP spid="89" grpId="0" animBg="1"/>
      <p:bldP spid="90" grpId="0"/>
      <p:bldP spid="91" grpId="0" animBg="1"/>
      <p:bldP spid="3" grpId="0" animBg="1"/>
      <p:bldP spid="4"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lstStyle/>
          <a:p>
            <a:r>
              <a:rPr lang="en-US" dirty="0"/>
              <a:t>Accuracy Evaluation of IDS</a:t>
            </a:r>
          </a:p>
        </p:txBody>
      </p:sp>
      <p:sp>
        <p:nvSpPr>
          <p:cNvPr id="5" name="Content Placeholder 4"/>
          <p:cNvSpPr>
            <a:spLocks noGrp="1"/>
          </p:cNvSpPr>
          <p:nvPr>
            <p:ph type="body" idx="11"/>
          </p:nvPr>
        </p:nvSpPr>
        <p:spPr/>
        <p:txBody>
          <a:bodyPr>
            <a:normAutofit/>
          </a:bodyPr>
          <a:lstStyle/>
          <a:p>
            <a:endParaRPr lang="en-US" dirty="0"/>
          </a:p>
        </p:txBody>
      </p:sp>
      <p:graphicFrame>
        <p:nvGraphicFramePr>
          <p:cNvPr id="2" name="Table 3">
            <a:extLst>
              <a:ext uri="{FF2B5EF4-FFF2-40B4-BE49-F238E27FC236}">
                <a16:creationId xmlns:a16="http://schemas.microsoft.com/office/drawing/2014/main" id="{0A3851A0-8ACE-E413-D98B-674B5F626BA3}"/>
              </a:ext>
            </a:extLst>
          </p:cNvPr>
          <p:cNvGraphicFramePr>
            <a:graphicFrameLocks noGrp="1"/>
          </p:cNvGraphicFramePr>
          <p:nvPr/>
        </p:nvGraphicFramePr>
        <p:xfrm>
          <a:off x="2340423" y="4134702"/>
          <a:ext cx="5822136" cy="1893637"/>
        </p:xfrm>
        <a:graphic>
          <a:graphicData uri="http://schemas.openxmlformats.org/drawingml/2006/table">
            <a:tbl>
              <a:tblPr firstRow="1" bandRow="1">
                <a:tableStyleId>{5940675A-B579-460E-94D1-54222C63F5DA}</a:tableStyleId>
              </a:tblPr>
              <a:tblGrid>
                <a:gridCol w="1940712">
                  <a:extLst>
                    <a:ext uri="{9D8B030D-6E8A-4147-A177-3AD203B41FA5}">
                      <a16:colId xmlns:a16="http://schemas.microsoft.com/office/drawing/2014/main" val="817440197"/>
                    </a:ext>
                  </a:extLst>
                </a:gridCol>
                <a:gridCol w="1940712">
                  <a:extLst>
                    <a:ext uri="{9D8B030D-6E8A-4147-A177-3AD203B41FA5}">
                      <a16:colId xmlns:a16="http://schemas.microsoft.com/office/drawing/2014/main" val="693020253"/>
                    </a:ext>
                  </a:extLst>
                </a:gridCol>
                <a:gridCol w="1940712">
                  <a:extLst>
                    <a:ext uri="{9D8B030D-6E8A-4147-A177-3AD203B41FA5}">
                      <a16:colId xmlns:a16="http://schemas.microsoft.com/office/drawing/2014/main" val="2542381210"/>
                    </a:ext>
                  </a:extLst>
                </a:gridCol>
              </a:tblGrid>
              <a:tr h="491557">
                <a:tc>
                  <a:txBody>
                    <a:bodyPr/>
                    <a:lstStyle/>
                    <a:p>
                      <a:pPr algn="ct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Is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Is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not</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extLst>
                  <a:ext uri="{0D108BD9-81ED-4DB2-BD59-A6C34878D82A}">
                    <a16:rowId xmlns:a16="http://schemas.microsoft.com/office/drawing/2014/main" val="260773434"/>
                  </a:ext>
                </a:extLst>
              </a:tr>
              <a:tr h="666632">
                <a:tc>
                  <a:txBody>
                    <a:bodyPr/>
                    <a:lstStyle/>
                    <a:p>
                      <a:pPr algn="ctr"/>
                      <a:r>
                        <a:rPr lang="en-US" altLang="zh-CN" sz="2000" b="0" i="0" kern="1200" dirty="0">
                          <a:solidFill>
                            <a:schemeClr val="tx1"/>
                          </a:solidFill>
                          <a:latin typeface="Arial Nova" panose="020B0504020202020204" pitchFamily="34" charset="0"/>
                        </a:rPr>
                        <a:t>Identified</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True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positive</a:t>
                      </a:r>
                      <a:r>
                        <a:rPr lang="zh-CN" altLang="en-US" sz="2000" b="0" i="0" kern="1200" dirty="0">
                          <a:solidFill>
                            <a:schemeClr val="tx1"/>
                          </a:solidFill>
                          <a:latin typeface="Arial Nova" panose="020B0504020202020204" pitchFamily="34" charset="0"/>
                        </a:rPr>
                        <a:t> </a:t>
                      </a:r>
                      <a:endParaRPr lang="en-SG" altLang="zh-CN" sz="2000" b="0" i="0" kern="1200" dirty="0">
                        <a:solidFill>
                          <a:schemeClr val="tx1"/>
                        </a:solidFill>
                        <a:latin typeface="Arial Nova" panose="020B0504020202020204" pitchFamily="34" charset="0"/>
                      </a:endParaRPr>
                    </a:p>
                    <a:p>
                      <a:pPr algn="ctr"/>
                      <a:r>
                        <a:rPr lang="en-US" altLang="zh-CN" sz="2000" b="0" i="0" kern="1200" dirty="0">
                          <a:solidFill>
                            <a:schemeClr val="tx1"/>
                          </a:solidFill>
                          <a:latin typeface="Arial Nova" panose="020B0504020202020204" pitchFamily="34" charset="0"/>
                        </a:rPr>
                        <a:t>(TP)</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False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positive</a:t>
                      </a:r>
                    </a:p>
                    <a:p>
                      <a:pPr algn="ctr"/>
                      <a:r>
                        <a:rPr lang="en-US" altLang="zh-CN" sz="2000" b="0" i="0" kern="1200" dirty="0">
                          <a:solidFill>
                            <a:schemeClr val="tx1"/>
                          </a:solidFill>
                          <a:latin typeface="Arial Nova" panose="020B0504020202020204" pitchFamily="34" charset="0"/>
                        </a:rPr>
                        <a:t>(FP)</a:t>
                      </a:r>
                      <a:endParaRPr lang="en-US" sz="2000" b="0" i="0" kern="1200" dirty="0">
                        <a:solidFill>
                          <a:schemeClr val="tx1"/>
                        </a:solidFill>
                        <a:latin typeface="Arial Nova" panose="020B0504020202020204" pitchFamily="34" charset="0"/>
                      </a:endParaRPr>
                    </a:p>
                  </a:txBody>
                  <a:tcPr/>
                </a:tc>
                <a:extLst>
                  <a:ext uri="{0D108BD9-81ED-4DB2-BD59-A6C34878D82A}">
                    <a16:rowId xmlns:a16="http://schemas.microsoft.com/office/drawing/2014/main" val="2057989414"/>
                  </a:ext>
                </a:extLst>
              </a:tr>
              <a:tr h="666632">
                <a:tc>
                  <a:txBody>
                    <a:bodyPr/>
                    <a:lstStyle/>
                    <a:p>
                      <a:pPr algn="ctr"/>
                      <a:r>
                        <a:rPr lang="en-US" altLang="zh-CN" sz="2000" b="0" i="0" kern="1200" dirty="0">
                          <a:solidFill>
                            <a:schemeClr val="tx1"/>
                          </a:solidFill>
                          <a:latin typeface="Arial Nova" panose="020B0504020202020204" pitchFamily="34" charset="0"/>
                        </a:rPr>
                        <a:t>Identified</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as</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not</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an</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attack</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False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Negative</a:t>
                      </a:r>
                    </a:p>
                    <a:p>
                      <a:pPr algn="ctr"/>
                      <a:r>
                        <a:rPr lang="en-US" altLang="zh-CN" sz="2000" b="0" i="0" kern="1200" dirty="0">
                          <a:solidFill>
                            <a:schemeClr val="tx1"/>
                          </a:solidFill>
                          <a:latin typeface="Arial Nova" panose="020B0504020202020204" pitchFamily="34" charset="0"/>
                        </a:rPr>
                        <a:t>(FN)</a:t>
                      </a:r>
                      <a:endParaRPr lang="en-US" sz="2000" b="0" i="0" kern="1200" dirty="0">
                        <a:solidFill>
                          <a:schemeClr val="tx1"/>
                        </a:solidFill>
                        <a:latin typeface="Arial Nova" panose="020B0504020202020204" pitchFamily="34" charset="0"/>
                      </a:endParaRPr>
                    </a:p>
                  </a:txBody>
                  <a:tcPr/>
                </a:tc>
                <a:tc>
                  <a:txBody>
                    <a:bodyPr/>
                    <a:lstStyle/>
                    <a:p>
                      <a:pPr algn="ctr"/>
                      <a:r>
                        <a:rPr lang="en-US" altLang="zh-CN" sz="2000" b="0" i="0" kern="1200" dirty="0">
                          <a:solidFill>
                            <a:schemeClr val="tx1"/>
                          </a:solidFill>
                          <a:latin typeface="Arial Nova" panose="020B0504020202020204" pitchFamily="34" charset="0"/>
                        </a:rPr>
                        <a:t>True</a:t>
                      </a:r>
                      <a:r>
                        <a:rPr lang="zh-CN" altLang="en-US" sz="2000" b="0" i="0" kern="1200" dirty="0">
                          <a:solidFill>
                            <a:schemeClr val="tx1"/>
                          </a:solidFill>
                          <a:latin typeface="Arial Nova" panose="020B0504020202020204" pitchFamily="34" charset="0"/>
                        </a:rPr>
                        <a:t> </a:t>
                      </a:r>
                      <a:r>
                        <a:rPr lang="en-US" altLang="zh-CN" sz="2000" b="0" i="0" kern="1200" dirty="0">
                          <a:solidFill>
                            <a:schemeClr val="tx1"/>
                          </a:solidFill>
                          <a:latin typeface="Arial Nova" panose="020B0504020202020204" pitchFamily="34" charset="0"/>
                        </a:rPr>
                        <a:t>Negative</a:t>
                      </a:r>
                    </a:p>
                    <a:p>
                      <a:pPr algn="ctr"/>
                      <a:r>
                        <a:rPr lang="en-US" altLang="zh-CN" sz="2000" b="0" i="0" kern="1200" dirty="0">
                          <a:solidFill>
                            <a:schemeClr val="tx1"/>
                          </a:solidFill>
                          <a:latin typeface="Arial Nova" panose="020B0504020202020204" pitchFamily="34" charset="0"/>
                        </a:rPr>
                        <a:t>(TN)</a:t>
                      </a:r>
                      <a:endParaRPr lang="en-US" sz="2000" b="0" i="0" kern="1200" dirty="0">
                        <a:solidFill>
                          <a:schemeClr val="tx1"/>
                        </a:solidFill>
                        <a:latin typeface="Arial Nova" panose="020B0504020202020204" pitchFamily="34" charset="0"/>
                      </a:endParaRPr>
                    </a:p>
                  </a:txBody>
                  <a:tcPr/>
                </a:tc>
                <a:extLst>
                  <a:ext uri="{0D108BD9-81ED-4DB2-BD59-A6C34878D82A}">
                    <a16:rowId xmlns:a16="http://schemas.microsoft.com/office/drawing/2014/main" val="2820563668"/>
                  </a:ext>
                </a:extLst>
              </a:tr>
            </a:tbl>
          </a:graphicData>
        </a:graphic>
      </p:graphicFrame>
      <p:sp>
        <p:nvSpPr>
          <p:cNvPr id="4" name="Rectangle 3">
            <a:extLst>
              <a:ext uri="{FF2B5EF4-FFF2-40B4-BE49-F238E27FC236}">
                <a16:creationId xmlns:a16="http://schemas.microsoft.com/office/drawing/2014/main" id="{BFDF3FF3-CFDD-318C-DD38-FB8713465337}"/>
              </a:ext>
            </a:extLst>
          </p:cNvPr>
          <p:cNvSpPr/>
          <p:nvPr/>
        </p:nvSpPr>
        <p:spPr>
          <a:xfrm>
            <a:off x="6222176" y="4012410"/>
            <a:ext cx="2039208" cy="2227217"/>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5B82D6A9-A4A1-B46E-A21C-0384DBC70A41}"/>
              </a:ext>
            </a:extLst>
          </p:cNvPr>
          <p:cNvSpPr txBox="1"/>
          <p:nvPr/>
        </p:nvSpPr>
        <p:spPr>
          <a:xfrm>
            <a:off x="8302874" y="3875980"/>
            <a:ext cx="1651414" cy="307777"/>
          </a:xfrm>
          <a:prstGeom prst="rect">
            <a:avLst/>
          </a:prstGeom>
          <a:noFill/>
        </p:spPr>
        <p:txBody>
          <a:bodyPr wrap="none" rtlCol="0">
            <a:spAutoFit/>
          </a:bodyPr>
          <a:lstStyle/>
          <a:p>
            <a:pPr algn="l"/>
            <a:r>
              <a:rPr lang="en-US" altLang="zh-CN"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FPR</a:t>
            </a:r>
            <a:r>
              <a:rPr lang="zh-CN" altLang="en-US"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&amp;</a:t>
            </a:r>
            <a:r>
              <a:rPr lang="zh-CN" altLang="en-US"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Specificity</a:t>
            </a:r>
            <a:endParaRPr lang="en-US"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Rectangle 6">
            <a:extLst>
              <a:ext uri="{FF2B5EF4-FFF2-40B4-BE49-F238E27FC236}">
                <a16:creationId xmlns:a16="http://schemas.microsoft.com/office/drawing/2014/main" id="{77144D6F-6130-A0F1-A203-43ADF2827732}"/>
              </a:ext>
            </a:extLst>
          </p:cNvPr>
          <p:cNvSpPr/>
          <p:nvPr/>
        </p:nvSpPr>
        <p:spPr>
          <a:xfrm>
            <a:off x="4141478" y="4009050"/>
            <a:ext cx="2039208" cy="2227217"/>
          </a:xfrm>
          <a:prstGeom prst="rect">
            <a:avLst/>
          </a:prstGeom>
          <a:noFill/>
          <a:ln>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7A205D5A-A504-3112-E4CC-0E524F916E52}"/>
              </a:ext>
            </a:extLst>
          </p:cNvPr>
          <p:cNvSpPr txBox="1"/>
          <p:nvPr/>
        </p:nvSpPr>
        <p:spPr>
          <a:xfrm>
            <a:off x="3580200" y="3701273"/>
            <a:ext cx="1306768" cy="307777"/>
          </a:xfrm>
          <a:prstGeom prst="rect">
            <a:avLst/>
          </a:prstGeom>
          <a:noFill/>
        </p:spPr>
        <p:txBody>
          <a:bodyPr wrap="none" rtlCol="0">
            <a:spAutoFit/>
          </a:bodyPr>
          <a:lstStyle/>
          <a:p>
            <a:pPr algn="l"/>
            <a:r>
              <a:rPr lang="en-US" altLang="zh-CN" sz="14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Recall</a:t>
            </a:r>
            <a:r>
              <a:rPr lang="zh-CN" altLang="en-US" sz="14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&amp;</a:t>
            </a:r>
            <a:r>
              <a:rPr lang="zh-CN" altLang="en-US" sz="14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FNR</a:t>
            </a:r>
            <a:endParaRPr lang="en-US" sz="1400" b="1"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Rectangle 8">
            <a:extLst>
              <a:ext uri="{FF2B5EF4-FFF2-40B4-BE49-F238E27FC236}">
                <a16:creationId xmlns:a16="http://schemas.microsoft.com/office/drawing/2014/main" id="{9B56302D-74E1-98E3-9A94-F5C7BA123927}"/>
              </a:ext>
            </a:extLst>
          </p:cNvPr>
          <p:cNvSpPr/>
          <p:nvPr/>
        </p:nvSpPr>
        <p:spPr>
          <a:xfrm>
            <a:off x="2156039" y="4540589"/>
            <a:ext cx="6367020" cy="858755"/>
          </a:xfrm>
          <a:prstGeom prst="rect">
            <a:avLst/>
          </a:prstGeom>
          <a:noFill/>
          <a:ln>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11904F96-3A32-3D61-C604-C586703D46FC}"/>
              </a:ext>
            </a:extLst>
          </p:cNvPr>
          <p:cNvSpPr txBox="1"/>
          <p:nvPr/>
        </p:nvSpPr>
        <p:spPr>
          <a:xfrm>
            <a:off x="8585237" y="4851748"/>
            <a:ext cx="1572866" cy="307777"/>
          </a:xfrm>
          <a:prstGeom prst="rect">
            <a:avLst/>
          </a:prstGeom>
          <a:noFill/>
        </p:spPr>
        <p:txBody>
          <a:bodyPr wrap="none" rtlCol="0">
            <a:spAutoFit/>
          </a:bodyPr>
          <a:lstStyle/>
          <a:p>
            <a:pPr algn="l"/>
            <a:r>
              <a:rPr lang="en-US" altLang="zh-CN" sz="14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FDR</a:t>
            </a:r>
            <a:r>
              <a:rPr lang="zh-CN" altLang="en-US" sz="14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&amp;</a:t>
            </a:r>
            <a:r>
              <a:rPr lang="zh-CN" altLang="en-US" sz="14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rPr>
              <a:t>Precision</a:t>
            </a:r>
            <a:endParaRPr lang="en-US" sz="1400" b="1" dirty="0">
              <a:solidFill>
                <a:srgbClr val="00B0F0"/>
              </a:solidFill>
              <a:latin typeface="Helvetica Neue" panose="02000503000000020004" pitchFamily="2" charset="0"/>
              <a:ea typeface="Helvetica Neue" panose="02000503000000020004" pitchFamily="2" charset="0"/>
              <a:cs typeface="Helvetica Neue" panose="02000503000000020004" pitchFamily="2" charset="0"/>
            </a:endParaRPr>
          </a:p>
        </p:txBody>
      </p:sp>
      <p:graphicFrame>
        <p:nvGraphicFramePr>
          <p:cNvPr id="22" name="Table 21">
            <a:extLst>
              <a:ext uri="{FF2B5EF4-FFF2-40B4-BE49-F238E27FC236}">
                <a16:creationId xmlns:a16="http://schemas.microsoft.com/office/drawing/2014/main" id="{83E66F1C-3B1E-8D56-B6F8-CD190CE43DDB}"/>
              </a:ext>
            </a:extLst>
          </p:cNvPr>
          <p:cNvGraphicFramePr>
            <a:graphicFrameLocks noGrp="1"/>
          </p:cNvGraphicFramePr>
          <p:nvPr>
            <p:extLst>
              <p:ext uri="{D42A27DB-BD31-4B8C-83A1-F6EECF244321}">
                <p14:modId xmlns:p14="http://schemas.microsoft.com/office/powerpoint/2010/main" val="875522433"/>
              </p:ext>
            </p:extLst>
          </p:nvPr>
        </p:nvGraphicFramePr>
        <p:xfrm>
          <a:off x="1269911" y="1444412"/>
          <a:ext cx="9981145" cy="1737360"/>
        </p:xfrm>
        <a:graphic>
          <a:graphicData uri="http://schemas.openxmlformats.org/drawingml/2006/table">
            <a:tbl>
              <a:tblPr firstRow="1" bandRow="1">
                <a:tableStyleId>{BC89EF96-8CEA-46FF-86C4-4CE0E7609802}</a:tableStyleId>
              </a:tblPr>
              <a:tblGrid>
                <a:gridCol w="5033836">
                  <a:extLst>
                    <a:ext uri="{9D8B030D-6E8A-4147-A177-3AD203B41FA5}">
                      <a16:colId xmlns:a16="http://schemas.microsoft.com/office/drawing/2014/main" val="1750900940"/>
                    </a:ext>
                  </a:extLst>
                </a:gridCol>
                <a:gridCol w="4947309">
                  <a:extLst>
                    <a:ext uri="{9D8B030D-6E8A-4147-A177-3AD203B41FA5}">
                      <a16:colId xmlns:a16="http://schemas.microsoft.com/office/drawing/2014/main" val="811759793"/>
                    </a:ext>
                  </a:extLst>
                </a:gridCol>
              </a:tblGrid>
              <a:tr h="383034">
                <a:tc>
                  <a:txBody>
                    <a:bodyPr/>
                    <a:lstStyle/>
                    <a:p>
                      <a:pPr marL="0" indent="0" algn="ctr" defTabSz="914400">
                        <a:buNone/>
                        <a:defRPr/>
                      </a:pPr>
                      <a:r>
                        <a:rPr lang="en-US" sz="1800" b="0" kern="1200" noProof="0" dirty="0">
                          <a:solidFill>
                            <a:srgbClr val="0070C0"/>
                          </a:solidFill>
                          <a:latin typeface="Arial Nova" panose="020B0504020202020204" pitchFamily="34" charset="0"/>
                          <a:ea typeface="+mn-ea"/>
                          <a:cs typeface="+mn-cs"/>
                        </a:rPr>
                        <a:t>False negative (miss) rate (</a:t>
                      </a:r>
                      <a:r>
                        <a:rPr lang="en-US" sz="1800" b="1" kern="1200" noProof="0" dirty="0">
                          <a:solidFill>
                            <a:srgbClr val="0070C0"/>
                          </a:solidFill>
                          <a:latin typeface="Arial Nova" panose="020B0504020202020204" pitchFamily="34" charset="0"/>
                          <a:ea typeface="+mn-ea"/>
                          <a:cs typeface="+mn-cs"/>
                        </a:rPr>
                        <a:t>FNR</a:t>
                      </a:r>
                      <a:r>
                        <a:rPr lang="en-US" sz="1800" b="0" kern="1200" noProof="0" dirty="0">
                          <a:solidFill>
                            <a:srgbClr val="0070C0"/>
                          </a:solidFill>
                          <a:latin typeface="Arial Nova" panose="020B0504020202020204" pitchFamily="34" charset="0"/>
                          <a:ea typeface="+mn-ea"/>
                          <a:cs typeface="+mn-cs"/>
                        </a:rPr>
                        <a:t>)</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a:solidFill>
                            <a:srgbClr val="0070C0"/>
                          </a:solidFill>
                          <a:latin typeface="Arial Nova" panose="020B0504020202020204" pitchFamily="34" charset="0"/>
                          <a:ea typeface="+mn-ea"/>
                          <a:cs typeface="+mn-cs"/>
                        </a:rPr>
                        <a:t>=</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err="1">
                          <a:solidFill>
                            <a:srgbClr val="0070C0"/>
                          </a:solidFill>
                          <a:latin typeface="Arial Nova" panose="020B0504020202020204" pitchFamily="34" charset="0"/>
                          <a:ea typeface="+mn-ea"/>
                          <a:cs typeface="+mn-cs"/>
                        </a:rPr>
                        <a:t>fn</a:t>
                      </a:r>
                      <a:r>
                        <a:rPr lang="en-US" sz="1800" b="0" kern="1200" dirty="0">
                          <a:solidFill>
                            <a:srgbClr val="0070C0"/>
                          </a:solidFill>
                          <a:latin typeface="Arial Nova" panose="020B0504020202020204" pitchFamily="34" charset="0"/>
                          <a:ea typeface="+mn-ea"/>
                          <a:cs typeface="+mn-cs"/>
                        </a:rPr>
                        <a:t> / (</a:t>
                      </a:r>
                      <a:r>
                        <a:rPr lang="en-US" sz="1800" b="0" kern="1200" dirty="0" err="1">
                          <a:solidFill>
                            <a:srgbClr val="0070C0"/>
                          </a:solidFill>
                          <a:latin typeface="Arial Nova" panose="020B0504020202020204" pitchFamily="34" charset="0"/>
                          <a:ea typeface="+mn-ea"/>
                          <a:cs typeface="+mn-cs"/>
                        </a:rPr>
                        <a:t>tp</a:t>
                      </a:r>
                      <a:r>
                        <a:rPr lang="en-US" sz="1800" b="0" kern="1200" dirty="0">
                          <a:solidFill>
                            <a:srgbClr val="0070C0"/>
                          </a:solidFill>
                          <a:latin typeface="Arial Nova" panose="020B0504020202020204" pitchFamily="34" charset="0"/>
                          <a:ea typeface="+mn-ea"/>
                          <a:cs typeface="+mn-cs"/>
                        </a:rPr>
                        <a:t> + </a:t>
                      </a:r>
                      <a:r>
                        <a:rPr lang="en-US" sz="1800" b="0" kern="1200" dirty="0" err="1">
                          <a:solidFill>
                            <a:srgbClr val="0070C0"/>
                          </a:solidFill>
                          <a:latin typeface="Arial Nova" panose="020B0504020202020204" pitchFamily="34" charset="0"/>
                          <a:ea typeface="+mn-ea"/>
                          <a:cs typeface="+mn-cs"/>
                        </a:rPr>
                        <a:t>fn</a:t>
                      </a:r>
                      <a:r>
                        <a:rPr lang="en-US" sz="1800" b="0" kern="1200" dirty="0">
                          <a:solidFill>
                            <a:srgbClr val="0070C0"/>
                          </a:solidFill>
                          <a:latin typeface="Arial Nova" panose="020B0504020202020204" pitchFamily="34" charset="0"/>
                          <a:ea typeface="+mn-ea"/>
                          <a:cs typeface="+mn-cs"/>
                        </a:rPr>
                        <a:t>)</a:t>
                      </a:r>
                      <a:endParaRPr lang="en-US" sz="1800" b="0" kern="1200" noProof="0" dirty="0">
                        <a:solidFill>
                          <a:srgbClr val="0070C0"/>
                        </a:solidFill>
                        <a:latin typeface="Arial Nova" panose="020B05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defTabSz="914400">
                        <a:buNone/>
                        <a:defRPr/>
                      </a:pPr>
                      <a:r>
                        <a:rPr lang="en-US" sz="1800" b="1" kern="1200" dirty="0">
                          <a:solidFill>
                            <a:srgbClr val="0070C0"/>
                          </a:solidFill>
                          <a:latin typeface="Arial Nova" panose="020B0504020202020204" pitchFamily="34" charset="0"/>
                          <a:ea typeface="+mn-ea"/>
                          <a:cs typeface="+mn-cs"/>
                        </a:rPr>
                        <a:t>Recall</a:t>
                      </a:r>
                      <a:r>
                        <a:rPr lang="en-US" sz="1800" b="0" kern="1200" dirty="0">
                          <a:solidFill>
                            <a:srgbClr val="0070C0"/>
                          </a:solidFill>
                          <a:latin typeface="Arial Nova" panose="020B0504020202020204" pitchFamily="34" charset="0"/>
                          <a:ea typeface="+mn-ea"/>
                          <a:cs typeface="+mn-cs"/>
                        </a:rPr>
                        <a:t> = </a:t>
                      </a:r>
                      <a:r>
                        <a:rPr lang="en-US" sz="1800" b="0" kern="1200" dirty="0" err="1">
                          <a:solidFill>
                            <a:srgbClr val="0070C0"/>
                          </a:solidFill>
                          <a:latin typeface="Arial Nova" panose="020B0504020202020204" pitchFamily="34" charset="0"/>
                          <a:ea typeface="+mn-ea"/>
                          <a:cs typeface="+mn-cs"/>
                        </a:rPr>
                        <a:t>tp</a:t>
                      </a:r>
                      <a:r>
                        <a:rPr lang="en-US" sz="1800" b="0" kern="1200" dirty="0">
                          <a:solidFill>
                            <a:srgbClr val="0070C0"/>
                          </a:solidFill>
                          <a:latin typeface="Arial Nova" panose="020B0504020202020204" pitchFamily="34" charset="0"/>
                          <a:ea typeface="+mn-ea"/>
                          <a:cs typeface="+mn-cs"/>
                        </a:rPr>
                        <a:t> / (</a:t>
                      </a:r>
                      <a:r>
                        <a:rPr lang="en-US" sz="1800" b="0" kern="1200" dirty="0" err="1">
                          <a:solidFill>
                            <a:srgbClr val="0070C0"/>
                          </a:solidFill>
                          <a:latin typeface="Arial Nova" panose="020B0504020202020204" pitchFamily="34" charset="0"/>
                          <a:ea typeface="+mn-ea"/>
                          <a:cs typeface="+mn-cs"/>
                        </a:rPr>
                        <a:t>tp</a:t>
                      </a:r>
                      <a:r>
                        <a:rPr lang="en-US" sz="1800" b="0" kern="1200" dirty="0">
                          <a:solidFill>
                            <a:srgbClr val="0070C0"/>
                          </a:solidFill>
                          <a:latin typeface="Arial Nova" panose="020B0504020202020204" pitchFamily="34" charset="0"/>
                          <a:ea typeface="+mn-ea"/>
                          <a:cs typeface="+mn-cs"/>
                        </a:rPr>
                        <a:t> + </a:t>
                      </a:r>
                      <a:r>
                        <a:rPr lang="en-US" sz="1800" b="0" kern="1200" dirty="0" err="1">
                          <a:solidFill>
                            <a:srgbClr val="0070C0"/>
                          </a:solidFill>
                          <a:latin typeface="Arial Nova" panose="020B0504020202020204" pitchFamily="34" charset="0"/>
                          <a:ea typeface="+mn-ea"/>
                          <a:cs typeface="+mn-cs"/>
                        </a:rPr>
                        <a:t>fn</a:t>
                      </a:r>
                      <a:r>
                        <a:rPr lang="en-US" sz="1800" b="0" kern="1200" dirty="0">
                          <a:solidFill>
                            <a:srgbClr val="0070C0"/>
                          </a:solidFill>
                          <a:latin typeface="Arial Nova" panose="020B0504020202020204" pitchFamily="34" charset="0"/>
                          <a:ea typeface="+mn-ea"/>
                          <a:cs typeface="+mn-cs"/>
                        </a:rPr>
                        <a:t>) – which part of true positive is actually positive.</a:t>
                      </a:r>
                      <a:endParaRPr lang="en-US" sz="1800" b="0" kern="1200" noProof="0" dirty="0">
                        <a:solidFill>
                          <a:srgbClr val="0070C0"/>
                        </a:solidFill>
                        <a:latin typeface="Arial Nova" panose="020B05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357979"/>
                  </a:ext>
                </a:extLst>
              </a:tr>
              <a:tr h="341251">
                <a:tc>
                  <a:txBody>
                    <a:bodyPr/>
                    <a:lstStyle/>
                    <a:p>
                      <a:pPr algn="ctr"/>
                      <a:r>
                        <a:rPr lang="zh-CN" altLang="en-US" sz="1800" b="0" kern="1200" noProof="0" dirty="0">
                          <a:solidFill>
                            <a:srgbClr val="0070C0"/>
                          </a:solidFill>
                          <a:latin typeface="Arial Nova" panose="020B0504020202020204" pitchFamily="34" charset="0"/>
                          <a:ea typeface="+mn-ea"/>
                          <a:cs typeface="+mn-cs"/>
                        </a:rPr>
                        <a:t> </a:t>
                      </a:r>
                      <a:r>
                        <a:rPr lang="en-US" sz="1800" b="0" kern="1200" noProof="0" dirty="0">
                          <a:solidFill>
                            <a:srgbClr val="0070C0"/>
                          </a:solidFill>
                          <a:latin typeface="Arial Nova" panose="020B0504020202020204" pitchFamily="34" charset="0"/>
                          <a:ea typeface="+mn-ea"/>
                          <a:cs typeface="+mn-cs"/>
                        </a:rPr>
                        <a:t>False </a:t>
                      </a:r>
                      <a:r>
                        <a:rPr lang="en-US" altLang="zh-CN" sz="1800" b="0" kern="1200" noProof="0" dirty="0">
                          <a:solidFill>
                            <a:srgbClr val="0070C0"/>
                          </a:solidFill>
                          <a:latin typeface="Arial Nova" panose="020B0504020202020204" pitchFamily="34" charset="0"/>
                          <a:ea typeface="+mn-ea"/>
                          <a:cs typeface="+mn-cs"/>
                        </a:rPr>
                        <a:t>discovery</a:t>
                      </a:r>
                      <a:r>
                        <a:rPr lang="en-US" sz="1800" b="0" kern="1200" noProof="0" dirty="0">
                          <a:solidFill>
                            <a:srgbClr val="0070C0"/>
                          </a:solidFill>
                          <a:latin typeface="Arial Nova" panose="020B0504020202020204" pitchFamily="34" charset="0"/>
                          <a:ea typeface="+mn-ea"/>
                          <a:cs typeface="+mn-cs"/>
                        </a:rPr>
                        <a:t> rate (</a:t>
                      </a:r>
                      <a:r>
                        <a:rPr lang="en-US" sz="1800" b="1" kern="1200" noProof="0" dirty="0">
                          <a:solidFill>
                            <a:srgbClr val="0070C0"/>
                          </a:solidFill>
                          <a:latin typeface="Arial Nova" panose="020B0504020202020204" pitchFamily="34" charset="0"/>
                          <a:ea typeface="+mn-ea"/>
                          <a:cs typeface="+mn-cs"/>
                        </a:rPr>
                        <a:t>F</a:t>
                      </a:r>
                      <a:r>
                        <a:rPr lang="en-US" altLang="zh-CN" sz="1800" b="1" kern="1200" dirty="0">
                          <a:solidFill>
                            <a:srgbClr val="0070C0"/>
                          </a:solidFill>
                          <a:latin typeface="Arial Nova" panose="020B0504020202020204" pitchFamily="34" charset="0"/>
                          <a:ea typeface="+mn-ea"/>
                          <a:cs typeface="+mn-cs"/>
                        </a:rPr>
                        <a:t>D</a:t>
                      </a:r>
                      <a:r>
                        <a:rPr lang="en-US" sz="1800" b="1" kern="1200" noProof="0" dirty="0">
                          <a:solidFill>
                            <a:srgbClr val="0070C0"/>
                          </a:solidFill>
                          <a:latin typeface="Arial Nova" panose="020B0504020202020204" pitchFamily="34" charset="0"/>
                          <a:ea typeface="+mn-ea"/>
                          <a:cs typeface="+mn-cs"/>
                        </a:rPr>
                        <a:t>R</a:t>
                      </a:r>
                      <a:r>
                        <a:rPr lang="en-US" sz="1800" b="0" kern="1200" noProof="0" dirty="0">
                          <a:solidFill>
                            <a:srgbClr val="0070C0"/>
                          </a:solidFill>
                          <a:latin typeface="Arial Nova" panose="020B0504020202020204" pitchFamily="34" charset="0"/>
                          <a:ea typeface="+mn-ea"/>
                          <a:cs typeface="+mn-cs"/>
                        </a:rPr>
                        <a:t>)</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a:solidFill>
                            <a:srgbClr val="0070C0"/>
                          </a:solidFill>
                          <a:latin typeface="Arial Nova" panose="020B0504020202020204" pitchFamily="34" charset="0"/>
                          <a:ea typeface="+mn-ea"/>
                          <a:cs typeface="+mn-cs"/>
                        </a:rPr>
                        <a:t>=</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err="1">
                          <a:solidFill>
                            <a:srgbClr val="0070C0"/>
                          </a:solidFill>
                          <a:latin typeface="Arial Nova" panose="020B0504020202020204" pitchFamily="34" charset="0"/>
                          <a:ea typeface="+mn-ea"/>
                          <a:cs typeface="+mn-cs"/>
                        </a:rPr>
                        <a:t>fp</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a:solidFill>
                            <a:srgbClr val="0070C0"/>
                          </a:solidFill>
                          <a:latin typeface="Arial Nova" panose="020B0504020202020204" pitchFamily="34" charset="0"/>
                          <a:ea typeface="+mn-ea"/>
                          <a:cs typeface="+mn-cs"/>
                        </a:rPr>
                        <a:t>/</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a:solidFill>
                            <a:srgbClr val="0070C0"/>
                          </a:solidFill>
                          <a:latin typeface="Arial Nova" panose="020B0504020202020204" pitchFamily="34" charset="0"/>
                          <a:ea typeface="+mn-ea"/>
                          <a:cs typeface="+mn-cs"/>
                        </a:rPr>
                        <a:t>(</a:t>
                      </a:r>
                      <a:r>
                        <a:rPr lang="en-US" altLang="zh-CN" sz="1800" b="0" kern="1200" noProof="0" dirty="0" err="1">
                          <a:solidFill>
                            <a:srgbClr val="0070C0"/>
                          </a:solidFill>
                          <a:latin typeface="Arial Nova" panose="020B0504020202020204" pitchFamily="34" charset="0"/>
                          <a:ea typeface="+mn-ea"/>
                          <a:cs typeface="+mn-cs"/>
                        </a:rPr>
                        <a:t>tp</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a:solidFill>
                            <a:srgbClr val="0070C0"/>
                          </a:solidFill>
                          <a:latin typeface="Arial Nova" panose="020B0504020202020204" pitchFamily="34" charset="0"/>
                          <a:ea typeface="+mn-ea"/>
                          <a:cs typeface="+mn-cs"/>
                        </a:rPr>
                        <a:t>+</a:t>
                      </a:r>
                      <a:r>
                        <a:rPr lang="zh-CN" altLang="en-US" sz="1800" b="0" kern="1200" noProof="0" dirty="0">
                          <a:solidFill>
                            <a:srgbClr val="0070C0"/>
                          </a:solidFill>
                          <a:latin typeface="Arial Nova" panose="020B0504020202020204" pitchFamily="34" charset="0"/>
                          <a:ea typeface="+mn-ea"/>
                          <a:cs typeface="+mn-cs"/>
                        </a:rPr>
                        <a:t> </a:t>
                      </a:r>
                      <a:r>
                        <a:rPr lang="en-US" altLang="zh-CN" sz="1800" b="0" kern="1200" noProof="0" dirty="0" err="1">
                          <a:solidFill>
                            <a:srgbClr val="0070C0"/>
                          </a:solidFill>
                          <a:latin typeface="Arial Nova" panose="020B0504020202020204" pitchFamily="34" charset="0"/>
                          <a:ea typeface="+mn-ea"/>
                          <a:cs typeface="+mn-cs"/>
                        </a:rPr>
                        <a:t>fp</a:t>
                      </a:r>
                      <a:r>
                        <a:rPr lang="en-US" altLang="zh-CN" sz="1800" b="0" kern="1200" noProof="0" dirty="0">
                          <a:solidFill>
                            <a:srgbClr val="0070C0"/>
                          </a:solidFill>
                          <a:latin typeface="Arial Nova" panose="020B0504020202020204" pitchFamily="34" charset="0"/>
                          <a:ea typeface="+mn-ea"/>
                          <a:cs typeface="+mn-cs"/>
                        </a:rPr>
                        <a:t>)</a:t>
                      </a:r>
                      <a:endParaRPr lang="en-US" sz="1800" b="0" kern="1200" dirty="0">
                        <a:solidFill>
                          <a:srgbClr val="0070C0"/>
                        </a:solidFill>
                        <a:latin typeface="Arial Nova" panose="020B05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70C0"/>
                          </a:solidFill>
                          <a:latin typeface="Arial Nova" panose="020B0504020202020204" pitchFamily="34" charset="0"/>
                        </a:rPr>
                        <a:t>Precision</a:t>
                      </a:r>
                      <a:r>
                        <a:rPr lang="en-US" sz="1800" b="0" dirty="0">
                          <a:solidFill>
                            <a:srgbClr val="0070C0"/>
                          </a:solidFill>
                          <a:latin typeface="Arial Nova" panose="020B0504020202020204" pitchFamily="34" charset="0"/>
                        </a:rPr>
                        <a:t> = </a:t>
                      </a:r>
                      <a:r>
                        <a:rPr lang="en-US" sz="1800" b="0" dirty="0" err="1">
                          <a:solidFill>
                            <a:srgbClr val="0070C0"/>
                          </a:solidFill>
                          <a:latin typeface="Arial Nova" panose="020B0504020202020204" pitchFamily="34" charset="0"/>
                        </a:rPr>
                        <a:t>tp</a:t>
                      </a:r>
                      <a:r>
                        <a:rPr lang="en-US" sz="1800" b="0" dirty="0">
                          <a:solidFill>
                            <a:srgbClr val="0070C0"/>
                          </a:solidFill>
                          <a:latin typeface="Arial Nova" panose="020B0504020202020204" pitchFamily="34" charset="0"/>
                        </a:rPr>
                        <a:t> / (</a:t>
                      </a:r>
                      <a:r>
                        <a:rPr lang="en-US" sz="1800" b="0" dirty="0" err="1">
                          <a:solidFill>
                            <a:srgbClr val="0070C0"/>
                          </a:solidFill>
                          <a:latin typeface="Arial Nova" panose="020B0504020202020204" pitchFamily="34" charset="0"/>
                        </a:rPr>
                        <a:t>tp</a:t>
                      </a:r>
                      <a:r>
                        <a:rPr lang="en-US" sz="1800" b="0" dirty="0">
                          <a:solidFill>
                            <a:srgbClr val="0070C0"/>
                          </a:solidFill>
                          <a:latin typeface="Arial Nova" panose="020B0504020202020204" pitchFamily="34" charset="0"/>
                        </a:rPr>
                        <a:t> + </a:t>
                      </a:r>
                      <a:r>
                        <a:rPr lang="en-US" sz="1800" b="0" dirty="0" err="1">
                          <a:solidFill>
                            <a:srgbClr val="0070C0"/>
                          </a:solidFill>
                          <a:latin typeface="Arial Nova" panose="020B0504020202020204" pitchFamily="34" charset="0"/>
                        </a:rPr>
                        <a:t>fp</a:t>
                      </a:r>
                      <a:r>
                        <a:rPr lang="en-US" sz="1800" b="0" dirty="0">
                          <a:solidFill>
                            <a:srgbClr val="0070C0"/>
                          </a:solidFill>
                          <a:latin typeface="Arial Nova" panose="020B0504020202020204" pitchFamily="34" charset="0"/>
                        </a:rPr>
                        <a:t>)</a:t>
                      </a:r>
                      <a:endParaRPr kumimoji="0" lang="en-US" sz="1800" b="0" i="0" u="none" strike="noStrike" kern="0" cap="none" spc="0" normalizeH="0" baseline="0" noProof="0" dirty="0">
                        <a:ln>
                          <a:noFill/>
                        </a:ln>
                        <a:solidFill>
                          <a:srgbClr val="0070C0"/>
                        </a:solidFill>
                        <a:effectLst/>
                        <a:uLnTx/>
                        <a:uFillTx/>
                        <a:latin typeface="Arial Nova" panose="020B05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2680349"/>
                  </a:ext>
                </a:extLst>
              </a:tr>
              <a:tr h="341251">
                <a:tc>
                  <a:txBody>
                    <a:bodyPr/>
                    <a:lstStyle/>
                    <a:p>
                      <a:pPr algn="ctr"/>
                      <a:r>
                        <a:rPr lang="zh-CN" altLang="en-US" sz="1800" kern="1200" noProof="0" dirty="0">
                          <a:solidFill>
                            <a:srgbClr val="0070C0"/>
                          </a:solidFill>
                          <a:latin typeface="Arial Nova" panose="020B0504020202020204" pitchFamily="34" charset="0"/>
                          <a:ea typeface="+mn-ea"/>
                          <a:cs typeface="+mn-cs"/>
                        </a:rPr>
                        <a:t> </a:t>
                      </a:r>
                      <a:r>
                        <a:rPr lang="en-US" sz="1800" kern="1200" noProof="0" dirty="0">
                          <a:solidFill>
                            <a:srgbClr val="0070C0"/>
                          </a:solidFill>
                          <a:latin typeface="Arial Nova" panose="020B0504020202020204" pitchFamily="34" charset="0"/>
                          <a:ea typeface="+mn-ea"/>
                          <a:cs typeface="+mn-cs"/>
                        </a:rPr>
                        <a:t>False </a:t>
                      </a:r>
                      <a:r>
                        <a:rPr lang="en-US" altLang="zh-CN" sz="1800" kern="1200" noProof="0" dirty="0">
                          <a:solidFill>
                            <a:srgbClr val="0070C0"/>
                          </a:solidFill>
                          <a:latin typeface="Arial Nova" panose="020B0504020202020204" pitchFamily="34" charset="0"/>
                          <a:ea typeface="+mn-ea"/>
                          <a:cs typeface="+mn-cs"/>
                        </a:rPr>
                        <a:t>positive</a:t>
                      </a:r>
                      <a:r>
                        <a:rPr lang="en-US" sz="1800" kern="1200" noProof="0" dirty="0">
                          <a:solidFill>
                            <a:srgbClr val="0070C0"/>
                          </a:solidFill>
                          <a:latin typeface="Arial Nova" panose="020B0504020202020204" pitchFamily="34" charset="0"/>
                          <a:ea typeface="+mn-ea"/>
                          <a:cs typeface="+mn-cs"/>
                        </a:rPr>
                        <a:t> </a:t>
                      </a:r>
                      <a:r>
                        <a:rPr lang="en-US" altLang="zh-CN" sz="1800" kern="1200" noProof="0" dirty="0">
                          <a:solidFill>
                            <a:srgbClr val="0070C0"/>
                          </a:solidFill>
                          <a:latin typeface="Arial Nova" panose="020B0504020202020204" pitchFamily="34" charset="0"/>
                          <a:ea typeface="+mn-ea"/>
                          <a:cs typeface="+mn-cs"/>
                        </a:rPr>
                        <a:t>(alarm)</a:t>
                      </a:r>
                      <a:r>
                        <a:rPr lang="zh-CN" altLang="en-US" sz="1800" kern="1200" noProof="0" dirty="0">
                          <a:solidFill>
                            <a:srgbClr val="0070C0"/>
                          </a:solidFill>
                          <a:latin typeface="Arial Nova" panose="020B0504020202020204" pitchFamily="34" charset="0"/>
                          <a:ea typeface="+mn-ea"/>
                          <a:cs typeface="+mn-cs"/>
                        </a:rPr>
                        <a:t> </a:t>
                      </a:r>
                      <a:r>
                        <a:rPr lang="en-US" sz="1800" kern="1200" noProof="0" dirty="0">
                          <a:solidFill>
                            <a:srgbClr val="0070C0"/>
                          </a:solidFill>
                          <a:latin typeface="Arial Nova" panose="020B0504020202020204" pitchFamily="34" charset="0"/>
                          <a:ea typeface="+mn-ea"/>
                          <a:cs typeface="+mn-cs"/>
                        </a:rPr>
                        <a:t>rate (</a:t>
                      </a:r>
                      <a:r>
                        <a:rPr lang="en-US" sz="1800" b="1" kern="1200" noProof="0" dirty="0">
                          <a:solidFill>
                            <a:srgbClr val="0070C0"/>
                          </a:solidFill>
                          <a:latin typeface="Arial Nova" panose="020B0504020202020204" pitchFamily="34" charset="0"/>
                          <a:ea typeface="+mn-ea"/>
                          <a:cs typeface="+mn-cs"/>
                        </a:rPr>
                        <a:t>F</a:t>
                      </a:r>
                      <a:r>
                        <a:rPr lang="en-US" altLang="zh-CN" sz="1800" b="1" kern="1200" noProof="0" dirty="0">
                          <a:solidFill>
                            <a:srgbClr val="0070C0"/>
                          </a:solidFill>
                          <a:latin typeface="Arial Nova" panose="020B0504020202020204" pitchFamily="34" charset="0"/>
                          <a:ea typeface="+mn-ea"/>
                          <a:cs typeface="+mn-cs"/>
                        </a:rPr>
                        <a:t>P</a:t>
                      </a:r>
                      <a:r>
                        <a:rPr lang="en-US" sz="1800" b="1" kern="1200" noProof="0" dirty="0">
                          <a:solidFill>
                            <a:srgbClr val="0070C0"/>
                          </a:solidFill>
                          <a:latin typeface="Arial Nova" panose="020B0504020202020204" pitchFamily="34" charset="0"/>
                          <a:ea typeface="+mn-ea"/>
                          <a:cs typeface="+mn-cs"/>
                        </a:rPr>
                        <a:t>R</a:t>
                      </a:r>
                      <a:r>
                        <a:rPr lang="en-US" sz="1800" kern="1200" noProof="0" dirty="0">
                          <a:solidFill>
                            <a:srgbClr val="0070C0"/>
                          </a:solidFill>
                          <a:latin typeface="Arial Nova" panose="020B0504020202020204" pitchFamily="34" charset="0"/>
                          <a:ea typeface="+mn-ea"/>
                          <a:cs typeface="+mn-cs"/>
                        </a:rPr>
                        <a:t>)</a:t>
                      </a:r>
                      <a:r>
                        <a:rPr lang="zh-CN" altLang="en-US" sz="1800" kern="1200" noProof="0" dirty="0">
                          <a:solidFill>
                            <a:srgbClr val="0070C0"/>
                          </a:solidFill>
                          <a:latin typeface="Arial Nova" panose="020B0504020202020204" pitchFamily="34" charset="0"/>
                          <a:ea typeface="+mn-ea"/>
                          <a:cs typeface="+mn-cs"/>
                        </a:rPr>
                        <a:t> </a:t>
                      </a:r>
                      <a:r>
                        <a:rPr lang="en-US" altLang="zh-CN" sz="1800" kern="1200" noProof="0" dirty="0">
                          <a:solidFill>
                            <a:srgbClr val="0070C0"/>
                          </a:solidFill>
                          <a:latin typeface="Arial Nova" panose="020B0504020202020204" pitchFamily="34" charset="0"/>
                          <a:ea typeface="+mn-ea"/>
                          <a:cs typeface="+mn-cs"/>
                        </a:rPr>
                        <a:t>=</a:t>
                      </a:r>
                      <a:r>
                        <a:rPr lang="zh-CN" altLang="en-US" sz="1800" kern="1200" noProof="0" dirty="0">
                          <a:solidFill>
                            <a:srgbClr val="0070C0"/>
                          </a:solidFill>
                          <a:latin typeface="Arial Nova" panose="020B0504020202020204" pitchFamily="34" charset="0"/>
                          <a:ea typeface="+mn-ea"/>
                          <a:cs typeface="+mn-cs"/>
                        </a:rPr>
                        <a:t> </a:t>
                      </a:r>
                      <a:r>
                        <a:rPr lang="en-US" altLang="zh-CN" sz="1800" kern="1200" noProof="0" dirty="0" err="1">
                          <a:solidFill>
                            <a:srgbClr val="0070C0"/>
                          </a:solidFill>
                          <a:latin typeface="Arial Nova" panose="020B0504020202020204" pitchFamily="34" charset="0"/>
                          <a:ea typeface="+mn-ea"/>
                          <a:cs typeface="+mn-cs"/>
                        </a:rPr>
                        <a:t>fp</a:t>
                      </a:r>
                      <a:r>
                        <a:rPr lang="zh-CN" altLang="en-US" sz="1800" kern="1200" noProof="0" dirty="0">
                          <a:solidFill>
                            <a:srgbClr val="0070C0"/>
                          </a:solidFill>
                          <a:latin typeface="Arial Nova" panose="020B0504020202020204" pitchFamily="34" charset="0"/>
                          <a:ea typeface="+mn-ea"/>
                          <a:cs typeface="+mn-cs"/>
                        </a:rPr>
                        <a:t> </a:t>
                      </a:r>
                      <a:r>
                        <a:rPr lang="en-US" altLang="zh-CN" sz="1800" kern="1200" noProof="0" dirty="0">
                          <a:solidFill>
                            <a:srgbClr val="0070C0"/>
                          </a:solidFill>
                          <a:latin typeface="Arial Nova" panose="020B0504020202020204" pitchFamily="34" charset="0"/>
                          <a:ea typeface="+mn-ea"/>
                          <a:cs typeface="+mn-cs"/>
                        </a:rPr>
                        <a:t>/</a:t>
                      </a:r>
                      <a:r>
                        <a:rPr lang="zh-CN" altLang="en-US" sz="1800" kern="1200" noProof="0" dirty="0">
                          <a:solidFill>
                            <a:srgbClr val="0070C0"/>
                          </a:solidFill>
                          <a:latin typeface="Arial Nova" panose="020B0504020202020204" pitchFamily="34" charset="0"/>
                          <a:ea typeface="+mn-ea"/>
                          <a:cs typeface="+mn-cs"/>
                        </a:rPr>
                        <a:t> </a:t>
                      </a:r>
                      <a:r>
                        <a:rPr lang="en-US" altLang="zh-CN" sz="1800" kern="1200" noProof="0" dirty="0">
                          <a:solidFill>
                            <a:srgbClr val="0070C0"/>
                          </a:solidFill>
                          <a:latin typeface="Arial Nova" panose="020B0504020202020204" pitchFamily="34" charset="0"/>
                          <a:ea typeface="+mn-ea"/>
                          <a:cs typeface="+mn-cs"/>
                        </a:rPr>
                        <a:t>(</a:t>
                      </a:r>
                      <a:r>
                        <a:rPr lang="en-US" altLang="zh-CN" sz="1800" kern="1200" noProof="0" dirty="0" err="1">
                          <a:solidFill>
                            <a:srgbClr val="0070C0"/>
                          </a:solidFill>
                          <a:latin typeface="Arial Nova" panose="020B0504020202020204" pitchFamily="34" charset="0"/>
                          <a:ea typeface="+mn-ea"/>
                          <a:cs typeface="+mn-cs"/>
                        </a:rPr>
                        <a:t>fp</a:t>
                      </a:r>
                      <a:r>
                        <a:rPr lang="zh-CN" altLang="en-US" sz="1800" kern="1200" noProof="0" dirty="0">
                          <a:solidFill>
                            <a:srgbClr val="0070C0"/>
                          </a:solidFill>
                          <a:latin typeface="Arial Nova" panose="020B0504020202020204" pitchFamily="34" charset="0"/>
                          <a:ea typeface="+mn-ea"/>
                          <a:cs typeface="+mn-cs"/>
                        </a:rPr>
                        <a:t> </a:t>
                      </a:r>
                      <a:r>
                        <a:rPr lang="en-US" altLang="zh-CN" sz="1800" kern="1200" noProof="0" dirty="0">
                          <a:solidFill>
                            <a:srgbClr val="0070C0"/>
                          </a:solidFill>
                          <a:latin typeface="Arial Nova" panose="020B0504020202020204" pitchFamily="34" charset="0"/>
                          <a:ea typeface="+mn-ea"/>
                          <a:cs typeface="+mn-cs"/>
                        </a:rPr>
                        <a:t>+</a:t>
                      </a:r>
                      <a:r>
                        <a:rPr lang="zh-CN" altLang="en-US" sz="1800" kern="1200" noProof="0" dirty="0">
                          <a:solidFill>
                            <a:srgbClr val="0070C0"/>
                          </a:solidFill>
                          <a:latin typeface="Arial Nova" panose="020B0504020202020204" pitchFamily="34" charset="0"/>
                          <a:ea typeface="+mn-ea"/>
                          <a:cs typeface="+mn-cs"/>
                        </a:rPr>
                        <a:t> </a:t>
                      </a:r>
                      <a:r>
                        <a:rPr lang="en-US" altLang="zh-CN" sz="1800" kern="1200" noProof="0" dirty="0" err="1">
                          <a:solidFill>
                            <a:srgbClr val="0070C0"/>
                          </a:solidFill>
                          <a:latin typeface="Arial Nova" panose="020B0504020202020204" pitchFamily="34" charset="0"/>
                          <a:ea typeface="+mn-ea"/>
                          <a:cs typeface="+mn-cs"/>
                        </a:rPr>
                        <a:t>tn</a:t>
                      </a:r>
                      <a:r>
                        <a:rPr lang="en-US" altLang="zh-CN" sz="1800" kern="1200" noProof="0" dirty="0">
                          <a:solidFill>
                            <a:srgbClr val="0070C0"/>
                          </a:solidFill>
                          <a:latin typeface="Arial Nova" panose="020B0504020202020204" pitchFamily="34" charset="0"/>
                          <a:ea typeface="+mn-ea"/>
                          <a:cs typeface="+mn-cs"/>
                        </a:rPr>
                        <a:t>)</a:t>
                      </a:r>
                      <a:r>
                        <a:rPr lang="zh-CN" altLang="en-US" sz="1800" kern="1200" noProof="0" dirty="0">
                          <a:solidFill>
                            <a:srgbClr val="0070C0"/>
                          </a:solidFill>
                          <a:latin typeface="Arial Nova" panose="020B0504020202020204" pitchFamily="34" charset="0"/>
                          <a:ea typeface="+mn-ea"/>
                          <a:cs typeface="+mn-cs"/>
                        </a:rPr>
                        <a:t> </a:t>
                      </a:r>
                      <a:endParaRPr lang="en-US" sz="1800" kern="1200" dirty="0">
                        <a:solidFill>
                          <a:srgbClr val="0070C0"/>
                        </a:solidFill>
                        <a:latin typeface="Arial Nova" panose="020B050402020202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b="1" kern="1200" dirty="0">
                          <a:solidFill>
                            <a:srgbClr val="0070C0"/>
                          </a:solidFill>
                          <a:latin typeface="Arial Nova" panose="020B0504020202020204" pitchFamily="34" charset="0"/>
                          <a:ea typeface="+mn-ea"/>
                          <a:cs typeface="+mn-cs"/>
                        </a:rPr>
                        <a:t>Specificity</a:t>
                      </a:r>
                      <a:r>
                        <a:rPr lang="en-US" sz="1800" kern="1200" dirty="0">
                          <a:solidFill>
                            <a:srgbClr val="0070C0"/>
                          </a:solidFill>
                          <a:latin typeface="Arial Nova" panose="020B0504020202020204" pitchFamily="34" charset="0"/>
                          <a:ea typeface="+mn-ea"/>
                          <a:cs typeface="+mn-cs"/>
                        </a:rPr>
                        <a:t> = </a:t>
                      </a:r>
                      <a:r>
                        <a:rPr lang="en-US" sz="1800" kern="1200" dirty="0" err="1">
                          <a:solidFill>
                            <a:srgbClr val="0070C0"/>
                          </a:solidFill>
                          <a:latin typeface="Arial Nova" panose="020B0504020202020204" pitchFamily="34" charset="0"/>
                          <a:ea typeface="+mn-ea"/>
                          <a:cs typeface="+mn-cs"/>
                        </a:rPr>
                        <a:t>t</a:t>
                      </a:r>
                      <a:r>
                        <a:rPr lang="en-US" altLang="zh-CN" sz="1800" kern="1200" dirty="0" err="1">
                          <a:solidFill>
                            <a:srgbClr val="0070C0"/>
                          </a:solidFill>
                          <a:latin typeface="Arial Nova" panose="020B0504020202020204" pitchFamily="34" charset="0"/>
                          <a:ea typeface="+mn-ea"/>
                          <a:cs typeface="+mn-cs"/>
                        </a:rPr>
                        <a:t>n</a:t>
                      </a:r>
                      <a:r>
                        <a:rPr lang="en-US" sz="1800" kern="1200" dirty="0">
                          <a:solidFill>
                            <a:srgbClr val="0070C0"/>
                          </a:solidFill>
                          <a:latin typeface="Arial Nova" panose="020B0504020202020204" pitchFamily="34" charset="0"/>
                          <a:ea typeface="+mn-ea"/>
                          <a:cs typeface="+mn-cs"/>
                        </a:rPr>
                        <a:t> / (</a:t>
                      </a:r>
                      <a:r>
                        <a:rPr lang="en-US" altLang="zh-CN" sz="1800" kern="1200" dirty="0" err="1">
                          <a:solidFill>
                            <a:srgbClr val="0070C0"/>
                          </a:solidFill>
                          <a:latin typeface="Arial Nova" panose="020B0504020202020204" pitchFamily="34" charset="0"/>
                          <a:ea typeface="+mn-ea"/>
                          <a:cs typeface="+mn-cs"/>
                        </a:rPr>
                        <a:t>fp</a:t>
                      </a:r>
                      <a:r>
                        <a:rPr lang="en-US" sz="1800" kern="1200" dirty="0">
                          <a:solidFill>
                            <a:srgbClr val="0070C0"/>
                          </a:solidFill>
                          <a:latin typeface="Arial Nova" panose="020B0504020202020204" pitchFamily="34" charset="0"/>
                          <a:ea typeface="+mn-ea"/>
                          <a:cs typeface="+mn-cs"/>
                        </a:rPr>
                        <a:t> + </a:t>
                      </a:r>
                      <a:r>
                        <a:rPr lang="en-US" altLang="zh-CN" sz="1800" kern="1200" dirty="0" err="1">
                          <a:solidFill>
                            <a:srgbClr val="0070C0"/>
                          </a:solidFill>
                          <a:latin typeface="Arial Nova" panose="020B0504020202020204" pitchFamily="34" charset="0"/>
                          <a:ea typeface="+mn-ea"/>
                          <a:cs typeface="+mn-cs"/>
                        </a:rPr>
                        <a:t>tn</a:t>
                      </a:r>
                      <a:r>
                        <a:rPr lang="en-US" sz="1800" kern="1200" dirty="0">
                          <a:solidFill>
                            <a:srgbClr val="0070C0"/>
                          </a:solidFill>
                          <a:latin typeface="Arial Nova" panose="020B0504020202020204" pitchFamily="34" charset="0"/>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433566"/>
                  </a:ext>
                </a:extLst>
              </a:tr>
              <a:tr h="341251">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800" b="1" kern="1200" dirty="0">
                          <a:solidFill>
                            <a:srgbClr val="0070C0"/>
                          </a:solidFill>
                          <a:latin typeface="Arial Nova" panose="020B0504020202020204" pitchFamily="34" charset="0"/>
                          <a:ea typeface="+mn-ea"/>
                          <a:cs typeface="+mn-cs"/>
                        </a:rPr>
                        <a:t>Accuracy</a:t>
                      </a:r>
                      <a:r>
                        <a:rPr lang="en-US" sz="1800" kern="1200" dirty="0">
                          <a:solidFill>
                            <a:srgbClr val="0070C0"/>
                          </a:solidFill>
                          <a:latin typeface="Arial Nova" panose="020B0504020202020204" pitchFamily="34" charset="0"/>
                          <a:ea typeface="+mn-ea"/>
                          <a:cs typeface="+mn-cs"/>
                        </a:rPr>
                        <a:t> = </a:t>
                      </a:r>
                      <a:r>
                        <a:rPr lang="en-US" sz="1800" kern="1200" dirty="0" err="1">
                          <a:solidFill>
                            <a:srgbClr val="0070C0"/>
                          </a:solidFill>
                          <a:latin typeface="Arial Nova" panose="020B0504020202020204" pitchFamily="34" charset="0"/>
                          <a:ea typeface="+mn-ea"/>
                          <a:cs typeface="+mn-cs"/>
                        </a:rPr>
                        <a:t>tp</a:t>
                      </a:r>
                      <a:r>
                        <a:rPr lang="en-US" sz="1800" kern="1200" dirty="0">
                          <a:solidFill>
                            <a:srgbClr val="0070C0"/>
                          </a:solidFill>
                          <a:latin typeface="Arial Nova" panose="020B0504020202020204" pitchFamily="34" charset="0"/>
                          <a:ea typeface="+mn-ea"/>
                          <a:cs typeface="+mn-cs"/>
                        </a:rPr>
                        <a:t> + </a:t>
                      </a:r>
                      <a:r>
                        <a:rPr lang="en-US" sz="1800" kern="1200" dirty="0" err="1">
                          <a:solidFill>
                            <a:srgbClr val="0070C0"/>
                          </a:solidFill>
                          <a:latin typeface="Arial Nova" panose="020B0504020202020204" pitchFamily="34" charset="0"/>
                          <a:ea typeface="+mn-ea"/>
                          <a:cs typeface="+mn-cs"/>
                        </a:rPr>
                        <a:t>tn</a:t>
                      </a:r>
                      <a:r>
                        <a:rPr lang="en-US" sz="1800" kern="1200" dirty="0">
                          <a:solidFill>
                            <a:srgbClr val="0070C0"/>
                          </a:solidFill>
                          <a:latin typeface="Arial Nova" panose="020B0504020202020204" pitchFamily="34" charset="0"/>
                          <a:ea typeface="+mn-ea"/>
                          <a:cs typeface="+mn-cs"/>
                        </a:rPr>
                        <a:t> / (</a:t>
                      </a:r>
                      <a:r>
                        <a:rPr lang="en-US" sz="1800" kern="1200" dirty="0" err="1">
                          <a:solidFill>
                            <a:srgbClr val="0070C0"/>
                          </a:solidFill>
                          <a:latin typeface="Arial Nova" panose="020B0504020202020204" pitchFamily="34" charset="0"/>
                          <a:ea typeface="+mn-ea"/>
                          <a:cs typeface="+mn-cs"/>
                        </a:rPr>
                        <a:t>tp</a:t>
                      </a:r>
                      <a:r>
                        <a:rPr lang="en-US" sz="1800" kern="1200" dirty="0">
                          <a:solidFill>
                            <a:srgbClr val="0070C0"/>
                          </a:solidFill>
                          <a:latin typeface="Arial Nova" panose="020B0504020202020204" pitchFamily="34" charset="0"/>
                          <a:ea typeface="+mn-ea"/>
                          <a:cs typeface="+mn-cs"/>
                        </a:rPr>
                        <a:t> + </a:t>
                      </a:r>
                      <a:r>
                        <a:rPr lang="en-US" sz="1800" kern="1200" dirty="0" err="1">
                          <a:solidFill>
                            <a:srgbClr val="0070C0"/>
                          </a:solidFill>
                          <a:latin typeface="Arial Nova" panose="020B0504020202020204" pitchFamily="34" charset="0"/>
                          <a:ea typeface="+mn-ea"/>
                          <a:cs typeface="+mn-cs"/>
                        </a:rPr>
                        <a:t>tn</a:t>
                      </a:r>
                      <a:r>
                        <a:rPr lang="en-US" sz="1800" kern="1200" dirty="0">
                          <a:solidFill>
                            <a:srgbClr val="0070C0"/>
                          </a:solidFill>
                          <a:latin typeface="Arial Nova" panose="020B0504020202020204" pitchFamily="34" charset="0"/>
                          <a:ea typeface="+mn-ea"/>
                          <a:cs typeface="+mn-cs"/>
                        </a:rPr>
                        <a:t> + </a:t>
                      </a:r>
                      <a:r>
                        <a:rPr lang="en-US" sz="1800" kern="1200" dirty="0" err="1">
                          <a:solidFill>
                            <a:srgbClr val="0070C0"/>
                          </a:solidFill>
                          <a:latin typeface="Arial Nova" panose="020B0504020202020204" pitchFamily="34" charset="0"/>
                          <a:ea typeface="+mn-ea"/>
                          <a:cs typeface="+mn-cs"/>
                        </a:rPr>
                        <a:t>fp</a:t>
                      </a:r>
                      <a:r>
                        <a:rPr lang="en-US" sz="1800" kern="1200" dirty="0">
                          <a:solidFill>
                            <a:srgbClr val="0070C0"/>
                          </a:solidFill>
                          <a:latin typeface="Arial Nova" panose="020B0504020202020204" pitchFamily="34" charset="0"/>
                          <a:ea typeface="+mn-ea"/>
                          <a:cs typeface="+mn-cs"/>
                        </a:rPr>
                        <a:t> + </a:t>
                      </a:r>
                      <a:r>
                        <a:rPr lang="en-US" sz="1800" kern="1200" dirty="0" err="1">
                          <a:solidFill>
                            <a:srgbClr val="0070C0"/>
                          </a:solidFill>
                          <a:latin typeface="Arial Nova" panose="020B0504020202020204" pitchFamily="34" charset="0"/>
                          <a:ea typeface="+mn-ea"/>
                          <a:cs typeface="+mn-cs"/>
                        </a:rPr>
                        <a:t>fn</a:t>
                      </a:r>
                      <a:r>
                        <a:rPr lang="en-US" sz="1800" kern="1200" dirty="0">
                          <a:solidFill>
                            <a:srgbClr val="0070C0"/>
                          </a:solidFill>
                          <a:latin typeface="Arial Nova" panose="020B0504020202020204" pitchFamily="34" charset="0"/>
                          <a:ea typeface="+mn-ea"/>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427989"/>
                  </a:ext>
                </a:extLst>
              </a:tr>
            </a:tbl>
          </a:graphicData>
        </a:graphic>
      </p:graphicFrame>
    </p:spTree>
    <p:extLst>
      <p:ext uri="{BB962C8B-B14F-4D97-AF65-F5344CB8AC3E}">
        <p14:creationId xmlns:p14="http://schemas.microsoft.com/office/powerpoint/2010/main" val="3664583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8" grpId="0"/>
      <p:bldP spid="9" grpId="0" animBg="1"/>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lstStyle/>
          <a:p>
            <a:r>
              <a:rPr lang="en-US" dirty="0"/>
              <a:t>Accuracy Evaluation of IDS</a:t>
            </a:r>
          </a:p>
        </p:txBody>
      </p:sp>
      <p:sp>
        <p:nvSpPr>
          <p:cNvPr id="5" name="Content Placeholder 4"/>
          <p:cNvSpPr>
            <a:spLocks noGrp="1"/>
          </p:cNvSpPr>
          <p:nvPr>
            <p:ph type="body" idx="11"/>
          </p:nvPr>
        </p:nvSpPr>
        <p:spPr/>
        <p:txBody>
          <a:bodyPr>
            <a:normAutofit/>
          </a:bodyPr>
          <a:lstStyle/>
          <a:p>
            <a:endParaRPr lang="en-US" dirty="0"/>
          </a:p>
        </p:txBody>
      </p:sp>
      <p:sp>
        <p:nvSpPr>
          <p:cNvPr id="78" name="TextBox 77">
            <a:extLst>
              <a:ext uri="{FF2B5EF4-FFF2-40B4-BE49-F238E27FC236}">
                <a16:creationId xmlns:a16="http://schemas.microsoft.com/office/drawing/2014/main" id="{38885242-FCE8-6544-BD60-8F2134866F94}"/>
              </a:ext>
            </a:extLst>
          </p:cNvPr>
          <p:cNvSpPr txBox="1"/>
          <p:nvPr/>
        </p:nvSpPr>
        <p:spPr>
          <a:xfrm>
            <a:off x="1495649" y="1203257"/>
            <a:ext cx="8928100" cy="1569660"/>
          </a:xfrm>
          <a:prstGeom prst="rect">
            <a:avLst/>
          </a:prstGeom>
          <a:noFill/>
        </p:spPr>
        <p:txBody>
          <a:bodyPr wrap="square" rtlCol="0">
            <a:spAutoFit/>
          </a:bodyPr>
          <a:lstStyle/>
          <a:p>
            <a:pPr defTabSz="914400" fontAlgn="base">
              <a:spcBef>
                <a:spcPct val="0"/>
              </a:spcBef>
              <a:spcAft>
                <a:spcPct val="0"/>
              </a:spcAft>
            </a:pPr>
            <a:r>
              <a:rPr lang="en-US" sz="2400" b="1" dirty="0">
                <a:solidFill>
                  <a:srgbClr val="0070C0"/>
                </a:solidFill>
                <a:latin typeface="Arial Nova" panose="020B0504020202020204" pitchFamily="34" charset="0"/>
              </a:rPr>
              <a:t>Example: </a:t>
            </a:r>
            <a:r>
              <a:rPr lang="en-US" sz="2400" dirty="0">
                <a:solidFill>
                  <a:srgbClr val="000000"/>
                </a:solidFill>
                <a:latin typeface="Arial Nova" panose="020B0504020202020204" pitchFamily="34" charset="0"/>
              </a:rPr>
              <a:t>suppose an IDS monitored 1000 events. Among them 10 are real attacks. But, the IDS raised 20 alarms, among which 16 alarms are actually wrong.  Compute the false positive rate and the </a:t>
            </a:r>
            <a:r>
              <a:rPr lang="en-US" altLang="zh-CN" sz="2400" dirty="0">
                <a:solidFill>
                  <a:srgbClr val="000000"/>
                </a:solidFill>
                <a:latin typeface="Arial Nova" panose="020B0504020202020204" pitchFamily="34" charset="0"/>
              </a:rPr>
              <a:t>recall</a:t>
            </a:r>
            <a:r>
              <a:rPr lang="en-US" sz="2400" dirty="0">
                <a:solidFill>
                  <a:srgbClr val="000000"/>
                </a:solidFill>
                <a:latin typeface="Arial Nova" panose="020B0504020202020204" pitchFamily="34" charset="0"/>
              </a:rPr>
              <a:t>.</a:t>
            </a:r>
          </a:p>
        </p:txBody>
      </p:sp>
    </p:spTree>
    <p:extLst>
      <p:ext uri="{BB962C8B-B14F-4D97-AF65-F5344CB8AC3E}">
        <p14:creationId xmlns:p14="http://schemas.microsoft.com/office/powerpoint/2010/main" val="2286654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r>
              <a:rPr lang="en-US" dirty="0"/>
              <a:t>Analysis of False </a:t>
            </a:r>
            <a:r>
              <a:rPr lang="en-US" altLang="zh-CN" dirty="0"/>
              <a:t>Discovery</a:t>
            </a:r>
            <a:r>
              <a:rPr lang="en-US" dirty="0"/>
              <a:t> Rate</a:t>
            </a:r>
          </a:p>
        </p:txBody>
      </p:sp>
      <p:sp>
        <p:nvSpPr>
          <p:cNvPr id="25" name="Content Placeholder 24">
            <a:extLst>
              <a:ext uri="{FF2B5EF4-FFF2-40B4-BE49-F238E27FC236}">
                <a16:creationId xmlns:a16="http://schemas.microsoft.com/office/drawing/2014/main" id="{DA6B45FD-68A2-FB41-843E-D535DBF50F7F}"/>
              </a:ext>
            </a:extLst>
          </p:cNvPr>
          <p:cNvSpPr>
            <a:spLocks noGrp="1"/>
          </p:cNvSpPr>
          <p:nvPr>
            <p:ph idx="1"/>
          </p:nvPr>
        </p:nvSpPr>
        <p:spPr>
          <a:xfrm>
            <a:off x="513349" y="1268243"/>
            <a:ext cx="6302121" cy="4723318"/>
          </a:xfrm>
        </p:spPr>
        <p:txBody>
          <a:bodyPr>
            <a:normAutofit/>
          </a:bodyPr>
          <a:lstStyle/>
          <a:p>
            <a:r>
              <a:rPr lang="en-US" dirty="0"/>
              <a:t>Example</a:t>
            </a:r>
          </a:p>
          <a:p>
            <a:pPr lvl="1"/>
            <a:r>
              <a:rPr lang="en-US" dirty="0"/>
              <a:t>An IDS is </a:t>
            </a:r>
            <a:r>
              <a:rPr lang="en-US" dirty="0">
                <a:solidFill>
                  <a:srgbClr val="002060"/>
                </a:solidFill>
              </a:rPr>
              <a:t>99% (0.99)</a:t>
            </a:r>
            <a:r>
              <a:rPr lang="en-US" dirty="0"/>
              <a:t> accurate</a:t>
            </a:r>
            <a:r>
              <a:rPr lang="en-US" altLang="zh-CN" dirty="0"/>
              <a:t>.</a:t>
            </a:r>
            <a:r>
              <a:rPr lang="zh-CN" altLang="en-US" dirty="0"/>
              <a:t> </a:t>
            </a:r>
            <a:r>
              <a:rPr lang="en-US" altLang="zh-CN" dirty="0"/>
              <a:t>e.g.,</a:t>
            </a:r>
            <a:endParaRPr lang="en-US" dirty="0"/>
          </a:p>
          <a:p>
            <a:pPr lvl="2"/>
            <a:r>
              <a:rPr lang="en-US" dirty="0"/>
              <a:t>100 benign packets checked, 99 test negative</a:t>
            </a:r>
          </a:p>
          <a:p>
            <a:pPr lvl="2"/>
            <a:r>
              <a:rPr lang="en-US" dirty="0"/>
              <a:t>100 malicious packet checked, 99 test positive</a:t>
            </a:r>
          </a:p>
          <a:p>
            <a:pPr lvl="1"/>
            <a:r>
              <a:rPr lang="en-US" dirty="0"/>
              <a:t>Prevalence of malicious packet is </a:t>
            </a:r>
            <a:r>
              <a:rPr lang="en-US" dirty="0">
                <a:solidFill>
                  <a:srgbClr val="002060"/>
                </a:solidFill>
              </a:rPr>
              <a:t>1 in 10,000</a:t>
            </a:r>
          </a:p>
          <a:p>
            <a:pPr lvl="1"/>
            <a:r>
              <a:rPr lang="en-US" dirty="0"/>
              <a:t>Total positive results (total alerts): </a:t>
            </a:r>
          </a:p>
          <a:p>
            <a:pPr marL="685800" lvl="2" indent="0">
              <a:buNone/>
            </a:pPr>
            <a:r>
              <a:rPr lang="en-US" dirty="0">
                <a:solidFill>
                  <a:srgbClr val="002060"/>
                </a:solidFill>
              </a:rPr>
              <a:t>101=1 * 0.99 + 9,999 * (1-0.99)</a:t>
            </a:r>
          </a:p>
          <a:p>
            <a:pPr lvl="1"/>
            <a:r>
              <a:rPr lang="en-US" dirty="0"/>
              <a:t>FDR: </a:t>
            </a:r>
            <a:r>
              <a:rPr lang="en-US" dirty="0">
                <a:solidFill>
                  <a:srgbClr val="C00000"/>
                </a:solidFill>
              </a:rPr>
              <a:t>9,999 * (1-0.99) in 101</a:t>
            </a:r>
            <a:r>
              <a:rPr lang="en-US" dirty="0">
                <a:solidFill>
                  <a:srgbClr val="C00000"/>
                </a:solidFill>
                <a:sym typeface="Symbol" pitchFamily="18" charset="2"/>
              </a:rPr>
              <a:t></a:t>
            </a:r>
            <a:r>
              <a:rPr lang="en-US" dirty="0">
                <a:solidFill>
                  <a:srgbClr val="C00000"/>
                </a:solidFill>
              </a:rPr>
              <a:t> 99%</a:t>
            </a:r>
          </a:p>
          <a:p>
            <a:pPr lvl="1"/>
            <a:r>
              <a:rPr lang="en-US" dirty="0"/>
              <a:t>If the IDS raises an alarm on a packet, in 99% chance it is wrong!!</a:t>
            </a:r>
          </a:p>
          <a:p>
            <a:endParaRPr lang="en-US" dirty="0"/>
          </a:p>
        </p:txBody>
      </p:sp>
      <p:sp>
        <p:nvSpPr>
          <p:cNvPr id="27" name="Text Placeholder 26">
            <a:extLst>
              <a:ext uri="{FF2B5EF4-FFF2-40B4-BE49-F238E27FC236}">
                <a16:creationId xmlns:a16="http://schemas.microsoft.com/office/drawing/2014/main" id="{FEA415DD-ED7A-4742-9610-99CABBD78C60}"/>
              </a:ext>
            </a:extLst>
          </p:cNvPr>
          <p:cNvSpPr>
            <a:spLocks noGrp="1"/>
          </p:cNvSpPr>
          <p:nvPr>
            <p:ph type="body" idx="11"/>
          </p:nvPr>
        </p:nvSpPr>
        <p:spPr/>
        <p:txBody>
          <a:bodyPr/>
          <a:lstStyle/>
          <a:p>
            <a:endParaRPr lang="en-US"/>
          </a:p>
        </p:txBody>
      </p:sp>
      <p:grpSp>
        <p:nvGrpSpPr>
          <p:cNvPr id="28" name="Group 27">
            <a:extLst>
              <a:ext uri="{FF2B5EF4-FFF2-40B4-BE49-F238E27FC236}">
                <a16:creationId xmlns:a16="http://schemas.microsoft.com/office/drawing/2014/main" id="{50648C2A-F3C3-7842-BB6B-CA26A4A9E001}"/>
              </a:ext>
            </a:extLst>
          </p:cNvPr>
          <p:cNvGrpSpPr/>
          <p:nvPr/>
        </p:nvGrpSpPr>
        <p:grpSpPr>
          <a:xfrm>
            <a:off x="7323097" y="1251523"/>
            <a:ext cx="4227732" cy="4555867"/>
            <a:chOff x="6248400" y="1143000"/>
            <a:chExt cx="4227732" cy="4555867"/>
          </a:xfrm>
        </p:grpSpPr>
        <p:grpSp>
          <p:nvGrpSpPr>
            <p:cNvPr id="49" name="Group 48">
              <a:extLst>
                <a:ext uri="{FF2B5EF4-FFF2-40B4-BE49-F238E27FC236}">
                  <a16:creationId xmlns:a16="http://schemas.microsoft.com/office/drawing/2014/main" id="{D76BE789-EF3C-3C4E-AFB2-E44CC4C2D7FB}"/>
                </a:ext>
              </a:extLst>
            </p:cNvPr>
            <p:cNvGrpSpPr/>
            <p:nvPr/>
          </p:nvGrpSpPr>
          <p:grpSpPr>
            <a:xfrm>
              <a:off x="8747682" y="4572000"/>
              <a:ext cx="1172116" cy="1126867"/>
              <a:chOff x="7223682" y="5334000"/>
              <a:chExt cx="1172116" cy="1126867"/>
            </a:xfrm>
          </p:grpSpPr>
          <p:sp>
            <p:nvSpPr>
              <p:cNvPr id="50" name="Pie 49">
                <a:extLst>
                  <a:ext uri="{FF2B5EF4-FFF2-40B4-BE49-F238E27FC236}">
                    <a16:creationId xmlns:a16="http://schemas.microsoft.com/office/drawing/2014/main" id="{B00D8BCC-A662-1148-B479-F4889E06E75F}"/>
                  </a:ext>
                </a:extLst>
              </p:cNvPr>
              <p:cNvSpPr/>
              <p:nvPr/>
            </p:nvSpPr>
            <p:spPr>
              <a:xfrm>
                <a:off x="7467599" y="5334000"/>
                <a:ext cx="685800" cy="685800"/>
              </a:xfrm>
              <a:prstGeom prst="pie">
                <a:avLst/>
              </a:prstGeom>
              <a:solidFill>
                <a:srgbClr val="FFFF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sp>
            <p:nvSpPr>
              <p:cNvPr id="51" name="Pie 50">
                <a:extLst>
                  <a:ext uri="{FF2B5EF4-FFF2-40B4-BE49-F238E27FC236}">
                    <a16:creationId xmlns:a16="http://schemas.microsoft.com/office/drawing/2014/main" id="{47499A65-77F9-3A4D-94C7-6B0736AF9CF8}"/>
                  </a:ext>
                </a:extLst>
              </p:cNvPr>
              <p:cNvSpPr/>
              <p:nvPr/>
            </p:nvSpPr>
            <p:spPr>
              <a:xfrm rot="5400000">
                <a:off x="7467599" y="5334000"/>
                <a:ext cx="685800" cy="685800"/>
              </a:xfrm>
              <a:prstGeom prst="pie">
                <a:avLst>
                  <a:gd name="adj1" fmla="val 10800000"/>
                  <a:gd name="adj2" fmla="val 16200000"/>
                </a:avLst>
              </a:prstGeom>
              <a:solidFill>
                <a:srgbClr val="92D05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a:ea typeface="+mn-ea"/>
                  <a:cs typeface="+mn-cs"/>
                </a:endParaRPr>
              </a:p>
            </p:txBody>
          </p:sp>
          <p:sp>
            <p:nvSpPr>
              <p:cNvPr id="52" name="TextBox 51">
                <a:extLst>
                  <a:ext uri="{FF2B5EF4-FFF2-40B4-BE49-F238E27FC236}">
                    <a16:creationId xmlns:a16="http://schemas.microsoft.com/office/drawing/2014/main" id="{0BEDB0FE-4D9E-0B45-8C8D-BB3A206513D3}"/>
                  </a:ext>
                </a:extLst>
              </p:cNvPr>
              <p:cNvSpPr txBox="1"/>
              <p:nvPr/>
            </p:nvSpPr>
            <p:spPr>
              <a:xfrm>
                <a:off x="7223682" y="6091535"/>
                <a:ext cx="1172116"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itchFamily="34" charset="0"/>
                  </a:rPr>
                  <a:t>all alarms</a:t>
                </a:r>
              </a:p>
            </p:txBody>
          </p:sp>
        </p:grpSp>
        <p:grpSp>
          <p:nvGrpSpPr>
            <p:cNvPr id="53" name="Group 52">
              <a:extLst>
                <a:ext uri="{FF2B5EF4-FFF2-40B4-BE49-F238E27FC236}">
                  <a16:creationId xmlns:a16="http://schemas.microsoft.com/office/drawing/2014/main" id="{AC5F4A2D-5415-404F-9C52-C7560244C586}"/>
                </a:ext>
              </a:extLst>
            </p:cNvPr>
            <p:cNvGrpSpPr/>
            <p:nvPr/>
          </p:nvGrpSpPr>
          <p:grpSpPr>
            <a:xfrm>
              <a:off x="6781800" y="4953001"/>
              <a:ext cx="2438400" cy="369332"/>
              <a:chOff x="5257800" y="5715000"/>
              <a:chExt cx="2438400" cy="369332"/>
            </a:xfrm>
          </p:grpSpPr>
          <p:cxnSp>
            <p:nvCxnSpPr>
              <p:cNvPr id="54" name="Straight Arrow Connector 53">
                <a:extLst>
                  <a:ext uri="{FF2B5EF4-FFF2-40B4-BE49-F238E27FC236}">
                    <a16:creationId xmlns:a16="http://schemas.microsoft.com/office/drawing/2014/main" id="{CB5C9A0F-30FA-1D42-9671-AAFCEC71974D}"/>
                  </a:ext>
                </a:extLst>
              </p:cNvPr>
              <p:cNvCxnSpPr/>
              <p:nvPr/>
            </p:nvCxnSpPr>
            <p:spPr>
              <a:xfrm flipV="1">
                <a:off x="6858000" y="5715000"/>
                <a:ext cx="838200" cy="228600"/>
              </a:xfrm>
              <a:prstGeom prst="straightConnector1">
                <a:avLst/>
              </a:prstGeom>
              <a:noFill/>
              <a:ln w="9525" cap="flat" cmpd="sng" algn="ctr">
                <a:solidFill>
                  <a:srgbClr val="FF0000"/>
                </a:solidFill>
                <a:prstDash val="solid"/>
                <a:tailEnd type="arrow"/>
              </a:ln>
              <a:effectLst/>
            </p:spPr>
          </p:cxnSp>
          <p:sp>
            <p:nvSpPr>
              <p:cNvPr id="55" name="TextBox 54">
                <a:extLst>
                  <a:ext uri="{FF2B5EF4-FFF2-40B4-BE49-F238E27FC236}">
                    <a16:creationId xmlns:a16="http://schemas.microsoft.com/office/drawing/2014/main" id="{04DB1974-47BB-DB4D-98FB-6849FEB18E87}"/>
                  </a:ext>
                </a:extLst>
              </p:cNvPr>
              <p:cNvSpPr txBox="1"/>
              <p:nvPr/>
            </p:nvSpPr>
            <p:spPr>
              <a:xfrm>
                <a:off x="5257800" y="5715000"/>
                <a:ext cx="1428596"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0000"/>
                    </a:solidFill>
                    <a:effectLst/>
                    <a:uLnTx/>
                    <a:uFillTx/>
                    <a:latin typeface="Arial" pitchFamily="34" charset="0"/>
                  </a:rPr>
                  <a:t>false alarms</a:t>
                </a:r>
              </a:p>
            </p:txBody>
          </p:sp>
        </p:grpSp>
        <p:grpSp>
          <p:nvGrpSpPr>
            <p:cNvPr id="56" name="Group 55">
              <a:extLst>
                <a:ext uri="{FF2B5EF4-FFF2-40B4-BE49-F238E27FC236}">
                  <a16:creationId xmlns:a16="http://schemas.microsoft.com/office/drawing/2014/main" id="{E7832B7A-B1DA-F54C-B42E-E285BBB5E61E}"/>
                </a:ext>
              </a:extLst>
            </p:cNvPr>
            <p:cNvGrpSpPr/>
            <p:nvPr/>
          </p:nvGrpSpPr>
          <p:grpSpPr>
            <a:xfrm>
              <a:off x="6248400" y="1143000"/>
              <a:ext cx="3276600" cy="3505200"/>
              <a:chOff x="4419600" y="1447800"/>
              <a:chExt cx="3276600" cy="3505200"/>
            </a:xfrm>
          </p:grpSpPr>
          <p:sp>
            <p:nvSpPr>
              <p:cNvPr id="57" name="Oval 56">
                <a:extLst>
                  <a:ext uri="{FF2B5EF4-FFF2-40B4-BE49-F238E27FC236}">
                    <a16:creationId xmlns:a16="http://schemas.microsoft.com/office/drawing/2014/main" id="{5D7E8D35-836E-B749-94C7-10D0C2D51820}"/>
                  </a:ext>
                </a:extLst>
              </p:cNvPr>
              <p:cNvSpPr/>
              <p:nvPr/>
            </p:nvSpPr>
            <p:spPr>
              <a:xfrm>
                <a:off x="4419600" y="1905000"/>
                <a:ext cx="3276600" cy="3048000"/>
              </a:xfrm>
              <a:prstGeom prst="ellipse">
                <a:avLst/>
              </a:prstGeom>
              <a:solidFill>
                <a:srgbClr val="FFFF0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4800" b="0" i="0" u="none" strike="noStrike" kern="0" cap="none" spc="0" normalizeH="0" baseline="0" noProof="0" dirty="0">
                    <a:ln>
                      <a:noFill/>
                    </a:ln>
                    <a:solidFill>
                      <a:srgbClr val="0070C0"/>
                    </a:solidFill>
                    <a:effectLst/>
                    <a:uLnTx/>
                    <a:uFillTx/>
                    <a:latin typeface="Arial"/>
                    <a:ea typeface="+mn-ea"/>
                    <a:cs typeface="+mn-cs"/>
                  </a:rPr>
                  <a:t>9,999</a:t>
                </a:r>
              </a:p>
            </p:txBody>
          </p:sp>
          <p:sp>
            <p:nvSpPr>
              <p:cNvPr id="58" name="TextBox 57">
                <a:extLst>
                  <a:ext uri="{FF2B5EF4-FFF2-40B4-BE49-F238E27FC236}">
                    <a16:creationId xmlns:a16="http://schemas.microsoft.com/office/drawing/2014/main" id="{4807E80D-6159-6B46-B4EC-76AB5969D996}"/>
                  </a:ext>
                </a:extLst>
              </p:cNvPr>
              <p:cNvSpPr txBox="1"/>
              <p:nvPr/>
            </p:nvSpPr>
            <p:spPr>
              <a:xfrm>
                <a:off x="5181600" y="1447800"/>
                <a:ext cx="1544012"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itchFamily="34" charset="0"/>
                  </a:rPr>
                  <a:t>Good objects</a:t>
                </a:r>
              </a:p>
            </p:txBody>
          </p:sp>
        </p:grpSp>
        <p:grpSp>
          <p:nvGrpSpPr>
            <p:cNvPr id="59" name="Group 58">
              <a:extLst>
                <a:ext uri="{FF2B5EF4-FFF2-40B4-BE49-F238E27FC236}">
                  <a16:creationId xmlns:a16="http://schemas.microsoft.com/office/drawing/2014/main" id="{96303D4C-DDDC-B54A-A66A-3F9745511088}"/>
                </a:ext>
              </a:extLst>
            </p:cNvPr>
            <p:cNvGrpSpPr/>
            <p:nvPr/>
          </p:nvGrpSpPr>
          <p:grpSpPr>
            <a:xfrm>
              <a:off x="8888232" y="1143000"/>
              <a:ext cx="1390124" cy="990600"/>
              <a:chOff x="7364231" y="1524000"/>
              <a:chExt cx="1390124" cy="990600"/>
            </a:xfrm>
          </p:grpSpPr>
          <p:sp>
            <p:nvSpPr>
              <p:cNvPr id="60" name="Oval 59">
                <a:extLst>
                  <a:ext uri="{FF2B5EF4-FFF2-40B4-BE49-F238E27FC236}">
                    <a16:creationId xmlns:a16="http://schemas.microsoft.com/office/drawing/2014/main" id="{66926E4C-4B1A-A041-8A0E-1A214056C822}"/>
                  </a:ext>
                </a:extLst>
              </p:cNvPr>
              <p:cNvSpPr/>
              <p:nvPr/>
            </p:nvSpPr>
            <p:spPr>
              <a:xfrm>
                <a:off x="8001000" y="2057400"/>
                <a:ext cx="457200" cy="457200"/>
              </a:xfrm>
              <a:prstGeom prst="ellipse">
                <a:avLst/>
              </a:prstGeom>
              <a:solidFill>
                <a:srgbClr val="92D05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333399">
                        <a:lumMod val="75000"/>
                      </a:srgbClr>
                    </a:solidFill>
                    <a:effectLst/>
                    <a:uLnTx/>
                    <a:uFillTx/>
                    <a:latin typeface="Arial"/>
                    <a:ea typeface="+mn-ea"/>
                    <a:cs typeface="+mn-cs"/>
                  </a:rPr>
                  <a:t>1</a:t>
                </a:r>
              </a:p>
            </p:txBody>
          </p:sp>
          <p:sp>
            <p:nvSpPr>
              <p:cNvPr id="61" name="TextBox 60">
                <a:extLst>
                  <a:ext uri="{FF2B5EF4-FFF2-40B4-BE49-F238E27FC236}">
                    <a16:creationId xmlns:a16="http://schemas.microsoft.com/office/drawing/2014/main" id="{9B1FC79E-00FF-4942-918E-687AF138959A}"/>
                  </a:ext>
                </a:extLst>
              </p:cNvPr>
              <p:cNvSpPr txBox="1"/>
              <p:nvPr/>
            </p:nvSpPr>
            <p:spPr>
              <a:xfrm>
                <a:off x="7364231" y="1524000"/>
                <a:ext cx="1390124"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itchFamily="34" charset="0"/>
                  </a:rPr>
                  <a:t>Bad objects</a:t>
                </a:r>
              </a:p>
            </p:txBody>
          </p:sp>
        </p:grpSp>
        <p:grpSp>
          <p:nvGrpSpPr>
            <p:cNvPr id="62" name="Group 61">
              <a:extLst>
                <a:ext uri="{FF2B5EF4-FFF2-40B4-BE49-F238E27FC236}">
                  <a16:creationId xmlns:a16="http://schemas.microsoft.com/office/drawing/2014/main" id="{B3374FCE-DAEA-5540-A7F7-E088BDE26C5F}"/>
                </a:ext>
              </a:extLst>
            </p:cNvPr>
            <p:cNvGrpSpPr/>
            <p:nvPr/>
          </p:nvGrpSpPr>
          <p:grpSpPr>
            <a:xfrm>
              <a:off x="8153400" y="3886200"/>
              <a:ext cx="914400" cy="914400"/>
              <a:chOff x="6629400" y="3886200"/>
              <a:chExt cx="914400" cy="914400"/>
            </a:xfrm>
          </p:grpSpPr>
          <p:cxnSp>
            <p:nvCxnSpPr>
              <p:cNvPr id="63" name="Straight Arrow Connector 62">
                <a:extLst>
                  <a:ext uri="{FF2B5EF4-FFF2-40B4-BE49-F238E27FC236}">
                    <a16:creationId xmlns:a16="http://schemas.microsoft.com/office/drawing/2014/main" id="{B978DA8B-6DC4-E448-8116-6A20FC9F82EC}"/>
                  </a:ext>
                </a:extLst>
              </p:cNvPr>
              <p:cNvCxnSpPr/>
              <p:nvPr/>
            </p:nvCxnSpPr>
            <p:spPr>
              <a:xfrm>
                <a:off x="6629400" y="3886200"/>
                <a:ext cx="914400" cy="914400"/>
              </a:xfrm>
              <a:prstGeom prst="straightConnector1">
                <a:avLst/>
              </a:prstGeom>
              <a:noFill/>
              <a:ln w="25400" cap="flat" cmpd="sng" algn="ctr">
                <a:solidFill>
                  <a:srgbClr val="000090"/>
                </a:solidFill>
                <a:prstDash val="solid"/>
                <a:tailEnd type="arrow"/>
              </a:ln>
              <a:effectLst>
                <a:outerShdw blurRad="40000" dist="20000" dir="5400000" rotWithShape="0">
                  <a:srgbClr val="000000">
                    <a:alpha val="38000"/>
                  </a:srgbClr>
                </a:outerShdw>
              </a:effectLst>
            </p:spPr>
          </p:cxnSp>
          <p:sp>
            <p:nvSpPr>
              <p:cNvPr id="64" name="TextBox 63">
                <a:extLst>
                  <a:ext uri="{FF2B5EF4-FFF2-40B4-BE49-F238E27FC236}">
                    <a16:creationId xmlns:a16="http://schemas.microsoft.com/office/drawing/2014/main" id="{83C45653-684E-9C41-A776-7FA4669F1C88}"/>
                  </a:ext>
                </a:extLst>
              </p:cNvPr>
              <p:cNvSpPr txBox="1"/>
              <p:nvPr/>
            </p:nvSpPr>
            <p:spPr>
              <a:xfrm>
                <a:off x="7010400" y="3957935"/>
                <a:ext cx="518091"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itchFamily="34" charset="0"/>
                  </a:rPr>
                  <a:t>1%</a:t>
                </a:r>
              </a:p>
            </p:txBody>
          </p:sp>
        </p:grpSp>
        <p:grpSp>
          <p:nvGrpSpPr>
            <p:cNvPr id="65" name="Group 64">
              <a:extLst>
                <a:ext uri="{FF2B5EF4-FFF2-40B4-BE49-F238E27FC236}">
                  <a16:creationId xmlns:a16="http://schemas.microsoft.com/office/drawing/2014/main" id="{B6499A19-7221-224A-A977-6F1CBD372EFE}"/>
                </a:ext>
              </a:extLst>
            </p:cNvPr>
            <p:cNvGrpSpPr/>
            <p:nvPr/>
          </p:nvGrpSpPr>
          <p:grpSpPr>
            <a:xfrm>
              <a:off x="9525001" y="2133600"/>
              <a:ext cx="951131" cy="2438400"/>
              <a:chOff x="8001000" y="2133600"/>
              <a:chExt cx="951131" cy="2438400"/>
            </a:xfrm>
          </p:grpSpPr>
          <p:cxnSp>
            <p:nvCxnSpPr>
              <p:cNvPr id="66" name="Straight Arrow Connector 65">
                <a:extLst>
                  <a:ext uri="{FF2B5EF4-FFF2-40B4-BE49-F238E27FC236}">
                    <a16:creationId xmlns:a16="http://schemas.microsoft.com/office/drawing/2014/main" id="{739C9356-8C2E-1644-A80E-6DDB86CDC7CF}"/>
                  </a:ext>
                </a:extLst>
              </p:cNvPr>
              <p:cNvCxnSpPr>
                <a:stCxn id="60" idx="4"/>
              </p:cNvCxnSpPr>
              <p:nvPr/>
            </p:nvCxnSpPr>
            <p:spPr>
              <a:xfrm flipH="1">
                <a:off x="8001000" y="2133600"/>
                <a:ext cx="228600" cy="2438400"/>
              </a:xfrm>
              <a:prstGeom prst="straightConnector1">
                <a:avLst/>
              </a:prstGeom>
              <a:noFill/>
              <a:ln w="25400" cap="flat" cmpd="sng" algn="ctr">
                <a:solidFill>
                  <a:srgbClr val="000090"/>
                </a:solidFill>
                <a:prstDash val="solid"/>
                <a:tailEnd type="arrow"/>
              </a:ln>
              <a:effectLst>
                <a:outerShdw blurRad="40000" dist="20000" dir="5400000" rotWithShape="0">
                  <a:srgbClr val="000000">
                    <a:alpha val="38000"/>
                  </a:srgbClr>
                </a:outerShdw>
              </a:effectLst>
            </p:spPr>
          </p:cxnSp>
          <p:sp>
            <p:nvSpPr>
              <p:cNvPr id="67" name="TextBox 66">
                <a:extLst>
                  <a:ext uri="{FF2B5EF4-FFF2-40B4-BE49-F238E27FC236}">
                    <a16:creationId xmlns:a16="http://schemas.microsoft.com/office/drawing/2014/main" id="{7D44D799-4305-7240-AAFA-447BCF9ABD8F}"/>
                  </a:ext>
                </a:extLst>
              </p:cNvPr>
              <p:cNvSpPr txBox="1"/>
              <p:nvPr/>
            </p:nvSpPr>
            <p:spPr>
              <a:xfrm>
                <a:off x="8305800" y="3124200"/>
                <a:ext cx="646331"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pitchFamily="34" charset="0"/>
                  </a:rPr>
                  <a:t>99%</a:t>
                </a:r>
              </a:p>
            </p:txBody>
          </p:sp>
        </p:grpSp>
      </p:grpSp>
    </p:spTree>
    <p:extLst>
      <p:ext uri="{BB962C8B-B14F-4D97-AF65-F5344CB8AC3E}">
        <p14:creationId xmlns:p14="http://schemas.microsoft.com/office/powerpoint/2010/main" val="47643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r>
              <a:rPr lang="en-US" altLang="zh-CN" dirty="0"/>
              <a:t>Signature-Based vs Anomaly-Based</a:t>
            </a:r>
            <a:endParaRPr lang="en-US" dirty="0"/>
          </a:p>
        </p:txBody>
      </p:sp>
      <p:sp>
        <p:nvSpPr>
          <p:cNvPr id="9" name="Text Placeholder 8">
            <a:extLst>
              <a:ext uri="{FF2B5EF4-FFF2-40B4-BE49-F238E27FC236}">
                <a16:creationId xmlns:a16="http://schemas.microsoft.com/office/drawing/2014/main" id="{E2EAE1AF-A96D-9D44-9C2F-7F23E1B1181C}"/>
              </a:ext>
            </a:extLst>
          </p:cNvPr>
          <p:cNvSpPr>
            <a:spLocks noGrp="1"/>
          </p:cNvSpPr>
          <p:nvPr>
            <p:ph type="body" idx="11"/>
          </p:nvPr>
        </p:nvSpPr>
        <p:spPr/>
        <p:txBody>
          <a:bodyPr/>
          <a:lstStyle/>
          <a:p>
            <a:endParaRPr lang="en-US"/>
          </a:p>
        </p:txBody>
      </p:sp>
      <p:sp>
        <p:nvSpPr>
          <p:cNvPr id="15" name="Rectangle 3">
            <a:extLst>
              <a:ext uri="{FF2B5EF4-FFF2-40B4-BE49-F238E27FC236}">
                <a16:creationId xmlns:a16="http://schemas.microsoft.com/office/drawing/2014/main" id="{A44931F2-AB5E-0649-888E-9D0D21A33421}"/>
              </a:ext>
            </a:extLst>
          </p:cNvPr>
          <p:cNvSpPr txBox="1">
            <a:spLocks noChangeArrowheads="1"/>
          </p:cNvSpPr>
          <p:nvPr/>
        </p:nvSpPr>
        <p:spPr bwMode="auto">
          <a:xfrm>
            <a:off x="779515" y="1579654"/>
            <a:ext cx="5130075" cy="1692771"/>
          </a:xfrm>
          <a:prstGeom prst="rect">
            <a:avLst/>
          </a:prstGeom>
          <a:noFill/>
          <a:ln w="9525">
            <a:solidFill>
              <a:srgbClr val="000000"/>
            </a:solid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1800">
                <a:solidFill>
                  <a:schemeClr val="tx1"/>
                </a:solidFill>
                <a:latin typeface="+mn-lt"/>
              </a:defRPr>
            </a:lvl4pPr>
            <a:lvl5pPr marL="2057400" indent="-228600" algn="l" rtl="0" eaLnBrk="1" fontAlgn="base" hangingPunct="1">
              <a:spcBef>
                <a:spcPct val="20000"/>
              </a:spcBef>
              <a:spcAft>
                <a:spcPct val="0"/>
              </a:spcAft>
              <a:buChar char="»"/>
              <a:defRPr sz="1800">
                <a:solidFill>
                  <a:schemeClr val="tx1"/>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457200" marR="0" lvl="0" indent="-457200" algn="l" defTabSz="914400" rtl="0" eaLnBrk="1" fontAlgn="base" latinLnBrk="0" hangingPunct="1">
              <a:lnSpc>
                <a:spcPct val="100000"/>
              </a:lnSpc>
              <a:spcBef>
                <a:spcPts val="0"/>
              </a:spcBef>
              <a:spcAft>
                <a:spcPts val="0"/>
              </a:spcAft>
              <a:buClrTx/>
              <a:buSzTx/>
              <a:buFontTx/>
              <a:buChar char="•"/>
              <a:tabLst/>
              <a:defRPr/>
            </a:pPr>
            <a:r>
              <a:rPr kumimoji="0" lang="en-US" sz="2400" b="0" i="0" u="none" strike="noStrike" kern="0" cap="none" spc="0" normalizeH="0" baseline="0" noProof="0" dirty="0">
                <a:ln>
                  <a:noFill/>
                </a:ln>
                <a:solidFill>
                  <a:srgbClr val="CC0000"/>
                </a:solidFill>
                <a:effectLst/>
                <a:uLnTx/>
                <a:uFillTx/>
                <a:latin typeface="Arial Nova" panose="020B0504020202020204" pitchFamily="34" charset="0"/>
              </a:rPr>
              <a:t>Signature based IDS</a:t>
            </a:r>
          </a:p>
          <a:p>
            <a:pPr marL="914400" marR="0" lvl="1" indent="-457200" algn="l" defTabSz="914400" rtl="0" eaLnBrk="1" fontAlgn="base" latinLnBrk="0" hangingPunct="1">
              <a:lnSpc>
                <a:spcPct val="100000"/>
              </a:lnSpc>
              <a:spcBef>
                <a:spcPts val="0"/>
              </a:spcBef>
              <a:spcAft>
                <a:spcPts val="0"/>
              </a:spcAft>
              <a:buClrTx/>
              <a:buSzTx/>
              <a:buFontTx/>
              <a:buChar char="–"/>
              <a:tabLst/>
              <a:defRPr/>
            </a:pPr>
            <a:r>
              <a:rPr kumimoji="0" lang="en-US" sz="2000" b="0" i="0" u="none" strike="noStrike" kern="0" cap="none" spc="0" normalizeH="0" baseline="0" noProof="0" dirty="0">
                <a:ln>
                  <a:noFill/>
                </a:ln>
                <a:solidFill>
                  <a:srgbClr val="339966"/>
                </a:solidFill>
                <a:effectLst/>
                <a:uLnTx/>
                <a:uFillTx/>
                <a:latin typeface="Arial Nova" panose="020B0504020202020204" pitchFamily="34" charset="0"/>
              </a:rPr>
              <a:t>Good: Low false alarm rates, instantaneous detection (practice)</a:t>
            </a:r>
          </a:p>
          <a:p>
            <a:pPr marL="914400" marR="0" lvl="1" indent="-457200" algn="l" defTabSz="914400" rtl="0" eaLnBrk="1" fontAlgn="base" latinLnBrk="0" hangingPunct="1">
              <a:lnSpc>
                <a:spcPct val="100000"/>
              </a:lnSpc>
              <a:spcBef>
                <a:spcPts val="0"/>
              </a:spcBef>
              <a:spcAft>
                <a:spcPts val="0"/>
              </a:spcAft>
              <a:buClrTx/>
              <a:buSzTx/>
              <a:buFontTx/>
              <a:buChar char="–"/>
              <a:tabLst/>
              <a:defRPr/>
            </a:pPr>
            <a:r>
              <a:rPr kumimoji="0" lang="en-US" sz="2000" b="0" i="0" u="none" strike="noStrike" kern="0" cap="none" spc="0" normalizeH="0" baseline="0" noProof="0" dirty="0">
                <a:ln>
                  <a:noFill/>
                </a:ln>
                <a:solidFill>
                  <a:srgbClr val="339966"/>
                </a:solidFill>
                <a:effectLst/>
                <a:uLnTx/>
                <a:uFillTx/>
                <a:latin typeface="Arial Nova" panose="020B0504020202020204" pitchFamily="34" charset="0"/>
              </a:rPr>
              <a:t>Bad: Cannot detect new attacks (a.k.a. 0-day attacks)</a:t>
            </a:r>
          </a:p>
        </p:txBody>
      </p:sp>
      <p:sp>
        <p:nvSpPr>
          <p:cNvPr id="16" name="Rectangle 4">
            <a:extLst>
              <a:ext uri="{FF2B5EF4-FFF2-40B4-BE49-F238E27FC236}">
                <a16:creationId xmlns:a16="http://schemas.microsoft.com/office/drawing/2014/main" id="{BEE27976-090A-B049-B2D1-FD63D3C040A3}"/>
              </a:ext>
            </a:extLst>
          </p:cNvPr>
          <p:cNvSpPr txBox="1">
            <a:spLocks noChangeArrowheads="1"/>
          </p:cNvSpPr>
          <p:nvPr/>
        </p:nvSpPr>
        <p:spPr bwMode="auto">
          <a:xfrm>
            <a:off x="6672064" y="1579654"/>
            <a:ext cx="5130076" cy="2185214"/>
          </a:xfrm>
          <a:prstGeom prst="rect">
            <a:avLst/>
          </a:prstGeom>
          <a:noFill/>
          <a:ln w="9525">
            <a:solidFill>
              <a:srgbClr val="000000"/>
            </a:solid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1800">
                <a:solidFill>
                  <a:schemeClr val="tx1"/>
                </a:solidFill>
                <a:latin typeface="+mn-lt"/>
              </a:defRPr>
            </a:lvl4pPr>
            <a:lvl5pPr marL="2057400" indent="-228600" algn="l" rtl="0" eaLnBrk="1" fontAlgn="base" hangingPunct="1">
              <a:spcBef>
                <a:spcPct val="20000"/>
              </a:spcBef>
              <a:spcAft>
                <a:spcPct val="0"/>
              </a:spcAft>
              <a:buChar char="»"/>
              <a:defRPr sz="1800">
                <a:solidFill>
                  <a:schemeClr val="tx1"/>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CC0000"/>
                </a:solidFill>
                <a:effectLst/>
                <a:uLnTx/>
                <a:uFillTx/>
                <a:latin typeface="Arial Nova" panose="020B0504020202020204" pitchFamily="34" charset="0"/>
              </a:rPr>
              <a:t>Anomaly based IDS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339966"/>
                </a:solidFill>
                <a:effectLst/>
                <a:uLnTx/>
                <a:uFillTx/>
                <a:latin typeface="Arial Nova" panose="020B0504020202020204" pitchFamily="34" charset="0"/>
              </a:rPr>
              <a:t>Good: Can detect some new attacks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339966"/>
                </a:solidFill>
                <a:effectLst/>
                <a:uLnTx/>
                <a:uFillTx/>
                <a:latin typeface="Arial Nova" panose="020B0504020202020204" pitchFamily="34" charset="0"/>
              </a:rPr>
              <a:t>Bad: High false alarm rates, high complexity (research)</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339966"/>
                </a:solidFill>
                <a:effectLst/>
                <a:uLnTx/>
                <a:uFillTx/>
                <a:latin typeface="Arial Nova" panose="020B0504020202020204" pitchFamily="34" charset="0"/>
              </a:rPr>
              <a:t>Get the help from recent machine learning techniques</a:t>
            </a:r>
            <a:endParaRPr kumimoji="0" lang="en-US" sz="2000" b="0" i="0" u="none" strike="noStrike" kern="0" cap="none" spc="0" normalizeH="0" baseline="0" noProof="0" dirty="0">
              <a:ln>
                <a:noFill/>
              </a:ln>
              <a:solidFill>
                <a:srgbClr val="000000"/>
              </a:solidFill>
              <a:effectLst/>
              <a:uLnTx/>
              <a:uFillTx/>
              <a:latin typeface="Arial Nova" panose="020B0504020202020204" pitchFamily="34" charset="0"/>
            </a:endParaRPr>
          </a:p>
        </p:txBody>
      </p:sp>
    </p:spTree>
    <p:extLst>
      <p:ext uri="{BB962C8B-B14F-4D97-AF65-F5344CB8AC3E}">
        <p14:creationId xmlns:p14="http://schemas.microsoft.com/office/powerpoint/2010/main" val="2781161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r>
              <a:rPr lang="en-US" altLang="zh-CN"/>
              <a:t>IDS Summary</a:t>
            </a:r>
            <a:endParaRPr lang="en-US"/>
          </a:p>
        </p:txBody>
      </p:sp>
      <p:sp>
        <p:nvSpPr>
          <p:cNvPr id="9" name="Text Placeholder 8">
            <a:extLst>
              <a:ext uri="{FF2B5EF4-FFF2-40B4-BE49-F238E27FC236}">
                <a16:creationId xmlns:a16="http://schemas.microsoft.com/office/drawing/2014/main" id="{36505C26-B858-8748-94C1-794DBD6F4DAA}"/>
              </a:ext>
            </a:extLst>
          </p:cNvPr>
          <p:cNvSpPr>
            <a:spLocks noGrp="1"/>
          </p:cNvSpPr>
          <p:nvPr>
            <p:ph type="body" idx="11"/>
          </p:nvPr>
        </p:nvSpPr>
        <p:spPr/>
        <p:txBody>
          <a:bodyPr/>
          <a:lstStyle/>
          <a:p>
            <a:endParaRPr lang="en-US"/>
          </a:p>
        </p:txBody>
      </p:sp>
      <p:sp>
        <p:nvSpPr>
          <p:cNvPr id="15" name="Rectangle 3">
            <a:extLst>
              <a:ext uri="{FF2B5EF4-FFF2-40B4-BE49-F238E27FC236}">
                <a16:creationId xmlns:a16="http://schemas.microsoft.com/office/drawing/2014/main" id="{BD74097D-6490-244D-BEDF-62237AD87E73}"/>
              </a:ext>
            </a:extLst>
          </p:cNvPr>
          <p:cNvSpPr txBox="1">
            <a:spLocks noChangeArrowheads="1"/>
          </p:cNvSpPr>
          <p:nvPr/>
        </p:nvSpPr>
        <p:spPr bwMode="auto">
          <a:xfrm>
            <a:off x="513349" y="1295487"/>
            <a:ext cx="4693840" cy="2308324"/>
          </a:xfrm>
          <a:prstGeom prst="rect">
            <a:avLst/>
          </a:prstGeom>
          <a:noFill/>
          <a:ln w="9525">
            <a:solidFill>
              <a:srgbClr val="000000"/>
            </a:solid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1800">
                <a:solidFill>
                  <a:schemeClr val="tx1"/>
                </a:solidFill>
                <a:latin typeface="+mn-lt"/>
              </a:defRPr>
            </a:lvl4pPr>
            <a:lvl5pPr marL="2057400" indent="-228600" algn="l" rtl="0" eaLnBrk="1" fontAlgn="base" hangingPunct="1">
              <a:spcBef>
                <a:spcPct val="20000"/>
              </a:spcBef>
              <a:spcAft>
                <a:spcPct val="0"/>
              </a:spcAft>
              <a:buChar char="»"/>
              <a:defRPr sz="1800">
                <a:solidFill>
                  <a:schemeClr val="tx1"/>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1" i="0" u="none" strike="noStrike" kern="0" cap="none" spc="0" normalizeH="0" baseline="0" noProof="0" dirty="0">
                <a:ln>
                  <a:noFill/>
                </a:ln>
                <a:solidFill>
                  <a:srgbClr val="000000"/>
                </a:solidFill>
                <a:effectLst/>
                <a:uLnTx/>
                <a:uFillTx/>
                <a:latin typeface="Arial"/>
                <a:ea typeface="+mn-ea"/>
                <a:cs typeface="+mn-cs"/>
              </a:rPr>
              <a:t>Advantages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0000"/>
                </a:solidFill>
                <a:effectLst/>
                <a:uLnTx/>
                <a:uFillTx/>
                <a:latin typeface="Arial"/>
              </a:rPr>
              <a:t>Complement firewall</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0000"/>
                </a:solidFill>
                <a:effectLst/>
                <a:uLnTx/>
                <a:uFillTx/>
                <a:latin typeface="Arial"/>
              </a:rPr>
              <a:t>Continues to improve</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0000"/>
                </a:solidFill>
                <a:effectLst/>
                <a:uLnTx/>
                <a:uFillTx/>
                <a:latin typeface="Arial"/>
              </a:rPr>
              <a:t>Transparent installation</a:t>
            </a:r>
          </a:p>
        </p:txBody>
      </p:sp>
      <p:sp>
        <p:nvSpPr>
          <p:cNvPr id="16" name="Rectangle 4">
            <a:extLst>
              <a:ext uri="{FF2B5EF4-FFF2-40B4-BE49-F238E27FC236}">
                <a16:creationId xmlns:a16="http://schemas.microsoft.com/office/drawing/2014/main" id="{6CD82CB7-7F2B-144B-9A73-7EC7F99BCC25}"/>
              </a:ext>
            </a:extLst>
          </p:cNvPr>
          <p:cNvSpPr txBox="1">
            <a:spLocks noChangeArrowheads="1"/>
          </p:cNvSpPr>
          <p:nvPr/>
        </p:nvSpPr>
        <p:spPr bwMode="auto">
          <a:xfrm>
            <a:off x="5933574" y="1295487"/>
            <a:ext cx="5384800" cy="4093428"/>
          </a:xfrm>
          <a:prstGeom prst="rect">
            <a:avLst/>
          </a:prstGeom>
          <a:noFill/>
          <a:ln w="9525">
            <a:solidFill>
              <a:srgbClr val="000000"/>
            </a:solidFill>
            <a:miter lim="800000"/>
            <a:headEnd/>
            <a:tailEnd/>
          </a:ln>
          <a:effectLst/>
        </p:spPr>
        <p:txBody>
          <a:bodyPr vert="horz" wrap="square" lIns="91440" tIns="45720" rIns="91440" bIns="45720" numCol="1" anchor="t" anchorCtr="0" compatLnSpc="1">
            <a:prstTxWarp prst="textNoShape">
              <a:avLst/>
            </a:prstTxWarp>
            <a:spAutoFit/>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1800">
                <a:solidFill>
                  <a:schemeClr val="tx1"/>
                </a:solidFill>
                <a:latin typeface="+mn-lt"/>
              </a:defRPr>
            </a:lvl4pPr>
            <a:lvl5pPr marL="2057400" indent="-228600" algn="l" rtl="0" eaLnBrk="1" fontAlgn="base" hangingPunct="1">
              <a:spcBef>
                <a:spcPct val="20000"/>
              </a:spcBef>
              <a:spcAft>
                <a:spcPct val="0"/>
              </a:spcAft>
              <a:buChar char="»"/>
              <a:defRPr sz="1800">
                <a:solidFill>
                  <a:schemeClr val="tx1"/>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400" b="1" i="0" u="none" strike="noStrike" kern="0" cap="none" spc="0" normalizeH="0" baseline="0" noProof="0" dirty="0">
                <a:ln>
                  <a:noFill/>
                </a:ln>
                <a:solidFill>
                  <a:srgbClr val="000000"/>
                </a:solidFill>
                <a:effectLst/>
                <a:uLnTx/>
                <a:uFillTx/>
                <a:latin typeface="Arial"/>
                <a:ea typeface="+mn-ea"/>
                <a:cs typeface="+mn-cs"/>
              </a:rPr>
              <a:t>Disadvantages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0000"/>
                </a:solidFill>
                <a:effectLst/>
                <a:uLnTx/>
                <a:uFillTx/>
                <a:latin typeface="Arial"/>
              </a:rPr>
              <a:t>High false alarm rate</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0000"/>
                </a:solidFill>
                <a:effectLst/>
                <a:uLnTx/>
                <a:uFillTx/>
                <a:latin typeface="Arial"/>
              </a:rPr>
              <a:t>May miss some new attacks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0000"/>
                </a:solidFill>
                <a:effectLst/>
                <a:uLnTx/>
                <a:uFillTx/>
                <a:latin typeface="Arial"/>
              </a:rPr>
              <a:t>Work after the fact</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000000"/>
                </a:solidFill>
                <a:effectLst/>
                <a:uLnTx/>
                <a:uFillTx/>
                <a:latin typeface="Arial"/>
              </a:rPr>
              <a:t>Requires security personnel to handle alarms and monitor track records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000000"/>
              </a:solidFill>
              <a:effectLst/>
              <a:uLnTx/>
              <a:uFillTx/>
              <a:latin typeface="Arial"/>
            </a:endParaRPr>
          </a:p>
        </p:txBody>
      </p:sp>
    </p:spTree>
    <p:extLst>
      <p:ext uri="{BB962C8B-B14F-4D97-AF65-F5344CB8AC3E}">
        <p14:creationId xmlns:p14="http://schemas.microsoft.com/office/powerpoint/2010/main" val="2766566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chor="ctr">
            <a:normAutofit/>
          </a:bodyPr>
          <a:lstStyle/>
          <a:p>
            <a:r>
              <a:rPr lang="en-US" dirty="0"/>
              <a:t>Deployment of FW and IDS</a:t>
            </a:r>
          </a:p>
        </p:txBody>
      </p:sp>
      <p:sp>
        <p:nvSpPr>
          <p:cNvPr id="7" name="Content Placeholder 6">
            <a:extLst>
              <a:ext uri="{FF2B5EF4-FFF2-40B4-BE49-F238E27FC236}">
                <a16:creationId xmlns:a16="http://schemas.microsoft.com/office/drawing/2014/main" id="{4DB09E1D-A217-454D-B739-7CF441250ADB}"/>
              </a:ext>
            </a:extLst>
          </p:cNvPr>
          <p:cNvSpPr>
            <a:spLocks noGrp="1"/>
          </p:cNvSpPr>
          <p:nvPr>
            <p:ph idx="1"/>
          </p:nvPr>
        </p:nvSpPr>
        <p:spPr>
          <a:xfrm>
            <a:off x="513350" y="1268243"/>
            <a:ext cx="6706158" cy="4723318"/>
          </a:xfrm>
        </p:spPr>
        <p:txBody>
          <a:bodyPr/>
          <a:lstStyle/>
          <a:p>
            <a:r>
              <a:rPr lang="en-US" dirty="0"/>
              <a:t>Firewall is always deployed at the perimeter of the protected facility (a network or a host).</a:t>
            </a:r>
          </a:p>
          <a:p>
            <a:pPr lvl="1"/>
            <a:r>
              <a:rPr lang="en-US" dirty="0"/>
              <a:t>It must have the capability of intercepting network traffic.</a:t>
            </a:r>
          </a:p>
          <a:p>
            <a:pPr lvl="1"/>
            <a:r>
              <a:rPr lang="en-US" dirty="0"/>
              <a:t>two firewalls create the DMZ (de-militarized zone) for network servers facing Internet traffic.</a:t>
            </a:r>
          </a:p>
          <a:p>
            <a:r>
              <a:rPr lang="en-US" dirty="0"/>
              <a:t>IDS is deployed side-by-side of the protected facility. </a:t>
            </a:r>
          </a:p>
          <a:p>
            <a:endParaRPr lang="en-US" dirty="0"/>
          </a:p>
        </p:txBody>
      </p:sp>
      <p:pic>
        <p:nvPicPr>
          <p:cNvPr id="302084" name="Picture 4"/>
          <p:cNvPicPr>
            <a:picLocks noChangeAspect="1" noChangeArrowheads="1"/>
          </p:cNvPicPr>
          <p:nvPr/>
        </p:nvPicPr>
        <p:blipFill>
          <a:blip r:embed="rId3"/>
          <a:stretch>
            <a:fillRect/>
          </a:stretch>
        </p:blipFill>
        <p:spPr bwMode="auto">
          <a:xfrm>
            <a:off x="7520961" y="1610602"/>
            <a:ext cx="4028801" cy="4038600"/>
          </a:xfrm>
          <a:prstGeom prst="rect">
            <a:avLst/>
          </a:prstGeom>
          <a:noFill/>
          <a:ln w="9525">
            <a:noFill/>
            <a:miter lim="800000"/>
            <a:headEnd/>
            <a:tailEnd/>
          </a:ln>
          <a:effectLst/>
        </p:spPr>
      </p:pic>
      <p:sp>
        <p:nvSpPr>
          <p:cNvPr id="9" name="Text Placeholder 8">
            <a:extLst>
              <a:ext uri="{FF2B5EF4-FFF2-40B4-BE49-F238E27FC236}">
                <a16:creationId xmlns:a16="http://schemas.microsoft.com/office/drawing/2014/main" id="{649C808C-C79B-FC4E-A58D-91EBF90496BB}"/>
              </a:ext>
            </a:extLst>
          </p:cNvPr>
          <p:cNvSpPr>
            <a:spLocks noGrp="1"/>
          </p:cNvSpPr>
          <p:nvPr>
            <p:ph type="body" idx="11"/>
          </p:nvPr>
        </p:nvSpPr>
        <p:spPr/>
        <p:txBody>
          <a:bodyPr/>
          <a:lstStyle/>
          <a:p>
            <a:endParaRPr lang="en-US"/>
          </a:p>
        </p:txBody>
      </p:sp>
    </p:spTree>
    <p:extLst>
      <p:ext uri="{BB962C8B-B14F-4D97-AF65-F5344CB8AC3E}">
        <p14:creationId xmlns:p14="http://schemas.microsoft.com/office/powerpoint/2010/main" val="2523576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en-US" dirty="0"/>
              <a:t>Overview of SSL/TLS</a:t>
            </a:r>
          </a:p>
        </p:txBody>
      </p:sp>
      <p:sp>
        <p:nvSpPr>
          <p:cNvPr id="5" name="Text Placeholder 4">
            <a:extLst>
              <a:ext uri="{FF2B5EF4-FFF2-40B4-BE49-F238E27FC236}">
                <a16:creationId xmlns:a16="http://schemas.microsoft.com/office/drawing/2014/main" id="{93AFE7D5-3567-EA41-B2C2-A8D4615F67CA}"/>
              </a:ext>
            </a:extLst>
          </p:cNvPr>
          <p:cNvSpPr>
            <a:spLocks noGrp="1"/>
          </p:cNvSpPr>
          <p:nvPr>
            <p:ph type="body" idx="11"/>
          </p:nvPr>
        </p:nvSpPr>
        <p:spPr/>
        <p:txBody>
          <a:bodyPr/>
          <a:lstStyle/>
          <a:p>
            <a:endParaRPr lang="en-US"/>
          </a:p>
        </p:txBody>
      </p:sp>
      <p:sp>
        <p:nvSpPr>
          <p:cNvPr id="2" name="Content Placeholder 1"/>
          <p:cNvSpPr>
            <a:spLocks noGrp="1"/>
          </p:cNvSpPr>
          <p:nvPr>
            <p:ph idx="1"/>
          </p:nvPr>
        </p:nvSpPr>
        <p:spPr/>
        <p:txBody>
          <a:bodyPr/>
          <a:lstStyle/>
          <a:p>
            <a:r>
              <a:rPr lang="en-US" dirty="0"/>
              <a:t>SSL/TLS (Secure Socket Layer or Transport Layer Security) provides</a:t>
            </a:r>
          </a:p>
          <a:p>
            <a:pPr lvl="1"/>
            <a:r>
              <a:rPr lang="en-US" dirty="0"/>
              <a:t>Implicit server authentication (because the server has a public key certificate)</a:t>
            </a:r>
          </a:p>
          <a:p>
            <a:pPr lvl="1"/>
            <a:r>
              <a:rPr lang="en-US" dirty="0"/>
              <a:t>A secure channel between the server application and the client application (to encrypt/authenticate data sent in between). </a:t>
            </a:r>
          </a:p>
          <a:p>
            <a:r>
              <a:rPr lang="en-US" dirty="0"/>
              <a:t>SSL runs in two phases</a:t>
            </a:r>
          </a:p>
          <a:p>
            <a:pPr lvl="1"/>
            <a:r>
              <a:rPr lang="en-US" dirty="0"/>
              <a:t>Handshake – </a:t>
            </a:r>
            <a:r>
              <a:rPr lang="en-US" dirty="0" err="1"/>
              <a:t>estab</a:t>
            </a:r>
            <a:r>
              <a:rPr lang="en-US" dirty="0"/>
              <a:t> </a:t>
            </a:r>
            <a:r>
              <a:rPr lang="en-US" dirty="0" err="1"/>
              <a:t>sym</a:t>
            </a:r>
            <a:r>
              <a:rPr lang="en-US" dirty="0"/>
              <a:t> key</a:t>
            </a:r>
          </a:p>
          <a:p>
            <a:pPr lvl="1"/>
            <a:r>
              <a:rPr lang="en-US" dirty="0"/>
              <a:t>encryption and/or authentication – actual </a:t>
            </a:r>
            <a:r>
              <a:rPr lang="en-US" dirty="0" err="1"/>
              <a:t>datas</a:t>
            </a:r>
            <a:r>
              <a:rPr lang="en-US" dirty="0"/>
              <a:t>.</a:t>
            </a:r>
          </a:p>
        </p:txBody>
      </p:sp>
    </p:spTree>
    <p:extLst>
      <p:ext uri="{BB962C8B-B14F-4D97-AF65-F5344CB8AC3E}">
        <p14:creationId xmlns:p14="http://schemas.microsoft.com/office/powerpoint/2010/main" val="3646747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44008" y="30163"/>
            <a:ext cx="9597029" cy="1325562"/>
          </a:xfrm>
        </p:spPr>
        <p:txBody>
          <a:bodyPr/>
          <a:lstStyle/>
          <a:p>
            <a:r>
              <a:rPr lang="en-US" dirty="0"/>
              <a:t>The Workflow</a:t>
            </a:r>
          </a:p>
        </p:txBody>
      </p:sp>
      <p:sp>
        <p:nvSpPr>
          <p:cNvPr id="63" name="Rectangle 62">
            <a:extLst>
              <a:ext uri="{FF2B5EF4-FFF2-40B4-BE49-F238E27FC236}">
                <a16:creationId xmlns:a16="http://schemas.microsoft.com/office/drawing/2014/main" id="{DDF6D798-3A1D-814C-8D11-A80B3E28E5F2}"/>
              </a:ext>
            </a:extLst>
          </p:cNvPr>
          <p:cNvSpPr/>
          <p:nvPr/>
        </p:nvSpPr>
        <p:spPr>
          <a:xfrm>
            <a:off x="2085750" y="4338084"/>
            <a:ext cx="2057400" cy="3810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SSL</a:t>
            </a:r>
          </a:p>
        </p:txBody>
      </p:sp>
      <p:sp>
        <p:nvSpPr>
          <p:cNvPr id="64" name="Rectangle 63">
            <a:extLst>
              <a:ext uri="{FF2B5EF4-FFF2-40B4-BE49-F238E27FC236}">
                <a16:creationId xmlns:a16="http://schemas.microsoft.com/office/drawing/2014/main" id="{48821D60-E9F5-C44E-B501-12BA5FCF6BEC}"/>
              </a:ext>
            </a:extLst>
          </p:cNvPr>
          <p:cNvSpPr/>
          <p:nvPr/>
        </p:nvSpPr>
        <p:spPr>
          <a:xfrm>
            <a:off x="2542950" y="1442484"/>
            <a:ext cx="1066800" cy="5334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Client App</a:t>
            </a:r>
          </a:p>
        </p:txBody>
      </p:sp>
      <p:cxnSp>
        <p:nvCxnSpPr>
          <p:cNvPr id="65" name="Straight Connector 64">
            <a:extLst>
              <a:ext uri="{FF2B5EF4-FFF2-40B4-BE49-F238E27FC236}">
                <a16:creationId xmlns:a16="http://schemas.microsoft.com/office/drawing/2014/main" id="{C5D2E453-9D9E-8F40-B86A-9FEE5BB301C0}"/>
              </a:ext>
            </a:extLst>
          </p:cNvPr>
          <p:cNvCxnSpPr>
            <a:stCxn id="64" idx="2"/>
            <a:endCxn id="63" idx="0"/>
          </p:cNvCxnSpPr>
          <p:nvPr/>
        </p:nvCxnSpPr>
        <p:spPr>
          <a:xfrm>
            <a:off x="3076350" y="1975884"/>
            <a:ext cx="38100" cy="2362200"/>
          </a:xfrm>
          <a:prstGeom prst="line">
            <a:avLst/>
          </a:prstGeom>
          <a:noFill/>
          <a:ln w="25400" cap="flat" cmpd="sng" algn="ctr">
            <a:solidFill>
              <a:srgbClr val="2D2D8A"/>
            </a:solidFill>
            <a:prstDash val="solid"/>
          </a:ln>
          <a:effectLst>
            <a:outerShdw blurRad="40000" dist="20000" dir="5400000" rotWithShape="0">
              <a:srgbClr val="000000">
                <a:alpha val="38000"/>
              </a:srgbClr>
            </a:outerShdw>
          </a:effectLst>
        </p:spPr>
      </p:cxnSp>
      <p:sp>
        <p:nvSpPr>
          <p:cNvPr id="66" name="Rectangle 65">
            <a:extLst>
              <a:ext uri="{FF2B5EF4-FFF2-40B4-BE49-F238E27FC236}">
                <a16:creationId xmlns:a16="http://schemas.microsoft.com/office/drawing/2014/main" id="{E5F0C73C-12A6-2943-AB3A-5928AB03B7E5}"/>
              </a:ext>
            </a:extLst>
          </p:cNvPr>
          <p:cNvSpPr/>
          <p:nvPr/>
        </p:nvSpPr>
        <p:spPr>
          <a:xfrm>
            <a:off x="8143651" y="4338084"/>
            <a:ext cx="2057400" cy="3810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SSL</a:t>
            </a:r>
          </a:p>
        </p:txBody>
      </p:sp>
      <p:sp>
        <p:nvSpPr>
          <p:cNvPr id="67" name="Rectangle 66">
            <a:extLst>
              <a:ext uri="{FF2B5EF4-FFF2-40B4-BE49-F238E27FC236}">
                <a16:creationId xmlns:a16="http://schemas.microsoft.com/office/drawing/2014/main" id="{B717CC4F-A477-FD46-983B-4EC6D686F971}"/>
              </a:ext>
            </a:extLst>
          </p:cNvPr>
          <p:cNvSpPr/>
          <p:nvPr/>
        </p:nvSpPr>
        <p:spPr>
          <a:xfrm>
            <a:off x="8638951" y="1442484"/>
            <a:ext cx="1066800" cy="533400"/>
          </a:xfrm>
          <a:prstGeom prst="rect">
            <a:avLst/>
          </a:prstGeom>
          <a:gradFill rotWithShape="1">
            <a:gsLst>
              <a:gs pos="0">
                <a:srgbClr val="2D2D8A">
                  <a:shade val="51000"/>
                  <a:satMod val="130000"/>
                </a:srgbClr>
              </a:gs>
              <a:gs pos="80000">
                <a:srgbClr val="2D2D8A">
                  <a:shade val="93000"/>
                  <a:satMod val="130000"/>
                </a:srgbClr>
              </a:gs>
              <a:gs pos="100000">
                <a:srgbClr val="2D2D8A">
                  <a:shade val="94000"/>
                  <a:satMod val="135000"/>
                </a:srgbClr>
              </a:gs>
            </a:gsLst>
            <a:lin ang="16200000" scaled="0"/>
          </a:gra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FFFFFF"/>
                </a:solidFill>
                <a:effectLst/>
                <a:uLnTx/>
                <a:uFillTx/>
                <a:latin typeface="Arial"/>
                <a:ea typeface="+mn-ea"/>
                <a:cs typeface="+mn-cs"/>
              </a:rPr>
              <a:t>Server App</a:t>
            </a:r>
          </a:p>
        </p:txBody>
      </p:sp>
      <p:cxnSp>
        <p:nvCxnSpPr>
          <p:cNvPr id="68" name="Straight Connector 67">
            <a:extLst>
              <a:ext uri="{FF2B5EF4-FFF2-40B4-BE49-F238E27FC236}">
                <a16:creationId xmlns:a16="http://schemas.microsoft.com/office/drawing/2014/main" id="{71910B4B-2414-7648-9D98-49342DE9D75A}"/>
              </a:ext>
            </a:extLst>
          </p:cNvPr>
          <p:cNvCxnSpPr>
            <a:stCxn id="67" idx="2"/>
            <a:endCxn id="66" idx="0"/>
          </p:cNvCxnSpPr>
          <p:nvPr/>
        </p:nvCxnSpPr>
        <p:spPr>
          <a:xfrm>
            <a:off x="9172351" y="1975884"/>
            <a:ext cx="0" cy="2362200"/>
          </a:xfrm>
          <a:prstGeom prst="line">
            <a:avLst/>
          </a:prstGeom>
          <a:noFill/>
          <a:ln w="25400" cap="flat" cmpd="sng" algn="ctr">
            <a:solidFill>
              <a:srgbClr val="2D2D8A"/>
            </a:solidFill>
            <a:prstDash val="solid"/>
          </a:ln>
          <a:effectLst>
            <a:outerShdw blurRad="40000" dist="20000" dir="5400000" rotWithShape="0">
              <a:srgbClr val="000000">
                <a:alpha val="38000"/>
              </a:srgbClr>
            </a:outerShdw>
          </a:effectLst>
        </p:spPr>
      </p:cxnSp>
      <p:sp>
        <p:nvSpPr>
          <p:cNvPr id="69" name="TextBox 68">
            <a:extLst>
              <a:ext uri="{FF2B5EF4-FFF2-40B4-BE49-F238E27FC236}">
                <a16:creationId xmlns:a16="http://schemas.microsoft.com/office/drawing/2014/main" id="{92E8D0D5-05A1-C34F-931A-05723BA7BF04}"/>
              </a:ext>
            </a:extLst>
          </p:cNvPr>
          <p:cNvSpPr txBox="1"/>
          <p:nvPr/>
        </p:nvSpPr>
        <p:spPr>
          <a:xfrm>
            <a:off x="3076351" y="2356884"/>
            <a:ext cx="2661691"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0. Request SSL connection</a:t>
            </a:r>
          </a:p>
        </p:txBody>
      </p:sp>
      <p:cxnSp>
        <p:nvCxnSpPr>
          <p:cNvPr id="70" name="Straight Arrow Connector 69">
            <a:extLst>
              <a:ext uri="{FF2B5EF4-FFF2-40B4-BE49-F238E27FC236}">
                <a16:creationId xmlns:a16="http://schemas.microsoft.com/office/drawing/2014/main" id="{5B4FA95E-8122-2A4B-8C96-FD4E0EBC2DDA}"/>
              </a:ext>
            </a:extLst>
          </p:cNvPr>
          <p:cNvCxnSpPr>
            <a:stCxn id="63" idx="3"/>
            <a:endCxn id="66" idx="1"/>
          </p:cNvCxnSpPr>
          <p:nvPr/>
        </p:nvCxnSpPr>
        <p:spPr>
          <a:xfrm>
            <a:off x="4143150" y="4528584"/>
            <a:ext cx="4000501" cy="0"/>
          </a:xfrm>
          <a:prstGeom prst="straightConnector1">
            <a:avLst/>
          </a:prstGeom>
          <a:noFill/>
          <a:ln w="25400" cap="flat" cmpd="sng" algn="ctr">
            <a:solidFill>
              <a:srgbClr val="2D2D8A"/>
            </a:solidFill>
            <a:prstDash val="solid"/>
            <a:headEnd type="triangle" w="lg" len="lg"/>
            <a:tailEnd type="triangle" w="lg" len="lg"/>
          </a:ln>
          <a:effectLst>
            <a:outerShdw blurRad="40000" dist="20000" dir="5400000" rotWithShape="0">
              <a:srgbClr val="000000">
                <a:alpha val="38000"/>
              </a:srgbClr>
            </a:outerShdw>
          </a:effectLst>
        </p:spPr>
      </p:cxnSp>
      <p:sp>
        <p:nvSpPr>
          <p:cNvPr id="71" name="TextBox 70">
            <a:extLst>
              <a:ext uri="{FF2B5EF4-FFF2-40B4-BE49-F238E27FC236}">
                <a16:creationId xmlns:a16="http://schemas.microsoft.com/office/drawing/2014/main" id="{41D4DC1E-81EC-BD47-90C1-10A0C6DA7D8C}"/>
              </a:ext>
            </a:extLst>
          </p:cNvPr>
          <p:cNvSpPr txBox="1"/>
          <p:nvPr/>
        </p:nvSpPr>
        <p:spPr>
          <a:xfrm>
            <a:off x="5133751" y="3728484"/>
            <a:ext cx="4271106"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1. SSL handshake session – cert verification </a:t>
            </a:r>
          </a:p>
        </p:txBody>
      </p:sp>
      <p:sp>
        <p:nvSpPr>
          <p:cNvPr id="72" name="TextBox 71">
            <a:extLst>
              <a:ext uri="{FF2B5EF4-FFF2-40B4-BE49-F238E27FC236}">
                <a16:creationId xmlns:a16="http://schemas.microsoft.com/office/drawing/2014/main" id="{333C4480-2CE6-524D-8108-7C14EF8362B3}"/>
              </a:ext>
            </a:extLst>
          </p:cNvPr>
          <p:cNvSpPr txBox="1"/>
          <p:nvPr/>
        </p:nvSpPr>
        <p:spPr>
          <a:xfrm>
            <a:off x="6581551" y="2356884"/>
            <a:ext cx="2292615"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2. Establish connection</a:t>
            </a:r>
          </a:p>
        </p:txBody>
      </p:sp>
      <p:sp>
        <p:nvSpPr>
          <p:cNvPr id="73" name="TextBox 72">
            <a:extLst>
              <a:ext uri="{FF2B5EF4-FFF2-40B4-BE49-F238E27FC236}">
                <a16:creationId xmlns:a16="http://schemas.microsoft.com/office/drawing/2014/main" id="{0E152BDD-BEC8-F642-BD48-216428CA29EE}"/>
              </a:ext>
            </a:extLst>
          </p:cNvPr>
          <p:cNvSpPr txBox="1"/>
          <p:nvPr/>
        </p:nvSpPr>
        <p:spPr>
          <a:xfrm>
            <a:off x="3076350" y="3008930"/>
            <a:ext cx="2307042"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3. Send data (plaintext)</a:t>
            </a:r>
          </a:p>
        </p:txBody>
      </p:sp>
      <p:sp>
        <p:nvSpPr>
          <p:cNvPr id="74" name="TextBox 73">
            <a:extLst>
              <a:ext uri="{FF2B5EF4-FFF2-40B4-BE49-F238E27FC236}">
                <a16:creationId xmlns:a16="http://schemas.microsoft.com/office/drawing/2014/main" id="{0CD2F46F-48E7-7942-8D81-D3B55F26D2C4}"/>
              </a:ext>
            </a:extLst>
          </p:cNvPr>
          <p:cNvSpPr txBox="1"/>
          <p:nvPr/>
        </p:nvSpPr>
        <p:spPr>
          <a:xfrm>
            <a:off x="4219350" y="5100084"/>
            <a:ext cx="3995004" cy="338554"/>
          </a:xfrm>
          <a:prstGeom prst="rect">
            <a:avLst/>
          </a:prstGeom>
          <a:noFill/>
        </p:spPr>
        <p:txBody>
          <a:bodyPr wrap="none" rtlCol="0">
            <a:spAutoFit/>
          </a:bodyPr>
          <a:lstStyle/>
          <a:p>
            <a:pPr defTabSz="914400" fontAlgn="base">
              <a:spcBef>
                <a:spcPct val="0"/>
              </a:spcBef>
              <a:spcAft>
                <a:spcPct val="0"/>
              </a:spcAft>
            </a:pPr>
            <a:r>
              <a:rPr lang="en-US" sz="1600" dirty="0">
                <a:solidFill>
                  <a:srgbClr val="000000"/>
                </a:solidFill>
                <a:latin typeface="Arial" pitchFamily="34" charset="0"/>
              </a:rPr>
              <a:t>4. Send encrypted and authenticated data</a:t>
            </a:r>
          </a:p>
        </p:txBody>
      </p:sp>
      <p:sp>
        <p:nvSpPr>
          <p:cNvPr id="75" name="TextBox 74">
            <a:extLst>
              <a:ext uri="{FF2B5EF4-FFF2-40B4-BE49-F238E27FC236}">
                <a16:creationId xmlns:a16="http://schemas.microsoft.com/office/drawing/2014/main" id="{C69FB6DC-329D-3F4F-A10E-464CAC2076C7}"/>
              </a:ext>
            </a:extLst>
          </p:cNvPr>
          <p:cNvSpPr txBox="1"/>
          <p:nvPr/>
        </p:nvSpPr>
        <p:spPr>
          <a:xfrm>
            <a:off x="6581550" y="3008931"/>
            <a:ext cx="2362200" cy="584775"/>
          </a:xfrm>
          <a:prstGeom prst="rect">
            <a:avLst/>
          </a:prstGeom>
          <a:noFill/>
        </p:spPr>
        <p:txBody>
          <a:bodyPr wrap="square" rtlCol="0">
            <a:spAutoFit/>
          </a:bodyPr>
          <a:lstStyle/>
          <a:p>
            <a:pPr defTabSz="914400" fontAlgn="base">
              <a:spcBef>
                <a:spcPct val="0"/>
              </a:spcBef>
              <a:spcAft>
                <a:spcPct val="0"/>
              </a:spcAft>
            </a:pPr>
            <a:r>
              <a:rPr lang="en-US" sz="1600" dirty="0">
                <a:solidFill>
                  <a:srgbClr val="000000"/>
                </a:solidFill>
                <a:latin typeface="Arial" pitchFamily="34" charset="0"/>
              </a:rPr>
              <a:t>5. Receive data (plaintext)</a:t>
            </a:r>
          </a:p>
        </p:txBody>
      </p:sp>
      <p:sp>
        <p:nvSpPr>
          <p:cNvPr id="76" name="Rectangle 75">
            <a:extLst>
              <a:ext uri="{FF2B5EF4-FFF2-40B4-BE49-F238E27FC236}">
                <a16:creationId xmlns:a16="http://schemas.microsoft.com/office/drawing/2014/main" id="{5C315120-73C2-8641-A13A-70F5108E6B9D}"/>
              </a:ext>
            </a:extLst>
          </p:cNvPr>
          <p:cNvSpPr/>
          <p:nvPr/>
        </p:nvSpPr>
        <p:spPr>
          <a:xfrm>
            <a:off x="2085750" y="3880884"/>
            <a:ext cx="2057400" cy="1981200"/>
          </a:xfrm>
          <a:prstGeom prst="rect">
            <a:avLst/>
          </a:prstGeom>
          <a:noFill/>
          <a:ln w="9525" cap="flat" cmpd="sng" algn="ctr">
            <a:solidFill>
              <a:srgbClr val="0000FF"/>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77" name="TextBox 76">
            <a:extLst>
              <a:ext uri="{FF2B5EF4-FFF2-40B4-BE49-F238E27FC236}">
                <a16:creationId xmlns:a16="http://schemas.microsoft.com/office/drawing/2014/main" id="{F403B668-5CB5-BE4C-AA28-2343D33A582F}"/>
              </a:ext>
            </a:extLst>
          </p:cNvPr>
          <p:cNvSpPr txBox="1"/>
          <p:nvPr/>
        </p:nvSpPr>
        <p:spPr>
          <a:xfrm>
            <a:off x="2238151" y="5404884"/>
            <a:ext cx="2023311" cy="400110"/>
          </a:xfrm>
          <a:prstGeom prst="rect">
            <a:avLst/>
          </a:prstGeom>
          <a:noFill/>
        </p:spPr>
        <p:txBody>
          <a:bodyPr wrap="none" rtlCol="0">
            <a:spAutoFit/>
          </a:bodyPr>
          <a:lstStyle/>
          <a:p>
            <a:pPr defTabSz="914400" fontAlgn="base">
              <a:spcBef>
                <a:spcPct val="0"/>
              </a:spcBef>
              <a:spcAft>
                <a:spcPct val="0"/>
              </a:spcAft>
            </a:pPr>
            <a:r>
              <a:rPr lang="en-US" sz="2000" dirty="0">
                <a:solidFill>
                  <a:srgbClr val="000000"/>
                </a:solidFill>
                <a:latin typeface="Arial" pitchFamily="34" charset="0"/>
              </a:rPr>
              <a:t>OS and libraries</a:t>
            </a:r>
          </a:p>
        </p:txBody>
      </p:sp>
      <p:sp>
        <p:nvSpPr>
          <p:cNvPr id="78" name="TextBox 77">
            <a:extLst>
              <a:ext uri="{FF2B5EF4-FFF2-40B4-BE49-F238E27FC236}">
                <a16:creationId xmlns:a16="http://schemas.microsoft.com/office/drawing/2014/main" id="{B6EA87C7-04D1-AD46-985A-C30434F2B3E8}"/>
              </a:ext>
            </a:extLst>
          </p:cNvPr>
          <p:cNvSpPr txBox="1"/>
          <p:nvPr/>
        </p:nvSpPr>
        <p:spPr>
          <a:xfrm>
            <a:off x="8273439" y="5481084"/>
            <a:ext cx="2023311" cy="400110"/>
          </a:xfrm>
          <a:prstGeom prst="rect">
            <a:avLst/>
          </a:prstGeom>
          <a:noFill/>
        </p:spPr>
        <p:txBody>
          <a:bodyPr wrap="none" rtlCol="0">
            <a:spAutoFit/>
          </a:bodyPr>
          <a:lstStyle/>
          <a:p>
            <a:pPr defTabSz="914400" fontAlgn="base">
              <a:spcBef>
                <a:spcPct val="0"/>
              </a:spcBef>
              <a:spcAft>
                <a:spcPct val="0"/>
              </a:spcAft>
            </a:pPr>
            <a:r>
              <a:rPr lang="en-US" sz="2000" dirty="0">
                <a:solidFill>
                  <a:srgbClr val="000000"/>
                </a:solidFill>
                <a:latin typeface="Arial" pitchFamily="34" charset="0"/>
              </a:rPr>
              <a:t>OS and libraries</a:t>
            </a:r>
          </a:p>
        </p:txBody>
      </p:sp>
      <p:sp>
        <p:nvSpPr>
          <p:cNvPr id="79" name="Rectangle 78">
            <a:extLst>
              <a:ext uri="{FF2B5EF4-FFF2-40B4-BE49-F238E27FC236}">
                <a16:creationId xmlns:a16="http://schemas.microsoft.com/office/drawing/2014/main" id="{E78E7408-BE53-DD40-BA36-EFEF916256A9}"/>
              </a:ext>
            </a:extLst>
          </p:cNvPr>
          <p:cNvSpPr/>
          <p:nvPr/>
        </p:nvSpPr>
        <p:spPr>
          <a:xfrm>
            <a:off x="8143651" y="3880884"/>
            <a:ext cx="2057400" cy="1981200"/>
          </a:xfrm>
          <a:prstGeom prst="rect">
            <a:avLst/>
          </a:prstGeom>
          <a:noFill/>
          <a:ln w="9525" cap="flat" cmpd="sng" algn="ctr">
            <a:solidFill>
              <a:srgbClr val="0000FF"/>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80" name="Cloud 79">
            <a:extLst>
              <a:ext uri="{FF2B5EF4-FFF2-40B4-BE49-F238E27FC236}">
                <a16:creationId xmlns:a16="http://schemas.microsoft.com/office/drawing/2014/main" id="{E4D20324-F3C5-C648-9522-32733B783F6F}"/>
              </a:ext>
            </a:extLst>
          </p:cNvPr>
          <p:cNvSpPr/>
          <p:nvPr/>
        </p:nvSpPr>
        <p:spPr>
          <a:xfrm>
            <a:off x="4981350" y="4109484"/>
            <a:ext cx="1981200" cy="762000"/>
          </a:xfrm>
          <a:prstGeom prst="cloud">
            <a:avLst/>
          </a:prstGeom>
          <a:solidFill>
            <a:srgbClr val="FFFFFF"/>
          </a:solidFill>
          <a:ln w="38100" cap="flat" cmpd="sng" algn="ctr">
            <a:solidFill>
              <a:srgbClr val="000090"/>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81" name="TextBox 80">
            <a:extLst>
              <a:ext uri="{FF2B5EF4-FFF2-40B4-BE49-F238E27FC236}">
                <a16:creationId xmlns:a16="http://schemas.microsoft.com/office/drawing/2014/main" id="{24B20C9F-BAE7-C047-84C0-E8C618F3E41A}"/>
              </a:ext>
            </a:extLst>
          </p:cNvPr>
          <p:cNvSpPr txBox="1"/>
          <p:nvPr/>
        </p:nvSpPr>
        <p:spPr>
          <a:xfrm>
            <a:off x="2085751" y="4795284"/>
            <a:ext cx="2057399" cy="646331"/>
          </a:xfrm>
          <a:prstGeom prst="rect">
            <a:avLst/>
          </a:prstGeom>
          <a:solidFill>
            <a:srgbClr val="FFFF00"/>
          </a:soli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800000"/>
                </a:solidFill>
                <a:effectLst/>
                <a:uLnTx/>
                <a:uFillTx/>
                <a:latin typeface="Arial"/>
                <a:ea typeface="+mn-ea"/>
                <a:cs typeface="+mn-cs"/>
              </a:rPr>
              <a:t>encryption &amp; MAC gen</a:t>
            </a:r>
          </a:p>
        </p:txBody>
      </p:sp>
      <p:sp>
        <p:nvSpPr>
          <p:cNvPr id="82" name="TextBox 81">
            <a:extLst>
              <a:ext uri="{FF2B5EF4-FFF2-40B4-BE49-F238E27FC236}">
                <a16:creationId xmlns:a16="http://schemas.microsoft.com/office/drawing/2014/main" id="{EABFBFD0-02AB-D54C-BD36-182B3F0C2E3F}"/>
              </a:ext>
            </a:extLst>
          </p:cNvPr>
          <p:cNvSpPr txBox="1"/>
          <p:nvPr/>
        </p:nvSpPr>
        <p:spPr>
          <a:xfrm>
            <a:off x="8143651" y="4779260"/>
            <a:ext cx="2057399" cy="646331"/>
          </a:xfrm>
          <a:prstGeom prst="rect">
            <a:avLst/>
          </a:prstGeom>
          <a:solidFill>
            <a:srgbClr val="FFFF00"/>
          </a:solidFill>
          <a:ln w="9525" cap="flat" cmpd="sng" algn="ctr">
            <a:solidFill>
              <a:srgbClr val="2D2D8A">
                <a:shade val="95000"/>
                <a:satMod val="105000"/>
              </a:srgbClr>
            </a:solidFill>
            <a:prstDash val="solid"/>
          </a:ln>
          <a:effectLst>
            <a:outerShdw blurRad="40000" dist="23000" dir="5400000" rotWithShape="0">
              <a:srgbClr val="000000">
                <a:alpha val="35000"/>
              </a:srgbClr>
            </a:outerShdw>
          </a:effectLst>
        </p:spPr>
        <p:txBody>
          <a:bodyPr wrap="square" rtlCol="0">
            <a:spAutoFit/>
          </a:bodyPr>
          <a:lstStyle>
            <a:defPPr>
              <a:defRPr lang="en-US"/>
            </a:defPPr>
            <a:lvl1pPr>
              <a:defRPr sz="1800">
                <a:solidFill>
                  <a:srgbClr val="800000"/>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800000"/>
                </a:solidFill>
                <a:effectLst/>
                <a:uLnTx/>
                <a:uFillTx/>
                <a:latin typeface="Arial"/>
                <a:ea typeface="+mn-ea"/>
                <a:cs typeface="+mn-cs"/>
              </a:rPr>
              <a:t>decryption &amp; MAC </a:t>
            </a:r>
            <a:r>
              <a:rPr kumimoji="0" lang="en-US" sz="1800" b="0" i="0" u="none" strike="noStrike" kern="0" cap="none" spc="0" normalizeH="0" baseline="0" noProof="0" dirty="0" err="1">
                <a:ln>
                  <a:noFill/>
                </a:ln>
                <a:solidFill>
                  <a:srgbClr val="800000"/>
                </a:solidFill>
                <a:effectLst/>
                <a:uLnTx/>
                <a:uFillTx/>
                <a:latin typeface="Arial"/>
                <a:ea typeface="+mn-ea"/>
                <a:cs typeface="+mn-cs"/>
              </a:rPr>
              <a:t>vfy</a:t>
            </a:r>
            <a:endParaRPr kumimoji="0" lang="en-US" sz="1800" b="0" i="0" u="none" strike="noStrike" kern="0" cap="none" spc="0" normalizeH="0" baseline="0" noProof="0" dirty="0">
              <a:ln>
                <a:noFill/>
              </a:ln>
              <a:solidFill>
                <a:srgbClr val="800000"/>
              </a:solidFill>
              <a:effectLst/>
              <a:uLnTx/>
              <a:uFillTx/>
              <a:latin typeface="Arial"/>
              <a:ea typeface="+mn-ea"/>
              <a:cs typeface="+mn-cs"/>
            </a:endParaRPr>
          </a:p>
        </p:txBody>
      </p:sp>
    </p:spTree>
    <p:extLst>
      <p:ext uri="{BB962C8B-B14F-4D97-AF65-F5344CB8AC3E}">
        <p14:creationId xmlns:p14="http://schemas.microsoft.com/office/powerpoint/2010/main" val="3305619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1981200" y="4267200"/>
            <a:ext cx="1752600" cy="1752600"/>
          </a:xfrm>
          <a:prstGeom prst="rect">
            <a:avLst/>
          </a:prstGeom>
        </p:spPr>
      </p:pic>
      <p:sp>
        <p:nvSpPr>
          <p:cNvPr id="2" name="Title 1"/>
          <p:cNvSpPr>
            <a:spLocks noGrp="1"/>
          </p:cNvSpPr>
          <p:nvPr>
            <p:ph type="title" idx="4294967295"/>
          </p:nvPr>
        </p:nvSpPr>
        <p:spPr>
          <a:xfrm>
            <a:off x="978194" y="30163"/>
            <a:ext cx="9862843" cy="1325562"/>
          </a:xfrm>
        </p:spPr>
        <p:txBody>
          <a:bodyPr/>
          <a:lstStyle/>
          <a:p>
            <a:r>
              <a:rPr lang="en-US" dirty="0"/>
              <a:t>The Protocol of SSL/TLS handshake</a:t>
            </a:r>
          </a:p>
        </p:txBody>
      </p:sp>
      <p:pic>
        <p:nvPicPr>
          <p:cNvPr id="12" name="Picture 11"/>
          <p:cNvPicPr>
            <a:picLocks noChangeAspect="1"/>
          </p:cNvPicPr>
          <p:nvPr/>
        </p:nvPicPr>
        <p:blipFill>
          <a:blip r:embed="rId4"/>
          <a:stretch>
            <a:fillRect/>
          </a:stretch>
        </p:blipFill>
        <p:spPr>
          <a:xfrm>
            <a:off x="1981200" y="4267200"/>
            <a:ext cx="1752600" cy="1752600"/>
          </a:xfrm>
          <a:prstGeom prst="rect">
            <a:avLst/>
          </a:prstGeom>
        </p:spPr>
      </p:pic>
      <p:pic>
        <p:nvPicPr>
          <p:cNvPr id="13" name="Picture 12"/>
          <p:cNvPicPr>
            <a:picLocks noChangeAspect="1"/>
          </p:cNvPicPr>
          <p:nvPr/>
        </p:nvPicPr>
        <p:blipFill>
          <a:blip r:embed="rId3"/>
          <a:stretch>
            <a:fillRect/>
          </a:stretch>
        </p:blipFill>
        <p:spPr>
          <a:xfrm>
            <a:off x="9601200" y="2971800"/>
            <a:ext cx="838200" cy="838200"/>
          </a:xfrm>
          <a:prstGeom prst="rect">
            <a:avLst/>
          </a:prstGeom>
        </p:spPr>
      </p:pic>
      <p:pic>
        <p:nvPicPr>
          <p:cNvPr id="15" name="Picture 14"/>
          <p:cNvPicPr>
            <a:picLocks noChangeAspect="1"/>
          </p:cNvPicPr>
          <p:nvPr/>
        </p:nvPicPr>
        <p:blipFill>
          <a:blip r:embed="rId5"/>
          <a:stretch>
            <a:fillRect/>
          </a:stretch>
        </p:blipFill>
        <p:spPr>
          <a:xfrm>
            <a:off x="9601200" y="1981200"/>
            <a:ext cx="914400" cy="914400"/>
          </a:xfrm>
          <a:prstGeom prst="rect">
            <a:avLst/>
          </a:prstGeom>
        </p:spPr>
      </p:pic>
      <p:pic>
        <p:nvPicPr>
          <p:cNvPr id="17" name="Picture 16"/>
          <p:cNvPicPr>
            <a:picLocks noChangeAspect="1"/>
          </p:cNvPicPr>
          <p:nvPr/>
        </p:nvPicPr>
        <p:blipFill>
          <a:blip r:embed="rId6"/>
          <a:stretch>
            <a:fillRect/>
          </a:stretch>
        </p:blipFill>
        <p:spPr>
          <a:xfrm>
            <a:off x="1828800" y="1600200"/>
            <a:ext cx="1981200" cy="1981200"/>
          </a:xfrm>
          <a:prstGeom prst="rect">
            <a:avLst/>
          </a:prstGeom>
        </p:spPr>
      </p:pic>
      <p:pic>
        <p:nvPicPr>
          <p:cNvPr id="18" name="Picture 17"/>
          <p:cNvPicPr>
            <a:picLocks noChangeAspect="1"/>
          </p:cNvPicPr>
          <p:nvPr/>
        </p:nvPicPr>
        <p:blipFill>
          <a:blip r:embed="rId7"/>
          <a:stretch>
            <a:fillRect/>
          </a:stretch>
        </p:blipFill>
        <p:spPr>
          <a:xfrm>
            <a:off x="7162800" y="1447800"/>
            <a:ext cx="2209800" cy="2209800"/>
          </a:xfrm>
          <a:prstGeom prst="rect">
            <a:avLst/>
          </a:prstGeom>
        </p:spPr>
      </p:pic>
      <p:pic>
        <p:nvPicPr>
          <p:cNvPr id="14" name="Picture 13"/>
          <p:cNvPicPr>
            <a:picLocks noChangeAspect="1"/>
          </p:cNvPicPr>
          <p:nvPr/>
        </p:nvPicPr>
        <p:blipFill>
          <a:blip r:embed="rId4"/>
          <a:stretch>
            <a:fillRect/>
          </a:stretch>
        </p:blipFill>
        <p:spPr>
          <a:xfrm>
            <a:off x="7848600" y="4267200"/>
            <a:ext cx="1752600" cy="1752600"/>
          </a:xfrm>
          <a:prstGeom prst="rect">
            <a:avLst/>
          </a:prstGeom>
        </p:spPr>
      </p:pic>
      <p:pic>
        <p:nvPicPr>
          <p:cNvPr id="20" name="Picture 19"/>
          <p:cNvPicPr>
            <a:picLocks noChangeAspect="1"/>
          </p:cNvPicPr>
          <p:nvPr/>
        </p:nvPicPr>
        <p:blipFill>
          <a:blip r:embed="rId8"/>
          <a:stretch>
            <a:fillRect/>
          </a:stretch>
        </p:blipFill>
        <p:spPr>
          <a:xfrm>
            <a:off x="3886200" y="2438400"/>
            <a:ext cx="1143000" cy="1143000"/>
          </a:xfrm>
          <a:prstGeom prst="rect">
            <a:avLst/>
          </a:prstGeom>
        </p:spPr>
      </p:pic>
      <p:pic>
        <p:nvPicPr>
          <p:cNvPr id="21" name="Picture 20"/>
          <p:cNvPicPr>
            <a:picLocks noChangeAspect="1"/>
          </p:cNvPicPr>
          <p:nvPr/>
        </p:nvPicPr>
        <p:blipFill>
          <a:blip r:embed="rId8"/>
          <a:stretch>
            <a:fillRect/>
          </a:stretch>
        </p:blipFill>
        <p:spPr>
          <a:xfrm>
            <a:off x="9525000" y="4572000"/>
            <a:ext cx="1143000" cy="1143000"/>
          </a:xfrm>
          <a:prstGeom prst="rect">
            <a:avLst/>
          </a:prstGeom>
        </p:spPr>
      </p:pic>
      <p:pic>
        <p:nvPicPr>
          <p:cNvPr id="19" name="Picture 18">
            <a:extLst>
              <a:ext uri="{FF2B5EF4-FFF2-40B4-BE49-F238E27FC236}">
                <a16:creationId xmlns:a16="http://schemas.microsoft.com/office/drawing/2014/main" id="{D4883013-80E9-BD4D-B21A-9578ACEB80B8}"/>
              </a:ext>
            </a:extLst>
          </p:cNvPr>
          <p:cNvPicPr>
            <a:picLocks noChangeAspect="1"/>
          </p:cNvPicPr>
          <p:nvPr/>
        </p:nvPicPr>
        <p:blipFill>
          <a:blip r:embed="rId8"/>
          <a:stretch>
            <a:fillRect/>
          </a:stretch>
        </p:blipFill>
        <p:spPr>
          <a:xfrm>
            <a:off x="3886200" y="2430016"/>
            <a:ext cx="1143000" cy="1143000"/>
          </a:xfrm>
          <a:prstGeom prst="rect">
            <a:avLst/>
          </a:prstGeom>
        </p:spPr>
      </p:pic>
    </p:spTree>
    <p:extLst>
      <p:ext uri="{BB962C8B-B14F-4D97-AF65-F5344CB8AC3E}">
        <p14:creationId xmlns:p14="http://schemas.microsoft.com/office/powerpoint/2010/main" val="2656603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E-6 -0.00023 L -0.11875 0.30532 " pathEditMode="relative" rAng="0" ptsTypes="AA">
                                      <p:cBhvr>
                                        <p:cTn id="6" dur="2000" fill="hold"/>
                                        <p:tgtEl>
                                          <p:spTgt spid="20"/>
                                        </p:tgtEl>
                                        <p:attrNameLst>
                                          <p:attrName>ppt_x</p:attrName>
                                          <p:attrName>ppt_y</p:attrName>
                                        </p:attrNameLst>
                                      </p:cBhvr>
                                      <p:rCtr x="-7187" y="16111"/>
                                    </p:animMotion>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20"/>
                                        </p:tgtEl>
                                        <p:attrNameLst>
                                          <p:attrName>style.visibility</p:attrName>
                                        </p:attrNameLst>
                                      </p:cBhvr>
                                      <p:to>
                                        <p:strVal val="hidden"/>
                                      </p:to>
                                    </p:set>
                                  </p:childTnLst>
                                </p:cTn>
                              </p:par>
                            </p:childTnLst>
                          </p:cTn>
                        </p:par>
                        <p:par>
                          <p:cTn id="13" fill="hold">
                            <p:stCondLst>
                              <p:cond delay="0"/>
                            </p:stCondLst>
                            <p:childTnLst>
                              <p:par>
                                <p:cTn id="14" presetID="1" presetClass="entr" presetSubtype="0" fill="hold" nodeType="afterEffect">
                                  <p:stCondLst>
                                    <p:cond delay="50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nodeType="clickEffect">
                                  <p:stCondLst>
                                    <p:cond delay="0"/>
                                  </p:stCondLst>
                                  <p:childTnLst>
                                    <p:animMotion origin="layout" path="M 0.0125 -0.00579 L 0.55834 -0.01135 " pathEditMode="relative" rAng="0" ptsTypes="AA">
                                      <p:cBhvr>
                                        <p:cTn id="19" dur="1100" fill="hold"/>
                                        <p:tgtEl>
                                          <p:spTgt spid="16"/>
                                        </p:tgtEl>
                                        <p:attrNameLst>
                                          <p:attrName>ppt_x</p:attrName>
                                          <p:attrName>ppt_y</p:attrName>
                                        </p:attrNameLst>
                                      </p:cBhvr>
                                      <p:rCtr x="27292" y="-278"/>
                                    </p:animMotion>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5"/>
                                        </p:tgtEl>
                                      </p:cBhvr>
                                    </p:animEffect>
                                    <p:animScale>
                                      <p:cBhvr>
                                        <p:cTn id="24" dur="250" autoRev="1" fill="hold"/>
                                        <p:tgtEl>
                                          <p:spTgt spid="15"/>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dirty="0"/>
              <a:t>SSL/TLS Handshake </a:t>
            </a:r>
            <a:r>
              <a:rPr lang="en-US" altLang="zh-CN" dirty="0"/>
              <a:t>(TLS 1.2 or earlier versions)</a:t>
            </a:r>
            <a:endParaRPr lang="en-US" dirty="0"/>
          </a:p>
        </p:txBody>
      </p:sp>
      <p:sp>
        <p:nvSpPr>
          <p:cNvPr id="4" name="Text Placeholder 3">
            <a:extLst>
              <a:ext uri="{FF2B5EF4-FFF2-40B4-BE49-F238E27FC236}">
                <a16:creationId xmlns:a16="http://schemas.microsoft.com/office/drawing/2014/main" id="{935403D5-9A76-4744-961D-6BC1EFCBF825}"/>
              </a:ext>
            </a:extLst>
          </p:cNvPr>
          <p:cNvSpPr>
            <a:spLocks noGrp="1"/>
          </p:cNvSpPr>
          <p:nvPr>
            <p:ph type="body" idx="11"/>
          </p:nvPr>
        </p:nvSpPr>
        <p:spPr/>
        <p:txBody>
          <a:bodyPr/>
          <a:lstStyle/>
          <a:p>
            <a:endParaRPr lang="en-US"/>
          </a:p>
        </p:txBody>
      </p:sp>
      <p:sp>
        <p:nvSpPr>
          <p:cNvPr id="241667" name="Rectangle 3"/>
          <p:cNvSpPr>
            <a:spLocks noGrp="1" noChangeArrowheads="1"/>
          </p:cNvSpPr>
          <p:nvPr>
            <p:ph idx="1"/>
          </p:nvPr>
        </p:nvSpPr>
        <p:spPr/>
        <p:txBody>
          <a:bodyPr/>
          <a:lstStyle/>
          <a:p>
            <a:r>
              <a:rPr lang="en-US" dirty="0"/>
              <a:t>Server sends its public key certificate to the client. The cert contains Server’s public key (e.g. an RSA public key). </a:t>
            </a:r>
          </a:p>
          <a:p>
            <a:r>
              <a:rPr lang="en-US" dirty="0"/>
              <a:t>Client </a:t>
            </a:r>
          </a:p>
          <a:p>
            <a:pPr lvl="1"/>
            <a:r>
              <a:rPr lang="en-US" dirty="0"/>
              <a:t>generate a random secret key </a:t>
            </a:r>
            <a:r>
              <a:rPr lang="en-US" dirty="0">
                <a:solidFill>
                  <a:srgbClr val="C00000"/>
                </a:solidFill>
              </a:rPr>
              <a:t>k</a:t>
            </a:r>
            <a:r>
              <a:rPr lang="en-US" dirty="0"/>
              <a:t> (e.g. an AES key)</a:t>
            </a:r>
          </a:p>
          <a:p>
            <a:pPr lvl="1"/>
            <a:r>
              <a:rPr lang="en-US" dirty="0"/>
              <a:t>encrypt </a:t>
            </a:r>
            <a:r>
              <a:rPr lang="en-US" dirty="0" err="1">
                <a:solidFill>
                  <a:srgbClr val="C00000"/>
                </a:solidFill>
              </a:rPr>
              <a:t>k</a:t>
            </a:r>
            <a:r>
              <a:rPr lang="en-US" dirty="0"/>
              <a:t> with Server's public key</a:t>
            </a:r>
          </a:p>
          <a:p>
            <a:pPr lvl="1"/>
            <a:r>
              <a:rPr lang="en-US" dirty="0"/>
              <a:t>send the </a:t>
            </a:r>
            <a:r>
              <a:rPr lang="en-US" dirty="0" err="1"/>
              <a:t>ciphertext</a:t>
            </a:r>
            <a:r>
              <a:rPr lang="en-US" dirty="0"/>
              <a:t> to Server.</a:t>
            </a:r>
          </a:p>
          <a:p>
            <a:r>
              <a:rPr lang="en-US" dirty="0"/>
              <a:t>Server decrypts the ciphertext to get </a:t>
            </a:r>
            <a:r>
              <a:rPr lang="en-US" dirty="0">
                <a:solidFill>
                  <a:srgbClr val="C00000"/>
                </a:solidFill>
              </a:rPr>
              <a:t>k</a:t>
            </a:r>
          </a:p>
          <a:p>
            <a:r>
              <a:rPr lang="en-US" dirty="0"/>
              <a:t>Hereafter, Server and Client use </a:t>
            </a:r>
            <a:r>
              <a:rPr lang="en-US" dirty="0" err="1">
                <a:solidFill>
                  <a:srgbClr val="C00000"/>
                </a:solidFill>
              </a:rPr>
              <a:t>k</a:t>
            </a:r>
            <a:r>
              <a:rPr lang="en-US" dirty="0"/>
              <a:t> to protect their communications. </a:t>
            </a:r>
          </a:p>
          <a:p>
            <a:pPr lvl="1"/>
            <a:r>
              <a:rPr lang="en-US" dirty="0"/>
              <a:t>encrypt messages using </a:t>
            </a:r>
            <a:r>
              <a:rPr lang="en-US" dirty="0" err="1">
                <a:solidFill>
                  <a:srgbClr val="C00000"/>
                </a:solidFill>
              </a:rPr>
              <a:t>k</a:t>
            </a:r>
            <a:r>
              <a:rPr lang="en-US" dirty="0">
                <a:solidFill>
                  <a:srgbClr val="0000FF"/>
                </a:solidFill>
              </a:rPr>
              <a:t> </a:t>
            </a:r>
            <a:r>
              <a:rPr lang="en-US" dirty="0"/>
              <a:t>for confidentiality.</a:t>
            </a:r>
          </a:p>
          <a:p>
            <a:pPr lvl="1"/>
            <a:r>
              <a:rPr lang="en-US" dirty="0"/>
              <a:t>use HMAC with </a:t>
            </a:r>
            <a:r>
              <a:rPr lang="en-US" dirty="0">
                <a:solidFill>
                  <a:srgbClr val="C00000"/>
                </a:solidFill>
              </a:rPr>
              <a:t>k</a:t>
            </a:r>
            <a:r>
              <a:rPr lang="en-US" dirty="0">
                <a:solidFill>
                  <a:srgbClr val="0000FF"/>
                </a:solidFill>
              </a:rPr>
              <a:t> </a:t>
            </a:r>
            <a:r>
              <a:rPr lang="en-US" dirty="0"/>
              <a:t>to protect integrity</a:t>
            </a:r>
          </a:p>
        </p:txBody>
      </p:sp>
    </p:spTree>
    <p:extLst>
      <p:ext uri="{BB962C8B-B14F-4D97-AF65-F5344CB8AC3E}">
        <p14:creationId xmlns:p14="http://schemas.microsoft.com/office/powerpoint/2010/main" val="2017209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2" name="Rectangle 4"/>
          <p:cNvSpPr>
            <a:spLocks noGrp="1" noChangeArrowheads="1"/>
          </p:cNvSpPr>
          <p:nvPr>
            <p:ph type="title" idx="4294967295"/>
          </p:nvPr>
        </p:nvSpPr>
        <p:spPr>
          <a:xfrm>
            <a:off x="850604" y="400556"/>
            <a:ext cx="9990433" cy="584775"/>
          </a:xfrm>
        </p:spPr>
        <p:txBody>
          <a:bodyPr/>
          <a:lstStyle/>
          <a:p>
            <a:r>
              <a:rPr lang="en-US" sz="3200" dirty="0"/>
              <a:t>SSL/TLS</a:t>
            </a:r>
            <a:r>
              <a:rPr lang="en-US" altLang="zh-CN" sz="3200" dirty="0"/>
              <a:t> Handshake (TLS 1.2 or earlier versions)</a:t>
            </a:r>
            <a:endParaRPr lang="en-US" sz="3200" dirty="0"/>
          </a:p>
        </p:txBody>
      </p:sp>
      <p:grpSp>
        <p:nvGrpSpPr>
          <p:cNvPr id="5" name="Group 4">
            <a:extLst>
              <a:ext uri="{FF2B5EF4-FFF2-40B4-BE49-F238E27FC236}">
                <a16:creationId xmlns:a16="http://schemas.microsoft.com/office/drawing/2014/main" id="{53923634-68B2-1E43-9F7E-BF3AE844F694}"/>
              </a:ext>
            </a:extLst>
          </p:cNvPr>
          <p:cNvGrpSpPr/>
          <p:nvPr/>
        </p:nvGrpSpPr>
        <p:grpSpPr>
          <a:xfrm>
            <a:off x="3030279" y="1582479"/>
            <a:ext cx="6629400" cy="4399846"/>
            <a:chOff x="2743200" y="2209800"/>
            <a:chExt cx="6629400" cy="4399846"/>
          </a:xfrm>
        </p:grpSpPr>
        <p:sp>
          <p:nvSpPr>
            <p:cNvPr id="70" name="Oval 2">
              <a:extLst>
                <a:ext uri="{FF2B5EF4-FFF2-40B4-BE49-F238E27FC236}">
                  <a16:creationId xmlns:a16="http://schemas.microsoft.com/office/drawing/2014/main" id="{2A63B273-D946-F34E-943F-D44E0C87D0E6}"/>
                </a:ext>
              </a:extLst>
            </p:cNvPr>
            <p:cNvSpPr>
              <a:spLocks noChangeArrowheads="1"/>
            </p:cNvSpPr>
            <p:nvPr/>
          </p:nvSpPr>
          <p:spPr bwMode="auto">
            <a:xfrm>
              <a:off x="8229600" y="2514600"/>
              <a:ext cx="1066800" cy="2362200"/>
            </a:xfrm>
            <a:prstGeom prst="ellipse">
              <a:avLst/>
            </a:prstGeom>
            <a:solidFill>
              <a:srgbClr val="BBE0E3"/>
            </a:solid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1" name="Oval 3">
              <a:extLst>
                <a:ext uri="{FF2B5EF4-FFF2-40B4-BE49-F238E27FC236}">
                  <a16:creationId xmlns:a16="http://schemas.microsoft.com/office/drawing/2014/main" id="{2E732315-7177-8849-A512-789D0066BFD2}"/>
                </a:ext>
              </a:extLst>
            </p:cNvPr>
            <p:cNvSpPr>
              <a:spLocks noChangeArrowheads="1"/>
            </p:cNvSpPr>
            <p:nvPr/>
          </p:nvSpPr>
          <p:spPr bwMode="auto">
            <a:xfrm>
              <a:off x="2743200" y="2514600"/>
              <a:ext cx="1066800" cy="2362200"/>
            </a:xfrm>
            <a:prstGeom prst="ellipse">
              <a:avLst/>
            </a:prstGeom>
            <a:solidFill>
              <a:srgbClr val="BBE0E3"/>
            </a:solidFill>
            <a:ln w="9525">
              <a:solidFill>
                <a:srgbClr val="000000"/>
              </a:solidFill>
              <a:round/>
              <a:headEnd/>
              <a:tailEnd/>
            </a:ln>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2" name="Text Box 6">
              <a:extLst>
                <a:ext uri="{FF2B5EF4-FFF2-40B4-BE49-F238E27FC236}">
                  <a16:creationId xmlns:a16="http://schemas.microsoft.com/office/drawing/2014/main" id="{4E93539E-4170-6A49-B7CE-E23693764DF5}"/>
                </a:ext>
              </a:extLst>
            </p:cNvPr>
            <p:cNvSpPr txBox="1">
              <a:spLocks noChangeArrowheads="1"/>
            </p:cNvSpPr>
            <p:nvPr/>
          </p:nvSpPr>
          <p:spPr bwMode="auto">
            <a:xfrm>
              <a:off x="2819400" y="3276601"/>
              <a:ext cx="1524000" cy="646331"/>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dirty="0">
                  <a:solidFill>
                    <a:srgbClr val="000000"/>
                  </a:solidFill>
                  <a:latin typeface="Arial" pitchFamily="34" charset="0"/>
                </a:rPr>
                <a:t>Web  </a:t>
              </a:r>
              <a:br>
                <a:rPr lang="en-US" dirty="0">
                  <a:solidFill>
                    <a:srgbClr val="000000"/>
                  </a:solidFill>
                  <a:latin typeface="Arial" pitchFamily="34" charset="0"/>
                </a:rPr>
              </a:br>
              <a:r>
                <a:rPr lang="en-US" dirty="0">
                  <a:solidFill>
                    <a:srgbClr val="000000"/>
                  </a:solidFill>
                  <a:latin typeface="Arial" pitchFamily="34" charset="0"/>
                </a:rPr>
                <a:t>client</a:t>
              </a:r>
            </a:p>
          </p:txBody>
        </p:sp>
        <p:sp>
          <p:nvSpPr>
            <p:cNvPr id="73" name="Text Box 7">
              <a:extLst>
                <a:ext uri="{FF2B5EF4-FFF2-40B4-BE49-F238E27FC236}">
                  <a16:creationId xmlns:a16="http://schemas.microsoft.com/office/drawing/2014/main" id="{D22E45FF-8ADB-4747-93DF-D175B50DFA93}"/>
                </a:ext>
              </a:extLst>
            </p:cNvPr>
            <p:cNvSpPr txBox="1">
              <a:spLocks noChangeArrowheads="1"/>
            </p:cNvSpPr>
            <p:nvPr/>
          </p:nvSpPr>
          <p:spPr bwMode="auto">
            <a:xfrm>
              <a:off x="8305800" y="3276601"/>
              <a:ext cx="1066800" cy="646331"/>
            </a:xfrm>
            <a:prstGeom prst="rect">
              <a:avLst/>
            </a:prstGeom>
            <a:noFill/>
            <a:ln w="9525">
              <a:noFill/>
              <a:miter lim="800000"/>
              <a:headEnd/>
              <a:tailEnd/>
            </a:ln>
            <a:effectLst/>
          </p:spPr>
          <p:txBody>
            <a:bodyPr>
              <a:spAutoFit/>
            </a:bodyPr>
            <a:lstStyle/>
            <a:p>
              <a:pPr defTabSz="914400" fontAlgn="base">
                <a:spcBef>
                  <a:spcPct val="50000"/>
                </a:spcBef>
                <a:spcAft>
                  <a:spcPct val="0"/>
                </a:spcAft>
              </a:pPr>
              <a:r>
                <a:rPr lang="en-US">
                  <a:solidFill>
                    <a:srgbClr val="000000"/>
                  </a:solidFill>
                  <a:latin typeface="Arial" pitchFamily="34" charset="0"/>
                </a:rPr>
                <a:t>Web  server</a:t>
              </a:r>
            </a:p>
          </p:txBody>
        </p:sp>
        <p:grpSp>
          <p:nvGrpSpPr>
            <p:cNvPr id="74" name="Group 73">
              <a:extLst>
                <a:ext uri="{FF2B5EF4-FFF2-40B4-BE49-F238E27FC236}">
                  <a16:creationId xmlns:a16="http://schemas.microsoft.com/office/drawing/2014/main" id="{0C9312F1-AC7E-9C4C-9236-B50EDCB041FA}"/>
                </a:ext>
              </a:extLst>
            </p:cNvPr>
            <p:cNvGrpSpPr/>
            <p:nvPr/>
          </p:nvGrpSpPr>
          <p:grpSpPr>
            <a:xfrm>
              <a:off x="4191000" y="2209800"/>
              <a:ext cx="3581400" cy="457200"/>
              <a:chOff x="2667000" y="2209800"/>
              <a:chExt cx="3581400" cy="457200"/>
            </a:xfrm>
          </p:grpSpPr>
          <p:sp>
            <p:nvSpPr>
              <p:cNvPr id="75" name="Line 8">
                <a:extLst>
                  <a:ext uri="{FF2B5EF4-FFF2-40B4-BE49-F238E27FC236}">
                    <a16:creationId xmlns:a16="http://schemas.microsoft.com/office/drawing/2014/main" id="{7A52293E-D1C3-8D46-8AB3-7BD7D50DB219}"/>
                  </a:ext>
                </a:extLst>
              </p:cNvPr>
              <p:cNvSpPr>
                <a:spLocks noChangeShapeType="1"/>
              </p:cNvSpPr>
              <p:nvPr/>
            </p:nvSpPr>
            <p:spPr bwMode="auto">
              <a:xfrm>
                <a:off x="2667000" y="2667000"/>
                <a:ext cx="3581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6" name="Text Box 9">
                <a:extLst>
                  <a:ext uri="{FF2B5EF4-FFF2-40B4-BE49-F238E27FC236}">
                    <a16:creationId xmlns:a16="http://schemas.microsoft.com/office/drawing/2014/main" id="{2D861CD4-8F6D-C04D-8561-504CF4F82882}"/>
                  </a:ext>
                </a:extLst>
              </p:cNvPr>
              <p:cNvSpPr txBox="1">
                <a:spLocks noChangeArrowheads="1"/>
              </p:cNvSpPr>
              <p:nvPr/>
            </p:nvSpPr>
            <p:spPr bwMode="auto">
              <a:xfrm>
                <a:off x="3276600" y="2209800"/>
                <a:ext cx="2667000" cy="396875"/>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Arial" pitchFamily="34" charset="0"/>
                  </a:rPr>
                  <a:t>1.SSL Request</a:t>
                </a:r>
              </a:p>
            </p:txBody>
          </p:sp>
        </p:grpSp>
        <p:grpSp>
          <p:nvGrpSpPr>
            <p:cNvPr id="77" name="Group 76">
              <a:extLst>
                <a:ext uri="{FF2B5EF4-FFF2-40B4-BE49-F238E27FC236}">
                  <a16:creationId xmlns:a16="http://schemas.microsoft.com/office/drawing/2014/main" id="{36E383FC-F2FA-5848-8B7B-B8AA7F0697B8}"/>
                </a:ext>
              </a:extLst>
            </p:cNvPr>
            <p:cNvGrpSpPr/>
            <p:nvPr/>
          </p:nvGrpSpPr>
          <p:grpSpPr>
            <a:xfrm>
              <a:off x="4191000" y="2895601"/>
              <a:ext cx="3581400" cy="701675"/>
              <a:chOff x="2667000" y="2895600"/>
              <a:chExt cx="3581400" cy="701675"/>
            </a:xfrm>
          </p:grpSpPr>
          <p:sp>
            <p:nvSpPr>
              <p:cNvPr id="78" name="Line 10">
                <a:extLst>
                  <a:ext uri="{FF2B5EF4-FFF2-40B4-BE49-F238E27FC236}">
                    <a16:creationId xmlns:a16="http://schemas.microsoft.com/office/drawing/2014/main" id="{A597FB90-72CE-394A-90D3-BB7ACEE3FB86}"/>
                  </a:ext>
                </a:extLst>
              </p:cNvPr>
              <p:cNvSpPr>
                <a:spLocks noChangeShapeType="1"/>
              </p:cNvSpPr>
              <p:nvPr/>
            </p:nvSpPr>
            <p:spPr bwMode="auto">
              <a:xfrm flipH="1">
                <a:off x="2667000" y="3276600"/>
                <a:ext cx="35814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79" name="Text Box 11">
                <a:extLst>
                  <a:ext uri="{FF2B5EF4-FFF2-40B4-BE49-F238E27FC236}">
                    <a16:creationId xmlns:a16="http://schemas.microsoft.com/office/drawing/2014/main" id="{6CDF774E-C513-6E44-9B95-69E5243BA0A0}"/>
                  </a:ext>
                </a:extLst>
              </p:cNvPr>
              <p:cNvSpPr txBox="1">
                <a:spLocks noChangeArrowheads="1"/>
              </p:cNvSpPr>
              <p:nvPr/>
            </p:nvSpPr>
            <p:spPr bwMode="auto">
              <a:xfrm>
                <a:off x="3200400" y="2895600"/>
                <a:ext cx="2667000" cy="701675"/>
              </a:xfrm>
              <a:prstGeom prst="rect">
                <a:avLst/>
              </a:prstGeom>
              <a:noFill/>
              <a:ln w="9525">
                <a:noFill/>
                <a:miter lim="800000"/>
                <a:headEnd/>
                <a:tailEnd/>
              </a:ln>
              <a:effec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dirty="0">
                    <a:ln>
                      <a:noFill/>
                    </a:ln>
                    <a:solidFill>
                      <a:srgbClr val="333399"/>
                    </a:solidFill>
                    <a:effectLst/>
                    <a:uLnTx/>
                    <a:uFillTx/>
                    <a:latin typeface="Arial" pitchFamily="34" charset="0"/>
                  </a:rPr>
                  <a:t>2.Server public key</a:t>
                </a:r>
                <a:r>
                  <a:rPr kumimoji="0" lang="en-US" altLang="zh-CN" sz="2000" b="0" i="0" u="none" strike="noStrike" kern="0" cap="none" spc="0" normalizeH="0" baseline="0" noProof="0" dirty="0">
                    <a:ln>
                      <a:noFill/>
                    </a:ln>
                    <a:solidFill>
                      <a:srgbClr val="333399"/>
                    </a:solidFill>
                    <a:effectLst/>
                    <a:uLnTx/>
                    <a:uFillTx/>
                    <a:latin typeface="Arial" pitchFamily="34" charset="0"/>
                    <a:ea typeface="宋体" charset="-122"/>
                  </a:rPr>
                  <a:t> certificate</a:t>
                </a:r>
                <a:endParaRPr kumimoji="0" lang="en-US" sz="2000" b="0" i="0" u="none" strike="noStrike" kern="0" cap="none" spc="0" normalizeH="0" baseline="0" noProof="0" dirty="0">
                  <a:ln>
                    <a:noFill/>
                  </a:ln>
                  <a:solidFill>
                    <a:srgbClr val="333399"/>
                  </a:solidFill>
                  <a:effectLst/>
                  <a:uLnTx/>
                  <a:uFillTx/>
                  <a:latin typeface="Arial" pitchFamily="34" charset="0"/>
                </a:endParaRPr>
              </a:p>
            </p:txBody>
          </p:sp>
        </p:grpSp>
        <p:grpSp>
          <p:nvGrpSpPr>
            <p:cNvPr id="80" name="Group 79">
              <a:extLst>
                <a:ext uri="{FF2B5EF4-FFF2-40B4-BE49-F238E27FC236}">
                  <a16:creationId xmlns:a16="http://schemas.microsoft.com/office/drawing/2014/main" id="{1D80DE22-32ED-B344-889D-E7F5CCE9B042}"/>
                </a:ext>
              </a:extLst>
            </p:cNvPr>
            <p:cNvGrpSpPr/>
            <p:nvPr/>
          </p:nvGrpSpPr>
          <p:grpSpPr>
            <a:xfrm>
              <a:off x="4191000" y="3641725"/>
              <a:ext cx="3733800" cy="707886"/>
              <a:chOff x="2667000" y="3641725"/>
              <a:chExt cx="3733800" cy="707886"/>
            </a:xfrm>
          </p:grpSpPr>
          <p:sp>
            <p:nvSpPr>
              <p:cNvPr id="81" name="Line 12">
                <a:extLst>
                  <a:ext uri="{FF2B5EF4-FFF2-40B4-BE49-F238E27FC236}">
                    <a16:creationId xmlns:a16="http://schemas.microsoft.com/office/drawing/2014/main" id="{75F09303-7E90-C546-BA19-8D7B47EB578F}"/>
                  </a:ext>
                </a:extLst>
              </p:cNvPr>
              <p:cNvSpPr>
                <a:spLocks noChangeShapeType="1"/>
              </p:cNvSpPr>
              <p:nvPr/>
            </p:nvSpPr>
            <p:spPr bwMode="auto">
              <a:xfrm>
                <a:off x="2667000" y="4038600"/>
                <a:ext cx="3657600" cy="0"/>
              </a:xfrm>
              <a:prstGeom prst="line">
                <a:avLst/>
              </a:prstGeom>
              <a:noFill/>
              <a:ln w="9525">
                <a:solidFill>
                  <a:srgbClr val="000000"/>
                </a:solidFill>
                <a:round/>
                <a:headEnd/>
                <a:tailEnd type="triangle"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itchFamily="34" charset="0"/>
                </a:endParaRPr>
              </a:p>
            </p:txBody>
          </p:sp>
          <p:sp>
            <p:nvSpPr>
              <p:cNvPr id="82" name="Text Box 13">
                <a:extLst>
                  <a:ext uri="{FF2B5EF4-FFF2-40B4-BE49-F238E27FC236}">
                    <a16:creationId xmlns:a16="http://schemas.microsoft.com/office/drawing/2014/main" id="{312346ED-4582-4641-A02F-0AC8EE733100}"/>
                  </a:ext>
                </a:extLst>
              </p:cNvPr>
              <p:cNvSpPr txBox="1">
                <a:spLocks noChangeArrowheads="1"/>
              </p:cNvSpPr>
              <p:nvPr/>
            </p:nvSpPr>
            <p:spPr bwMode="auto">
              <a:xfrm>
                <a:off x="2819400" y="3641725"/>
                <a:ext cx="3581400" cy="707886"/>
              </a:xfrm>
              <a:prstGeom prst="rect">
                <a:avLst/>
              </a:prstGeom>
              <a:noFill/>
              <a:ln w="9525">
                <a:noFill/>
                <a:miter lim="800000"/>
                <a:headEnd/>
                <a:tailEnd/>
              </a:ln>
              <a:effectLst/>
            </p:spPr>
            <p:txBody>
              <a:bodyPr wrap="square">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0" i="0" u="none" strike="noStrike" kern="0" cap="none" spc="0" normalizeH="0" baseline="0" noProof="0" dirty="0">
                    <a:ln>
                      <a:noFill/>
                    </a:ln>
                    <a:solidFill>
                      <a:srgbClr val="339966"/>
                    </a:solidFill>
                    <a:effectLst/>
                    <a:uLnTx/>
                    <a:uFillTx/>
                    <a:latin typeface="Arial" pitchFamily="34" charset="0"/>
                  </a:rPr>
                  <a:t>3. A secret key is encrypted using Server’s public key</a:t>
                </a:r>
              </a:p>
            </p:txBody>
          </p:sp>
        </p:grpSp>
        <p:sp>
          <p:nvSpPr>
            <p:cNvPr id="83" name="Left-Right Arrow 20">
              <a:extLst>
                <a:ext uri="{FF2B5EF4-FFF2-40B4-BE49-F238E27FC236}">
                  <a16:creationId xmlns:a16="http://schemas.microsoft.com/office/drawing/2014/main" id="{C559F682-C494-BC42-B29F-7C944DA57344}"/>
                </a:ext>
              </a:extLst>
            </p:cNvPr>
            <p:cNvSpPr/>
            <p:nvPr/>
          </p:nvSpPr>
          <p:spPr>
            <a:xfrm>
              <a:off x="3810000" y="4648200"/>
              <a:ext cx="4648200" cy="1447800"/>
            </a:xfrm>
            <a:prstGeom prst="leftRightArrow">
              <a:avLst>
                <a:gd name="adj1" fmla="val 50000"/>
                <a:gd name="adj2" fmla="val 32979"/>
              </a:avLst>
            </a:prstGeom>
            <a:solidFill>
              <a:srgbClr val="00206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rial"/>
                  <a:ea typeface="+mn-ea"/>
                  <a:cs typeface="+mn-cs"/>
                </a:rPr>
                <a:t>secure communication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Arial"/>
                  <a:ea typeface="+mn-ea"/>
                  <a:cs typeface="+mn-cs"/>
                </a:rPr>
                <a:t>(encryption and HMAC)</a:t>
              </a:r>
            </a:p>
          </p:txBody>
        </p:sp>
        <p:sp>
          <p:nvSpPr>
            <p:cNvPr id="84" name="TextBox 83">
              <a:extLst>
                <a:ext uri="{FF2B5EF4-FFF2-40B4-BE49-F238E27FC236}">
                  <a16:creationId xmlns:a16="http://schemas.microsoft.com/office/drawing/2014/main" id="{C3C04723-F2F1-C749-AFFB-2BE9B55486BE}"/>
                </a:ext>
              </a:extLst>
            </p:cNvPr>
            <p:cNvSpPr txBox="1"/>
            <p:nvPr/>
          </p:nvSpPr>
          <p:spPr>
            <a:xfrm>
              <a:off x="4191392" y="6240314"/>
              <a:ext cx="3927101" cy="369332"/>
            </a:xfrm>
            <a:prstGeom prst="rect">
              <a:avLst/>
            </a:prstGeom>
            <a:noFill/>
          </p:spPr>
          <p:txBody>
            <a:bodyPr wrap="none" rtlCol="0">
              <a:spAutoFit/>
            </a:bodyPr>
            <a:lstStyle/>
            <a:p>
              <a:pPr defTabSz="914400" fontAlgn="base">
                <a:spcBef>
                  <a:spcPct val="0"/>
                </a:spcBef>
                <a:spcAft>
                  <a:spcPct val="0"/>
                </a:spcAft>
              </a:pPr>
              <a:r>
                <a:rPr lang="en-US" dirty="0">
                  <a:solidFill>
                    <a:srgbClr val="000000"/>
                  </a:solidFill>
                  <a:latin typeface="Arial" pitchFamily="34" charset="0"/>
                </a:rPr>
                <a:t>Step 1~3 are called SSL handshake.</a:t>
              </a:r>
            </a:p>
          </p:txBody>
        </p:sp>
      </p:grpSp>
      <p:sp>
        <p:nvSpPr>
          <p:cNvPr id="2" name="TextBox 1">
            <a:extLst>
              <a:ext uri="{FF2B5EF4-FFF2-40B4-BE49-F238E27FC236}">
                <a16:creationId xmlns:a16="http://schemas.microsoft.com/office/drawing/2014/main" id="{18413788-1EDE-ED06-D80E-6E45096C95BF}"/>
              </a:ext>
            </a:extLst>
          </p:cNvPr>
          <p:cNvSpPr txBox="1"/>
          <p:nvPr/>
        </p:nvSpPr>
        <p:spPr>
          <a:xfrm>
            <a:off x="479376" y="4744779"/>
            <a:ext cx="2868983" cy="1200329"/>
          </a:xfrm>
          <a:prstGeom prst="rect">
            <a:avLst/>
          </a:prstGeom>
          <a:noFill/>
          <a:ln w="25400">
            <a:noFill/>
          </a:ln>
        </p:spPr>
        <p:txBody>
          <a:bodyPr wrap="square" rtlCol="0">
            <a:spAutoFit/>
          </a:bodyPr>
          <a:lstStyle/>
          <a:p>
            <a:pPr algn="l"/>
            <a:r>
              <a:rPr lang="en-US" dirty="0">
                <a:highlight>
                  <a:srgbClr val="FFFF00"/>
                </a:highlight>
              </a:rPr>
              <a:t>FYI: A key confirmation is also performed after step 3 to ensure both sides have the same AES key</a:t>
            </a:r>
          </a:p>
        </p:txBody>
      </p:sp>
    </p:spTree>
    <p:extLst>
      <p:ext uri="{BB962C8B-B14F-4D97-AF65-F5344CB8AC3E}">
        <p14:creationId xmlns:p14="http://schemas.microsoft.com/office/powerpoint/2010/main" val="3121957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 Encryption</a:t>
            </a:r>
          </a:p>
        </p:txBody>
      </p:sp>
      <p:sp>
        <p:nvSpPr>
          <p:cNvPr id="7" name="Text Placeholder 6">
            <a:extLst>
              <a:ext uri="{FF2B5EF4-FFF2-40B4-BE49-F238E27FC236}">
                <a16:creationId xmlns:a16="http://schemas.microsoft.com/office/drawing/2014/main" id="{272AC2AB-450C-034F-80A9-5A00F5E5DAD9}"/>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B98B372D-A8D1-A64B-8F7A-0A5EBFFF3F2A}"/>
              </a:ext>
            </a:extLst>
          </p:cNvPr>
          <p:cNvSpPr>
            <a:spLocks noGrp="1"/>
          </p:cNvSpPr>
          <p:nvPr>
            <p:ph idx="1"/>
          </p:nvPr>
        </p:nvSpPr>
        <p:spPr/>
        <p:txBody>
          <a:bodyPr>
            <a:normAutofit/>
          </a:bodyPr>
          <a:lstStyle/>
          <a:p>
            <a:r>
              <a:rPr lang="en-US" dirty="0"/>
              <a:t>An SSL session is between two applications, not shared with any third one.</a:t>
            </a:r>
          </a:p>
          <a:p>
            <a:r>
              <a:rPr lang="en-US" dirty="0"/>
              <a:t>The security assurance of SSL hinges on the correct server certificate verification (Week 5).</a:t>
            </a:r>
          </a:p>
          <a:p>
            <a:pPr lvl="1"/>
            <a:r>
              <a:rPr lang="en-US" dirty="0"/>
              <a:t>Using a wrong certificate leads to a connection to an impersonator. </a:t>
            </a:r>
          </a:p>
        </p:txBody>
      </p:sp>
    </p:spTree>
    <p:extLst>
      <p:ext uri="{BB962C8B-B14F-4D97-AF65-F5344CB8AC3E}">
        <p14:creationId xmlns:p14="http://schemas.microsoft.com/office/powerpoint/2010/main" val="522809477"/>
      </p:ext>
    </p:extLst>
  </p:cSld>
  <p:clrMapOvr>
    <a:masterClrMapping/>
  </p:clrMapOvr>
</p:sld>
</file>

<file path=ppt/theme/theme1.xml><?xml version="1.0" encoding="utf-8"?>
<a:theme xmlns:a="http://schemas.openxmlformats.org/drawingml/2006/main" name="Office Theme">
  <a:themeElements>
    <a:clrScheme name="Custom 20">
      <a:dk1>
        <a:srgbClr val="000000"/>
      </a:dk1>
      <a:lt1>
        <a:srgbClr val="FFFFFF"/>
      </a:lt1>
      <a:dk2>
        <a:srgbClr val="000000"/>
      </a:dk2>
      <a:lt2>
        <a:srgbClr val="F8F8F8"/>
      </a:lt2>
      <a:accent1>
        <a:srgbClr val="DDDDDD"/>
      </a:accent1>
      <a:accent2>
        <a:srgbClr val="B2A694"/>
      </a:accent2>
      <a:accent3>
        <a:srgbClr val="969696"/>
      </a:accent3>
      <a:accent4>
        <a:srgbClr val="808080"/>
      </a:accent4>
      <a:accent5>
        <a:srgbClr val="5F5F5F"/>
      </a:accent5>
      <a:accent6>
        <a:srgbClr val="4D4D4D"/>
      </a:accent6>
      <a:hlink>
        <a:srgbClr val="0070C0"/>
      </a:hlink>
      <a:folHlink>
        <a:srgbClr val="0070C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Presentation1" id="{31295CED-DD91-154F-A28B-658E647D80F4}" vid="{29E40D5C-155D-D94C-822C-4AB35D3CC2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18" ma:contentTypeDescription="Create a new document." ma:contentTypeScope="" ma:versionID="9672dfb9ec3908af57a6b314afe3680d">
  <xsd:schema xmlns:xsd="http://www.w3.org/2001/XMLSchema" xmlns:xs="http://www.w3.org/2001/XMLSchema" xmlns:p="http://schemas.microsoft.com/office/2006/metadata/properties" xmlns:ns2="1b6a39ee-1380-4096-9882-8248104ba7f7" xmlns:ns3="4604cec2-e769-4190-9d56-5d48f74b6442" targetNamespace="http://schemas.microsoft.com/office/2006/metadata/properties" ma:root="true" ma:fieldsID="12d78462d111bb2baa1b9a3ac61ee40a" ns2:_="" ns3:_="">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documentManagement>
</p:properties>
</file>

<file path=customXml/itemProps1.xml><?xml version="1.0" encoding="utf-8"?>
<ds:datastoreItem xmlns:ds="http://schemas.openxmlformats.org/officeDocument/2006/customXml" ds:itemID="{B515751B-2C86-4198-A904-9509017F22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6a39ee-1380-4096-9882-8248104ba7f7"/>
    <ds:schemaRef ds:uri="4604cec2-e769-4190-9d56-5d48f74b6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FDC45C-CDAD-44BD-A570-A3BD9EF74860}">
  <ds:schemaRefs>
    <ds:schemaRef ds:uri="http://schemas.microsoft.com/sharepoint/v3/contenttype/forms"/>
  </ds:schemaRefs>
</ds:datastoreItem>
</file>

<file path=customXml/itemProps3.xml><?xml version="1.0" encoding="utf-8"?>
<ds:datastoreItem xmlns:ds="http://schemas.openxmlformats.org/officeDocument/2006/customXml" ds:itemID="{2B277489-05BF-477A-847B-A71EBF55031E}">
  <ds:schemaRefs>
    <ds:schemaRef ds:uri="http://purl.org/dc/terms/"/>
    <ds:schemaRef ds:uri="1b6a39ee-1380-4096-9882-8248104ba7f7"/>
    <ds:schemaRef ds:uri="http://purl.org/dc/dcmitype/"/>
    <ds:schemaRef ds:uri="http://schemas.microsoft.com/office/2006/metadata/properties"/>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4604cec2-e769-4190-9d56-5d48f74b6442"/>
    <ds:schemaRef ds:uri="http://www.w3.org/XML/1998/namespace"/>
  </ds:schemaRefs>
</ds:datastoreItem>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emplate/>
  <TotalTime>1937</TotalTime>
  <Words>2876</Words>
  <Application>Microsoft Macintosh PowerPoint</Application>
  <PresentationFormat>Widescreen</PresentationFormat>
  <Paragraphs>436</Paragraphs>
  <Slides>31</Slides>
  <Notes>23</Notes>
  <HiddenSlides>0</HiddenSlides>
  <MMClips>1</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2" baseType="lpstr">
      <vt:lpstr>宋体</vt:lpstr>
      <vt:lpstr>Arial</vt:lpstr>
      <vt:lpstr>Arial Nova</vt:lpstr>
      <vt:lpstr>Arial Nova Light</vt:lpstr>
      <vt:lpstr>Calibri</vt:lpstr>
      <vt:lpstr>Comic Sans MS</vt:lpstr>
      <vt:lpstr>Helvetica Neue</vt:lpstr>
      <vt:lpstr>Symbol</vt:lpstr>
      <vt:lpstr>Times New Roman</vt:lpstr>
      <vt:lpstr>Office Theme</vt:lpstr>
      <vt:lpstr>CorelDRAW!</vt:lpstr>
      <vt:lpstr>PowerPoint Presentation</vt:lpstr>
      <vt:lpstr>Overview</vt:lpstr>
      <vt:lpstr>Communication between computers</vt:lpstr>
      <vt:lpstr>IP Packets or Datagram</vt:lpstr>
      <vt:lpstr>IPv4 Header</vt:lpstr>
      <vt:lpstr>TCP Header</vt:lpstr>
      <vt:lpstr>PowerPoint Presentation</vt:lpstr>
      <vt:lpstr>FW vs IDS</vt:lpstr>
      <vt:lpstr>Firewall</vt:lpstr>
      <vt:lpstr>Network Firewall</vt:lpstr>
      <vt:lpstr>Firewall categorization</vt:lpstr>
      <vt:lpstr>Close Policy</vt:lpstr>
      <vt:lpstr>Open Policy</vt:lpstr>
      <vt:lpstr> FW’s functioning layer</vt:lpstr>
      <vt:lpstr>Limitations of FW</vt:lpstr>
      <vt:lpstr>Intrusion Detection System (IDS)</vt:lpstr>
      <vt:lpstr>Signature-Based vs Anomaly-Based</vt:lpstr>
      <vt:lpstr>Accuracy</vt:lpstr>
      <vt:lpstr>Accuracy</vt:lpstr>
      <vt:lpstr>Accuracy Evaluation of IDS</vt:lpstr>
      <vt:lpstr>Accuracy Evaluation of IDS</vt:lpstr>
      <vt:lpstr>Analysis of False Discovery Rate</vt:lpstr>
      <vt:lpstr>Signature-Based vs Anomaly-Based</vt:lpstr>
      <vt:lpstr>IDS Summary</vt:lpstr>
      <vt:lpstr>Deployment of FW and IDS</vt:lpstr>
      <vt:lpstr>Overview of SSL/TLS</vt:lpstr>
      <vt:lpstr>The Workflow</vt:lpstr>
      <vt:lpstr>The Protocol of SSL/TLS handshake</vt:lpstr>
      <vt:lpstr>SSL/TLS Handshake (TLS 1.2 or earlier versions)</vt:lpstr>
      <vt:lpstr>SSL/TLS Handshake (TLS 1.2 or earlier versions)</vt:lpstr>
      <vt:lpstr>SSL Encryption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dc:title>
  <dc:creator>Shar Lwin Khin (Dr)</dc:creator>
  <cp:lastModifiedBy>Nicholas SOH De Lin</cp:lastModifiedBy>
  <cp:revision>228</cp:revision>
  <dcterms:created xsi:type="dcterms:W3CDTF">2019-12-21T16:17:09Z</dcterms:created>
  <dcterms:modified xsi:type="dcterms:W3CDTF">2025-11-20T02:05:29Z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0x0101000C6AD1B51FFACD45B62528B91A79C429</vt:lpwstr>
  </property>
  <property fmtid="{D5CDD505-2E9C-101B-9397-08002B2CF9AE}" pid="3" name="MSIP_Label_6951d41b-6b8e-4636-984f-012bff14ba18_Enabled">
    <vt:lpwstr>true</vt:lpwstr>
  </property>
  <property fmtid="{D5CDD505-2E9C-101B-9397-08002B2CF9AE}" pid="4" name="MSIP_Label_6951d41b-6b8e-4636-984f-012bff14ba18_SetDate">
    <vt:lpwstr>2023-03-01T08:45:33Z</vt:lpwstr>
  </property>
  <property fmtid="{D5CDD505-2E9C-101B-9397-08002B2CF9AE}" pid="5" name="MSIP_Label_6951d41b-6b8e-4636-984f-012bff14ba18_Method">
    <vt:lpwstr>Standard</vt:lpwstr>
  </property>
  <property fmtid="{D5CDD505-2E9C-101B-9397-08002B2CF9AE}" pid="6" name="MSIP_Label_6951d41b-6b8e-4636-984f-012bff14ba18_Name">
    <vt:lpwstr>6951d41b-6b8e-4636-984f-012bff14ba18</vt:lpwstr>
  </property>
  <property fmtid="{D5CDD505-2E9C-101B-9397-08002B2CF9AE}" pid="7" name="MSIP_Label_6951d41b-6b8e-4636-984f-012bff14ba18_SiteId">
    <vt:lpwstr>c98a79ca-5a9a-4791-a243-f06afd67464d</vt:lpwstr>
  </property>
  <property fmtid="{D5CDD505-2E9C-101B-9397-08002B2CF9AE}" pid="8" name="MSIP_Label_6951d41b-6b8e-4636-984f-012bff14ba18_ActionId">
    <vt:lpwstr>427a6b61-e914-424c-94e4-0d28af546130</vt:lpwstr>
  </property>
  <property fmtid="{D5CDD505-2E9C-101B-9397-08002B2CF9AE}" pid="9" name="MSIP_Label_6951d41b-6b8e-4636-984f-012bff14ba18_ContentBits">
    <vt:lpwstr>1</vt:lpwstr>
  </property>
  <property fmtid="{D5CDD505-2E9C-101B-9397-08002B2CF9AE}" pid="10" name="ClassificationContentMarkingHeaderLocations">
    <vt:lpwstr>Office Theme:6</vt:lpwstr>
  </property>
  <property fmtid="{D5CDD505-2E9C-101B-9397-08002B2CF9AE}" pid="11" name="ClassificationContentMarkingHeaderText">
    <vt:lpwstr>SMU Classification: Restricted</vt:lpwstr>
  </property>
</Properties>
</file>