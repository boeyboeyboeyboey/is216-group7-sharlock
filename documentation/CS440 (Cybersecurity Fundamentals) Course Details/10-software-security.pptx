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92" r:id="rId4"/>
  </p:sldMasterIdLst>
  <p:notesMasterIdLst>
    <p:notesMasterId r:id="rId41"/>
  </p:notesMasterIdLst>
  <p:handoutMasterIdLst>
    <p:handoutMasterId r:id="rId42"/>
  </p:handoutMasterIdLst>
  <p:sldIdLst>
    <p:sldId id="455" r:id="rId5"/>
    <p:sldId id="507" r:id="rId6"/>
    <p:sldId id="414" r:id="rId7"/>
    <p:sldId id="457" r:id="rId8"/>
    <p:sldId id="499" r:id="rId9"/>
    <p:sldId id="410" r:id="rId10"/>
    <p:sldId id="503" r:id="rId11"/>
    <p:sldId id="474" r:id="rId12"/>
    <p:sldId id="464" r:id="rId13"/>
    <p:sldId id="493" r:id="rId14"/>
    <p:sldId id="333" r:id="rId15"/>
    <p:sldId id="267" r:id="rId16"/>
    <p:sldId id="487" r:id="rId17"/>
    <p:sldId id="411" r:id="rId18"/>
    <p:sldId id="504" r:id="rId19"/>
    <p:sldId id="280" r:id="rId20"/>
    <p:sldId id="282" r:id="rId21"/>
    <p:sldId id="283" r:id="rId22"/>
    <p:sldId id="469" r:id="rId23"/>
    <p:sldId id="349" r:id="rId24"/>
    <p:sldId id="489" r:id="rId25"/>
    <p:sldId id="506" r:id="rId26"/>
    <p:sldId id="368" r:id="rId27"/>
    <p:sldId id="458" r:id="rId28"/>
    <p:sldId id="404" r:id="rId29"/>
    <p:sldId id="372" r:id="rId30"/>
    <p:sldId id="406" r:id="rId31"/>
    <p:sldId id="392" r:id="rId32"/>
    <p:sldId id="519" r:id="rId33"/>
    <p:sldId id="517" r:id="rId34"/>
    <p:sldId id="366" r:id="rId35"/>
    <p:sldId id="501" r:id="rId36"/>
    <p:sldId id="510" r:id="rId37"/>
    <p:sldId id="509" r:id="rId38"/>
    <p:sldId id="502" r:id="rId39"/>
    <p:sldId id="518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B72"/>
    <a:srgbClr val="1A47B6"/>
    <a:srgbClr val="F1185C"/>
    <a:srgbClr val="FFCC00"/>
    <a:srgbClr val="FFE285"/>
    <a:srgbClr val="FFFFFF"/>
    <a:srgbClr val="F7F7F7"/>
    <a:srgbClr val="FBFBFB"/>
    <a:srgbClr val="DBA70B"/>
    <a:srgbClr val="F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14C2EA-06E6-F548-9672-D5A45AF7C0C3}" v="132" dt="2025-10-09T03:19:48.90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03" autoAdjust="0"/>
    <p:restoredTop sz="93486" autoAdjust="0"/>
  </p:normalViewPr>
  <p:slideViewPr>
    <p:cSldViewPr snapToGrid="0" snapToObjects="1">
      <p:cViewPr varScale="1">
        <p:scale>
          <a:sx n="147" d="100"/>
          <a:sy n="147" d="100"/>
        </p:scale>
        <p:origin x="600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60" d="100"/>
        <a:sy n="160" d="100"/>
      </p:scale>
      <p:origin x="0" y="0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2610B3-7AD2-443D-9EED-D272A55646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24C13-04C5-44FB-B034-640B84AC7A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FD5BE7-7004-4067-ADFA-7CFE35CEFC19}" type="datetimeFigureOut">
              <a:rPr lang="en-SG" smtClean="0"/>
              <a:t>12/11/25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BDE46-AEBF-4095-B341-E86B41267A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A93F1-2B31-47D7-9523-E01662595A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B8634-C501-4364-B041-147E7E89780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9267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B1A6E-CF2A-4D43-97E3-58FD378C223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FD4FAC-B258-624A-81B3-9D14B00860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05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Redirect control to run something unexpected – DOS attack</a:t>
            </a:r>
          </a:p>
          <a:p>
            <a:r>
              <a:rPr lang="en-US" dirty="0"/>
              <a:t>Leak the data and crash the service. Changing flow of events.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31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Malware – evil software.</a:t>
            </a:r>
          </a:p>
          <a:p>
            <a:r>
              <a:rPr lang="en-US" dirty="0"/>
              <a:t>Normal programs – usage of Benign software and use malicious data to exploit (itself is not evil. But cos of vulnerability thus cause leaking, DOS, unintended function, control of flow)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06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Directory traversal not going through, memory corruption.</a:t>
            </a:r>
          </a:p>
          <a:p>
            <a:r>
              <a:rPr lang="en-US" dirty="0"/>
              <a:t>Directory traversal is like cd ../ </a:t>
            </a:r>
            <a:r>
              <a:rPr lang="en-US" dirty="0" err="1"/>
              <a:t>etc</a:t>
            </a:r>
            <a:r>
              <a:rPr lang="en-US" dirty="0"/>
              <a:t> and entering into </a:t>
            </a:r>
            <a:r>
              <a:rPr lang="en-US" dirty="0" err="1"/>
              <a:t>sudo</a:t>
            </a:r>
            <a:r>
              <a:rPr lang="en-US" dirty="0"/>
              <a:t> without the proper auth. Validation is not done.</a:t>
            </a:r>
          </a:p>
          <a:p>
            <a:r>
              <a:rPr lang="en-US" dirty="0"/>
              <a:t>You can blacklist some characters. Like open and close policy. Whitelisting is safer (Close policy)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139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6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34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Dst</a:t>
            </a:r>
            <a:r>
              <a:rPr lang="en-US" dirty="0"/>
              <a:t>. Is basically the buffer starting point.</a:t>
            </a:r>
          </a:p>
          <a:p>
            <a:endParaRPr lang="en-US" dirty="0"/>
          </a:p>
          <a:p>
            <a:r>
              <a:rPr lang="en-US" dirty="0"/>
              <a:t>Overflow upwards.</a:t>
            </a:r>
          </a:p>
          <a:p>
            <a:r>
              <a:rPr lang="en-US" dirty="0"/>
              <a:t>0x0 is the num char, denote end of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509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Buffer2 can be used to bypass auth already is buffer2 is result from auth.</a:t>
            </a:r>
          </a:p>
          <a:p>
            <a:r>
              <a:rPr lang="en-US" dirty="0"/>
              <a:t>Buffer2 can be used to </a:t>
            </a:r>
            <a:r>
              <a:rPr lang="en-US" dirty="0" err="1"/>
              <a:t>distrupt</a:t>
            </a:r>
            <a:r>
              <a:rPr lang="en-US" dirty="0"/>
              <a:t> the flow if it is controls.</a:t>
            </a:r>
          </a:p>
          <a:p>
            <a:r>
              <a:rPr lang="en-US" dirty="0"/>
              <a:t>It’s a stack, run from top to bottom.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96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60B55FA5-123F-DF6F-519A-FC7E11F23D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BF1C419-F05E-47EF-8803-21BEDAFE63FD}" type="slidenum">
              <a:rPr lang="en-AU" altLang="en-US" sz="1200"/>
              <a:pPr/>
              <a:t>16</a:t>
            </a:fld>
            <a:endParaRPr lang="en-AU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A82AFB21-A81D-913B-78B9-0444D97386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76BE21C9-D126-9FD2-F33B-92C1958550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9AE73716-0B16-20C1-E301-2F293A180D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BC976D3-BC18-43B9-912A-2E25C1E109D5}" type="slidenum">
              <a:rPr lang="en-AU" altLang="en-US" sz="1200"/>
              <a:pPr/>
              <a:t>17</a:t>
            </a:fld>
            <a:endParaRPr lang="en-AU" altLang="en-US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2FE97314-934E-6016-DB2B-45C4A18B2E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C279FCE2-B7C1-962B-60BC-3948CBB105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E98257A2-EB7E-9F30-0F93-CD3AC00A67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852FC59-7181-47D4-BC7E-BDAE3CA55F94}" type="slidenum">
              <a:rPr lang="en-AU" altLang="en-US" sz="1200"/>
              <a:pPr/>
              <a:t>18</a:t>
            </a:fld>
            <a:endParaRPr lang="en-AU" altLang="en-US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ACCEC002-8B04-8F8A-2E9B-649D7E228F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4CB72630-92F2-305B-9F76-39D76EC1B7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Finisih</a:t>
            </a:r>
            <a:r>
              <a:rPr lang="en-US" dirty="0"/>
              <a:t> it or how to make it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43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input validation is important. Length is always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76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 is not memory safe.</a:t>
            </a:r>
          </a:p>
          <a:p>
            <a:r>
              <a:rPr lang="en-GB" dirty="0"/>
              <a:t>Java interprets the runtime based on the intermediary code.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9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Created for malicious purposes.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506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Differentiate malware to malware.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25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Replicate and can send around in OS. Can survive on its own and can just replicate.</a:t>
            </a:r>
            <a:br>
              <a:rPr lang="en-US" dirty="0"/>
            </a:br>
            <a:r>
              <a:rPr lang="en-US" dirty="0"/>
              <a:t>Replicate, find random Ip address, and send. If address exists, it will be infected. All computers in network will be screwed.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474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 of bot : </a:t>
            </a:r>
            <a:r>
              <a:rPr lang="en-US" dirty="0" err="1"/>
              <a:t>zombine</a:t>
            </a:r>
            <a:r>
              <a:rPr lang="en-US" dirty="0"/>
              <a:t> machines</a:t>
            </a:r>
          </a:p>
          <a:p>
            <a:r>
              <a:rPr lang="en-US" dirty="0"/>
              <a:t>Use network of machines to launch attacks (computers affected by the bots)</a:t>
            </a:r>
          </a:p>
          <a:p>
            <a:r>
              <a:rPr lang="en-US" dirty="0"/>
              <a:t>Group communication channel can be used to infect all.</a:t>
            </a:r>
          </a:p>
          <a:p>
            <a:r>
              <a:rPr lang="en-US" dirty="0"/>
              <a:t>You need to know vulnerability in multiple systems/machines.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4585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 money to unlock computer.</a:t>
            </a:r>
          </a:p>
          <a:p>
            <a:r>
              <a:rPr lang="en-US" dirty="0"/>
              <a:t>Used by attacker for bad purpose.</a:t>
            </a:r>
          </a:p>
          <a:p>
            <a:r>
              <a:rPr lang="en-US" dirty="0"/>
              <a:t>Uses AES encryption to encrypt the victim device.</a:t>
            </a:r>
          </a:p>
          <a:p>
            <a:r>
              <a:rPr lang="en-US" dirty="0" err="1"/>
              <a:t>Mcm</a:t>
            </a:r>
            <a:r>
              <a:rPr lang="en-US" dirty="0"/>
              <a:t> like kidnapping your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150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like a compiler. You can think of it like a compiler where it checks everything. But is to see what your code does, DOES NOT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3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576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D4FAC-B258-624A-81B3-9D14B008603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13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4.sv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4.sv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>
            <a:alpha val="5882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3C88D0-2E08-4670-9044-5186D448CA04}"/>
              </a:ext>
            </a:extLst>
          </p:cNvPr>
          <p:cNvSpPr/>
          <p:nvPr userDrawn="1"/>
        </p:nvSpPr>
        <p:spPr>
          <a:xfrm>
            <a:off x="0" y="3429000"/>
            <a:ext cx="12188959" cy="3453861"/>
          </a:xfrm>
          <a:prstGeom prst="rect">
            <a:avLst/>
          </a:prstGeom>
          <a:solidFill>
            <a:srgbClr val="FFE2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E584884-844F-4B21-AC76-5ED86C2636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724" y="1051033"/>
            <a:ext cx="4750676" cy="4742829"/>
          </a:xfrm>
          <a:prstGeom prst="rect">
            <a:avLst/>
          </a:prstGeom>
        </p:spPr>
      </p:pic>
      <p:sp>
        <p:nvSpPr>
          <p:cNvPr id="5" name="Shape 220">
            <a:extLst>
              <a:ext uri="{FF2B5EF4-FFF2-40B4-BE49-F238E27FC236}">
                <a16:creationId xmlns:a16="http://schemas.microsoft.com/office/drawing/2014/main" id="{35520701-497D-44D0-A84B-8664C301EC62}"/>
              </a:ext>
            </a:extLst>
          </p:cNvPr>
          <p:cNvSpPr txBox="1">
            <a:spLocks/>
          </p:cNvSpPr>
          <p:nvPr userDrawn="1"/>
        </p:nvSpPr>
        <p:spPr>
          <a:xfrm>
            <a:off x="3041" y="2478949"/>
            <a:ext cx="12188959" cy="460767"/>
          </a:xfrm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pPr algn="r"/>
            <a:r>
              <a:rPr lang="en-US" altLang="en-US" sz="3400" spc="-150" dirty="0">
                <a:latin typeface="Arial Nova" panose="020B0504020202020204" pitchFamily="34" charset="0"/>
                <a:ea typeface="Roboto" panose="020B0604020202020204" pitchFamily="2" charset="0"/>
              </a:rPr>
              <a:t>CS440</a:t>
            </a:r>
            <a:endParaRPr lang="en-US" sz="3400" spc="-150" dirty="0">
              <a:solidFill>
                <a:schemeClr val="accent2"/>
              </a:solidFill>
              <a:latin typeface="Arial Nova" panose="020B0504020202020204" pitchFamily="34" charset="0"/>
              <a:ea typeface="Roboto" panose="020B0604020202020204" pitchFamily="2" charset="0"/>
              <a:cs typeface="Tahoma"/>
              <a:sym typeface="Tahom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D5293-5E45-4ED0-8ABB-404EA0C787DB}"/>
              </a:ext>
            </a:extLst>
          </p:cNvPr>
          <p:cNvSpPr txBox="1"/>
          <p:nvPr userDrawn="1"/>
        </p:nvSpPr>
        <p:spPr>
          <a:xfrm>
            <a:off x="0" y="2813447"/>
            <a:ext cx="1218895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en-US" sz="3400" b="1" spc="-150" dirty="0">
                <a:latin typeface="Arial Nova" panose="020B0504020202020204" pitchFamily="34" charset="0"/>
                <a:ea typeface="Roboto" panose="020B0604020202020204" pitchFamily="2" charset="0"/>
              </a:rPr>
              <a:t>Foundations of Cybersecurity</a:t>
            </a:r>
            <a:endParaRPr lang="en-SG" sz="3400" b="1" spc="-150" dirty="0">
              <a:latin typeface="Arial Nova" panose="020B05040202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DDB0E61-499E-455F-A5D3-6261FA854D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669" y="1354341"/>
            <a:ext cx="4157604" cy="415760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E362F9D-8518-4A7E-9743-E5EAF1DFFD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0207"/>
          <a:stretch/>
        </p:blipFill>
        <p:spPr>
          <a:xfrm>
            <a:off x="1027242" y="3433142"/>
            <a:ext cx="4157604" cy="2070185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A5F7416-A3F0-4B2C-8382-6FB636DAF2E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495218" y="3437315"/>
            <a:ext cx="6693741" cy="1241217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Title Here</a:t>
            </a:r>
            <a:br>
              <a:rPr lang="en-GB" dirty="0"/>
            </a:b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74CF7D-A872-4DD3-8F5C-DBA67CFC686C}"/>
              </a:ext>
            </a:extLst>
          </p:cNvPr>
          <p:cNvSpPr txBox="1"/>
          <p:nvPr userDrawn="1"/>
        </p:nvSpPr>
        <p:spPr>
          <a:xfrm>
            <a:off x="3041" y="4696518"/>
            <a:ext cx="121889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en-US" sz="1600" b="0" spc="0" dirty="0">
                <a:latin typeface="Arial Nova Light" panose="020B0304020202020204" pitchFamily="34" charset="0"/>
                <a:ea typeface="Roboto" panose="020B0604020202020204" pitchFamily="2" charset="0"/>
              </a:rPr>
              <a:t>Presented By: Shar Lwin </a:t>
            </a:r>
            <a:r>
              <a:rPr lang="en-US" altLang="en-US" sz="1600" b="0" spc="0" dirty="0" err="1">
                <a:latin typeface="Arial Nova Light" panose="020B0304020202020204" pitchFamily="34" charset="0"/>
                <a:ea typeface="Roboto" panose="020B0604020202020204" pitchFamily="2" charset="0"/>
              </a:rPr>
              <a:t>Khin</a:t>
            </a:r>
            <a:endParaRPr lang="en-SG" sz="1600" b="0" spc="0" dirty="0">
              <a:latin typeface="Arial Nova Light" panose="020B03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5375691-E25A-463F-A244-33D5283ECA07}"/>
              </a:ext>
            </a:extLst>
          </p:cNvPr>
          <p:cNvGrpSpPr/>
          <p:nvPr userDrawn="1"/>
        </p:nvGrpSpPr>
        <p:grpSpPr>
          <a:xfrm>
            <a:off x="219412" y="142004"/>
            <a:ext cx="3078914" cy="546273"/>
            <a:chOff x="798998" y="4391812"/>
            <a:chExt cx="3252915" cy="577145"/>
          </a:xfrm>
        </p:grpSpPr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B4E13C30-8D5A-4621-B756-E54226B031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16662" y="4391812"/>
              <a:ext cx="1635251" cy="577145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DA55FD92-6D03-43FA-AF8F-FC98AD97B5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98998" y="4393717"/>
              <a:ext cx="1457325" cy="571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23435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No presented by)">
    <p:bg>
      <p:bgPr>
        <a:solidFill>
          <a:schemeClr val="bg1">
            <a:alpha val="5882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3C88D0-2E08-4670-9044-5186D448CA04}"/>
              </a:ext>
            </a:extLst>
          </p:cNvPr>
          <p:cNvSpPr/>
          <p:nvPr userDrawn="1"/>
        </p:nvSpPr>
        <p:spPr>
          <a:xfrm>
            <a:off x="0" y="3429000"/>
            <a:ext cx="12188959" cy="3453861"/>
          </a:xfrm>
          <a:prstGeom prst="rect">
            <a:avLst/>
          </a:prstGeom>
          <a:solidFill>
            <a:srgbClr val="FFE2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E584884-844F-4B21-AC76-5ED86C2636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724" y="1051033"/>
            <a:ext cx="4750676" cy="4742829"/>
          </a:xfrm>
          <a:prstGeom prst="rect">
            <a:avLst/>
          </a:prstGeom>
        </p:spPr>
      </p:pic>
      <p:sp>
        <p:nvSpPr>
          <p:cNvPr id="5" name="Shape 220">
            <a:extLst>
              <a:ext uri="{FF2B5EF4-FFF2-40B4-BE49-F238E27FC236}">
                <a16:creationId xmlns:a16="http://schemas.microsoft.com/office/drawing/2014/main" id="{35520701-497D-44D0-A84B-8664C301EC62}"/>
              </a:ext>
            </a:extLst>
          </p:cNvPr>
          <p:cNvSpPr txBox="1">
            <a:spLocks/>
          </p:cNvSpPr>
          <p:nvPr userDrawn="1"/>
        </p:nvSpPr>
        <p:spPr>
          <a:xfrm>
            <a:off x="3041" y="2478949"/>
            <a:ext cx="12188959" cy="460767"/>
          </a:xfrm>
          <a:prstGeom prst="rect">
            <a:avLst/>
          </a:prstGeom>
          <a:noFill/>
          <a:ln>
            <a:noFill/>
          </a:ln>
        </p:spPr>
        <p:txBody>
          <a:bodyPr vert="horz" wrap="square" lIns="68569" tIns="34275" rIns="68569" bIns="34275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b="1" i="0" kern="1200">
                <a:solidFill>
                  <a:schemeClr val="tx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pPr algn="r"/>
            <a:r>
              <a:rPr lang="en-US" altLang="en-US" sz="3400" spc="-150" dirty="0">
                <a:latin typeface="Arial Nova" panose="020B0504020202020204" pitchFamily="34" charset="0"/>
                <a:ea typeface="Roboto" panose="020B0604020202020204" pitchFamily="2" charset="0"/>
              </a:rPr>
              <a:t>CS440</a:t>
            </a:r>
            <a:endParaRPr lang="en-US" sz="3400" spc="-150" dirty="0">
              <a:solidFill>
                <a:schemeClr val="accent2"/>
              </a:solidFill>
              <a:latin typeface="Arial Nova" panose="020B0504020202020204" pitchFamily="34" charset="0"/>
              <a:ea typeface="Roboto" panose="020B0604020202020204" pitchFamily="2" charset="0"/>
              <a:cs typeface="Tahoma"/>
              <a:sym typeface="Tahom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D5293-5E45-4ED0-8ABB-404EA0C787DB}"/>
              </a:ext>
            </a:extLst>
          </p:cNvPr>
          <p:cNvSpPr txBox="1"/>
          <p:nvPr userDrawn="1"/>
        </p:nvSpPr>
        <p:spPr>
          <a:xfrm>
            <a:off x="0" y="2813447"/>
            <a:ext cx="1218895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en-US" sz="3400" b="1" spc="-150" dirty="0">
                <a:latin typeface="Arial Nova" panose="020B0504020202020204" pitchFamily="34" charset="0"/>
                <a:ea typeface="Roboto" panose="020B0604020202020204" pitchFamily="2" charset="0"/>
              </a:rPr>
              <a:t>Foundations of Cybersecurity</a:t>
            </a:r>
            <a:endParaRPr lang="en-SG" sz="3400" b="1" spc="-150" dirty="0">
              <a:latin typeface="Arial Nova" panose="020B05040202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DDB0E61-499E-455F-A5D3-6261FA854D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6669" y="1354341"/>
            <a:ext cx="4157604" cy="415760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E362F9D-8518-4A7E-9743-E5EAF1DFFD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0207"/>
          <a:stretch/>
        </p:blipFill>
        <p:spPr>
          <a:xfrm>
            <a:off x="1027242" y="3433142"/>
            <a:ext cx="4157604" cy="2070185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E169A0C-E452-4AAB-92DC-2B26D2D761D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495218" y="3437315"/>
            <a:ext cx="6693741" cy="1241217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Title Here</a:t>
            </a:r>
            <a:br>
              <a:rPr lang="en-GB" dirty="0"/>
            </a:br>
            <a:endParaRPr lang="en-GB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87F7D5D-9E6A-4F19-BC0E-EEA8CF4CCCFB}"/>
              </a:ext>
            </a:extLst>
          </p:cNvPr>
          <p:cNvGrpSpPr/>
          <p:nvPr userDrawn="1"/>
        </p:nvGrpSpPr>
        <p:grpSpPr>
          <a:xfrm>
            <a:off x="219412" y="142004"/>
            <a:ext cx="3078914" cy="546273"/>
            <a:chOff x="798998" y="4391812"/>
            <a:chExt cx="3252915" cy="577145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EF83F0FF-C3A1-4B8A-901B-5D525AE805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16662" y="4391812"/>
              <a:ext cx="1635251" cy="577145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32BA6559-BBDA-45C5-9199-66F8C4F044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98998" y="4393717"/>
              <a:ext cx="1457325" cy="571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432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/Content Slide">
    <p:bg>
      <p:bgPr>
        <a:solidFill>
          <a:schemeClr val="bg1">
            <a:alpha val="5882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A8981B-AC8B-4A35-AA1C-761B40FAB541}"/>
              </a:ext>
            </a:extLst>
          </p:cNvPr>
          <p:cNvSpPr txBox="1"/>
          <p:nvPr userDrawn="1"/>
        </p:nvSpPr>
        <p:spPr>
          <a:xfrm>
            <a:off x="11754034" y="6550223"/>
            <a:ext cx="43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D86BCF-B0C7-40BD-8691-2D73369643C4}" type="slidenum">
              <a:rPr lang="en-SG" sz="1400" smtClean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‹#›</a:t>
            </a:fld>
            <a:endParaRPr lang="en-SG" sz="1400" dirty="0">
              <a:latin typeface="Arial Nova" panose="020B05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17E2B-B80D-4096-90C9-CAFA0DFAC6A8}"/>
              </a:ext>
            </a:extLst>
          </p:cNvPr>
          <p:cNvSpPr txBox="1"/>
          <p:nvPr userDrawn="1"/>
        </p:nvSpPr>
        <p:spPr>
          <a:xfrm>
            <a:off x="1106815" y="420052"/>
            <a:ext cx="4269605" cy="584775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ctr"/>
            <a:r>
              <a:rPr lang="en-US" altLang="en-US" sz="3200" b="1" spc="-150" dirty="0">
                <a:latin typeface="Arial Nova" panose="020B0504020202020204" pitchFamily="34" charset="0"/>
                <a:ea typeface="Roboto" panose="020B0604020202020204" pitchFamily="2" charset="0"/>
              </a:rPr>
              <a:t>Content</a:t>
            </a:r>
            <a:endParaRPr lang="en-SG" sz="3200" b="1" spc="-150" dirty="0">
              <a:latin typeface="Arial Nova" panose="020B05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DD2921-8FDC-4B26-9FB6-69446F913D6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759436"/>
            <a:ext cx="0" cy="4811226"/>
          </a:xfrm>
          <a:prstGeom prst="line">
            <a:avLst/>
          </a:prstGeom>
          <a:ln w="60325" cap="rnd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31AD672-3531-4214-90F6-5BD894F15DA1}"/>
              </a:ext>
            </a:extLst>
          </p:cNvPr>
          <p:cNvSpPr txBox="1"/>
          <p:nvPr userDrawn="1"/>
        </p:nvSpPr>
        <p:spPr>
          <a:xfrm>
            <a:off x="6815580" y="420051"/>
            <a:ext cx="4352035" cy="584775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ctr"/>
            <a:r>
              <a:rPr lang="en-US" altLang="en-US" sz="3200" b="1" spc="-150" dirty="0">
                <a:latin typeface="Arial Nova" panose="020B0504020202020204" pitchFamily="34" charset="0"/>
                <a:ea typeface="Roboto" panose="020B0604020202020204" pitchFamily="2" charset="0"/>
              </a:rPr>
              <a:t>Learning Objectives</a:t>
            </a:r>
            <a:endParaRPr lang="en-SG" sz="3200" b="1" spc="-150" dirty="0">
              <a:latin typeface="Arial Nova" panose="020B0504020202020204" pitchFamily="34" charset="0"/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849563C-90E4-4A69-BD87-8BC98FB62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385" y="1253331"/>
            <a:ext cx="4352035" cy="435133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 Light" panose="020B0304020202020204" pitchFamily="34" charset="0"/>
              </a:defRPr>
            </a:lvl3pPr>
            <a:lvl4pPr>
              <a:defRPr>
                <a:latin typeface="Arial Nova Light" panose="020B0304020202020204" pitchFamily="34" charset="0"/>
              </a:defRPr>
            </a:lvl4pPr>
            <a:lvl5pPr>
              <a:defRPr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98B1011-7E80-4030-A729-05B3DD2CFCFA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856797" y="1253331"/>
            <a:ext cx="4310820" cy="435133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 Light" panose="020B0304020202020204" pitchFamily="34" charset="0"/>
              </a:defRPr>
            </a:lvl3pPr>
            <a:lvl4pPr>
              <a:defRPr>
                <a:latin typeface="Arial Nova Light" panose="020B0304020202020204" pitchFamily="34" charset="0"/>
              </a:defRPr>
            </a:lvl4pPr>
            <a:lvl5pPr>
              <a:defRPr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33955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A31952-8378-46DA-9488-641778451731}"/>
              </a:ext>
            </a:extLst>
          </p:cNvPr>
          <p:cNvSpPr/>
          <p:nvPr userDrawn="1"/>
        </p:nvSpPr>
        <p:spPr>
          <a:xfrm>
            <a:off x="0" y="3429000"/>
            <a:ext cx="12188959" cy="3453861"/>
          </a:xfrm>
          <a:prstGeom prst="rect">
            <a:avLst/>
          </a:prstGeom>
          <a:solidFill>
            <a:srgbClr val="FFE2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SG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CD11AF-F143-4E95-9F76-FBF526213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851952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Autofit/>
          </a:bodyPr>
          <a:lstStyle>
            <a:lvl1pPr algn="l">
              <a:defRPr sz="40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Header Here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8981B-AC8B-4A35-AA1C-761B40FAB541}"/>
              </a:ext>
            </a:extLst>
          </p:cNvPr>
          <p:cNvSpPr txBox="1"/>
          <p:nvPr userDrawn="1"/>
        </p:nvSpPr>
        <p:spPr>
          <a:xfrm>
            <a:off x="11754034" y="6550223"/>
            <a:ext cx="43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D86BCF-B0C7-40BD-8691-2D73369643C4}" type="slidenum">
              <a:rPr lang="en-SG" sz="1400" smtClean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‹#›</a:t>
            </a:fld>
            <a:endParaRPr lang="en-SG" sz="1400" dirty="0">
              <a:latin typeface="Arial Nova" panose="020B05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A420E72-2781-4109-9E57-B95FAD77AD31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-3041" y="3437316"/>
            <a:ext cx="10843491" cy="363116"/>
          </a:xfrm>
        </p:spPr>
        <p:txBody>
          <a:bodyPr lIns="360000" rIns="360000" anchor="ctr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Flavour Text Here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E4BDADD-B6C7-4717-9148-0B325B4E0F79}"/>
              </a:ext>
            </a:extLst>
          </p:cNvPr>
          <p:cNvGrpSpPr/>
          <p:nvPr userDrawn="1"/>
        </p:nvGrpSpPr>
        <p:grpSpPr>
          <a:xfrm>
            <a:off x="219412" y="142004"/>
            <a:ext cx="3078914" cy="546273"/>
            <a:chOff x="798998" y="4391812"/>
            <a:chExt cx="3252915" cy="577145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58586D31-15C5-425D-85E1-1873395445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6662" y="4391812"/>
              <a:ext cx="1635251" cy="577145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D9C1CDC5-8FDA-44C4-ADA3-EC69A58B1F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8998" y="4393717"/>
              <a:ext cx="1457325" cy="571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0257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CD11AF-F143-4E95-9F76-FBF526213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1108A6-71D4-4871-A524-4FC6C414A6F8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EB485F1-9C7A-4089-BC0C-E0EC4F8CDA6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2831977" y="6347537"/>
            <a:ext cx="6604986" cy="510464"/>
          </a:xfrm>
        </p:spPr>
        <p:txBody>
          <a:bodyPr anchor="b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3ACFFB6-D74F-46F9-BA08-950DC89D9A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192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r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56D6901-44F1-4E68-9145-D54DC24D486C}"/>
              </a:ext>
            </a:extLst>
          </p:cNvPr>
          <p:cNvGrpSpPr/>
          <p:nvPr userDrawn="1"/>
        </p:nvGrpSpPr>
        <p:grpSpPr>
          <a:xfrm>
            <a:off x="4654966" y="6366048"/>
            <a:ext cx="2882068" cy="452174"/>
            <a:chOff x="4654967" y="6366048"/>
            <a:chExt cx="2882068" cy="45217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4654967" y="6368222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7087035" y="6366048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2578F94-9F30-4984-8A78-2F6A0198E6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6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E09C187-E0E8-41A1-9532-51B50682CE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72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ar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56D6901-44F1-4E68-9145-D54DC24D486C}"/>
              </a:ext>
            </a:extLst>
          </p:cNvPr>
          <p:cNvGrpSpPr/>
          <p:nvPr userDrawn="1"/>
        </p:nvGrpSpPr>
        <p:grpSpPr>
          <a:xfrm>
            <a:off x="4654966" y="6366048"/>
            <a:ext cx="2882068" cy="452174"/>
            <a:chOff x="4654967" y="6366048"/>
            <a:chExt cx="2882068" cy="45217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4654967" y="6368222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7087035" y="6366048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2578F94-9F30-4984-8A78-2F6A0198E6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6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E09C187-E0E8-41A1-9532-51B50682CE8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712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FB2C3DD-2B40-46EE-BCAD-44D6AB76CAB0}"/>
              </a:ext>
            </a:extLst>
          </p:cNvPr>
          <p:cNvGrpSpPr/>
          <p:nvPr userDrawn="1"/>
        </p:nvGrpSpPr>
        <p:grpSpPr>
          <a:xfrm>
            <a:off x="3225210" y="6363874"/>
            <a:ext cx="5741581" cy="454348"/>
            <a:chOff x="3222094" y="6363874"/>
            <a:chExt cx="5741581" cy="454348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3222094" y="6368222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5867884" y="6366048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8513675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2578F94-9F30-4984-8A78-2F6A0198E6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0909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738047E-6518-4D62-9C1E-EC0FE3ACB6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5488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26372B-EB3A-4FE4-91BE-CC9376F485B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7C78BA-B57D-48AB-AA8E-4475D71AD05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400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FB2C3DD-2B40-46EE-BCAD-44D6AB76CAB0}"/>
              </a:ext>
            </a:extLst>
          </p:cNvPr>
          <p:cNvGrpSpPr/>
          <p:nvPr userDrawn="1"/>
        </p:nvGrpSpPr>
        <p:grpSpPr>
          <a:xfrm>
            <a:off x="3225210" y="6363874"/>
            <a:ext cx="5741581" cy="454348"/>
            <a:chOff x="3222094" y="6363874"/>
            <a:chExt cx="5741581" cy="454348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3222094" y="6368222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5867884" y="6366048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8513675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2578F94-9F30-4984-8A78-2F6A0198E6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0909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738047E-6518-4D62-9C1E-EC0FE3ACB6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5488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26372B-EB3A-4FE4-91BE-CC9376F485B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A6A8000-3EF0-4625-B4F1-196FAA8FE8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263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ar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FB2C3DD-2B40-46EE-BCAD-44D6AB76CAB0}"/>
              </a:ext>
            </a:extLst>
          </p:cNvPr>
          <p:cNvGrpSpPr/>
          <p:nvPr userDrawn="1"/>
        </p:nvGrpSpPr>
        <p:grpSpPr>
          <a:xfrm>
            <a:off x="3225210" y="6363874"/>
            <a:ext cx="5741581" cy="454348"/>
            <a:chOff x="3222094" y="6363874"/>
            <a:chExt cx="5741581" cy="454348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3222094" y="6368222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5867884" y="6366048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8513675" y="636387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2578F94-9F30-4984-8A78-2F6A0198E6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0909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738047E-6518-4D62-9C1E-EC0FE3ACB6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54884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26372B-EB3A-4FE4-91BE-CC9376F485B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ADB5228-5FB9-49A9-9740-193C896767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6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r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0F1A7-F9A0-4506-AE38-8BC2A086F36E}"/>
              </a:ext>
            </a:extLst>
          </p:cNvPr>
          <p:cNvGrpSpPr/>
          <p:nvPr userDrawn="1"/>
        </p:nvGrpSpPr>
        <p:grpSpPr>
          <a:xfrm>
            <a:off x="2726367" y="6360464"/>
            <a:ext cx="6739266" cy="453410"/>
            <a:chOff x="2726367" y="6360464"/>
            <a:chExt cx="6739266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26367" y="636046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822789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6919211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9015633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2B5A7E0-4F21-421B-B36A-C9BCBEC689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38683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09EF7D-A325-4A01-9F37-03EE37C4E7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5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0B568A-72F8-465B-9239-3FBA8A5D5F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31527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5E9E151-1807-44F6-9C17-B2CCF37F82E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014A74E-A0B9-4DD0-B456-BBC8F3A732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57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r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0F1A7-F9A0-4506-AE38-8BC2A086F36E}"/>
              </a:ext>
            </a:extLst>
          </p:cNvPr>
          <p:cNvGrpSpPr/>
          <p:nvPr userDrawn="1"/>
        </p:nvGrpSpPr>
        <p:grpSpPr>
          <a:xfrm>
            <a:off x="2726367" y="6360464"/>
            <a:ext cx="6739266" cy="453410"/>
            <a:chOff x="2726367" y="6360464"/>
            <a:chExt cx="6739266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26367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822789" y="636387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6919211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9015633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2B5A7E0-4F21-421B-B36A-C9BCBEC689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38683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09EF7D-A325-4A01-9F37-03EE37C4E7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5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0B568A-72F8-465B-9239-3FBA8A5D5F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31527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5E9E151-1807-44F6-9C17-B2CCF37F82E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778D2C4-BF38-444F-8AF8-00E29162B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245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r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0F1A7-F9A0-4506-AE38-8BC2A086F36E}"/>
              </a:ext>
            </a:extLst>
          </p:cNvPr>
          <p:cNvGrpSpPr/>
          <p:nvPr userDrawn="1"/>
        </p:nvGrpSpPr>
        <p:grpSpPr>
          <a:xfrm>
            <a:off x="2726367" y="6360464"/>
            <a:ext cx="6739266" cy="453410"/>
            <a:chOff x="2726367" y="6360464"/>
            <a:chExt cx="6739266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26367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822789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6919211" y="6362169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9015633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2B5A7E0-4F21-421B-B36A-C9BCBEC689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38683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09EF7D-A325-4A01-9F37-03EE37C4E7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5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0B568A-72F8-465B-9239-3FBA8A5D5F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31527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5E9E151-1807-44F6-9C17-B2CCF37F82E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46D950D-7856-44BE-8CE8-E5341DA7045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320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rt Slide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0F1A7-F9A0-4506-AE38-8BC2A086F36E}"/>
              </a:ext>
            </a:extLst>
          </p:cNvPr>
          <p:cNvGrpSpPr/>
          <p:nvPr userDrawn="1"/>
        </p:nvGrpSpPr>
        <p:grpSpPr>
          <a:xfrm>
            <a:off x="2726367" y="6360464"/>
            <a:ext cx="6739266" cy="453410"/>
            <a:chOff x="2726367" y="6360464"/>
            <a:chExt cx="6739266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26367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822789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6919211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9015633" y="636046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2B5A7E0-4F21-421B-B36A-C9BCBEC689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38683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B09EF7D-A325-4A01-9F37-03EE37C4E7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535105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0B568A-72F8-465B-9239-3FBA8A5D5F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31527" y="6609763"/>
              <a:ext cx="1121790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5E9E151-1807-44F6-9C17-B2CCF37F82E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CE1B0DB-E15B-4C21-B367-461909D808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00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rt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2FA6E-5234-413E-A6B6-B5EE67E54CCA}"/>
              </a:ext>
            </a:extLst>
          </p:cNvPr>
          <p:cNvGrpSpPr/>
          <p:nvPr userDrawn="1"/>
        </p:nvGrpSpPr>
        <p:grpSpPr>
          <a:xfrm>
            <a:off x="2710500" y="6360464"/>
            <a:ext cx="6771000" cy="453410"/>
            <a:chOff x="2710500" y="6360464"/>
            <a:chExt cx="6771000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10500" y="636046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290750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5871000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745125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52C41B-CDAD-41F5-8690-AFBE44D0D44A}"/>
                </a:ext>
              </a:extLst>
            </p:cNvPr>
            <p:cNvSpPr/>
            <p:nvPr userDrawn="1"/>
          </p:nvSpPr>
          <p:spPr>
            <a:xfrm>
              <a:off x="9031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BBCFA8-F9F9-4DBF-AFAA-0E0DEA52AE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674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C2135-FBB6-4B2C-8C2E-9C56AA58FC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476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2A0DEC-8886-4BF0-8E3F-ADD631306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9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5FC404-BC61-4BBF-A696-F1B4428D1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1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9403F5-D523-457A-8E11-9AB5905A763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6D5DC14-943D-4D41-8FE8-E992C268EC2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084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rt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2FA6E-5234-413E-A6B6-B5EE67E54CCA}"/>
              </a:ext>
            </a:extLst>
          </p:cNvPr>
          <p:cNvGrpSpPr/>
          <p:nvPr userDrawn="1"/>
        </p:nvGrpSpPr>
        <p:grpSpPr>
          <a:xfrm>
            <a:off x="2710500" y="6360464"/>
            <a:ext cx="6771000" cy="453410"/>
            <a:chOff x="2710500" y="6360464"/>
            <a:chExt cx="6771000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10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290750" y="636387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5871000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745125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52C41B-CDAD-41F5-8690-AFBE44D0D44A}"/>
                </a:ext>
              </a:extLst>
            </p:cNvPr>
            <p:cNvSpPr/>
            <p:nvPr userDrawn="1"/>
          </p:nvSpPr>
          <p:spPr>
            <a:xfrm>
              <a:off x="9031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BBCFA8-F9F9-4DBF-AFAA-0E0DEA52AE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674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C2135-FBB6-4B2C-8C2E-9C56AA58FC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476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2A0DEC-8886-4BF0-8E3F-ADD631306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9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5FC404-BC61-4BBF-A696-F1B4428D1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1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9403F5-D523-457A-8E11-9AB5905A763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BCC3EC9-5000-4F66-AF20-DE162BE3D1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156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rt Slid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2FA6E-5234-413E-A6B6-B5EE67E54CCA}"/>
              </a:ext>
            </a:extLst>
          </p:cNvPr>
          <p:cNvGrpSpPr/>
          <p:nvPr userDrawn="1"/>
        </p:nvGrpSpPr>
        <p:grpSpPr>
          <a:xfrm>
            <a:off x="2710500" y="6360464"/>
            <a:ext cx="6771000" cy="453410"/>
            <a:chOff x="2710500" y="6360464"/>
            <a:chExt cx="6771000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10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290750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5871000" y="6362169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745125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52C41B-CDAD-41F5-8690-AFBE44D0D44A}"/>
                </a:ext>
              </a:extLst>
            </p:cNvPr>
            <p:cNvSpPr/>
            <p:nvPr userDrawn="1"/>
          </p:nvSpPr>
          <p:spPr>
            <a:xfrm>
              <a:off x="9031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BBCFA8-F9F9-4DBF-AFAA-0E0DEA52AE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674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C2135-FBB6-4B2C-8C2E-9C56AA58FC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476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2A0DEC-8886-4BF0-8E3F-ADD631306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9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5FC404-BC61-4BBF-A696-F1B4428D1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1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9403F5-D523-457A-8E11-9AB5905A763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D23105A-C0A1-47BD-A54B-C83DE2C03B7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077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rt Slide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2FA6E-5234-413E-A6B6-B5EE67E54CCA}"/>
              </a:ext>
            </a:extLst>
          </p:cNvPr>
          <p:cNvGrpSpPr/>
          <p:nvPr userDrawn="1"/>
        </p:nvGrpSpPr>
        <p:grpSpPr>
          <a:xfrm>
            <a:off x="2710500" y="6360464"/>
            <a:ext cx="6771000" cy="453410"/>
            <a:chOff x="2710500" y="6360464"/>
            <a:chExt cx="6771000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10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290750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5871000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7451250" y="636046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52C41B-CDAD-41F5-8690-AFBE44D0D44A}"/>
                </a:ext>
              </a:extLst>
            </p:cNvPr>
            <p:cNvSpPr/>
            <p:nvPr userDrawn="1"/>
          </p:nvSpPr>
          <p:spPr>
            <a:xfrm>
              <a:off x="9031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BBCFA8-F9F9-4DBF-AFAA-0E0DEA52AE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674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C2135-FBB6-4B2C-8C2E-9C56AA58FC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476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2A0DEC-8886-4BF0-8E3F-ADD631306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9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5FC404-BC61-4BBF-A696-F1B4428D1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1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9403F5-D523-457A-8E11-9AB5905A763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8AF55C2-70B9-4413-A945-B0FE7F8A8B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887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rt Slide 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>
            <a:extLst>
              <a:ext uri="{FF2B5EF4-FFF2-40B4-BE49-F238E27FC236}">
                <a16:creationId xmlns:a16="http://schemas.microsoft.com/office/drawing/2014/main" id="{A60DB038-924C-4462-A7F5-E395D8886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349" y="310719"/>
            <a:ext cx="10840451" cy="584828"/>
          </a:xfrm>
          <a:custGeom>
            <a:avLst/>
            <a:gdLst>
              <a:gd name="connsiteX0" fmla="*/ 0 w 10840451"/>
              <a:gd name="connsiteY0" fmla="*/ 0 h 584828"/>
              <a:gd name="connsiteX1" fmla="*/ 10840451 w 10840451"/>
              <a:gd name="connsiteY1" fmla="*/ 0 h 584828"/>
              <a:gd name="connsiteX2" fmla="*/ 10840451 w 10840451"/>
              <a:gd name="connsiteY2" fmla="*/ 584828 h 584828"/>
              <a:gd name="connsiteX3" fmla="*/ 0 w 10840451"/>
              <a:gd name="connsiteY3" fmla="*/ 584828 h 584828"/>
              <a:gd name="connsiteX4" fmla="*/ 0 w 10840451"/>
              <a:gd name="connsiteY4" fmla="*/ 0 h 58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0451" h="584828" extrusionOk="0">
                <a:moveTo>
                  <a:pt x="0" y="0"/>
                </a:moveTo>
                <a:cubicBezTo>
                  <a:pt x="4949079" y="118645"/>
                  <a:pt x="5651555" y="116012"/>
                  <a:pt x="10840451" y="0"/>
                </a:cubicBezTo>
                <a:cubicBezTo>
                  <a:pt x="10879755" y="104910"/>
                  <a:pt x="10885155" y="495597"/>
                  <a:pt x="10840451" y="584828"/>
                </a:cubicBezTo>
                <a:cubicBezTo>
                  <a:pt x="9180180" y="719428"/>
                  <a:pt x="1353659" y="427632"/>
                  <a:pt x="0" y="584828"/>
                </a:cubicBezTo>
                <a:cubicBezTo>
                  <a:pt x="5005" y="485256"/>
                  <a:pt x="4659" y="138876"/>
                  <a:pt x="0" y="0"/>
                </a:cubicBezTo>
                <a:close/>
              </a:path>
            </a:pathLst>
          </a:custGeom>
          <a:noFill/>
          <a:ln w="57150" cmpd="dbl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lIns="360000" rIns="360000">
            <a:normAutofit/>
          </a:bodyPr>
          <a:lstStyle>
            <a:lvl1pPr algn="l"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n-GB" dirty="0"/>
              <a:t>Title…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02E2B9-31DC-45A3-96AA-694FE4B5BC60}"/>
              </a:ext>
            </a:extLst>
          </p:cNvPr>
          <p:cNvCxnSpPr>
            <a:cxnSpLocks/>
          </p:cNvCxnSpPr>
          <p:nvPr userDrawn="1"/>
        </p:nvCxnSpPr>
        <p:spPr>
          <a:xfrm>
            <a:off x="513349" y="895547"/>
            <a:ext cx="10840451" cy="0"/>
          </a:xfrm>
          <a:prstGeom prst="line">
            <a:avLst/>
          </a:prstGeom>
          <a:ln w="60325" cmpd="sng">
            <a:solidFill>
              <a:srgbClr val="FFE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A02FA6E-5234-413E-A6B6-B5EE67E54CCA}"/>
              </a:ext>
            </a:extLst>
          </p:cNvPr>
          <p:cNvGrpSpPr/>
          <p:nvPr userDrawn="1"/>
        </p:nvGrpSpPr>
        <p:grpSpPr>
          <a:xfrm>
            <a:off x="2710500" y="6360464"/>
            <a:ext cx="6771000" cy="453410"/>
            <a:chOff x="2710500" y="6360464"/>
            <a:chExt cx="6771000" cy="45341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2D7825D4-D640-4E3D-8AD8-E7FEC3E96437}"/>
                </a:ext>
              </a:extLst>
            </p:cNvPr>
            <p:cNvSpPr/>
            <p:nvPr userDrawn="1"/>
          </p:nvSpPr>
          <p:spPr>
            <a:xfrm>
              <a:off x="271050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373B056-F3C2-4385-AF1E-6E5919D7C512}"/>
                </a:ext>
              </a:extLst>
            </p:cNvPr>
            <p:cNvSpPr/>
            <p:nvPr userDrawn="1"/>
          </p:nvSpPr>
          <p:spPr>
            <a:xfrm>
              <a:off x="4290750" y="636387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D1D13B0-213A-47AB-8105-5D7B1834A753}"/>
                </a:ext>
              </a:extLst>
            </p:cNvPr>
            <p:cNvSpPr/>
            <p:nvPr userDrawn="1"/>
          </p:nvSpPr>
          <p:spPr>
            <a:xfrm>
              <a:off x="5871000" y="6362169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AA28B3C-7DF4-4E23-9939-7C198AAFF73D}"/>
                </a:ext>
              </a:extLst>
            </p:cNvPr>
            <p:cNvSpPr/>
            <p:nvPr userDrawn="1"/>
          </p:nvSpPr>
          <p:spPr>
            <a:xfrm>
              <a:off x="7451250" y="6360464"/>
              <a:ext cx="450000" cy="450000"/>
            </a:xfrm>
            <a:prstGeom prst="ellipse">
              <a:avLst/>
            </a:prstGeom>
            <a:solidFill>
              <a:srgbClr val="FFE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E52C41B-CDAD-41F5-8690-AFBE44D0D44A}"/>
                </a:ext>
              </a:extLst>
            </p:cNvPr>
            <p:cNvSpPr/>
            <p:nvPr userDrawn="1"/>
          </p:nvSpPr>
          <p:spPr>
            <a:xfrm>
              <a:off x="9031500" y="6360464"/>
              <a:ext cx="450000" cy="45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SG" dirty="0">
                  <a:solidFill>
                    <a:schemeClr val="tx1"/>
                  </a:solidFill>
                </a:rPr>
                <a:t>5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0BBCFA8-F9F9-4DBF-AFAA-0E0DEA52AE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3674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FC2135-FBB6-4B2C-8C2E-9C56AA58FC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476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2A0DEC-8886-4BF0-8E3F-ADD631306FF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2790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5FC404-BC61-4BBF-A696-F1B4428D10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108156" y="6611336"/>
              <a:ext cx="716438" cy="0"/>
            </a:xfrm>
            <a:prstGeom prst="line">
              <a:avLst/>
            </a:prstGeom>
            <a:ln w="38100" cmpd="sng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19403F5-D523-457A-8E11-9AB5905A763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0" y="6090975"/>
            <a:ext cx="12192000" cy="19885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Credits Here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32F4977-E4C8-45CF-BB26-6212089F41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49" y="1268243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GB" dirty="0"/>
              <a:t>Click to edit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578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>
            <a:alpha val="5882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8A8981B-AC8B-4A35-AA1C-761B40FAB541}"/>
              </a:ext>
            </a:extLst>
          </p:cNvPr>
          <p:cNvSpPr txBox="1"/>
          <p:nvPr userDrawn="1"/>
        </p:nvSpPr>
        <p:spPr>
          <a:xfrm>
            <a:off x="11754034" y="6550223"/>
            <a:ext cx="43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D86BCF-B0C7-40BD-8691-2D73369643C4}" type="slidenum">
              <a:rPr lang="en-SG" sz="1400" smtClean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‹#›</a:t>
            </a:fld>
            <a:endParaRPr lang="en-SG" sz="1400" dirty="0">
              <a:latin typeface="Arial Nova" panose="020B05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704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3B5CC-1FAB-4AEE-A1D8-F673B74B29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757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1CF0E2DC-58ED-0143-6FB8-0E8FC33EFF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B59CF3CC-8661-74B6-7ECD-7C4D71F10E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D5AF2E2E-017E-421C-E542-41A2B4F349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026086-776F-4506-B5F2-1E16136317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8562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>
            <a:extLst>
              <a:ext uri="{FF2B5EF4-FFF2-40B4-BE49-F238E27FC236}">
                <a16:creationId xmlns:a16="http://schemas.microsoft.com/office/drawing/2014/main" id="{7FD2329C-EB6F-445A-C1AE-ED350DF23A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DDDA7444-1F1B-51C5-A709-E523407EFD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B7496AA3-A732-22D9-813A-1CEC6DCE11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88DA80-496B-4055-B8FB-B371252A8A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4453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4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>
            <a:alpha val="5882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CB7AF6B-0044-4409-B454-9A80AC9E8B75}"/>
              </a:ext>
            </a:extLst>
          </p:cNvPr>
          <p:cNvSpPr/>
          <p:nvPr userDrawn="1"/>
        </p:nvSpPr>
        <p:spPr>
          <a:xfrm>
            <a:off x="0" y="6298033"/>
            <a:ext cx="12188959" cy="584828"/>
          </a:xfrm>
          <a:prstGeom prst="rect">
            <a:avLst/>
          </a:prstGeom>
          <a:solidFill>
            <a:srgbClr val="FFE2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349" y="30834"/>
            <a:ext cx="1084045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349" y="1465007"/>
            <a:ext cx="10840451" cy="4723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5DD7C-1B66-EA47-8011-6F2F923EA81F}"/>
              </a:ext>
            </a:extLst>
          </p:cNvPr>
          <p:cNvSpPr txBox="1"/>
          <p:nvPr userDrawn="1"/>
        </p:nvSpPr>
        <p:spPr>
          <a:xfrm>
            <a:off x="4739952" y="0"/>
            <a:ext cx="27120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SMU Classification: Restricted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ECBE6-2E2A-4698-82E4-D7E7B0744F06}"/>
              </a:ext>
            </a:extLst>
          </p:cNvPr>
          <p:cNvSpPr txBox="1"/>
          <p:nvPr userDrawn="1"/>
        </p:nvSpPr>
        <p:spPr>
          <a:xfrm>
            <a:off x="11754034" y="6550223"/>
            <a:ext cx="437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D86BCF-B0C7-40BD-8691-2D73369643C4}" type="slidenum">
              <a:rPr lang="en-SG" sz="1400" smtClean="0"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pPr algn="ctr"/>
              <a:t>‹#›</a:t>
            </a:fld>
            <a:endParaRPr lang="en-SG" sz="1400" dirty="0">
              <a:latin typeface="Arial Nova" panose="020B05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C7DA68C-E182-408B-8C2D-0709B36851EC}"/>
              </a:ext>
            </a:extLst>
          </p:cNvPr>
          <p:cNvGrpSpPr/>
          <p:nvPr userDrawn="1"/>
        </p:nvGrpSpPr>
        <p:grpSpPr>
          <a:xfrm>
            <a:off x="234855" y="6392470"/>
            <a:ext cx="2205449" cy="391250"/>
            <a:chOff x="798998" y="4391812"/>
            <a:chExt cx="3253331" cy="577145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841ED958-BA93-481F-B5A4-8C585F1986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2417079" y="4391812"/>
              <a:ext cx="1635250" cy="577145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1DA310D7-2E97-4E16-B93B-5F9ABF7D93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798998" y="4393717"/>
              <a:ext cx="1457325" cy="571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669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818" r:id="rId2"/>
    <p:sldLayoutId id="2147483805" r:id="rId3"/>
    <p:sldLayoutId id="2147483806" r:id="rId4"/>
    <p:sldLayoutId id="2147483804" r:id="rId5"/>
    <p:sldLayoutId id="2147483801" r:id="rId6"/>
    <p:sldLayoutId id="2147483808" r:id="rId7"/>
    <p:sldLayoutId id="2147483795" r:id="rId8"/>
    <p:sldLayoutId id="2147483809" r:id="rId9"/>
    <p:sldLayoutId id="2147483810" r:id="rId10"/>
    <p:sldLayoutId id="2147483813" r:id="rId11"/>
    <p:sldLayoutId id="2147483812" r:id="rId12"/>
    <p:sldLayoutId id="2147483811" r:id="rId13"/>
    <p:sldLayoutId id="2147483802" r:id="rId14"/>
    <p:sldLayoutId id="2147483803" r:id="rId15"/>
    <p:sldLayoutId id="2147483814" r:id="rId16"/>
    <p:sldLayoutId id="2147483815" r:id="rId17"/>
    <p:sldLayoutId id="2147483816" r:id="rId18"/>
    <p:sldLayoutId id="2147483817" r:id="rId19"/>
    <p:sldLayoutId id="2147483807" r:id="rId20"/>
    <p:sldLayoutId id="2147483819" r:id="rId21"/>
    <p:sldLayoutId id="2147483820" r:id="rId22"/>
    <p:sldLayoutId id="2147483821" r:id="rId2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Arial Nova" panose="020B0504020202020204" pitchFamily="34" charset="0"/>
          <a:ea typeface="Arial Nova" panose="020B0504020202020204" pitchFamily="34" charset="0"/>
          <a:cs typeface="Arial Nova" panose="020B05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 Nova" panose="020B0504020202020204" pitchFamily="34" charset="0"/>
          <a:ea typeface="Arial Nova" panose="020B0504020202020204" pitchFamily="34" charset="0"/>
          <a:cs typeface="Arial Nova" panose="020B050402020202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 Nova" panose="020B0504020202020204" pitchFamily="34" charset="0"/>
          <a:ea typeface="Arial Nova" panose="020B0504020202020204" pitchFamily="34" charset="0"/>
          <a:cs typeface="Arial Nova" panose="020B050402020202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ova Light" panose="020B0304020202020204" pitchFamily="34" charset="0"/>
          <a:ea typeface="Arial Nova Light" panose="020B0304020202020204" pitchFamily="34" charset="0"/>
          <a:cs typeface="Arial Nova Light" panose="020B030402020202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 Nova Light" panose="020B0304020202020204" pitchFamily="34" charset="0"/>
          <a:ea typeface="Arial Nova Light" panose="020B0304020202020204" pitchFamily="34" charset="0"/>
          <a:cs typeface="Arial Nova Light" panose="020B030402020202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450"/>
        </a:spcBef>
        <a:spcAft>
          <a:spcPts val="450"/>
        </a:spcAft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 Nova Light" panose="020B03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hyperlink" Target="https://www.cve.org/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6.wmf"/><Relationship Id="rId11" Type="http://schemas.openxmlformats.org/officeDocument/2006/relationships/image" Target="../media/image31.jpeg"/><Relationship Id="rId5" Type="http://schemas.openxmlformats.org/officeDocument/2006/relationships/image" Target="../media/image25.wmf"/><Relationship Id="rId10" Type="http://schemas.openxmlformats.org/officeDocument/2006/relationships/image" Target="../media/image30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5C50E5-E0F7-5947-B117-AD3F1F8325B5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Software Security</a:t>
            </a:r>
          </a:p>
        </p:txBody>
      </p:sp>
    </p:spTree>
    <p:extLst>
      <p:ext uri="{BB962C8B-B14F-4D97-AF65-F5344CB8AC3E}">
        <p14:creationId xmlns:p14="http://schemas.microsoft.com/office/powerpoint/2010/main" val="702253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5D73-555C-6258-2887-782DEFFF4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Week 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5546F-A32A-B400-41A2-8EBAB817B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Communication between computers</a:t>
            </a:r>
          </a:p>
          <a:p>
            <a:r>
              <a:rPr lang="en-US" dirty="0"/>
              <a:t>Firewall</a:t>
            </a:r>
          </a:p>
          <a:p>
            <a:pPr lvl="1"/>
            <a:r>
              <a:rPr lang="en-US" dirty="0"/>
              <a:t>network based vs host based</a:t>
            </a:r>
          </a:p>
          <a:p>
            <a:pPr lvl="1"/>
            <a:r>
              <a:rPr lang="en-US" dirty="0"/>
              <a:t>open policy vs close policy</a:t>
            </a:r>
          </a:p>
          <a:p>
            <a:pPr lvl="1"/>
            <a:r>
              <a:rPr lang="en-US" dirty="0"/>
              <a:t>IP filter vs Application gateway</a:t>
            </a:r>
          </a:p>
          <a:p>
            <a:r>
              <a:rPr lang="en-US" dirty="0"/>
              <a:t>IDS</a:t>
            </a:r>
          </a:p>
          <a:p>
            <a:pPr lvl="1"/>
            <a:r>
              <a:rPr lang="en-US" dirty="0"/>
              <a:t>Signature-Based vs Anomaly-Based</a:t>
            </a:r>
          </a:p>
          <a:p>
            <a:pPr lvl="1"/>
            <a:r>
              <a:rPr lang="en-US" dirty="0"/>
              <a:t>Accuracy</a:t>
            </a:r>
          </a:p>
          <a:p>
            <a:pPr lvl="2"/>
            <a:r>
              <a:rPr lang="en-US" dirty="0"/>
              <a:t>Recall, Precision, Specificity</a:t>
            </a:r>
          </a:p>
        </p:txBody>
      </p:sp>
    </p:spTree>
    <p:extLst>
      <p:ext uri="{BB962C8B-B14F-4D97-AF65-F5344CB8AC3E}">
        <p14:creationId xmlns:p14="http://schemas.microsoft.com/office/powerpoint/2010/main" val="53641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dirty="0"/>
              <a:t>Content</a:t>
            </a:r>
          </a:p>
          <a:p>
            <a:pPr lvl="1"/>
            <a:r>
              <a:rPr lang="en-GB" sz="1900" dirty="0"/>
              <a:t>Vulnerabilities &amp; countermeasures</a:t>
            </a:r>
          </a:p>
          <a:p>
            <a:pPr lvl="2"/>
            <a:r>
              <a:rPr lang="en-GB" sz="1700" dirty="0"/>
              <a:t>Command Injection</a:t>
            </a:r>
          </a:p>
          <a:p>
            <a:pPr lvl="2"/>
            <a:r>
              <a:rPr lang="en-GB" sz="1700" dirty="0"/>
              <a:t>Buffer overflow</a:t>
            </a:r>
          </a:p>
          <a:p>
            <a:pPr lvl="1"/>
            <a:r>
              <a:rPr lang="en-GB" sz="1900" dirty="0"/>
              <a:t>Malware &amp; Malware Analysis</a:t>
            </a:r>
          </a:p>
          <a:p>
            <a:pPr lvl="1"/>
            <a:r>
              <a:rPr lang="en-GB" sz="1900" dirty="0"/>
              <a:t>Program Analysis for analysing vulnerabilities and malware</a:t>
            </a:r>
          </a:p>
          <a:p>
            <a:pPr marL="342900" lvl="1" indent="0">
              <a:buNone/>
            </a:pPr>
            <a:endParaRPr lang="en-US" sz="1900" dirty="0"/>
          </a:p>
          <a:p>
            <a:r>
              <a:rPr lang="en-US" sz="2200" dirty="0"/>
              <a:t>After this module, you should be able to</a:t>
            </a:r>
          </a:p>
          <a:p>
            <a:pPr lvl="1"/>
            <a:r>
              <a:rPr lang="en-US" sz="1900" dirty="0"/>
              <a:t>understand secure programming and software vulnerabilities</a:t>
            </a:r>
          </a:p>
          <a:p>
            <a:pPr lvl="1"/>
            <a:r>
              <a:rPr lang="en-US" sz="1900" dirty="0"/>
              <a:t>understand what is malware and types of malware</a:t>
            </a:r>
          </a:p>
          <a:p>
            <a:pPr lvl="1"/>
            <a:r>
              <a:rPr lang="en-US" sz="1900" dirty="0"/>
              <a:t>explain security analysis techniques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326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19630C-4879-844D-A806-0814E820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Secure Programming and Vulnerabilities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E47539-F39E-2847-B399-6B07F1D0A87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68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100B-8797-5840-A600-70CB6982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Motivation Example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5EDF9-8792-FD4D-B229-5C80F6351C5B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6768E-CCEA-E54C-AA0E-2285D9258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9" y="1268243"/>
            <a:ext cx="5582651" cy="2662073"/>
          </a:xfrm>
        </p:spPr>
        <p:txBody>
          <a:bodyPr/>
          <a:lstStyle/>
          <a:p>
            <a:pPr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void main(int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argc</a:t>
            </a:r>
            <a:r>
              <a:rPr lang="en-US" altLang="en-US" sz="2000" b="1" dirty="0">
                <a:latin typeface="Courier New" panose="02070309020205020404" pitchFamily="49" charset="0"/>
              </a:rPr>
              <a:t>, char **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argv</a:t>
            </a:r>
            <a:r>
              <a:rPr lang="en-US" altLang="en-US" sz="2000" b="1" dirty="0">
                <a:latin typeface="Courier New" panose="02070309020205020404" pitchFamily="49" charset="0"/>
              </a:rPr>
              <a:t>) {</a:t>
            </a:r>
          </a:p>
          <a:p>
            <a:pPr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	char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buf</a:t>
            </a:r>
            <a:r>
              <a:rPr lang="en-US" altLang="en-US" sz="2000" b="1" dirty="0">
                <a:latin typeface="Courier New" panose="02070309020205020404" pitchFamily="49" charset="0"/>
              </a:rPr>
              <a:t>[1024];</a:t>
            </a:r>
          </a:p>
          <a:p>
            <a:pPr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	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sprintf</a:t>
            </a:r>
            <a:r>
              <a:rPr lang="en-US" altLang="en-US" sz="2000" b="1" dirty="0">
                <a:latin typeface="Courier New" panose="02070309020205020404" pitchFamily="49" charset="0"/>
              </a:rPr>
              <a:t>(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buf</a:t>
            </a:r>
            <a:r>
              <a:rPr lang="en-US" altLang="en-US" sz="2000" b="1" dirty="0">
                <a:latin typeface="Courier New" panose="02070309020205020404" pitchFamily="49" charset="0"/>
              </a:rPr>
              <a:t>,”cat %s”,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argv</a:t>
            </a:r>
            <a:r>
              <a:rPr lang="en-US" altLang="en-US" sz="2000" b="1" dirty="0">
                <a:latin typeface="Courier New" panose="02070309020205020404" pitchFamily="49" charset="0"/>
              </a:rPr>
              <a:t>[1]);</a:t>
            </a:r>
          </a:p>
          <a:p>
            <a:pPr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system (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buf</a:t>
            </a:r>
            <a:r>
              <a:rPr lang="en-US" altLang="en-US" sz="2000" b="1" dirty="0">
                <a:latin typeface="Courier New" panose="02070309020205020404" pitchFamily="49" charset="0"/>
              </a:rPr>
              <a:t>);</a:t>
            </a:r>
          </a:p>
          <a:p>
            <a:pPr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19798-C9C1-EC45-9B8D-B8992DCB8D41}"/>
              </a:ext>
            </a:extLst>
          </p:cNvPr>
          <p:cNvSpPr txBox="1"/>
          <p:nvPr/>
        </p:nvSpPr>
        <p:spPr>
          <a:xfrm>
            <a:off x="6641432" y="1331495"/>
            <a:ext cx="5037219" cy="4332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/>
              <a:t>The program expects a file name as a command line argument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cat</a:t>
            </a:r>
            <a:r>
              <a:rPr lang="en-US" altLang="en-US" sz="2200" dirty="0"/>
              <a:t> dump the file content.</a:t>
            </a:r>
          </a:p>
          <a:p>
            <a:pPr>
              <a:buNone/>
            </a:pPr>
            <a:endParaRPr lang="en-US" altLang="en-US" sz="22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en-US" sz="2200" dirty="0">
                <a:solidFill>
                  <a:srgbClr val="FF0000"/>
                </a:solidFill>
              </a:rPr>
              <a:t>What can go wrong?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200" dirty="0"/>
              <a:t>Adding “</a:t>
            </a: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en-US" sz="2200" dirty="0"/>
              <a:t>” after file name to supply more commands, e.g., “</a:t>
            </a:r>
            <a:r>
              <a:rPr lang="en-US" alt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file;ls</a:t>
            </a:r>
            <a:r>
              <a:rPr lang="en-US" altLang="en-US" sz="2200" dirty="0"/>
              <a:t>”</a:t>
            </a:r>
          </a:p>
          <a:p>
            <a:pPr marL="800100" lvl="1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/>
              <a:t>User can set command line arguments to almost anything, e.g., by supplying the location of a program to start the program, </a:t>
            </a: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“file;/path/to/malware”.</a:t>
            </a:r>
            <a:endParaRPr lang="en-US" sz="2200" b="1" dirty="0">
              <a:latin typeface="Courier New" panose="02070309020205020404" pitchFamily="49" charset="0"/>
              <a:ea typeface="Helvetica Neue" panose="02000503000000020004" pitchFamily="2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FA172B-99E7-A946-A840-4244C9EED590}"/>
              </a:ext>
            </a:extLst>
          </p:cNvPr>
          <p:cNvSpPr txBox="1"/>
          <p:nvPr/>
        </p:nvSpPr>
        <p:spPr>
          <a:xfrm>
            <a:off x="2568972" y="6433492"/>
            <a:ext cx="7630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highlight>
                  <a:srgbClr val="FFFF00"/>
                </a:highlight>
                <a:latin typeface="Arial Nova" panose="020B05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For exam, No need to be able to write code. Just understand how it works!!!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FFCF2-4C4A-8647-AEEB-48D033257617}"/>
              </a:ext>
            </a:extLst>
          </p:cNvPr>
          <p:cNvSpPr txBox="1"/>
          <p:nvPr/>
        </p:nvSpPr>
        <p:spPr>
          <a:xfrm>
            <a:off x="613458" y="4294208"/>
            <a:ext cx="4815069" cy="1200329"/>
          </a:xfrm>
          <a:prstGeom prst="rect">
            <a:avLst/>
          </a:prstGeom>
          <a:solidFill>
            <a:srgbClr val="FFFF00"/>
          </a:solidFill>
          <a:effectLst>
            <a:outerShdw blurRad="177800" dist="88900" dir="48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Programs may show undesirable </a:t>
            </a:r>
            <a:r>
              <a:rPr lang="en-GB" sz="2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behaviors</a:t>
            </a:r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when being fed with unexpected inputs.</a:t>
            </a:r>
          </a:p>
        </p:txBody>
      </p:sp>
    </p:spTree>
    <p:extLst>
      <p:ext uri="{BB962C8B-B14F-4D97-AF65-F5344CB8AC3E}">
        <p14:creationId xmlns:p14="http://schemas.microsoft.com/office/powerpoint/2010/main" val="127104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ED496-B07E-074D-A3CF-A895851FC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77DD-D0B3-EE4B-81FA-33742AF6C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>
                <a:solidFill>
                  <a:srgbClr val="002060"/>
                </a:solidFill>
              </a:rPr>
              <a:t>Definition</a:t>
            </a:r>
            <a:r>
              <a:rPr lang="en-GB" dirty="0"/>
              <a:t>: A flaw in a software, firmware, hardware, or service component resulting from a weakness that can be exploited. </a:t>
            </a:r>
          </a:p>
          <a:p>
            <a:endParaRPr lang="en-GB" dirty="0"/>
          </a:p>
          <a:p>
            <a:r>
              <a:rPr lang="en-GB" dirty="0"/>
              <a:t>Potential consequences:</a:t>
            </a:r>
          </a:p>
          <a:p>
            <a:pPr lvl="1"/>
            <a:r>
              <a:rPr lang="en-GB" dirty="0"/>
              <a:t>code injection: attacker manages to inserts his own code to the victim program and run it.</a:t>
            </a:r>
          </a:p>
          <a:p>
            <a:pPr lvl="1"/>
            <a:r>
              <a:rPr lang="en-GB" dirty="0"/>
              <a:t>control flow hijacking: attacker changes the flow of the program by changing the data in use without modifying the victim code or injecting his own code.</a:t>
            </a:r>
          </a:p>
          <a:p>
            <a:pPr lvl="1"/>
            <a:r>
              <a:rPr lang="en-GB" dirty="0"/>
              <a:t>data leakage</a:t>
            </a:r>
          </a:p>
          <a:p>
            <a:pPr lvl="1"/>
            <a:r>
              <a:rPr lang="en-GB" dirty="0"/>
              <a:t>execution correctness</a:t>
            </a:r>
          </a:p>
          <a:p>
            <a:pPr lvl="1"/>
            <a:r>
              <a:rPr lang="en-GB" dirty="0"/>
              <a:t>denial of service </a:t>
            </a:r>
          </a:p>
          <a:p>
            <a:pPr lvl="1"/>
            <a:r>
              <a:rPr lang="en-GB" dirty="0"/>
              <a:t>...</a:t>
            </a:r>
          </a:p>
          <a:p>
            <a:r>
              <a:rPr lang="en-GB" dirty="0"/>
              <a:t>The actual consequence depends on the program, the vulnerability and how it is triggered.</a:t>
            </a:r>
          </a:p>
          <a:p>
            <a:r>
              <a:rPr lang="en-GB" dirty="0"/>
              <a:t>An attack may involve multiple vulnerabilities. </a:t>
            </a:r>
          </a:p>
        </p:txBody>
      </p:sp>
    </p:spTree>
    <p:extLst>
      <p:ext uri="{BB962C8B-B14F-4D97-AF65-F5344CB8AC3E}">
        <p14:creationId xmlns:p14="http://schemas.microsoft.com/office/powerpoint/2010/main" val="298899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4E88-2842-7049-BBAC-84B73301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Trends of Vulnerabilities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C06FB-7CAB-E549-BB93-487F26EEB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9" y="1268243"/>
            <a:ext cx="4192001" cy="4723318"/>
          </a:xfrm>
        </p:spPr>
        <p:txBody>
          <a:bodyPr/>
          <a:lstStyle/>
          <a:p>
            <a:r>
              <a:rPr lang="en-SG" b="1" dirty="0"/>
              <a:t>Common Vulnerabilities and Exposures </a:t>
            </a:r>
            <a:r>
              <a:rPr lang="en-GB" dirty="0"/>
              <a:t>: </a:t>
            </a:r>
            <a:r>
              <a:rPr lang="en-GB" dirty="0">
                <a:hlinkClick r:id="rId2"/>
              </a:rPr>
              <a:t>https://www.cve.org/</a:t>
            </a:r>
            <a:r>
              <a:rPr lang="en-GB" dirty="0"/>
              <a:t> The database of publicly disclosed vulnerabilities.</a:t>
            </a:r>
          </a:p>
          <a:p>
            <a:endParaRPr lang="en-GB" dirty="0"/>
          </a:p>
          <a:p>
            <a:r>
              <a:rPr lang="en-GB" dirty="0"/>
              <a:t>Top 25 software weakness</a:t>
            </a:r>
          </a:p>
          <a:p>
            <a:pPr marL="0" indent="0">
              <a:buNone/>
            </a:pPr>
            <a:r>
              <a:rPr lang="en-GB" dirty="0"/>
              <a:t>https://</a:t>
            </a:r>
            <a:r>
              <a:rPr lang="en-GB" dirty="0" err="1"/>
              <a:t>cwe.mitre.org</a:t>
            </a:r>
            <a:r>
              <a:rPr lang="en-GB" dirty="0"/>
              <a:t>/top25/archive/2024/2024_cwe_top25.html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BC35E3-4454-5444-9FEC-A89A8AE50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939" y="895547"/>
            <a:ext cx="4721087" cy="31718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86A361-D08B-9746-B657-72768231DC53}"/>
              </a:ext>
            </a:extLst>
          </p:cNvPr>
          <p:cNvSpPr txBox="1"/>
          <p:nvPr/>
        </p:nvSpPr>
        <p:spPr>
          <a:xfrm>
            <a:off x="9084364" y="1985813"/>
            <a:ext cx="3107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Vulnerability and Threat Trends Report 2020 by Skybox (Mid-year update)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A400D4-9B3A-56A5-C38B-85C98D189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977" y="4261175"/>
            <a:ext cx="4058422" cy="1984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376DF-CD46-C839-22F0-305EA6142948}"/>
              </a:ext>
            </a:extLst>
          </p:cNvPr>
          <p:cNvSpPr txBox="1"/>
          <p:nvPr/>
        </p:nvSpPr>
        <p:spPr>
          <a:xfrm>
            <a:off x="9432235" y="4895049"/>
            <a:ext cx="2149435" cy="338554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CVE reported in 2023</a:t>
            </a:r>
          </a:p>
        </p:txBody>
      </p:sp>
    </p:spTree>
    <p:extLst>
      <p:ext uri="{BB962C8B-B14F-4D97-AF65-F5344CB8AC3E}">
        <p14:creationId xmlns:p14="http://schemas.microsoft.com/office/powerpoint/2010/main" val="1718961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4B091-BDC7-8647-8703-A08921F9E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Program Input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ED9F2-BE62-F94E-A8FF-C80F559E0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Input </a:t>
            </a:r>
            <a:r>
              <a:rPr lang="en-US" dirty="0"/>
              <a:t>refers to any source of data from outside the program and is not known when the code is written.</a:t>
            </a:r>
          </a:p>
          <a:p>
            <a:pPr lvl="1"/>
            <a:r>
              <a:rPr lang="en-US" dirty="0"/>
              <a:t>data read through keyboard, mouse, file, network packets</a:t>
            </a:r>
          </a:p>
          <a:p>
            <a:pPr lvl="1"/>
            <a:r>
              <a:rPr lang="en-US" dirty="0"/>
              <a:t>command line arguments, environment variables</a:t>
            </a:r>
          </a:p>
          <a:p>
            <a:pPr lvl="1"/>
            <a:r>
              <a:rPr lang="en-US" dirty="0"/>
              <a:t>data supplied by other programs or configuration value by OS.</a:t>
            </a:r>
            <a:endParaRPr lang="en-US" alt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Interpretation of input: interpretation and meaning.</a:t>
            </a: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6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19F29-DA0E-E947-A385-0B213542F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Common Input Validation</a:t>
            </a:r>
            <a:r>
              <a:rPr lang="zh-CN" altLang="en-US" dirty="0"/>
              <a:t> </a:t>
            </a:r>
            <a:r>
              <a:rPr lang="en-GB" altLang="zh-CN" dirty="0"/>
              <a:t>V</a:t>
            </a:r>
            <a:r>
              <a:rPr lang="en-GB" dirty="0"/>
              <a:t>ulnerabilities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AAD33-F5D3-3D41-953F-DA4A92265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Malicious inputs can become code, or change the logic to do things that are not intended.</a:t>
            </a:r>
          </a:p>
          <a:p>
            <a:r>
              <a:rPr lang="en-US" dirty="0"/>
              <a:t>Common input validation vulnerabilities include:</a:t>
            </a:r>
          </a:p>
          <a:p>
            <a:pPr lvl="1"/>
            <a:r>
              <a:rPr lang="en-GB" dirty="0"/>
              <a:t>OS command injection, directory traversal</a:t>
            </a:r>
          </a:p>
          <a:p>
            <a:pPr lvl="1"/>
            <a:r>
              <a:rPr lang="en-GB" dirty="0"/>
              <a:t>Memory </a:t>
            </a:r>
            <a:r>
              <a:rPr lang="en-SG" dirty="0"/>
              <a:t>corruption vulnerabilities in C/C++</a:t>
            </a:r>
            <a:endParaRPr lang="en-GB" dirty="0"/>
          </a:p>
          <a:p>
            <a:pPr lvl="2"/>
            <a:r>
              <a:rPr lang="en-GB" dirty="0"/>
              <a:t>e.g., Out-of-bound read/write</a:t>
            </a:r>
          </a:p>
          <a:p>
            <a:pPr lvl="1"/>
            <a:r>
              <a:rPr lang="en-GB" dirty="0"/>
              <a:t>SQL Injection, XSS (to be discussed in Web Security)</a:t>
            </a:r>
          </a:p>
          <a:p>
            <a:pPr marL="342900" lvl="1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827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D9BA24-B547-614B-A8F6-E76DB769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 Overflow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797DB1-FAA7-7D44-800E-5FF02039F06A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Memory </a:t>
            </a:r>
            <a:r>
              <a:rPr lang="en-SG" dirty="0"/>
              <a:t>corruption vulnerabilities</a:t>
            </a:r>
            <a:endParaRPr lang="en-US" dirty="0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FC576C57-C231-06C3-236B-726A20D59334}"/>
              </a:ext>
            </a:extLst>
          </p:cNvPr>
          <p:cNvGrpSpPr>
            <a:grpSpLocks/>
          </p:cNvGrpSpPr>
          <p:nvPr/>
        </p:nvGrpSpPr>
        <p:grpSpPr bwMode="auto">
          <a:xfrm>
            <a:off x="4373218" y="511349"/>
            <a:ext cx="7103165" cy="2770188"/>
            <a:chOff x="0" y="2060848"/>
            <a:chExt cx="8964613" cy="3681863"/>
          </a:xfrm>
        </p:grpSpPr>
        <p:pic>
          <p:nvPicPr>
            <p:cNvPr id="3" name="Picture 2" descr="E:\Cartoons-Images\14-Aug-2012-Buffer-Overflow.gif">
              <a:extLst>
                <a:ext uri="{FF2B5EF4-FFF2-40B4-BE49-F238E27FC236}">
                  <a16:creationId xmlns:a16="http://schemas.microsoft.com/office/drawing/2014/main" id="{DB4182B7-1490-CEAB-CEFF-6893E93678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2060848"/>
              <a:ext cx="8964613" cy="2981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917DAF65-79BA-EAB6-A42D-5EFE273851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7784" y="5157192"/>
              <a:ext cx="3480299" cy="585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0000"/>
                <a:buFont typeface="Monotype Sorts" pitchFamily="36" charset="2"/>
                <a:buChar char="n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AU" altLang="en-US" sz="2800">
                  <a:latin typeface="Times New Roman" panose="02020603050405020304" pitchFamily="18" charset="0"/>
                </a:rPr>
                <a:t>Dilbert: 14-Aug-2012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198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NIST’s definition of BO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3CEF3A-68C6-594C-B38E-8E609086E8DB}"/>
              </a:ext>
            </a:extLst>
          </p:cNvPr>
          <p:cNvSpPr/>
          <p:nvPr/>
        </p:nvSpPr>
        <p:spPr>
          <a:xfrm>
            <a:off x="914400" y="1222663"/>
            <a:ext cx="10363200" cy="4572000"/>
          </a:xfrm>
          <a:prstGeom prst="rect">
            <a:avLst/>
          </a:prstGeom>
          <a:solidFill>
            <a:srgbClr val="DAEDEF">
              <a:lumMod val="90000"/>
            </a:srgbClr>
          </a:solidFill>
          <a:ln w="25400" cap="flat" cmpd="sng" algn="ctr">
            <a:noFill/>
            <a:prstDash val="soli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rtlCol="0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Buffer overflow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A condition at an interface under which more input can be placed into a buffer or data holding area than the capacity allocated, overwriting other information. Attackers exploit such a condition to crash a system or to insert specially crafted code that allows them to gain control of the system</a:t>
            </a:r>
          </a:p>
        </p:txBody>
      </p:sp>
    </p:spTree>
    <p:extLst>
      <p:ext uri="{BB962C8B-B14F-4D97-AF65-F5344CB8AC3E}">
        <p14:creationId xmlns:p14="http://schemas.microsoft.com/office/powerpoint/2010/main" val="117203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Buffer Overflow Attack Scenario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13349" y="1070814"/>
            <a:ext cx="10840451" cy="2126342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Users enter data into a Web form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Web form is sent to server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Server writes data to buffer, without checking length of input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overflows from buffer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Sometimes, overflow can enable an attack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4AC0ED5-BD17-2B43-B8CA-7ED9ADF30FC3}"/>
              </a:ext>
            </a:extLst>
          </p:cNvPr>
          <p:cNvGrpSpPr/>
          <p:nvPr/>
        </p:nvGrpSpPr>
        <p:grpSpPr>
          <a:xfrm>
            <a:off x="870589" y="3278972"/>
            <a:ext cx="9154380" cy="2438210"/>
            <a:chOff x="839416" y="3798522"/>
            <a:chExt cx="9154380" cy="2438210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ACBF5A0-1849-794F-90D9-A2C50F6D1B21}"/>
                </a:ext>
              </a:extLst>
            </p:cNvPr>
            <p:cNvCxnSpPr>
              <a:cxnSpLocks/>
            </p:cNvCxnSpPr>
            <p:nvPr/>
          </p:nvCxnSpPr>
          <p:spPr>
            <a:xfrm>
              <a:off x="2063552" y="5106988"/>
              <a:ext cx="3727648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tail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DAE190E-2300-C844-A681-A6676E97099F}"/>
                </a:ext>
              </a:extLst>
            </p:cNvPr>
            <p:cNvSpPr txBox="1"/>
            <p:nvPr/>
          </p:nvSpPr>
          <p:spPr>
            <a:xfrm>
              <a:off x="5867401" y="5867400"/>
              <a:ext cx="13603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solidFill>
                    <a:srgbClr val="000000"/>
                  </a:solidFill>
                  <a:latin typeface="Times New Roman" pitchFamily="18" charset="0"/>
                </a:rPr>
                <a:t>Web server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AAA11AB-CDC4-F140-9C24-EDFA1BEC9E08}"/>
                </a:ext>
              </a:extLst>
            </p:cNvPr>
            <p:cNvSpPr txBox="1"/>
            <p:nvPr/>
          </p:nvSpPr>
          <p:spPr>
            <a:xfrm>
              <a:off x="915616" y="5562600"/>
              <a:ext cx="2284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solidFill>
                    <a:srgbClr val="000000"/>
                  </a:solidFill>
                  <a:latin typeface="Times New Roman" pitchFamily="18" charset="0"/>
                </a:rPr>
                <a:t>malicious Web client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62BF6A2-D2F1-1842-9B01-768100D04221}"/>
                </a:ext>
              </a:extLst>
            </p:cNvPr>
            <p:cNvSpPr/>
            <p:nvPr/>
          </p:nvSpPr>
          <p:spPr>
            <a:xfrm>
              <a:off x="4734508" y="3798522"/>
              <a:ext cx="3561184" cy="51988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13214sgtrekfj34dvk4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2F3BC3B-DDA5-2D46-833C-BD1E373D4346}"/>
                </a:ext>
              </a:extLst>
            </p:cNvPr>
            <p:cNvSpPr/>
            <p:nvPr/>
          </p:nvSpPr>
          <p:spPr>
            <a:xfrm>
              <a:off x="7315200" y="4927448"/>
              <a:ext cx="1283804" cy="301752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2D2D8A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buffer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DD62F01-F6CF-3B40-B2FF-9ADCFAC4A86D}"/>
                </a:ext>
              </a:extLst>
            </p:cNvPr>
            <p:cNvSpPr/>
            <p:nvPr/>
          </p:nvSpPr>
          <p:spPr>
            <a:xfrm>
              <a:off x="8599004" y="4921470"/>
              <a:ext cx="1394792" cy="301752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solidFill>
                <a:srgbClr val="2D2D8A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00000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38247F1-F70D-674D-8B36-3F845536807B}"/>
                </a:ext>
              </a:extLst>
            </p:cNvPr>
            <p:cNvSpPr/>
            <p:nvPr/>
          </p:nvSpPr>
          <p:spPr>
            <a:xfrm>
              <a:off x="2198204" y="4572000"/>
              <a:ext cx="3288196" cy="45720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13214sgtrekfj34dvk4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FC607AD-0B7F-A746-AEEA-F44449F35399}"/>
                </a:ext>
              </a:extLst>
            </p:cNvPr>
            <p:cNvSpPr/>
            <p:nvPr/>
          </p:nvSpPr>
          <p:spPr>
            <a:xfrm>
              <a:off x="7315200" y="5630180"/>
              <a:ext cx="1283803" cy="301752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2D2D8A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13214s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6BA505D-19E6-3449-9439-AAF4BF5BAE93}"/>
                </a:ext>
              </a:extLst>
            </p:cNvPr>
            <p:cNvSpPr/>
            <p:nvPr/>
          </p:nvSpPr>
          <p:spPr>
            <a:xfrm>
              <a:off x="8599003" y="5627132"/>
              <a:ext cx="1394792" cy="304800"/>
            </a:xfrm>
            <a:prstGeom prst="rect">
              <a:avLst/>
            </a:prstGeom>
            <a:solidFill>
              <a:srgbClr val="FFFF00"/>
            </a:solidFill>
            <a:ln w="25400" cap="flat" cmpd="sng" algn="ctr">
              <a:solidFill>
                <a:srgbClr val="2D2D8A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gtrekfj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Curved Left Arrow 45">
              <a:extLst>
                <a:ext uri="{FF2B5EF4-FFF2-40B4-BE49-F238E27FC236}">
                  <a16:creationId xmlns:a16="http://schemas.microsoft.com/office/drawing/2014/main" id="{931F9808-5E19-AD48-805F-94ABF938489E}"/>
                </a:ext>
              </a:extLst>
            </p:cNvPr>
            <p:cNvSpPr/>
            <p:nvPr/>
          </p:nvSpPr>
          <p:spPr>
            <a:xfrm rot="20135526">
              <a:off x="8153400" y="4114800"/>
              <a:ext cx="381000" cy="762000"/>
            </a:xfrm>
            <a:prstGeom prst="curvedLeftArrow">
              <a:avLst/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47" name="Picture 46" descr="72883965.png">
              <a:extLst>
                <a:ext uri="{FF2B5EF4-FFF2-40B4-BE49-F238E27FC236}">
                  <a16:creationId xmlns:a16="http://schemas.microsoft.com/office/drawing/2014/main" id="{D67AC166-DCAF-4348-8B10-803F7EA07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416" y="4495800"/>
              <a:ext cx="1447800" cy="886678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C591F94-DCA5-0E48-BCC3-8C8D9D530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5000" y="4343400"/>
              <a:ext cx="1600200" cy="1600200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C6F353D-3802-0B4A-91E5-F566BE22950F}"/>
              </a:ext>
            </a:extLst>
          </p:cNvPr>
          <p:cNvSpPr txBox="1"/>
          <p:nvPr/>
        </p:nvSpPr>
        <p:spPr>
          <a:xfrm>
            <a:off x="1487631" y="5882387"/>
            <a:ext cx="9216737" cy="38472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lvl="0" defTabSz="685800">
              <a:spcBef>
                <a:spcPts val="450"/>
              </a:spcBef>
              <a:spcAft>
                <a:spcPts val="450"/>
              </a:spcAft>
            </a:pPr>
            <a:r>
              <a:rPr lang="en-US" sz="1900" dirty="0">
                <a:latin typeface="Comic Sans MS" panose="030F0902030302020204" pitchFamily="66" charset="0"/>
              </a:rPr>
              <a:t>Web based attack could be carried out by anyone with an Internet connection</a:t>
            </a:r>
          </a:p>
        </p:txBody>
      </p:sp>
    </p:spTree>
    <p:extLst>
      <p:ext uri="{BB962C8B-B14F-4D97-AF65-F5344CB8AC3E}">
        <p14:creationId xmlns:p14="http://schemas.microsoft.com/office/powerpoint/2010/main" val="413721832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326F8-570A-C543-B457-FD73F63C3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Layout of Programs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085A43-4777-604C-B8AF-A37C6A050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1487" y="1346758"/>
            <a:ext cx="6230351" cy="3521302"/>
          </a:xfrm>
        </p:spPr>
        <p:txBody>
          <a:bodyPr>
            <a:normAutofit/>
          </a:bodyPr>
          <a:lstStyle/>
          <a:p>
            <a:pPr marL="342900" indent="-342900"/>
            <a:r>
              <a:rPr lang="en-GB" sz="2200" dirty="0"/>
              <a:t>All code and data are accessed by using their addresses.</a:t>
            </a:r>
          </a:p>
          <a:p>
            <a:pPr marL="342900" indent="-342900"/>
            <a:r>
              <a:rPr lang="en-GB" sz="2200" dirty="0"/>
              <a:t>For example:</a:t>
            </a:r>
          </a:p>
          <a:p>
            <a:pPr marL="685800" lvl="1" indent="-342900"/>
            <a:r>
              <a:rPr lang="en-GB" sz="2000" dirty="0"/>
              <a:t>the entry address of </a:t>
            </a:r>
            <a:r>
              <a:rPr lang="en-GB" sz="2000" dirty="0">
                <a:solidFill>
                  <a:srgbClr val="102B72"/>
                </a:solidFill>
              </a:rPr>
              <a:t>function1</a:t>
            </a:r>
            <a:r>
              <a:rPr lang="en-GB" sz="2000" dirty="0"/>
              <a:t> is at address 10108.</a:t>
            </a:r>
          </a:p>
          <a:p>
            <a:pPr marL="685800" lvl="1" indent="-342900"/>
            <a:r>
              <a:rPr lang="en-GB" sz="2000" dirty="0">
                <a:solidFill>
                  <a:srgbClr val="102B72"/>
                </a:solidFill>
              </a:rPr>
              <a:t>buffer1</a:t>
            </a:r>
            <a:r>
              <a:rPr lang="en-GB" sz="2000" dirty="0"/>
              <a:t> is between address 80100 and 80107. It has 8 bytes. </a:t>
            </a:r>
          </a:p>
          <a:p>
            <a:pPr>
              <a:defRPr/>
            </a:pPr>
            <a:endParaRPr lang="en-GB" altLang="de-DE" sz="1800" dirty="0"/>
          </a:p>
          <a:p>
            <a:pPr marL="342900" indent="-342900"/>
            <a:endParaRPr lang="en-GB" sz="3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A6ECB8-3BEF-B140-94BE-7B23124AB3B2}"/>
              </a:ext>
            </a:extLst>
          </p:cNvPr>
          <p:cNvSpPr/>
          <p:nvPr/>
        </p:nvSpPr>
        <p:spPr>
          <a:xfrm>
            <a:off x="1254339" y="1920296"/>
            <a:ext cx="1584176" cy="364125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9AB790B-0243-D241-9394-7A8CC497D7D6}"/>
              </a:ext>
            </a:extLst>
          </p:cNvPr>
          <p:cNvCxnSpPr/>
          <p:nvPr/>
        </p:nvCxnSpPr>
        <p:spPr>
          <a:xfrm>
            <a:off x="1254339" y="4368569"/>
            <a:ext cx="1584176" cy="0"/>
          </a:xfrm>
          <a:prstGeom prst="line">
            <a:avLst/>
          </a:prstGeom>
          <a:noFill/>
          <a:ln w="25400" cap="flat" cmpd="sng" algn="ctr">
            <a:solidFill>
              <a:srgbClr val="000090"/>
            </a:solidFill>
            <a:prstDash val="solid"/>
            <a:tailEnd type="non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E48CE38-6295-D54D-B5A5-E67295B947C8}"/>
              </a:ext>
            </a:extLst>
          </p:cNvPr>
          <p:cNvSpPr txBox="1"/>
          <p:nvPr/>
        </p:nvSpPr>
        <p:spPr>
          <a:xfrm>
            <a:off x="1254339" y="3238920"/>
            <a:ext cx="1584176" cy="461665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buffer1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5C7B34-F24F-9347-81AF-0AA896B680E1}"/>
              </a:ext>
            </a:extLst>
          </p:cNvPr>
          <p:cNvSpPr txBox="1"/>
          <p:nvPr/>
        </p:nvSpPr>
        <p:spPr>
          <a:xfrm>
            <a:off x="1254339" y="2661949"/>
            <a:ext cx="1584176" cy="56508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buffer2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4363F3-D628-AE42-9617-1E4258075D01}"/>
              </a:ext>
            </a:extLst>
          </p:cNvPr>
          <p:cNvSpPr txBox="1"/>
          <p:nvPr/>
        </p:nvSpPr>
        <p:spPr>
          <a:xfrm>
            <a:off x="1254339" y="2208329"/>
            <a:ext cx="1584176" cy="461665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buffer3</a:t>
            </a:r>
          </a:p>
        </p:txBody>
      </p:sp>
      <p:sp>
        <p:nvSpPr>
          <p:cNvPr id="24" name="Up Arrow 23">
            <a:extLst>
              <a:ext uri="{FF2B5EF4-FFF2-40B4-BE49-F238E27FC236}">
                <a16:creationId xmlns:a16="http://schemas.microsoft.com/office/drawing/2014/main" id="{23FA266B-3466-D148-9935-7B6C2BB5CCCA}"/>
              </a:ext>
            </a:extLst>
          </p:cNvPr>
          <p:cNvSpPr/>
          <p:nvPr/>
        </p:nvSpPr>
        <p:spPr>
          <a:xfrm>
            <a:off x="3309351" y="2074714"/>
            <a:ext cx="504056" cy="2634679"/>
          </a:xfrm>
          <a:prstGeom prst="upArrow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C330DE-9B97-3146-BAF8-C1DF4670033E}"/>
              </a:ext>
            </a:extLst>
          </p:cNvPr>
          <p:cNvSpPr txBox="1"/>
          <p:nvPr/>
        </p:nvSpPr>
        <p:spPr>
          <a:xfrm>
            <a:off x="3015065" y="4883862"/>
            <a:ext cx="750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0000"/>
                </a:solidFill>
                <a:latin typeface="Arial"/>
              </a:rPr>
              <a:t>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A69451-3E56-7F43-9E78-B1D318A9C4EF}"/>
              </a:ext>
            </a:extLst>
          </p:cNvPr>
          <p:cNvSpPr txBox="1"/>
          <p:nvPr/>
        </p:nvSpPr>
        <p:spPr>
          <a:xfrm>
            <a:off x="2967248" y="1570658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0000"/>
                </a:solidFill>
                <a:latin typeface="Arial"/>
              </a:rPr>
              <a:t>High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A98D90-6140-D94F-9553-1B33218D5250}"/>
              </a:ext>
            </a:extLst>
          </p:cNvPr>
          <p:cNvSpPr txBox="1"/>
          <p:nvPr/>
        </p:nvSpPr>
        <p:spPr>
          <a:xfrm>
            <a:off x="1254339" y="4376642"/>
            <a:ext cx="1584176" cy="461665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400" kern="0" dirty="0">
                <a:solidFill>
                  <a:srgbClr val="000000"/>
                </a:solidFill>
                <a:latin typeface="Arial"/>
              </a:rPr>
              <a:t>function1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622EFF-0D94-B145-9B4A-965981E25726}"/>
              </a:ext>
            </a:extLst>
          </p:cNvPr>
          <p:cNvSpPr txBox="1"/>
          <p:nvPr/>
        </p:nvSpPr>
        <p:spPr>
          <a:xfrm>
            <a:off x="1254339" y="4838934"/>
            <a:ext cx="1584176" cy="461665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400" kern="0" dirty="0">
                <a:solidFill>
                  <a:srgbClr val="000000"/>
                </a:solidFill>
                <a:latin typeface="Arial"/>
              </a:rPr>
              <a:t>function2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7D301-C48B-F548-9282-3E90ADB9722D}"/>
              </a:ext>
            </a:extLst>
          </p:cNvPr>
          <p:cNvSpPr txBox="1"/>
          <p:nvPr/>
        </p:nvSpPr>
        <p:spPr>
          <a:xfrm>
            <a:off x="138336" y="506027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10001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A34632-1557-FA4E-A4AC-A72C938B90B8}"/>
              </a:ext>
            </a:extLst>
          </p:cNvPr>
          <p:cNvSpPr txBox="1"/>
          <p:nvPr/>
        </p:nvSpPr>
        <p:spPr>
          <a:xfrm>
            <a:off x="138336" y="456946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10108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A650B6-9B88-644D-8145-56CAD10F57BB}"/>
              </a:ext>
            </a:extLst>
          </p:cNvPr>
          <p:cNvSpPr txBox="1"/>
          <p:nvPr/>
        </p:nvSpPr>
        <p:spPr>
          <a:xfrm>
            <a:off x="138336" y="3502032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80100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470C58-19FD-844F-8E25-9CA18D0F1275}"/>
              </a:ext>
            </a:extLst>
          </p:cNvPr>
          <p:cNvSpPr txBox="1"/>
          <p:nvPr/>
        </p:nvSpPr>
        <p:spPr>
          <a:xfrm>
            <a:off x="138336" y="298663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80108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7E1744-E53F-6044-AE22-2208145C3A89}"/>
              </a:ext>
            </a:extLst>
          </p:cNvPr>
          <p:cNvSpPr txBox="1"/>
          <p:nvPr/>
        </p:nvSpPr>
        <p:spPr>
          <a:xfrm>
            <a:off x="138336" y="236330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80138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A36EC0-37BC-2F4C-87C9-E73557D181C3}"/>
              </a:ext>
            </a:extLst>
          </p:cNvPr>
          <p:cNvCxnSpPr>
            <a:cxnSpLocks/>
          </p:cNvCxnSpPr>
          <p:nvPr/>
        </p:nvCxnSpPr>
        <p:spPr>
          <a:xfrm>
            <a:off x="943765" y="3686698"/>
            <a:ext cx="3499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C3A503A-BD48-4040-8797-D413E016695C}"/>
              </a:ext>
            </a:extLst>
          </p:cNvPr>
          <p:cNvCxnSpPr>
            <a:cxnSpLocks/>
          </p:cNvCxnSpPr>
          <p:nvPr/>
        </p:nvCxnSpPr>
        <p:spPr>
          <a:xfrm>
            <a:off x="901573" y="3238920"/>
            <a:ext cx="3499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A058598-C424-314F-9B7F-85946D454698}"/>
              </a:ext>
            </a:extLst>
          </p:cNvPr>
          <p:cNvCxnSpPr>
            <a:cxnSpLocks/>
          </p:cNvCxnSpPr>
          <p:nvPr/>
        </p:nvCxnSpPr>
        <p:spPr>
          <a:xfrm>
            <a:off x="874621" y="2676128"/>
            <a:ext cx="3499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E1FCDA4-67E2-A540-B26C-0F135AB54566}"/>
              </a:ext>
            </a:extLst>
          </p:cNvPr>
          <p:cNvSpPr txBox="1"/>
          <p:nvPr/>
        </p:nvSpPr>
        <p:spPr>
          <a:xfrm>
            <a:off x="427729" y="5831010"/>
            <a:ext cx="3414717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l"/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simplified memory 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AC9F13-443C-4047-A394-75070D08DE47}"/>
              </a:ext>
            </a:extLst>
          </p:cNvPr>
          <p:cNvSpPr txBox="1"/>
          <p:nvPr/>
        </p:nvSpPr>
        <p:spPr>
          <a:xfrm>
            <a:off x="43253" y="1436708"/>
            <a:ext cx="1033296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Address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B658F0-B91C-8440-A105-A8FEF5C28EE4}"/>
              </a:ext>
            </a:extLst>
          </p:cNvPr>
          <p:cNvSpPr txBox="1"/>
          <p:nvPr/>
        </p:nvSpPr>
        <p:spPr>
          <a:xfrm>
            <a:off x="1252908" y="1432939"/>
            <a:ext cx="1124026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492070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6416-E839-F044-821F-21C08357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Buffer Overflow</a:t>
            </a:r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D78FE739-6A66-A544-A336-EECC7D2BD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9" y="1268243"/>
            <a:ext cx="10840451" cy="1992673"/>
          </a:xfrm>
        </p:spPr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strcpy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dst,src</a:t>
            </a:r>
            <a:r>
              <a:rPr lang="en-US" dirty="0">
                <a:solidFill>
                  <a:srgbClr val="C00000"/>
                </a:solidFill>
              </a:rPr>
              <a:t>) </a:t>
            </a:r>
            <a:r>
              <a:rPr lang="en-US" dirty="0"/>
              <a:t>function</a:t>
            </a:r>
          </a:p>
          <a:p>
            <a:pPr lvl="1"/>
            <a:r>
              <a:rPr lang="en-US" dirty="0" err="1">
                <a:solidFill>
                  <a:srgbClr val="C00000"/>
                </a:solidFill>
              </a:rPr>
              <a:t>dst</a:t>
            </a:r>
            <a:r>
              <a:rPr lang="en-US" dirty="0"/>
              <a:t> and </a:t>
            </a:r>
            <a:r>
              <a:rPr lang="en-US" dirty="0" err="1">
                <a:solidFill>
                  <a:srgbClr val="C00000"/>
                </a:solidFill>
              </a:rPr>
              <a:t>src</a:t>
            </a:r>
            <a:r>
              <a:rPr lang="en-US" dirty="0"/>
              <a:t> are variables pointing to two memory buffers.</a:t>
            </a:r>
          </a:p>
          <a:p>
            <a:pPr lvl="1"/>
            <a:r>
              <a:rPr lang="en-US" dirty="0"/>
              <a:t>It copies the </a:t>
            </a:r>
            <a:r>
              <a:rPr lang="en-US" dirty="0">
                <a:solidFill>
                  <a:srgbClr val="C00000"/>
                </a:solidFill>
              </a:rPr>
              <a:t>character strings </a:t>
            </a:r>
            <a:r>
              <a:rPr lang="en-US" dirty="0"/>
              <a:t>in </a:t>
            </a:r>
            <a:r>
              <a:rPr lang="en-US" dirty="0" err="1">
                <a:solidFill>
                  <a:srgbClr val="C00000"/>
                </a:solidFill>
              </a:rPr>
              <a:t>src</a:t>
            </a:r>
            <a:r>
              <a:rPr lang="en-US" dirty="0"/>
              <a:t> buffer to </a:t>
            </a:r>
            <a:r>
              <a:rPr lang="en-US" dirty="0" err="1">
                <a:solidFill>
                  <a:srgbClr val="C00000"/>
                </a:solidFill>
              </a:rPr>
              <a:t>dst</a:t>
            </a:r>
            <a:r>
              <a:rPr lang="en-US" dirty="0"/>
              <a:t> buffer.</a:t>
            </a:r>
          </a:p>
          <a:p>
            <a:pPr lvl="1"/>
            <a:r>
              <a:rPr lang="en-US" dirty="0"/>
              <a:t>A character string terminates at byte '0x0'. </a:t>
            </a:r>
          </a:p>
        </p:txBody>
      </p:sp>
      <p:graphicFrame>
        <p:nvGraphicFramePr>
          <p:cNvPr id="60" name="Table 29">
            <a:extLst>
              <a:ext uri="{FF2B5EF4-FFF2-40B4-BE49-F238E27FC236}">
                <a16:creationId xmlns:a16="http://schemas.microsoft.com/office/drawing/2014/main" id="{8D53F1D4-3DD6-6F40-90BE-F3352BFBD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484745"/>
              </p:ext>
            </p:extLst>
          </p:nvPr>
        </p:nvGraphicFramePr>
        <p:xfrm>
          <a:off x="2390235" y="3727400"/>
          <a:ext cx="7200801" cy="370840"/>
        </p:xfrm>
        <a:graphic>
          <a:graphicData uri="http://schemas.openxmlformats.org/drawingml/2006/table">
            <a:tbl>
              <a:tblPr firstRow="1" bandRow="1"/>
              <a:tblGrid>
                <a:gridCol w="800089">
                  <a:extLst>
                    <a:ext uri="{9D8B030D-6E8A-4147-A177-3AD203B41FA5}">
                      <a16:colId xmlns:a16="http://schemas.microsoft.com/office/drawing/2014/main" val="40141857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628658496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2844210528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913289746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165504471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3924490903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3373209240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3021412604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2772237005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/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142150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DB1C5804-43BC-B848-AB68-5C27483BD379}"/>
              </a:ext>
            </a:extLst>
          </p:cNvPr>
          <p:cNvSpPr txBox="1"/>
          <p:nvPr/>
        </p:nvSpPr>
        <p:spPr>
          <a:xfrm>
            <a:off x="2102203" y="4119151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solidFill>
                  <a:srgbClr val="000000"/>
                </a:solidFill>
                <a:latin typeface="Arial"/>
              </a:rPr>
              <a:t>dst</a:t>
            </a:r>
            <a:endParaRPr lang="en-US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4C3AD8-86D4-7247-AB05-F795523BE8E9}"/>
              </a:ext>
            </a:extLst>
          </p:cNvPr>
          <p:cNvSpPr txBox="1"/>
          <p:nvPr/>
        </p:nvSpPr>
        <p:spPr>
          <a:xfrm>
            <a:off x="2789867" y="4119151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Arial"/>
              </a:rPr>
              <a:t>dst+1</a:t>
            </a:r>
            <a:endParaRPr lang="en-US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004D05E-354F-EA4A-B1B4-0F14B1B41395}"/>
              </a:ext>
            </a:extLst>
          </p:cNvPr>
          <p:cNvSpPr txBox="1"/>
          <p:nvPr/>
        </p:nvSpPr>
        <p:spPr>
          <a:xfrm>
            <a:off x="3614371" y="4119151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Arial"/>
              </a:rPr>
              <a:t>dst+2</a:t>
            </a:r>
            <a:endParaRPr lang="en-US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B373469-C2ED-D04A-897F-D1E4D944159E}"/>
              </a:ext>
            </a:extLst>
          </p:cNvPr>
          <p:cNvSpPr txBox="1"/>
          <p:nvPr/>
        </p:nvSpPr>
        <p:spPr>
          <a:xfrm>
            <a:off x="4443212" y="4119151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Arial"/>
              </a:rPr>
              <a:t>dst+3</a:t>
            </a:r>
            <a:endParaRPr lang="en-US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20CBBD-39ED-BC46-BE14-298D599F4451}"/>
              </a:ext>
            </a:extLst>
          </p:cNvPr>
          <p:cNvSpPr txBox="1"/>
          <p:nvPr/>
        </p:nvSpPr>
        <p:spPr>
          <a:xfrm>
            <a:off x="6817978" y="4110664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Arial"/>
              </a:rPr>
              <a:t>dst+6</a:t>
            </a:r>
            <a:endParaRPr lang="en-US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207EB6-2474-6548-B712-613533F80ADB}"/>
              </a:ext>
            </a:extLst>
          </p:cNvPr>
          <p:cNvSpPr txBox="1"/>
          <p:nvPr/>
        </p:nvSpPr>
        <p:spPr>
          <a:xfrm>
            <a:off x="7592823" y="4098240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Arial"/>
              </a:rPr>
              <a:t>dst+7</a:t>
            </a:r>
            <a:endParaRPr lang="en-US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67C64C-9333-EE46-963C-7C72C589B85A}"/>
              </a:ext>
            </a:extLst>
          </p:cNvPr>
          <p:cNvSpPr txBox="1"/>
          <p:nvPr/>
        </p:nvSpPr>
        <p:spPr>
          <a:xfrm>
            <a:off x="5198547" y="4119151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Arial"/>
              </a:rPr>
              <a:t>dst+4</a:t>
            </a:r>
            <a:endParaRPr lang="en-US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180355E-C98B-284E-859E-9A797ED11AD0}"/>
              </a:ext>
            </a:extLst>
          </p:cNvPr>
          <p:cNvSpPr txBox="1"/>
          <p:nvPr/>
        </p:nvSpPr>
        <p:spPr>
          <a:xfrm>
            <a:off x="6062643" y="4119151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Arial"/>
              </a:rPr>
              <a:t>dst+5</a:t>
            </a:r>
            <a:endParaRPr lang="en-US" sz="24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65E6C21-EFAE-594A-A89B-60049A9041C5}"/>
              </a:ext>
            </a:extLst>
          </p:cNvPr>
          <p:cNvSpPr txBox="1"/>
          <p:nvPr/>
        </p:nvSpPr>
        <p:spPr>
          <a:xfrm>
            <a:off x="8437409" y="4058453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Arial"/>
              </a:rPr>
              <a:t>dst+8</a:t>
            </a:r>
            <a:endParaRPr lang="en-US" sz="2400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3156D5-7598-7844-BBEB-C316D3024B1D}"/>
              </a:ext>
            </a:extLst>
          </p:cNvPr>
          <p:cNvCxnSpPr/>
          <p:nvPr/>
        </p:nvCxnSpPr>
        <p:spPr>
          <a:xfrm>
            <a:off x="9735051" y="3912820"/>
            <a:ext cx="720080" cy="0"/>
          </a:xfrm>
          <a:prstGeom prst="line">
            <a:avLst/>
          </a:prstGeom>
          <a:noFill/>
          <a:ln w="25400" cap="flat" cmpd="sng" algn="ctr">
            <a:solidFill>
              <a:srgbClr val="000090"/>
            </a:solidFill>
            <a:prstDash val="sysDash"/>
            <a:tailEnd type="non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1AA5AB7-AF01-C44E-8A5B-FCAE01EA9EDC}"/>
              </a:ext>
            </a:extLst>
          </p:cNvPr>
          <p:cNvCxnSpPr/>
          <p:nvPr/>
        </p:nvCxnSpPr>
        <p:spPr>
          <a:xfrm>
            <a:off x="1526139" y="3912820"/>
            <a:ext cx="720080" cy="0"/>
          </a:xfrm>
          <a:prstGeom prst="line">
            <a:avLst/>
          </a:prstGeom>
          <a:noFill/>
          <a:ln w="25400" cap="flat" cmpd="sng" algn="ctr">
            <a:solidFill>
              <a:srgbClr val="000090"/>
            </a:solidFill>
            <a:prstDash val="sysDash"/>
            <a:tailEnd type="non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69BC2B2-63C5-BA45-81C3-B3039227D980}"/>
              </a:ext>
            </a:extLst>
          </p:cNvPr>
          <p:cNvSpPr txBox="1"/>
          <p:nvPr/>
        </p:nvSpPr>
        <p:spPr>
          <a:xfrm>
            <a:off x="302003" y="3708198"/>
            <a:ext cx="13328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Arial"/>
              </a:rPr>
              <a:t>Low Address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2BFA8A2-31E2-1E42-9602-83B848ECAAD6}"/>
              </a:ext>
            </a:extLst>
          </p:cNvPr>
          <p:cNvSpPr txBox="1"/>
          <p:nvPr/>
        </p:nvSpPr>
        <p:spPr>
          <a:xfrm>
            <a:off x="10544018" y="3497321"/>
            <a:ext cx="13328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Arial"/>
              </a:rPr>
              <a:t>High Address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312BEA1-D9E1-9B47-8136-04A9D95FB9C0}"/>
              </a:ext>
            </a:extLst>
          </p:cNvPr>
          <p:cNvSpPr txBox="1"/>
          <p:nvPr/>
        </p:nvSpPr>
        <p:spPr>
          <a:xfrm>
            <a:off x="2235848" y="5418298"/>
            <a:ext cx="7793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err="1">
                <a:solidFill>
                  <a:srgbClr val="000000"/>
                </a:solidFill>
                <a:latin typeface="Arial"/>
              </a:rPr>
              <a:t>strcpy</a:t>
            </a:r>
            <a:r>
              <a:rPr lang="en-US" sz="2400" dirty="0">
                <a:solidFill>
                  <a:srgbClr val="000000"/>
                </a:solidFill>
                <a:latin typeface="Arial"/>
              </a:rPr>
              <a:t>(dst,"0123456a") leads to buffer overflow.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77092CC-DF1B-FE4C-AA15-1F04CFEA07D1}"/>
              </a:ext>
            </a:extLst>
          </p:cNvPr>
          <p:cNvSpPr txBox="1"/>
          <p:nvPr/>
        </p:nvSpPr>
        <p:spPr>
          <a:xfrm>
            <a:off x="2246219" y="4911239"/>
            <a:ext cx="4181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Arial"/>
              </a:rPr>
              <a:t>suppose </a:t>
            </a:r>
            <a:r>
              <a:rPr lang="en-US" sz="2400" dirty="0" err="1">
                <a:solidFill>
                  <a:srgbClr val="000000"/>
                </a:solidFill>
                <a:latin typeface="Arial"/>
              </a:rPr>
              <a:t>dst</a:t>
            </a:r>
            <a:r>
              <a:rPr lang="en-US" sz="2400" dirty="0">
                <a:solidFill>
                  <a:srgbClr val="000000"/>
                </a:solidFill>
                <a:latin typeface="Arial"/>
              </a:rPr>
              <a:t> buffer is 7 bytes.</a:t>
            </a:r>
          </a:p>
        </p:txBody>
      </p:sp>
      <p:graphicFrame>
        <p:nvGraphicFramePr>
          <p:cNvPr id="76" name="Table 29">
            <a:extLst>
              <a:ext uri="{FF2B5EF4-FFF2-40B4-BE49-F238E27FC236}">
                <a16:creationId xmlns:a16="http://schemas.microsoft.com/office/drawing/2014/main" id="{472C74F6-98E8-3645-A9C2-0AB061D14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685629"/>
              </p:ext>
            </p:extLst>
          </p:nvPr>
        </p:nvGraphicFramePr>
        <p:xfrm>
          <a:off x="2390234" y="3737856"/>
          <a:ext cx="7200801" cy="370840"/>
        </p:xfrm>
        <a:graphic>
          <a:graphicData uri="http://schemas.openxmlformats.org/drawingml/2006/table">
            <a:tbl>
              <a:tblPr firstRow="1" bandRow="1"/>
              <a:tblGrid>
                <a:gridCol w="800089">
                  <a:extLst>
                    <a:ext uri="{9D8B030D-6E8A-4147-A177-3AD203B41FA5}">
                      <a16:colId xmlns:a16="http://schemas.microsoft.com/office/drawing/2014/main" val="40141857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628658496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2844210528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913289746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165504471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3924490903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3373209240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3021412604"/>
                    </a:ext>
                  </a:extLst>
                </a:gridCol>
                <a:gridCol w="800089">
                  <a:extLst>
                    <a:ext uri="{9D8B030D-6E8A-4147-A177-3AD203B41FA5}">
                      <a16:colId xmlns:a16="http://schemas.microsoft.com/office/drawing/2014/main" val="2772237005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'0'</a:t>
                      </a:r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'1'</a:t>
                      </a:r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'2'</a:t>
                      </a:r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'3'</a:t>
                      </a:r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'4'</a:t>
                      </a:r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'5'</a:t>
                      </a:r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'6'</a:t>
                      </a:r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'a'</a:t>
                      </a:r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dirty="0"/>
                        <a:t>0x0</a:t>
                      </a:r>
                    </a:p>
                  </a:txBody>
                  <a:tcPr>
                    <a:lnL w="12700" cmpd="sng">
                      <a:solidFill>
                        <a:srgbClr val="333399"/>
                      </a:solidFill>
                    </a:lnL>
                    <a:lnR w="12700" cmpd="sng">
                      <a:solidFill>
                        <a:srgbClr val="333399"/>
                      </a:solidFill>
                    </a:lnR>
                    <a:lnT w="12700" cmpd="sng">
                      <a:solidFill>
                        <a:srgbClr val="333399"/>
                      </a:solidFill>
                    </a:lnT>
                    <a:lnB w="12700" cmpd="sng">
                      <a:solidFill>
                        <a:srgbClr val="33339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142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92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E78D7-98F1-D443-9C0B-50F1FBE70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Consequence of Buffer overflow 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3521315B-1111-A148-870D-473543AA4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2622" y="1244434"/>
            <a:ext cx="5588592" cy="4827743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Overflow in buffer1 modifies data in buffer2. </a:t>
            </a:r>
            <a:r>
              <a:rPr lang="en-GB" b="1" dirty="0"/>
              <a:t>The direction of overflow is towards the higher addresses</a:t>
            </a:r>
            <a:r>
              <a:rPr lang="en-GB" dirty="0"/>
              <a:t>.</a:t>
            </a:r>
          </a:p>
          <a:p>
            <a:r>
              <a:rPr lang="en-GB" dirty="0"/>
              <a:t>The consequence depends on how the modified data is used by the program.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Buffer2 stores the authentication outcome which determines how the program run after authentication.</a:t>
            </a:r>
          </a:p>
          <a:p>
            <a:pPr lvl="1"/>
            <a:r>
              <a:rPr lang="en-GB" dirty="0"/>
              <a:t>Buffer2 stores data that will be directly used for the destination of a control transfer instruction such as "</a:t>
            </a:r>
            <a:r>
              <a:rPr lang="en-GB" b="1" dirty="0" err="1">
                <a:solidFill>
                  <a:srgbClr val="92D050"/>
                </a:solidFill>
              </a:rPr>
              <a:t>goto</a:t>
            </a:r>
            <a:r>
              <a:rPr lang="en-GB" b="1" dirty="0">
                <a:solidFill>
                  <a:srgbClr val="92D050"/>
                </a:solidFill>
              </a:rPr>
              <a:t> the address stored at 80108</a:t>
            </a:r>
            <a:r>
              <a:rPr lang="en-GB" dirty="0"/>
              <a:t>" – ROP without gadgets, run to next line and then it will run the method.</a:t>
            </a:r>
          </a:p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AE1A61-2087-E447-8A00-B0321FDFB0AC}"/>
              </a:ext>
            </a:extLst>
          </p:cNvPr>
          <p:cNvSpPr/>
          <p:nvPr/>
        </p:nvSpPr>
        <p:spPr>
          <a:xfrm>
            <a:off x="1254339" y="1920296"/>
            <a:ext cx="1584176" cy="3641259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23B023-E919-904B-AF7E-B1E737FB01F1}"/>
              </a:ext>
            </a:extLst>
          </p:cNvPr>
          <p:cNvCxnSpPr/>
          <p:nvPr/>
        </p:nvCxnSpPr>
        <p:spPr>
          <a:xfrm>
            <a:off x="1254339" y="4368569"/>
            <a:ext cx="1584176" cy="0"/>
          </a:xfrm>
          <a:prstGeom prst="line">
            <a:avLst/>
          </a:prstGeom>
          <a:noFill/>
          <a:ln w="25400" cap="flat" cmpd="sng" algn="ctr">
            <a:solidFill>
              <a:srgbClr val="000090"/>
            </a:solidFill>
            <a:prstDash val="solid"/>
            <a:tailEnd type="non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645BB6A-324E-1349-8E8F-DD0BA535947C}"/>
              </a:ext>
            </a:extLst>
          </p:cNvPr>
          <p:cNvSpPr txBox="1"/>
          <p:nvPr/>
        </p:nvSpPr>
        <p:spPr>
          <a:xfrm>
            <a:off x="1254339" y="3238920"/>
            <a:ext cx="1584176" cy="461665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buffer1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6F6CFB-154B-F341-B02C-6DF383D57506}"/>
              </a:ext>
            </a:extLst>
          </p:cNvPr>
          <p:cNvSpPr txBox="1"/>
          <p:nvPr/>
        </p:nvSpPr>
        <p:spPr>
          <a:xfrm>
            <a:off x="1254339" y="2661949"/>
            <a:ext cx="1584176" cy="565089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buffer2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FD9045-E9C4-A840-9822-3B5C419E5BA7}"/>
              </a:ext>
            </a:extLst>
          </p:cNvPr>
          <p:cNvSpPr txBox="1"/>
          <p:nvPr/>
        </p:nvSpPr>
        <p:spPr>
          <a:xfrm>
            <a:off x="1254339" y="2208329"/>
            <a:ext cx="1584176" cy="461665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rPr>
              <a:t>buffer3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FAF0C0-DE46-E84E-A124-AD92EB80A728}"/>
              </a:ext>
            </a:extLst>
          </p:cNvPr>
          <p:cNvSpPr txBox="1"/>
          <p:nvPr/>
        </p:nvSpPr>
        <p:spPr>
          <a:xfrm>
            <a:off x="1254339" y="4376642"/>
            <a:ext cx="1584176" cy="461665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400" kern="0" dirty="0">
                <a:solidFill>
                  <a:srgbClr val="000000"/>
                </a:solidFill>
                <a:latin typeface="Arial"/>
              </a:rPr>
              <a:t>function1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24CD7A-2670-7C4A-8031-A0872A325010}"/>
              </a:ext>
            </a:extLst>
          </p:cNvPr>
          <p:cNvSpPr txBox="1"/>
          <p:nvPr/>
        </p:nvSpPr>
        <p:spPr>
          <a:xfrm>
            <a:off x="1254339" y="4838934"/>
            <a:ext cx="1584176" cy="461665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400" kern="0" dirty="0">
                <a:solidFill>
                  <a:srgbClr val="000000"/>
                </a:solidFill>
                <a:latin typeface="Arial"/>
              </a:rPr>
              <a:t>function2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F93FE0-266F-3E44-87C7-26A01A444A68}"/>
              </a:ext>
            </a:extLst>
          </p:cNvPr>
          <p:cNvSpPr txBox="1"/>
          <p:nvPr/>
        </p:nvSpPr>
        <p:spPr>
          <a:xfrm>
            <a:off x="138336" y="506027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10001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BD8F8D-C9B2-1646-8FD1-32C461D544B3}"/>
              </a:ext>
            </a:extLst>
          </p:cNvPr>
          <p:cNvSpPr txBox="1"/>
          <p:nvPr/>
        </p:nvSpPr>
        <p:spPr>
          <a:xfrm>
            <a:off x="138336" y="456946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10108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0C7B87-0962-E149-A553-8A6896405D73}"/>
              </a:ext>
            </a:extLst>
          </p:cNvPr>
          <p:cNvSpPr txBox="1"/>
          <p:nvPr/>
        </p:nvSpPr>
        <p:spPr>
          <a:xfrm>
            <a:off x="138336" y="3502032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80100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9F226D-D5A5-4644-987F-B91C8371A9AD}"/>
              </a:ext>
            </a:extLst>
          </p:cNvPr>
          <p:cNvSpPr txBox="1"/>
          <p:nvPr/>
        </p:nvSpPr>
        <p:spPr>
          <a:xfrm>
            <a:off x="138336" y="2986636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80108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369A0A-1312-E54D-A7C3-F5D83F722390}"/>
              </a:ext>
            </a:extLst>
          </p:cNvPr>
          <p:cNvSpPr txBox="1"/>
          <p:nvPr/>
        </p:nvSpPr>
        <p:spPr>
          <a:xfrm>
            <a:off x="138336" y="236330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80138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82B276-E26D-4B46-823A-423759DD99F1}"/>
              </a:ext>
            </a:extLst>
          </p:cNvPr>
          <p:cNvCxnSpPr>
            <a:cxnSpLocks/>
          </p:cNvCxnSpPr>
          <p:nvPr/>
        </p:nvCxnSpPr>
        <p:spPr>
          <a:xfrm>
            <a:off x="943765" y="3686698"/>
            <a:ext cx="3499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9D0B4A7-6102-3442-A4A3-19156497C65F}"/>
              </a:ext>
            </a:extLst>
          </p:cNvPr>
          <p:cNvCxnSpPr>
            <a:cxnSpLocks/>
          </p:cNvCxnSpPr>
          <p:nvPr/>
        </p:nvCxnSpPr>
        <p:spPr>
          <a:xfrm>
            <a:off x="901573" y="3238920"/>
            <a:ext cx="3499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4A5885-5D26-B245-97DA-9244CEFD14C1}"/>
              </a:ext>
            </a:extLst>
          </p:cNvPr>
          <p:cNvCxnSpPr>
            <a:cxnSpLocks/>
          </p:cNvCxnSpPr>
          <p:nvPr/>
        </p:nvCxnSpPr>
        <p:spPr>
          <a:xfrm>
            <a:off x="874621" y="2676128"/>
            <a:ext cx="3499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30CA738-5612-1E4E-8FC4-0CC19A25EB92}"/>
              </a:ext>
            </a:extLst>
          </p:cNvPr>
          <p:cNvSpPr/>
          <p:nvPr/>
        </p:nvSpPr>
        <p:spPr>
          <a:xfrm>
            <a:off x="1232843" y="3005393"/>
            <a:ext cx="1586989" cy="681304"/>
          </a:xfrm>
          <a:prstGeom prst="rect">
            <a:avLst/>
          </a:prstGeom>
          <a:solidFill>
            <a:srgbClr val="FF0000">
              <a:alpha val="4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6E242B-94C7-9E4C-AB30-FE5681B876CF}"/>
              </a:ext>
            </a:extLst>
          </p:cNvPr>
          <p:cNvSpPr/>
          <p:nvPr/>
        </p:nvSpPr>
        <p:spPr>
          <a:xfrm>
            <a:off x="62746" y="5778499"/>
            <a:ext cx="45071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000000"/>
                </a:solidFill>
                <a:latin typeface="Arial"/>
              </a:rPr>
              <a:t>strcpy</a:t>
            </a:r>
            <a:r>
              <a:rPr lang="en-US" sz="2400" dirty="0">
                <a:solidFill>
                  <a:srgbClr val="000000"/>
                </a:solidFill>
                <a:latin typeface="Arial"/>
              </a:rPr>
              <a:t>(buffer1,"01234567abcd")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A5063-2536-EC44-8C8A-D596B90CC306}"/>
              </a:ext>
            </a:extLst>
          </p:cNvPr>
          <p:cNvSpPr txBox="1"/>
          <p:nvPr/>
        </p:nvSpPr>
        <p:spPr>
          <a:xfrm>
            <a:off x="10242225" y="3722943"/>
            <a:ext cx="1811439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bypass authentication</a:t>
            </a:r>
            <a:endParaRPr lang="en-GB" sz="2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37C48B-5FAD-DF4B-A35F-44103853A3AC}"/>
              </a:ext>
            </a:extLst>
          </p:cNvPr>
          <p:cNvSpPr txBox="1"/>
          <p:nvPr/>
        </p:nvSpPr>
        <p:spPr>
          <a:xfrm>
            <a:off x="10242224" y="4569463"/>
            <a:ext cx="1811439" cy="184665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system crash</a:t>
            </a:r>
          </a:p>
          <a:p>
            <a:pPr algn="l"/>
            <a:endParaRPr lang="en-GB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</a:t>
            </a:r>
          </a:p>
          <a:p>
            <a:pPr algn="l"/>
            <a:endParaRPr lang="en-GB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GB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run unintended code</a:t>
            </a:r>
            <a:r>
              <a:rPr lang="en-GB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DB74BA-1840-D74A-B1CD-96454A1146BC}"/>
              </a:ext>
            </a:extLst>
          </p:cNvPr>
          <p:cNvSpPr txBox="1"/>
          <p:nvPr/>
        </p:nvSpPr>
        <p:spPr>
          <a:xfrm>
            <a:off x="34621" y="1456020"/>
            <a:ext cx="1033296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Address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CCEAD0-0D50-A641-83AC-C7C5E8B698A4}"/>
              </a:ext>
            </a:extLst>
          </p:cNvPr>
          <p:cNvSpPr txBox="1"/>
          <p:nvPr/>
        </p:nvSpPr>
        <p:spPr>
          <a:xfrm>
            <a:off x="1252908" y="1432939"/>
            <a:ext cx="1124026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92486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>
            <a:extLst>
              <a:ext uri="{FF2B5EF4-FFF2-40B4-BE49-F238E27FC236}">
                <a16:creationId xmlns:a16="http://schemas.microsoft.com/office/drawing/2014/main" id="{F0AB90C5-26ED-007D-D723-2C806D7BE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806" y="616226"/>
            <a:ext cx="8942387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36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AU" altLang="en-US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AU" altLang="en-US" sz="1800" b="1" dirty="0">
                <a:latin typeface="Courier New" panose="02070309020205020404" pitchFamily="49" charset="0"/>
              </a:rPr>
              <a:t>#include &lt;</a:t>
            </a:r>
            <a:r>
              <a:rPr kumimoji="0" lang="en-AU" altLang="en-US" sz="1800" b="1" dirty="0" err="1">
                <a:latin typeface="Courier New" panose="02070309020205020404" pitchFamily="49" charset="0"/>
              </a:rPr>
              <a:t>stdio.h</a:t>
            </a:r>
            <a:r>
              <a:rPr kumimoji="0" lang="en-AU" altLang="en-US" sz="1800" b="1" dirty="0"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AU" altLang="en-US" sz="1800" b="1" dirty="0">
                <a:latin typeface="Courier New" panose="02070309020205020404" pitchFamily="49" charset="0"/>
              </a:rPr>
              <a:t>#include &lt;</a:t>
            </a:r>
            <a:r>
              <a:rPr kumimoji="0" lang="en-AU" altLang="en-US" sz="1800" b="1" dirty="0" err="1">
                <a:latin typeface="Courier New" panose="02070309020205020404" pitchFamily="49" charset="0"/>
              </a:rPr>
              <a:t>string.h</a:t>
            </a:r>
            <a:r>
              <a:rPr kumimoji="0" lang="en-AU" altLang="en-US" sz="1800" b="1" dirty="0"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AU" altLang="en-US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AU" altLang="en-US" sz="1800" b="1" dirty="0">
                <a:latin typeface="Courier New" panose="02070309020205020404" pitchFamily="49" charset="0"/>
              </a:rPr>
              <a:t>void X(const char* input)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AU" altLang="en-US" sz="1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AU" altLang="en-US" sz="1800" b="1" dirty="0">
                <a:latin typeface="Courier New" panose="02070309020205020404" pitchFamily="49" charset="0"/>
              </a:rPr>
              <a:t>  char </a:t>
            </a:r>
            <a:r>
              <a:rPr kumimoji="0" lang="en-AU" altLang="en-US" sz="1800" b="1" dirty="0" err="1">
                <a:latin typeface="Courier New" panose="02070309020205020404" pitchFamily="49" charset="0"/>
              </a:rPr>
              <a:t>buf</a:t>
            </a:r>
            <a:r>
              <a:rPr kumimoji="0" lang="en-AU" altLang="en-US" sz="1800" b="1" dirty="0">
                <a:latin typeface="Courier New" panose="02070309020205020404" pitchFamily="49" charset="0"/>
              </a:rPr>
              <a:t>[10];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AU" altLang="en-US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AU" altLang="en-US" sz="1800" b="1" dirty="0">
                <a:latin typeface="Courier New" panose="02070309020205020404" pitchFamily="49" charset="0"/>
              </a:rPr>
              <a:t>  //Not passing any arguments is a trick to view the stack.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pt-BR" altLang="en-US" sz="1800" dirty="0">
                <a:latin typeface="Courier New" panose="02070309020205020404" pitchFamily="49" charset="0"/>
              </a:rPr>
              <a:t>  </a:t>
            </a:r>
            <a:r>
              <a:rPr kumimoji="0" lang="pt-BR" altLang="en-US" sz="1800" b="1" dirty="0">
                <a:latin typeface="Courier New" panose="02070309020205020404" pitchFamily="49" charset="0"/>
              </a:rPr>
              <a:t>printf("My stack looks like:\n%p\n%p\n%p\n%p\n%p\n%p 	\n%p\n%p\n%p\n%p\n%p\n%p\n%p\n\n");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AU" altLang="en-US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AU" altLang="en-US" sz="1800" b="1" dirty="0">
                <a:latin typeface="Courier New" panose="02070309020205020404" pitchFamily="49" charset="0"/>
              </a:rPr>
              <a:t>  //Pass the user input straight to secure code public enemy #1.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AU" altLang="en-US" sz="1800" b="1" dirty="0">
                <a:latin typeface="Courier New" panose="02070309020205020404" pitchFamily="49" charset="0"/>
              </a:rPr>
              <a:t>  </a:t>
            </a:r>
            <a:r>
              <a:rPr kumimoji="0" lang="en-AU" altLang="en-US" sz="1800" b="1" dirty="0" err="1">
                <a:latin typeface="Courier New" panose="02070309020205020404" pitchFamily="49" charset="0"/>
              </a:rPr>
              <a:t>strcpy</a:t>
            </a:r>
            <a:r>
              <a:rPr kumimoji="0" lang="en-AU" altLang="en-US" sz="1800" b="1" dirty="0">
                <a:latin typeface="Courier New" panose="02070309020205020404" pitchFamily="49" charset="0"/>
              </a:rPr>
              <a:t>(</a:t>
            </a:r>
            <a:r>
              <a:rPr kumimoji="0" lang="en-AU" altLang="en-US" sz="1800" b="1" dirty="0" err="1">
                <a:latin typeface="Courier New" panose="02070309020205020404" pitchFamily="49" charset="0"/>
              </a:rPr>
              <a:t>buf</a:t>
            </a:r>
            <a:r>
              <a:rPr kumimoji="0" lang="en-AU" altLang="en-US" sz="1800" b="1" dirty="0">
                <a:latin typeface="Courier New" panose="02070309020205020404" pitchFamily="49" charset="0"/>
              </a:rPr>
              <a:t>, input);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AU" altLang="en-US" sz="1800" b="1" dirty="0">
                <a:latin typeface="Courier New" panose="02070309020205020404" pitchFamily="49" charset="0"/>
              </a:rPr>
              <a:t>  </a:t>
            </a:r>
            <a:r>
              <a:rPr kumimoji="0" lang="en-AU" altLang="en-US" sz="1800" b="1" dirty="0" err="1">
                <a:latin typeface="Courier New" panose="02070309020205020404" pitchFamily="49" charset="0"/>
              </a:rPr>
              <a:t>printf</a:t>
            </a:r>
            <a:r>
              <a:rPr kumimoji="0" lang="en-AU" altLang="en-US" sz="1800" b="1" dirty="0">
                <a:latin typeface="Courier New" panose="02070309020205020404" pitchFamily="49" charset="0"/>
              </a:rPr>
              <a:t>("%s\n", </a:t>
            </a:r>
            <a:r>
              <a:rPr kumimoji="0" lang="en-AU" altLang="en-US" sz="1800" b="1" dirty="0" err="1">
                <a:latin typeface="Courier New" panose="02070309020205020404" pitchFamily="49" charset="0"/>
              </a:rPr>
              <a:t>buf</a:t>
            </a:r>
            <a:r>
              <a:rPr kumimoji="0" lang="en-AU" altLang="en-US" sz="1800" b="1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AU" altLang="en-US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AU" altLang="en-US" sz="1800" b="1" dirty="0">
                <a:latin typeface="Courier New" panose="02070309020205020404" pitchFamily="49" charset="0"/>
              </a:rPr>
              <a:t>  </a:t>
            </a:r>
            <a:r>
              <a:rPr kumimoji="0" lang="en-AU" altLang="en-US" sz="1800" b="1" dirty="0" err="1">
                <a:latin typeface="Courier New" panose="02070309020205020404" pitchFamily="49" charset="0"/>
              </a:rPr>
              <a:t>printf</a:t>
            </a:r>
            <a:r>
              <a:rPr kumimoji="0" lang="en-AU" altLang="en-US" sz="1800" b="1" dirty="0">
                <a:latin typeface="Courier New" panose="02070309020205020404" pitchFamily="49" charset="0"/>
              </a:rPr>
              <a:t>("Now the stack looks like:     </a:t>
            </a:r>
            <a:r>
              <a:rPr kumimoji="0" lang="pt-BR" altLang="en-US" sz="1800" b="1" dirty="0">
                <a:latin typeface="Courier New" panose="02070309020205020404" pitchFamily="49" charset="0"/>
              </a:rPr>
              <a:t>\n%p\n%p\n%p\n%p\n%p\n%p\n%p\n%p\n%p\n%p\n%p\n%p\n%p\n\n");</a:t>
            </a:r>
            <a:r>
              <a:rPr kumimoji="0" lang="en-AU" altLang="en-US" sz="18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27F090-B6C9-7032-59FE-BECF67562A67}"/>
              </a:ext>
            </a:extLst>
          </p:cNvPr>
          <p:cNvSpPr txBox="1"/>
          <p:nvPr/>
        </p:nvSpPr>
        <p:spPr>
          <a:xfrm>
            <a:off x="244300" y="3122220"/>
            <a:ext cx="1380506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atin typeface="Helvetica" pitchFamily="2" charset="0"/>
              </a:rPr>
              <a:t>FYI Only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C9B69DE-30BC-3030-CAE2-55A229691EB1}"/>
              </a:ext>
            </a:extLst>
          </p:cNvPr>
          <p:cNvSpPr txBox="1">
            <a:spLocks noChangeArrowheads="1"/>
          </p:cNvSpPr>
          <p:nvPr/>
        </p:nvSpPr>
        <p:spPr>
          <a:xfrm>
            <a:off x="513349" y="310719"/>
            <a:ext cx="10840451" cy="584828"/>
          </a:xfrm>
          <a:prstGeom prst="rect">
            <a:avLst/>
          </a:prstGeom>
          <a:noFill/>
        </p:spPr>
        <p:txBody>
          <a:bodyPr>
            <a:normAutofit fontScale="900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tx1"/>
                </a:solidFill>
                <a:latin typeface="Arial Nova" panose="020B0504020202020204" pitchFamily="34" charset="0"/>
                <a:ea typeface="Arial Nova" panose="020B0504020202020204" pitchFamily="34" charset="0"/>
                <a:cs typeface="Arial Nova" panose="020B0504020202020204" pitchFamily="34" charset="0"/>
              </a:defRPr>
            </a:lvl1pPr>
          </a:lstStyle>
          <a:p>
            <a:r>
              <a:rPr lang="en-AU" altLang="en-US" sz="4000" dirty="0"/>
              <a:t>An example of Buffer Overflow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4535C4-DD03-B4CF-41E7-1E3882A194CB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"/>
                                        <p:tgtEl>
                                          <p:spTgt spid="454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200"/>
                                        <p:tgtEl>
                                          <p:spTgt spid="4546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200"/>
                                        <p:tgtEl>
                                          <p:spTgt spid="454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200"/>
                                        <p:tgtEl>
                                          <p:spTgt spid="4546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200"/>
                                        <p:tgtEl>
                                          <p:spTgt spid="4546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200"/>
                                        <p:tgtEl>
                                          <p:spTgt spid="4546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200"/>
                                        <p:tgtEl>
                                          <p:spTgt spid="4546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200"/>
                                        <p:tgtEl>
                                          <p:spTgt spid="45465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200"/>
                                        <p:tgtEl>
                                          <p:spTgt spid="45465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200"/>
                                        <p:tgtEl>
                                          <p:spTgt spid="45465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200"/>
                                        <p:tgtEl>
                                          <p:spTgt spid="45465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>
            <a:extLst>
              <a:ext uri="{FF2B5EF4-FFF2-40B4-BE49-F238E27FC236}">
                <a16:creationId xmlns:a16="http://schemas.microsoft.com/office/drawing/2014/main" id="{D3F6EF67-FA1E-5EF6-A8A2-89A107751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584" y="1095088"/>
            <a:ext cx="3624262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36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My stack looks like: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00000018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00000001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0023FF14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0000000C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0023FFE0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77C35C94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77C146F0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FFFFFFFF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0023FF60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 dirty="0">
                <a:latin typeface="Courier New" panose="02070309020205020404" pitchFamily="49" charset="0"/>
              </a:rPr>
              <a:t>00401401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00032593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00401328</a:t>
            </a:r>
          </a:p>
        </p:txBody>
      </p:sp>
      <p:sp>
        <p:nvSpPr>
          <p:cNvPr id="458755" name="Rectangle 3">
            <a:extLst>
              <a:ext uri="{FF2B5EF4-FFF2-40B4-BE49-F238E27FC236}">
                <a16:creationId xmlns:a16="http://schemas.microsoft.com/office/drawing/2014/main" id="{5A794369-096C-ECCE-6C04-5CCA005C8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2369" y="1372087"/>
            <a:ext cx="45720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36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Hello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Now the stack looks like: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00000018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00000001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0023FF14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0000000C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 dirty="0">
                <a:latin typeface="Courier New" panose="02070309020205020404" pitchFamily="49" charset="0"/>
              </a:rPr>
              <a:t>6C6C6548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77C3</a:t>
            </a:r>
            <a:r>
              <a:rPr kumimoji="0" lang="en-US" altLang="en-US" sz="1800" b="1" dirty="0">
                <a:latin typeface="Courier New" panose="02070309020205020404" pitchFamily="49" charset="0"/>
              </a:rPr>
              <a:t>006F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77C146F0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FFFFFFFF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0023FF60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 dirty="0">
                <a:latin typeface="Courier New" panose="02070309020205020404" pitchFamily="49" charset="0"/>
              </a:rPr>
              <a:t>00401401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00032593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00401328</a:t>
            </a:r>
            <a:endParaRPr kumimoji="0" lang="en-AU" altLang="en-US" sz="1800" dirty="0">
              <a:latin typeface="Courier New" panose="02070309020205020404" pitchFamily="49" charset="0"/>
            </a:endParaRPr>
          </a:p>
        </p:txBody>
      </p:sp>
      <p:sp>
        <p:nvSpPr>
          <p:cNvPr id="458759" name="Rectangle 7">
            <a:extLst>
              <a:ext uri="{FF2B5EF4-FFF2-40B4-BE49-F238E27FC236}">
                <a16:creationId xmlns:a16="http://schemas.microsoft.com/office/drawing/2014/main" id="{E1BC2BE4-C056-A2A1-DCA9-A6D451792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4" y="4175809"/>
            <a:ext cx="216355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36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latin typeface="Times New Roman" panose="02020603050405020304" pitchFamily="18" charset="0"/>
              </a:rPr>
              <a:t>0x0040141 is the return address of function X</a:t>
            </a:r>
            <a:endParaRPr lang="en-AU" altLang="en-US" sz="1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8A72CA5B-F539-A8E0-3482-B7A0E54854DF}"/>
              </a:ext>
            </a:extLst>
          </p:cNvPr>
          <p:cNvGrpSpPr>
            <a:grpSpLocks/>
          </p:cNvGrpSpPr>
          <p:nvPr/>
        </p:nvGrpSpPr>
        <p:grpSpPr bwMode="auto">
          <a:xfrm>
            <a:off x="7121998" y="3236912"/>
            <a:ext cx="4376730" cy="1077913"/>
            <a:chOff x="3515" y="2750"/>
            <a:chExt cx="2757" cy="679"/>
          </a:xfrm>
        </p:grpSpPr>
        <p:sp>
          <p:nvSpPr>
            <p:cNvPr id="47112" name="Line 6">
              <a:extLst>
                <a:ext uri="{FF2B5EF4-FFF2-40B4-BE49-F238E27FC236}">
                  <a16:creationId xmlns:a16="http://schemas.microsoft.com/office/drawing/2014/main" id="{8863B9FB-0E8E-38E5-6FFE-FBB41E7261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15" y="2750"/>
              <a:ext cx="625" cy="2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13" name="Text Box 7">
              <a:extLst>
                <a:ext uri="{FF2B5EF4-FFF2-40B4-BE49-F238E27FC236}">
                  <a16:creationId xmlns:a16="http://schemas.microsoft.com/office/drawing/2014/main" id="{784AC880-F534-EF18-F2FC-D81B4A1309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3022"/>
              <a:ext cx="239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0000"/>
                <a:buFont typeface="Monotype Sorts" pitchFamily="36" charset="2"/>
                <a:buChar char="n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AU" altLang="zh-CN" sz="1800" dirty="0">
                  <a:latin typeface="Times New Roman" panose="02020603050405020304" pitchFamily="18" charset="0"/>
                  <a:ea typeface="SimSun" panose="02010600030101010101" pitchFamily="2" charset="-122"/>
                </a:rPr>
                <a:t>“Hello” was copied in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AU" altLang="zh-CN" sz="1800" dirty="0">
                  <a:latin typeface="Times New Roman" panose="02020603050405020304" pitchFamily="18" charset="0"/>
                  <a:ea typeface="SimSun" panose="02010600030101010101" pitchFamily="2" charset="-122"/>
                </a:rPr>
                <a:t>0x6C-’l’, 0x65-’e’, 0x48-’H’, 0x6F-’o’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4CD6540-1DC5-E983-9B12-1ABF6F3241FC}"/>
              </a:ext>
            </a:extLst>
          </p:cNvPr>
          <p:cNvSpPr txBox="1"/>
          <p:nvPr/>
        </p:nvSpPr>
        <p:spPr>
          <a:xfrm>
            <a:off x="332269" y="3077507"/>
            <a:ext cx="1380506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atin typeface="Helvetica" pitchFamily="2" charset="0"/>
              </a:rPr>
              <a:t>FYI Only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E6A40-EBA8-5DC2-9265-5A74FD6E4C9C}"/>
              </a:ext>
            </a:extLst>
          </p:cNvPr>
          <p:cNvSpPr txBox="1"/>
          <p:nvPr/>
        </p:nvSpPr>
        <p:spPr>
          <a:xfrm>
            <a:off x="9861712" y="1792709"/>
            <a:ext cx="13328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</a:rPr>
              <a:t>Low Address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A72FF2-F3ED-0EAA-BB48-E187CE40BA4E}"/>
              </a:ext>
            </a:extLst>
          </p:cNvPr>
          <p:cNvSpPr txBox="1"/>
          <p:nvPr/>
        </p:nvSpPr>
        <p:spPr>
          <a:xfrm>
            <a:off x="9861713" y="4758468"/>
            <a:ext cx="13328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FF0000"/>
                </a:solidFill>
                <a:latin typeface="Arial"/>
              </a:rPr>
              <a:t>High Address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A8C064-EEE3-948C-A03B-04C45F18F570}"/>
              </a:ext>
            </a:extLst>
          </p:cNvPr>
          <p:cNvSpPr txBox="1"/>
          <p:nvPr/>
        </p:nvSpPr>
        <p:spPr>
          <a:xfrm>
            <a:off x="2237219" y="1000884"/>
            <a:ext cx="2840521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Before </a:t>
            </a:r>
            <a:r>
              <a:rPr lang="en-US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strcpy</a:t>
            </a:r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</a:t>
            </a:r>
            <a:r>
              <a:rPr lang="en-US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buf</a:t>
            </a:r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input)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5C9607-E1CC-D5D8-F2B5-659C337C19C4}"/>
              </a:ext>
            </a:extLst>
          </p:cNvPr>
          <p:cNvSpPr txBox="1"/>
          <p:nvPr/>
        </p:nvSpPr>
        <p:spPr>
          <a:xfrm>
            <a:off x="5584687" y="1000884"/>
            <a:ext cx="2649123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After </a:t>
            </a:r>
            <a:r>
              <a:rPr lang="en-US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strcpy</a:t>
            </a:r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</a:t>
            </a:r>
            <a:r>
              <a:rPr lang="en-US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buf</a:t>
            </a:r>
            <a:r>
              <a:rPr lang="en-US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input)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1CE1E6-AEC8-3E67-EC10-19783BB5B257}"/>
              </a:ext>
            </a:extLst>
          </p:cNvPr>
          <p:cNvSpPr/>
          <p:nvPr/>
        </p:nvSpPr>
        <p:spPr>
          <a:xfrm>
            <a:off x="2246795" y="1891437"/>
            <a:ext cx="1242392" cy="32954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8DBE4F-6071-5318-D72B-4CC0F0FE3EDE}"/>
              </a:ext>
            </a:extLst>
          </p:cNvPr>
          <p:cNvSpPr/>
          <p:nvPr/>
        </p:nvSpPr>
        <p:spPr>
          <a:xfrm>
            <a:off x="5733245" y="1980005"/>
            <a:ext cx="1242392" cy="32954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6C5909-C5CA-EF61-3411-21262CE7FE6F}"/>
              </a:ext>
            </a:extLst>
          </p:cNvPr>
          <p:cNvCxnSpPr>
            <a:cxnSpLocks/>
          </p:cNvCxnSpPr>
          <p:nvPr/>
        </p:nvCxnSpPr>
        <p:spPr>
          <a:xfrm>
            <a:off x="3470638" y="2041742"/>
            <a:ext cx="2262607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062555-E969-96CA-AB7C-0AD8E4EFA164}"/>
              </a:ext>
            </a:extLst>
          </p:cNvPr>
          <p:cNvCxnSpPr/>
          <p:nvPr/>
        </p:nvCxnSpPr>
        <p:spPr>
          <a:xfrm>
            <a:off x="3470638" y="2623706"/>
            <a:ext cx="2262607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9ECDDB-38A5-7640-360C-7123E868FFC1}"/>
              </a:ext>
            </a:extLst>
          </p:cNvPr>
          <p:cNvCxnSpPr/>
          <p:nvPr/>
        </p:nvCxnSpPr>
        <p:spPr>
          <a:xfrm>
            <a:off x="3485252" y="2876314"/>
            <a:ext cx="2262607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7A1C2AB-2229-EB59-C6F7-DDE991C44797}"/>
              </a:ext>
            </a:extLst>
          </p:cNvPr>
          <p:cNvCxnSpPr/>
          <p:nvPr/>
        </p:nvCxnSpPr>
        <p:spPr>
          <a:xfrm>
            <a:off x="3449762" y="3153974"/>
            <a:ext cx="2262607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AB40D07-1E06-CD35-6312-1F5EA783E22E}"/>
              </a:ext>
            </a:extLst>
          </p:cNvPr>
          <p:cNvCxnSpPr/>
          <p:nvPr/>
        </p:nvCxnSpPr>
        <p:spPr>
          <a:xfrm>
            <a:off x="3476902" y="3431634"/>
            <a:ext cx="2262607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F247FD-6604-46CD-1DF1-A4A7DA512AB5}"/>
              </a:ext>
            </a:extLst>
          </p:cNvPr>
          <p:cNvCxnSpPr/>
          <p:nvPr/>
        </p:nvCxnSpPr>
        <p:spPr>
          <a:xfrm>
            <a:off x="3491516" y="3721820"/>
            <a:ext cx="2262607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17970FF-7535-0DF6-CE24-11286C08FDC1}"/>
              </a:ext>
            </a:extLst>
          </p:cNvPr>
          <p:cNvCxnSpPr/>
          <p:nvPr/>
        </p:nvCxnSpPr>
        <p:spPr>
          <a:xfrm>
            <a:off x="3468552" y="3999480"/>
            <a:ext cx="2262607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07F8F3-3806-7C02-5396-1A32E8628038}"/>
              </a:ext>
            </a:extLst>
          </p:cNvPr>
          <p:cNvCxnSpPr/>
          <p:nvPr/>
        </p:nvCxnSpPr>
        <p:spPr>
          <a:xfrm>
            <a:off x="3458114" y="4264614"/>
            <a:ext cx="2262607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F30848E-1DE4-812A-6EFA-2297E33AB668}"/>
              </a:ext>
            </a:extLst>
          </p:cNvPr>
          <p:cNvCxnSpPr/>
          <p:nvPr/>
        </p:nvCxnSpPr>
        <p:spPr>
          <a:xfrm>
            <a:off x="3460202" y="4554800"/>
            <a:ext cx="2262607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1E4A9A2-B042-189F-D7B1-F867E7044537}"/>
              </a:ext>
            </a:extLst>
          </p:cNvPr>
          <p:cNvCxnSpPr/>
          <p:nvPr/>
        </p:nvCxnSpPr>
        <p:spPr>
          <a:xfrm>
            <a:off x="3526786" y="2362225"/>
            <a:ext cx="2262607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"/>
                                        <p:tgtEl>
                                          <p:spTgt spid="458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"/>
                                        <p:tgtEl>
                                          <p:spTgt spid="458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"/>
                                        <p:tgtEl>
                                          <p:spTgt spid="458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"/>
                                        <p:tgtEl>
                                          <p:spTgt spid="458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"/>
                                        <p:tgtEl>
                                          <p:spTgt spid="458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00"/>
                                        <p:tgtEl>
                                          <p:spTgt spid="458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00"/>
                                        <p:tgtEl>
                                          <p:spTgt spid="458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00"/>
                                        <p:tgtEl>
                                          <p:spTgt spid="4587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00"/>
                                        <p:tgtEl>
                                          <p:spTgt spid="4587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00"/>
                                        <p:tgtEl>
                                          <p:spTgt spid="4587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00"/>
                                        <p:tgtEl>
                                          <p:spTgt spid="4587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200"/>
                                        <p:tgtEl>
                                          <p:spTgt spid="4587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00"/>
                                        <p:tgtEl>
                                          <p:spTgt spid="4587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58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200"/>
                                        <p:tgtEl>
                                          <p:spTgt spid="458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200"/>
                                        <p:tgtEl>
                                          <p:spTgt spid="458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7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200"/>
                                        <p:tgtEl>
                                          <p:spTgt spid="45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200"/>
                                        <p:tgtEl>
                                          <p:spTgt spid="45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200"/>
                                        <p:tgtEl>
                                          <p:spTgt spid="45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200"/>
                                        <p:tgtEl>
                                          <p:spTgt spid="458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200"/>
                                        <p:tgtEl>
                                          <p:spTgt spid="458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200"/>
                                        <p:tgtEl>
                                          <p:spTgt spid="458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200"/>
                                        <p:tgtEl>
                                          <p:spTgt spid="458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9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200"/>
                                        <p:tgtEl>
                                          <p:spTgt spid="458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200"/>
                                        <p:tgtEl>
                                          <p:spTgt spid="4587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10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200"/>
                                        <p:tgtEl>
                                          <p:spTgt spid="4587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1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200"/>
                                        <p:tgtEl>
                                          <p:spTgt spid="4587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1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200"/>
                                        <p:tgtEl>
                                          <p:spTgt spid="4587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2800"/>
                            </p:stCondLst>
                            <p:childTnLst>
                              <p:par>
                                <p:cTn id="1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5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>
            <a:extLst>
              <a:ext uri="{FF2B5EF4-FFF2-40B4-BE49-F238E27FC236}">
                <a16:creationId xmlns:a16="http://schemas.microsoft.com/office/drawing/2014/main" id="{54BBDC90-7352-86B6-6B68-8E3BEDE4D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774873"/>
            <a:ext cx="3624262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36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My stack looks like: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00000018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00000001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0023FF14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0000000C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0023FFE0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77C35C94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77C146F0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FFFFFFFF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0023FF60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b="1" dirty="0">
                <a:latin typeface="Courier New" panose="02070309020205020404" pitchFamily="49" charset="0"/>
              </a:rPr>
              <a:t>00401401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00032593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00401328</a:t>
            </a:r>
          </a:p>
        </p:txBody>
      </p:sp>
      <p:sp>
        <p:nvSpPr>
          <p:cNvPr id="460803" name="Rectangle 3">
            <a:extLst>
              <a:ext uri="{FF2B5EF4-FFF2-40B4-BE49-F238E27FC236}">
                <a16:creationId xmlns:a16="http://schemas.microsoft.com/office/drawing/2014/main" id="{6A23ED34-7EAF-9F64-D332-97866583B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493317"/>
            <a:ext cx="4879975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36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AAAAAAAAAAAAAAAAAAAAAAAAAAAAAAAAA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Now the stack looks like: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00000018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00000001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0023FF14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0000000C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41414141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41414141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41414141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41414141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41414141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41414141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41414141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Courier New" panose="02070309020205020404" pitchFamily="49" charset="0"/>
              </a:rPr>
              <a:t>41414141</a:t>
            </a:r>
            <a:endParaRPr kumimoji="0" lang="en-AU" altLang="en-US" sz="1800" dirty="0">
              <a:latin typeface="Courier New" panose="02070309020205020404" pitchFamily="49" charset="0"/>
            </a:endParaRPr>
          </a:p>
        </p:txBody>
      </p:sp>
      <p:pic>
        <p:nvPicPr>
          <p:cNvPr id="460807" name="Picture 7">
            <a:extLst>
              <a:ext uri="{FF2B5EF4-FFF2-40B4-BE49-F238E27FC236}">
                <a16:creationId xmlns:a16="http://schemas.microsoft.com/office/drawing/2014/main" id="{9A67B8C5-5035-1E9D-D56A-5A0CD6D6D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893" y="2290902"/>
            <a:ext cx="3779837" cy="183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08" name="Picture 8">
            <a:extLst>
              <a:ext uri="{FF2B5EF4-FFF2-40B4-BE49-F238E27FC236}">
                <a16:creationId xmlns:a16="http://schemas.microsoft.com/office/drawing/2014/main" id="{8FE9602A-DA7B-C47F-2035-5B5312157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787" y="4468192"/>
            <a:ext cx="6408738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09" name="Text Box 9">
            <a:extLst>
              <a:ext uri="{FF2B5EF4-FFF2-40B4-BE49-F238E27FC236}">
                <a16:creationId xmlns:a16="http://schemas.microsoft.com/office/drawing/2014/main" id="{94489234-AABC-A5BA-9E3F-90AC10467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1312" y="4971777"/>
            <a:ext cx="207516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36" charset="2"/>
              <a:buChar char="n"/>
              <a:defRPr kumimoji="1"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AU" altLang="en-US" sz="2000" dirty="0">
                <a:latin typeface="Times New Roman" panose="02020603050405020304" pitchFamily="18" charset="0"/>
              </a:rPr>
              <a:t>CPU attempts to fetch instruction from address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AU" altLang="en-US" sz="2000" dirty="0">
                <a:latin typeface="Times New Roman" panose="02020603050405020304" pitchFamily="18" charset="0"/>
              </a:rPr>
              <a:t>0x41414141 </a:t>
            </a:r>
            <a:r>
              <a:rPr kumimoji="0" lang="en-AU" alt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</a:t>
            </a:r>
            <a:endParaRPr kumimoji="0" lang="en-AU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B12F62-22F9-D78D-1A27-C3FC4BC6355D}"/>
              </a:ext>
            </a:extLst>
          </p:cNvPr>
          <p:cNvSpPr txBox="1"/>
          <p:nvPr/>
        </p:nvSpPr>
        <p:spPr>
          <a:xfrm>
            <a:off x="230807" y="2967335"/>
            <a:ext cx="1380506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atin typeface="Helvetica" pitchFamily="2" charset="0"/>
              </a:rPr>
              <a:t>FYI Only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49920F-9B91-0C54-02E9-C980E2F79A3A}"/>
              </a:ext>
            </a:extLst>
          </p:cNvPr>
          <p:cNvCxnSpPr/>
          <p:nvPr/>
        </p:nvCxnSpPr>
        <p:spPr>
          <a:xfrm>
            <a:off x="3099335" y="3696101"/>
            <a:ext cx="2444215" cy="0"/>
          </a:xfrm>
          <a:prstGeom prst="line">
            <a:avLst/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2748259-9E2A-AB24-03E6-935CBC8CD26F}"/>
              </a:ext>
            </a:extLst>
          </p:cNvPr>
          <p:cNvSpPr txBox="1"/>
          <p:nvPr/>
        </p:nvSpPr>
        <p:spPr>
          <a:xfrm>
            <a:off x="10039149" y="1289785"/>
            <a:ext cx="1013996" cy="369332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0x41 ‘A’</a:t>
            </a:r>
            <a:endParaRPr lang="en-US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3A86FCD3-C95B-A312-BF0F-85557F5982B3}"/>
              </a:ext>
            </a:extLst>
          </p:cNvPr>
          <p:cNvSpPr/>
          <p:nvPr/>
        </p:nvSpPr>
        <p:spPr>
          <a:xfrm>
            <a:off x="1511166" y="3599848"/>
            <a:ext cx="408122" cy="231007"/>
          </a:xfrm>
          <a:prstGeom prst="rightArrow">
            <a:avLst>
              <a:gd name="adj1" fmla="val 41667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"/>
                                        <p:tgtEl>
                                          <p:spTgt spid="460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200"/>
                                        <p:tgtEl>
                                          <p:spTgt spid="460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200"/>
                                        <p:tgtEl>
                                          <p:spTgt spid="460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200"/>
                                        <p:tgtEl>
                                          <p:spTgt spid="460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200"/>
                                        <p:tgtEl>
                                          <p:spTgt spid="460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200"/>
                                        <p:tgtEl>
                                          <p:spTgt spid="460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200"/>
                                        <p:tgtEl>
                                          <p:spTgt spid="460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200"/>
                                        <p:tgtEl>
                                          <p:spTgt spid="4608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200"/>
                                        <p:tgtEl>
                                          <p:spTgt spid="4608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200"/>
                                        <p:tgtEl>
                                          <p:spTgt spid="4608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200"/>
                                        <p:tgtEl>
                                          <p:spTgt spid="4608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200"/>
                                        <p:tgtEl>
                                          <p:spTgt spid="46080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200"/>
                                        <p:tgtEl>
                                          <p:spTgt spid="4608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200"/>
                                        <p:tgtEl>
                                          <p:spTgt spid="460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200"/>
                            </p:stCondLst>
                            <p:childTnLst>
                              <p:par>
                                <p:cTn id="6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200"/>
                                        <p:tgtEl>
                                          <p:spTgt spid="460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7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200"/>
                                        <p:tgtEl>
                                          <p:spTgt spid="460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7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200"/>
                                        <p:tgtEl>
                                          <p:spTgt spid="460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7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200"/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200"/>
                                        <p:tgtEl>
                                          <p:spTgt spid="460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8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200"/>
                                        <p:tgtEl>
                                          <p:spTgt spid="460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9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200"/>
                                        <p:tgtEl>
                                          <p:spTgt spid="4608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9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200"/>
                                        <p:tgtEl>
                                          <p:spTgt spid="4608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9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200"/>
                                        <p:tgtEl>
                                          <p:spTgt spid="4608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200"/>
                                        <p:tgtEl>
                                          <p:spTgt spid="4608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10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200"/>
                                        <p:tgtEl>
                                          <p:spTgt spid="4608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1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200"/>
                                        <p:tgtEl>
                                          <p:spTgt spid="4608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1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200"/>
                                        <p:tgtEl>
                                          <p:spTgt spid="4608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460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46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460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09" grpId="0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D49198-DC60-1348-AF46-A951F94C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51952"/>
            <a:ext cx="11513713" cy="584828"/>
          </a:xfrm>
        </p:spPr>
        <p:txBody>
          <a:bodyPr/>
          <a:lstStyle/>
          <a:p>
            <a:r>
              <a:rPr lang="en-US" sz="3000" dirty="0"/>
              <a:t>Countermeasures for Memory Corruption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3705366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349" y="1268243"/>
            <a:ext cx="10840451" cy="984779"/>
          </a:xfrm>
        </p:spPr>
        <p:txBody>
          <a:bodyPr/>
          <a:lstStyle/>
          <a:p>
            <a:r>
              <a:rPr lang="en-US" dirty="0"/>
              <a:t>A main difference between secure programming and normal practices is that </a:t>
            </a:r>
            <a:r>
              <a:rPr lang="en-US" dirty="0">
                <a:solidFill>
                  <a:srgbClr val="C00000"/>
                </a:solidFill>
              </a:rPr>
              <a:t>Nothing is assumed! 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269C8C87-476C-DD4D-9A58-2EAC3BB52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1424" y="2492896"/>
            <a:ext cx="50292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FD5023A-BF99-6F47-A37B-26A7C2B7282F}"/>
              </a:ext>
            </a:extLst>
          </p:cNvPr>
          <p:cNvSpPr txBox="1"/>
          <p:nvPr/>
        </p:nvSpPr>
        <p:spPr>
          <a:xfrm>
            <a:off x="7974868" y="2450998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</a:rPr>
              <a:t>Mindset Change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97C35B-85E4-714D-BC32-83862D0D4AE7}"/>
              </a:ext>
            </a:extLst>
          </p:cNvPr>
          <p:cNvSpPr/>
          <p:nvPr/>
        </p:nvSpPr>
        <p:spPr>
          <a:xfrm>
            <a:off x="7797068" y="2866420"/>
            <a:ext cx="2717800" cy="838200"/>
          </a:xfrm>
          <a:prstGeom prst="rect">
            <a:avLst/>
          </a:pr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how to accomplish the task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0A6B01-EF0D-044E-8371-3E6CB6DE573D}"/>
              </a:ext>
            </a:extLst>
          </p:cNvPr>
          <p:cNvSpPr/>
          <p:nvPr/>
        </p:nvSpPr>
        <p:spPr>
          <a:xfrm>
            <a:off x="7391400" y="4771420"/>
            <a:ext cx="3529136" cy="1066800"/>
          </a:xfrm>
          <a:prstGeom prst="rect">
            <a:avLst/>
          </a:prstGeom>
          <a:solidFill>
            <a:srgbClr val="6699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know the consequence of failures and attack techniques</a:t>
            </a:r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FBE0C941-396C-8D49-B206-3685B7E1E1E9}"/>
              </a:ext>
            </a:extLst>
          </p:cNvPr>
          <p:cNvSpPr/>
          <p:nvPr/>
        </p:nvSpPr>
        <p:spPr>
          <a:xfrm>
            <a:off x="8927368" y="3902596"/>
            <a:ext cx="457200" cy="838200"/>
          </a:xfrm>
          <a:prstGeom prst="downArrow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81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8440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C95E7B-D4C7-E440-9FB5-4D38BE3A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Good programming practices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9BDEBB-3402-2F44-A73B-572AF6B63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GB" altLang="de-DE" b="1" dirty="0"/>
              <a:t>Use safe APIs instead of unsafe APIs</a:t>
            </a:r>
            <a:r>
              <a:rPr lang="en-GB" altLang="de-DE" dirty="0"/>
              <a:t>.</a:t>
            </a:r>
          </a:p>
          <a:p>
            <a:pPr lvl="1">
              <a:defRPr/>
            </a:pPr>
            <a:r>
              <a:rPr lang="en-GB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GB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dest,src</a:t>
            </a:r>
            <a:r>
              <a:rPr lang="en-GB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GB" altLang="de-DE" sz="1800" dirty="0">
                <a:cs typeface="Courier New" panose="02070309020205020404" pitchFamily="49" charset="0"/>
              </a:rPr>
              <a:t>copy the </a:t>
            </a:r>
            <a:r>
              <a:rPr lang="en-GB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GB" altLang="de-DE" sz="1800" dirty="0">
                <a:cs typeface="Courier New" panose="02070309020205020404" pitchFamily="49" charset="0"/>
              </a:rPr>
              <a:t> character string to </a:t>
            </a:r>
            <a:r>
              <a:rPr lang="en-GB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GB" altLang="de-DE" sz="1800" dirty="0">
                <a:cs typeface="Courier New" panose="02070309020205020404" pitchFamily="49" charset="0"/>
              </a:rPr>
              <a:t>.</a:t>
            </a:r>
            <a:endParaRPr lang="en-GB" altLang="de-D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defRPr/>
            </a:pPr>
            <a:r>
              <a:rPr lang="en-GB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strncpy</a:t>
            </a:r>
            <a:r>
              <a:rPr lang="en-GB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dest,src,num</a:t>
            </a:r>
            <a:r>
              <a:rPr lang="en-GB" altLang="de-DE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GB" altLang="de-DE" sz="1800" dirty="0">
                <a:cs typeface="Courier New" panose="02070309020205020404" pitchFamily="49" charset="0"/>
              </a:rPr>
              <a:t> copy the first </a:t>
            </a:r>
            <a:r>
              <a:rPr lang="en-GB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GB" altLang="de-DE" sz="1800" dirty="0">
                <a:cs typeface="Courier New" panose="02070309020205020404" pitchFamily="49" charset="0"/>
              </a:rPr>
              <a:t> characters in </a:t>
            </a:r>
            <a:r>
              <a:rPr lang="en-GB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GB" altLang="de-DE" sz="1800" dirty="0">
                <a:cs typeface="Courier New" panose="02070309020205020404" pitchFamily="49" charset="0"/>
              </a:rPr>
              <a:t> string to </a:t>
            </a:r>
            <a:r>
              <a:rPr lang="en-GB" altLang="de-DE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GB" altLang="de-DE" sz="1800" dirty="0">
                <a:cs typeface="Courier New" panose="02070309020205020404" pitchFamily="49" charset="0"/>
              </a:rPr>
              <a:t>.</a:t>
            </a:r>
          </a:p>
          <a:p>
            <a:pPr lvl="1">
              <a:defRPr/>
            </a:pPr>
            <a:r>
              <a:rPr lang="en-GB" altLang="de-DE" sz="1800" dirty="0">
                <a:cs typeface="Courier New" panose="02070309020205020404" pitchFamily="49" charset="0"/>
              </a:rPr>
              <a:t>Which one of the above is riskier?</a:t>
            </a:r>
          </a:p>
          <a:p>
            <a:pPr>
              <a:lnSpc>
                <a:spcPct val="90000"/>
              </a:lnSpc>
            </a:pPr>
            <a:r>
              <a:rPr lang="en-US" altLang="en-US" b="1" dirty="0"/>
              <a:t>Apply proper input validation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Must identify the maximum expected size of input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Check for things that are not allowed (blacklist)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sanitize/escape blacklisted characters (e.g., semi-colon “;”, “../”)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The blacklist may not be exhaustive</a:t>
            </a: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Check for things that are allowed (whitelist)</a:t>
            </a:r>
          </a:p>
          <a:p>
            <a:pPr lvl="2">
              <a:lnSpc>
                <a:spcPct val="90000"/>
              </a:lnSpc>
            </a:pPr>
            <a:r>
              <a:rPr lang="en-US" altLang="en-US" sz="1800" dirty="0"/>
              <a:t>may cause false positive</a:t>
            </a:r>
            <a:endParaRPr lang="en-GB" altLang="de-DE" sz="2000" dirty="0"/>
          </a:p>
          <a:p>
            <a:endParaRPr lang="en-US" dirty="0"/>
          </a:p>
        </p:txBody>
      </p:sp>
      <p:pic>
        <p:nvPicPr>
          <p:cNvPr id="3" name="Graphic 2" descr="Tick with solid fill">
            <a:extLst>
              <a:ext uri="{FF2B5EF4-FFF2-40B4-BE49-F238E27FC236}">
                <a16:creationId xmlns:a16="http://schemas.microsoft.com/office/drawing/2014/main" id="{70A6A58A-2295-2A41-A907-E00CEDEBE9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0685" y="2098265"/>
            <a:ext cx="510677" cy="510677"/>
          </a:xfrm>
          <a:prstGeom prst="rect">
            <a:avLst/>
          </a:prstGeom>
        </p:spPr>
      </p:pic>
      <p:pic>
        <p:nvPicPr>
          <p:cNvPr id="8" name="Graphic 7" descr="Close with solid fill">
            <a:extLst>
              <a:ext uri="{FF2B5EF4-FFF2-40B4-BE49-F238E27FC236}">
                <a16:creationId xmlns:a16="http://schemas.microsoft.com/office/drawing/2014/main" id="{3870E947-AF89-1F42-84AF-5EB8FD5648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40684" y="1587588"/>
            <a:ext cx="510677" cy="51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30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D1D1E-0657-5F47-98F7-1F753456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Supports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52472-B242-A247-8CF2-EABF88E17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548" y="1181692"/>
            <a:ext cx="8206658" cy="4904519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GB" b="1" dirty="0"/>
              <a:t>Immutable code and inexecutable data in the memory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The OS has an ACL-like approach to specify whether bytes in a memory region can be read, written or executed. – each memory page has a flag in virtual memory address space.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An effective way to prevent an adversary from inserting its own code.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The OS has something like ACL to see which memory buffer can be used.</a:t>
            </a:r>
          </a:p>
          <a:p>
            <a:pPr>
              <a:lnSpc>
                <a:spcPct val="120000"/>
              </a:lnSpc>
            </a:pPr>
            <a:r>
              <a:rPr lang="en-GB" b="1" dirty="0"/>
              <a:t>Address randomization when a program is launched</a:t>
            </a:r>
            <a:r>
              <a:rPr lang="en-GB" dirty="0"/>
              <a:t>. – don’t know which particular location to direct to. Can still override some parts but harder for attacker to insert certain information at specific buffer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It will be harder for the attacker to predict the consequence of overflow or choose the target to attack.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Windows, Linux and other UNIX variants by default has enable coarse-grained address space layout randomization (ASLR).</a:t>
            </a:r>
          </a:p>
          <a:p>
            <a:pPr>
              <a:lnSpc>
                <a:spcPct val="120000"/>
              </a:lnSpc>
            </a:pPr>
            <a:r>
              <a:rPr lang="en-SG" b="1" dirty="0"/>
              <a:t>Control flow integrity enforcement</a:t>
            </a:r>
            <a:r>
              <a:rPr lang="en-SG" dirty="0"/>
              <a:t>. </a:t>
            </a:r>
          </a:p>
          <a:p>
            <a:pPr lvl="1">
              <a:lnSpc>
                <a:spcPct val="120000"/>
              </a:lnSpc>
            </a:pPr>
            <a:r>
              <a:rPr lang="en-SG" dirty="0"/>
              <a:t>During execution, the program checks whether a control transfer destination in use violates predefined policies. </a:t>
            </a:r>
          </a:p>
          <a:p>
            <a:pPr lvl="1">
              <a:lnSpc>
                <a:spcPct val="120000"/>
              </a:lnSpc>
            </a:pPr>
            <a:r>
              <a:rPr lang="en-SG" dirty="0"/>
              <a:t>supported by modern compilers, e.g., GCC, LLVM, or Microsoft Visual Studio</a:t>
            </a:r>
          </a:p>
          <a:p>
            <a:pPr lvl="1">
              <a:lnSpc>
                <a:spcPct val="120000"/>
              </a:lnSpc>
            </a:pPr>
            <a:r>
              <a:rPr lang="en-SG" dirty="0"/>
              <a:t>Can add some additional checking to see if the </a:t>
            </a:r>
            <a:r>
              <a:rPr lang="en-SG" dirty="0" err="1"/>
              <a:t>dest</a:t>
            </a:r>
            <a:r>
              <a:rPr lang="en-SG" dirty="0"/>
              <a:t> they are going is valid/legal or not. Will the </a:t>
            </a:r>
            <a:r>
              <a:rPr lang="en-SG" dirty="0" err="1"/>
              <a:t>trf</a:t>
            </a:r>
            <a:r>
              <a:rPr lang="en-SG" dirty="0"/>
              <a:t> of control be legitimate or not.</a:t>
            </a:r>
          </a:p>
          <a:p>
            <a:pPr lvl="1">
              <a:lnSpc>
                <a:spcPct val="120000"/>
              </a:lnSpc>
            </a:pPr>
            <a:r>
              <a:rPr lang="en-SG" dirty="0"/>
              <a:t>CFI and CFG difference – CFG is made first, then CFI is used to track that CFG to see if the current flow follows the CFG.</a:t>
            </a:r>
            <a:endParaRPr lang="en-GB" dirty="0"/>
          </a:p>
          <a:p>
            <a:endParaRPr lang="en-GB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871B63F-671A-3647-8549-281A10FC4392}"/>
              </a:ext>
            </a:extLst>
          </p:cNvPr>
          <p:cNvGrpSpPr/>
          <p:nvPr/>
        </p:nvGrpSpPr>
        <p:grpSpPr>
          <a:xfrm>
            <a:off x="9535848" y="1270394"/>
            <a:ext cx="1817952" cy="2748631"/>
            <a:chOff x="8767986" y="1471677"/>
            <a:chExt cx="2700179" cy="417560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B3C3CA1-6851-304D-9A41-F5993A655B46}"/>
                </a:ext>
              </a:extLst>
            </p:cNvPr>
            <p:cNvSpPr/>
            <p:nvPr/>
          </p:nvSpPr>
          <p:spPr>
            <a:xfrm>
              <a:off x="9883989" y="1471677"/>
              <a:ext cx="1584176" cy="4175604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0E77B77-8846-FE42-89DE-2D6CD088CE30}"/>
                </a:ext>
              </a:extLst>
            </p:cNvPr>
            <p:cNvCxnSpPr/>
            <p:nvPr/>
          </p:nvCxnSpPr>
          <p:spPr>
            <a:xfrm>
              <a:off x="9883989" y="4454294"/>
              <a:ext cx="1584176" cy="0"/>
            </a:xfrm>
            <a:prstGeom prst="line">
              <a:avLst/>
            </a:prstGeom>
            <a:noFill/>
            <a:ln w="25400" cap="flat" cmpd="sng" algn="ctr">
              <a:solidFill>
                <a:srgbClr val="000090"/>
              </a:solidFill>
              <a:prstDash val="solid"/>
              <a:tailEnd type="non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4604BEA-A307-2E4E-B0E8-A52CD33790FE}"/>
                </a:ext>
              </a:extLst>
            </p:cNvPr>
            <p:cNvSpPr txBox="1"/>
            <p:nvPr/>
          </p:nvSpPr>
          <p:spPr>
            <a:xfrm>
              <a:off x="9883988" y="3324646"/>
              <a:ext cx="1584177" cy="514317"/>
            </a:xfrm>
            <a:prstGeom prst="rect">
              <a:avLst/>
            </a:prstGeom>
            <a:noFill/>
            <a:ln w="25400"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buffer 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762785-D0E5-CA4F-AB50-5F1054C5FF41}"/>
                </a:ext>
              </a:extLst>
            </p:cNvPr>
            <p:cNvSpPr txBox="1"/>
            <p:nvPr/>
          </p:nvSpPr>
          <p:spPr>
            <a:xfrm>
              <a:off x="9883989" y="1563531"/>
              <a:ext cx="1584176" cy="565089"/>
            </a:xfrm>
            <a:prstGeom prst="rect">
              <a:avLst/>
            </a:prstGeom>
            <a:noFill/>
            <a:ln w="25400">
              <a:solidFill>
                <a:srgbClr val="000000"/>
              </a:solidFill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buffer 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A413AA-2CDD-DE44-818B-CF929896E9C5}"/>
                </a:ext>
              </a:extLst>
            </p:cNvPr>
            <p:cNvSpPr txBox="1"/>
            <p:nvPr/>
          </p:nvSpPr>
          <p:spPr>
            <a:xfrm>
              <a:off x="9883988" y="2353744"/>
              <a:ext cx="1584177" cy="514317"/>
            </a:xfrm>
            <a:prstGeom prst="rect">
              <a:avLst/>
            </a:prstGeom>
            <a:noFill/>
            <a:ln w="25400"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buffer 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FF6639-F112-2342-A798-5BCE1DB016AC}"/>
                </a:ext>
              </a:extLst>
            </p:cNvPr>
            <p:cNvSpPr txBox="1"/>
            <p:nvPr/>
          </p:nvSpPr>
          <p:spPr>
            <a:xfrm>
              <a:off x="9883988" y="4462367"/>
              <a:ext cx="1584177" cy="514317"/>
            </a:xfrm>
            <a:prstGeom prst="rect">
              <a:avLst/>
            </a:prstGeom>
            <a:noFill/>
            <a:ln w="25400"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600" kern="0" dirty="0">
                  <a:solidFill>
                    <a:srgbClr val="000000"/>
                  </a:solidFill>
                  <a:latin typeface="Arial"/>
                </a:rPr>
                <a:t>function1</a:t>
              </a:r>
              <a:endPara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49991F7-1132-F64B-AAD3-B5917EF10B87}"/>
                </a:ext>
              </a:extLst>
            </p:cNvPr>
            <p:cNvSpPr txBox="1"/>
            <p:nvPr/>
          </p:nvSpPr>
          <p:spPr>
            <a:xfrm>
              <a:off x="9883988" y="4924659"/>
              <a:ext cx="1584177" cy="514317"/>
            </a:xfrm>
            <a:prstGeom prst="rect">
              <a:avLst/>
            </a:prstGeom>
            <a:noFill/>
            <a:ln w="25400"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600" kern="0" dirty="0">
                  <a:solidFill>
                    <a:srgbClr val="000000"/>
                  </a:solidFill>
                  <a:latin typeface="Arial"/>
                </a:rPr>
                <a:t>function2</a:t>
              </a:r>
              <a:endPara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AC21DE-C450-9B4E-95B0-1089ED8F5486}"/>
                </a:ext>
              </a:extLst>
            </p:cNvPr>
            <p:cNvSpPr txBox="1"/>
            <p:nvPr/>
          </p:nvSpPr>
          <p:spPr>
            <a:xfrm>
              <a:off x="8767986" y="5146003"/>
              <a:ext cx="905225" cy="4208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12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10001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9A4D45-B2D9-F84B-BE50-A516A5C42962}"/>
                </a:ext>
              </a:extLst>
            </p:cNvPr>
            <p:cNvSpPr txBox="1"/>
            <p:nvPr/>
          </p:nvSpPr>
          <p:spPr>
            <a:xfrm>
              <a:off x="8767986" y="4655186"/>
              <a:ext cx="905225" cy="4208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12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10108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D3B4A6-85C6-0340-B9A9-5873A367B76B}"/>
                </a:ext>
              </a:extLst>
            </p:cNvPr>
            <p:cNvSpPr txBox="1"/>
            <p:nvPr/>
          </p:nvSpPr>
          <p:spPr>
            <a:xfrm>
              <a:off x="8767986" y="3587757"/>
              <a:ext cx="905225" cy="4208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12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60100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181B4DC-70B4-4A49-A843-522F5F3B1B80}"/>
                </a:ext>
              </a:extLst>
            </p:cNvPr>
            <p:cNvSpPr txBox="1"/>
            <p:nvPr/>
          </p:nvSpPr>
          <p:spPr>
            <a:xfrm>
              <a:off x="8767986" y="2449029"/>
              <a:ext cx="905225" cy="4208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12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81002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C5B4266-FFAD-4C43-ADC5-B0BE73938B1F}"/>
                </a:ext>
              </a:extLst>
            </p:cNvPr>
            <p:cNvCxnSpPr>
              <a:cxnSpLocks/>
            </p:cNvCxnSpPr>
            <p:nvPr/>
          </p:nvCxnSpPr>
          <p:spPr>
            <a:xfrm>
              <a:off x="9573415" y="3772423"/>
              <a:ext cx="34995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23213ACC-BA6F-5542-A781-76F3BB855F91}"/>
                </a:ext>
              </a:extLst>
            </p:cNvPr>
            <p:cNvCxnSpPr>
              <a:cxnSpLocks/>
            </p:cNvCxnSpPr>
            <p:nvPr/>
          </p:nvCxnSpPr>
          <p:spPr>
            <a:xfrm>
              <a:off x="9504271" y="2761853"/>
              <a:ext cx="34995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C9B0D21-B6E0-2744-B027-594883EB19E1}"/>
                </a:ext>
              </a:extLst>
            </p:cNvPr>
            <p:cNvSpPr txBox="1"/>
            <p:nvPr/>
          </p:nvSpPr>
          <p:spPr>
            <a:xfrm>
              <a:off x="8797352" y="1776598"/>
              <a:ext cx="905225" cy="4208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12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89106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7BDA90A-E038-D34D-8D48-CE0AE2910FEF}"/>
                </a:ext>
              </a:extLst>
            </p:cNvPr>
            <p:cNvCxnSpPr>
              <a:cxnSpLocks/>
            </p:cNvCxnSpPr>
            <p:nvPr/>
          </p:nvCxnSpPr>
          <p:spPr>
            <a:xfrm>
              <a:off x="9534036" y="2128620"/>
              <a:ext cx="34995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3FEBCC3-2695-5548-960C-4A40A1999002}"/>
              </a:ext>
            </a:extLst>
          </p:cNvPr>
          <p:cNvSpPr txBox="1"/>
          <p:nvPr/>
        </p:nvSpPr>
        <p:spPr>
          <a:xfrm>
            <a:off x="9568555" y="4419098"/>
            <a:ext cx="1383437" cy="33855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GB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dest</a:t>
            </a:r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= 10156</a:t>
            </a: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FBB91159-77A1-BD4B-AD91-3E360988A96A}"/>
              </a:ext>
            </a:extLst>
          </p:cNvPr>
          <p:cNvSpPr/>
          <p:nvPr/>
        </p:nvSpPr>
        <p:spPr>
          <a:xfrm>
            <a:off x="9504207" y="5037223"/>
            <a:ext cx="1512135" cy="577476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52F5EC-ED46-814E-BE00-69D464D7B3C6}"/>
              </a:ext>
            </a:extLst>
          </p:cNvPr>
          <p:cNvSpPr txBox="1"/>
          <p:nvPr/>
        </p:nvSpPr>
        <p:spPr>
          <a:xfrm>
            <a:off x="9649866" y="5143946"/>
            <a:ext cx="1274708" cy="338554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</a:t>
            </a:r>
            <a:r>
              <a:rPr lang="en-GB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dest</a:t>
            </a:r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legal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AE7E3B7-CADB-7647-8CD9-475924510202}"/>
              </a:ext>
            </a:extLst>
          </p:cNvPr>
          <p:cNvCxnSpPr>
            <a:stCxn id="23" idx="2"/>
            <a:endCxn id="25" idx="0"/>
          </p:cNvCxnSpPr>
          <p:nvPr/>
        </p:nvCxnSpPr>
        <p:spPr>
          <a:xfrm>
            <a:off x="10260274" y="4757652"/>
            <a:ext cx="1" cy="2795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081E2610-A42C-704A-ADC3-2D1602039A4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967854" y="5361711"/>
            <a:ext cx="434435" cy="337458"/>
          </a:xfrm>
          <a:prstGeom prst="bentConnector3">
            <a:avLst>
              <a:gd name="adj1" fmla="val 3227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B300005D-027B-7041-8D3A-C37773633005}"/>
              </a:ext>
            </a:extLst>
          </p:cNvPr>
          <p:cNvCxnSpPr>
            <a:cxnSpLocks/>
            <a:stCxn id="25" idx="1"/>
          </p:cNvCxnSpPr>
          <p:nvPr/>
        </p:nvCxnSpPr>
        <p:spPr>
          <a:xfrm rot="10800000" flipV="1">
            <a:off x="9199923" y="5325961"/>
            <a:ext cx="304285" cy="421696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25D4076-384F-0341-8A37-F6D3BB28F286}"/>
              </a:ext>
            </a:extLst>
          </p:cNvPr>
          <p:cNvSpPr txBox="1"/>
          <p:nvPr/>
        </p:nvSpPr>
        <p:spPr>
          <a:xfrm>
            <a:off x="10984891" y="4984177"/>
            <a:ext cx="332142" cy="338554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35F151-33D0-B44F-A480-2CB4229B0D44}"/>
              </a:ext>
            </a:extLst>
          </p:cNvPr>
          <p:cNvSpPr txBox="1"/>
          <p:nvPr/>
        </p:nvSpPr>
        <p:spPr>
          <a:xfrm>
            <a:off x="9051469" y="5037223"/>
            <a:ext cx="317716" cy="338554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D4FDC5-7E04-794C-847C-4EC1BA80DE17}"/>
              </a:ext>
            </a:extLst>
          </p:cNvPr>
          <p:cNvSpPr txBox="1"/>
          <p:nvPr/>
        </p:nvSpPr>
        <p:spPr>
          <a:xfrm>
            <a:off x="8779771" y="5747658"/>
            <a:ext cx="1056700" cy="33855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goto</a:t>
            </a:r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GB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dest</a:t>
            </a:r>
            <a:endParaRPr lang="en-GB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263B50-6090-D242-A23C-7AB9D1ECEF04}"/>
              </a:ext>
            </a:extLst>
          </p:cNvPr>
          <p:cNvSpPr txBox="1"/>
          <p:nvPr/>
        </p:nvSpPr>
        <p:spPr>
          <a:xfrm>
            <a:off x="11016342" y="5723584"/>
            <a:ext cx="667170" cy="33855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707577-4DB5-054A-A3B3-97FE152BA0C2}"/>
              </a:ext>
            </a:extLst>
          </p:cNvPr>
          <p:cNvSpPr/>
          <p:nvPr/>
        </p:nvSpPr>
        <p:spPr>
          <a:xfrm>
            <a:off x="8617225" y="4958018"/>
            <a:ext cx="3078905" cy="124935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073ECC-D471-1F40-9521-3C990D918F04}"/>
              </a:ext>
            </a:extLst>
          </p:cNvPr>
          <p:cNvSpPr txBox="1"/>
          <p:nvPr/>
        </p:nvSpPr>
        <p:spPr>
          <a:xfrm>
            <a:off x="6917863" y="6286578"/>
            <a:ext cx="2282060" cy="584775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created by compiler for CFI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F8B8DBD-8FBB-9943-9B70-F3EE6D4549D0}"/>
              </a:ext>
            </a:extLst>
          </p:cNvPr>
          <p:cNvCxnSpPr>
            <a:cxnSpLocks/>
            <a:stCxn id="18" idx="3"/>
            <a:endCxn id="15" idx="2"/>
          </p:cNvCxnSpPr>
          <p:nvPr/>
        </p:nvCxnSpPr>
        <p:spPr>
          <a:xfrm flipV="1">
            <a:off x="9199923" y="6207373"/>
            <a:ext cx="956755" cy="3715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523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A8EE5-79A3-BC4F-ABAB-248650C1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Language Support (Memory-safe languages)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E309E-3F63-8B4E-B398-2AAFAC758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50" y="1268243"/>
            <a:ext cx="6755042" cy="4723318"/>
          </a:xfrm>
        </p:spPr>
        <p:txBody>
          <a:bodyPr>
            <a:normAutofit fontScale="92500"/>
          </a:bodyPr>
          <a:lstStyle/>
          <a:p>
            <a:r>
              <a:rPr lang="en-GB" dirty="0"/>
              <a:t>Some programming languages have built-in defence against memory errors.</a:t>
            </a:r>
          </a:p>
          <a:p>
            <a:pPr lvl="1"/>
            <a:r>
              <a:rPr lang="en-GB" dirty="0"/>
              <a:t>Java</a:t>
            </a:r>
          </a:p>
          <a:p>
            <a:pPr lvl="1"/>
            <a:r>
              <a:rPr lang="en-GB" dirty="0"/>
              <a:t>Python</a:t>
            </a:r>
          </a:p>
          <a:p>
            <a:pPr lvl="1"/>
            <a:r>
              <a:rPr lang="en-GB" dirty="0"/>
              <a:t>C#</a:t>
            </a:r>
          </a:p>
          <a:p>
            <a:pPr lvl="1"/>
            <a:r>
              <a:rPr lang="en-GB" dirty="0"/>
              <a:t>Rust</a:t>
            </a:r>
          </a:p>
          <a:p>
            <a:r>
              <a:rPr lang="en-GB" dirty="0"/>
              <a:t>They are typically interpretation based execution.</a:t>
            </a:r>
          </a:p>
          <a:p>
            <a:pPr lvl="1"/>
            <a:r>
              <a:rPr lang="en-GB" dirty="0"/>
              <a:t>Require an interpreter program to interpret “instructions” of them into machine instructions before execution.</a:t>
            </a:r>
          </a:p>
          <a:p>
            <a:r>
              <a:rPr lang="en-GB" dirty="0"/>
              <a:t>Safer but slower!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7F0F686-F91E-244A-A2D8-51455E17A76C}"/>
              </a:ext>
            </a:extLst>
          </p:cNvPr>
          <p:cNvGrpSpPr/>
          <p:nvPr/>
        </p:nvGrpSpPr>
        <p:grpSpPr>
          <a:xfrm>
            <a:off x="6656570" y="1297708"/>
            <a:ext cx="4880432" cy="4156808"/>
            <a:chOff x="7176120" y="1297708"/>
            <a:chExt cx="4880432" cy="4156808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1656CA8-E63F-3343-8DC3-AB0F396AEA15}"/>
                </a:ext>
              </a:extLst>
            </p:cNvPr>
            <p:cNvSpPr txBox="1"/>
            <p:nvPr/>
          </p:nvSpPr>
          <p:spPr>
            <a:xfrm>
              <a:off x="7909978" y="1988693"/>
              <a:ext cx="1160895" cy="461665"/>
            </a:xfrm>
            <a:prstGeom prst="rect">
              <a:avLst/>
            </a:prstGeom>
            <a:noFill/>
            <a:ln w="25400"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C code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04DFD28-90E1-9B4D-A374-86B8BFF3B550}"/>
                </a:ext>
              </a:extLst>
            </p:cNvPr>
            <p:cNvSpPr txBox="1"/>
            <p:nvPr/>
          </p:nvSpPr>
          <p:spPr>
            <a:xfrm>
              <a:off x="7556761" y="4208021"/>
              <a:ext cx="1867329" cy="830997"/>
            </a:xfrm>
            <a:prstGeom prst="rect">
              <a:avLst/>
            </a:prstGeom>
            <a:noFill/>
            <a:ln w="25400"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latin typeface="+mn-lt"/>
                </a:defRPr>
              </a:lvl1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Machine instructions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E860459-E6D2-6D4E-8DF5-DDD060018E8C}"/>
                </a:ext>
              </a:extLst>
            </p:cNvPr>
            <p:cNvCxnSpPr>
              <a:stCxn id="34" idx="2"/>
              <a:endCxn id="35" idx="0"/>
            </p:cNvCxnSpPr>
            <p:nvPr/>
          </p:nvCxnSpPr>
          <p:spPr>
            <a:xfrm>
              <a:off x="8490426" y="2450358"/>
              <a:ext cx="0" cy="1757663"/>
            </a:xfrm>
            <a:prstGeom prst="straightConnector1">
              <a:avLst/>
            </a:prstGeom>
            <a:noFill/>
            <a:ln w="25400" cap="flat" cmpd="sng" algn="ctr">
              <a:solidFill>
                <a:srgbClr val="000090"/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070F5D2-FE9B-DA45-BA34-A18A8B260BD5}"/>
                </a:ext>
              </a:extLst>
            </p:cNvPr>
            <p:cNvSpPr txBox="1"/>
            <p:nvPr/>
          </p:nvSpPr>
          <p:spPr>
            <a:xfrm>
              <a:off x="7176120" y="2915359"/>
              <a:ext cx="13500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400" dirty="0">
                  <a:solidFill>
                    <a:srgbClr val="000000"/>
                  </a:solidFill>
                  <a:latin typeface="Arial"/>
                </a:rPr>
                <a:t>compiler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AD12F72-B0E2-9D4C-9FE0-4E0CFDFFF1C3}"/>
                </a:ext>
              </a:extLst>
            </p:cNvPr>
            <p:cNvSpPr txBox="1"/>
            <p:nvPr/>
          </p:nvSpPr>
          <p:spPr>
            <a:xfrm>
              <a:off x="10119618" y="4623519"/>
              <a:ext cx="1867329" cy="830997"/>
            </a:xfrm>
            <a:prstGeom prst="rect">
              <a:avLst/>
            </a:prstGeom>
            <a:noFill/>
            <a:ln w="25400"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latin typeface="+mn-lt"/>
                </a:defRPr>
              </a:lvl1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Machine instructions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504C915-6F19-704F-9687-535434DDF400}"/>
                </a:ext>
              </a:extLst>
            </p:cNvPr>
            <p:cNvSpPr txBox="1"/>
            <p:nvPr/>
          </p:nvSpPr>
          <p:spPr>
            <a:xfrm>
              <a:off x="10258834" y="1297708"/>
              <a:ext cx="1588897" cy="461665"/>
            </a:xfrm>
            <a:prstGeom prst="rect">
              <a:avLst/>
            </a:prstGeom>
            <a:noFill/>
            <a:ln w="25400">
              <a:solidFill>
                <a:srgbClr val="000000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Java code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D41C630-F3A2-274F-B710-6F2D9983552B}"/>
                </a:ext>
              </a:extLst>
            </p:cNvPr>
            <p:cNvSpPr txBox="1"/>
            <p:nvPr/>
          </p:nvSpPr>
          <p:spPr>
            <a:xfrm>
              <a:off x="10050012" y="2758019"/>
              <a:ext cx="2006540" cy="830997"/>
            </a:xfrm>
            <a:prstGeom prst="rect">
              <a:avLst/>
            </a:prstGeom>
            <a:noFill/>
            <a:ln w="25400"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rPr>
                <a:t>Intermediary code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DB685A2-EAC4-6342-9ECB-E1A22CF0BF41}"/>
                </a:ext>
              </a:extLst>
            </p:cNvPr>
            <p:cNvCxnSpPr>
              <a:stCxn id="39" idx="2"/>
              <a:endCxn id="40" idx="0"/>
            </p:cNvCxnSpPr>
            <p:nvPr/>
          </p:nvCxnSpPr>
          <p:spPr>
            <a:xfrm flipH="1">
              <a:off x="11053282" y="1759373"/>
              <a:ext cx="1" cy="998646"/>
            </a:xfrm>
            <a:prstGeom prst="straightConnector1">
              <a:avLst/>
            </a:prstGeom>
            <a:noFill/>
            <a:ln w="25400" cap="flat" cmpd="sng" algn="ctr">
              <a:solidFill>
                <a:srgbClr val="000090"/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281178F-0E6D-3145-BEF7-AD1515939C79}"/>
                </a:ext>
              </a:extLst>
            </p:cNvPr>
            <p:cNvCxnSpPr>
              <a:stCxn id="40" idx="2"/>
              <a:endCxn id="38" idx="0"/>
            </p:cNvCxnSpPr>
            <p:nvPr/>
          </p:nvCxnSpPr>
          <p:spPr>
            <a:xfrm>
              <a:off x="11053282" y="3589016"/>
              <a:ext cx="1" cy="1034503"/>
            </a:xfrm>
            <a:prstGeom prst="straightConnector1">
              <a:avLst/>
            </a:prstGeom>
            <a:noFill/>
            <a:ln w="25400" cap="flat" cmpd="sng" algn="ctr">
              <a:solidFill>
                <a:srgbClr val="000090"/>
              </a:solidFill>
              <a:prstDash val="solid"/>
              <a:tailEnd type="triangle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0F4E733-C404-CF4E-9947-06D2136393C3}"/>
                </a:ext>
              </a:extLst>
            </p:cNvPr>
            <p:cNvSpPr txBox="1"/>
            <p:nvPr/>
          </p:nvSpPr>
          <p:spPr>
            <a:xfrm>
              <a:off x="9712459" y="1976436"/>
              <a:ext cx="13500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400" dirty="0">
                  <a:solidFill>
                    <a:srgbClr val="000000"/>
                  </a:solidFill>
                  <a:latin typeface="Arial"/>
                </a:rPr>
                <a:t>compiler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5FD10A4-781E-FF42-9B5B-893911850CFC}"/>
                </a:ext>
              </a:extLst>
            </p:cNvPr>
            <p:cNvSpPr txBox="1"/>
            <p:nvPr/>
          </p:nvSpPr>
          <p:spPr>
            <a:xfrm>
              <a:off x="9602178" y="3816545"/>
              <a:ext cx="1604927" cy="46166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sz="2400" dirty="0">
                  <a:solidFill>
                    <a:srgbClr val="000000"/>
                  </a:solidFill>
                  <a:latin typeface="Arial"/>
                </a:rPr>
                <a:t>Interpreter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7259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C657CE-03C8-F644-8A8F-8D9605EB3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Malware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AD709C-C23E-044F-81C7-9527E8B2ED7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71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20882" y="30163"/>
            <a:ext cx="10020156" cy="1325562"/>
          </a:xfrm>
        </p:spPr>
        <p:txBody>
          <a:bodyPr/>
          <a:lstStyle/>
          <a:p>
            <a:r>
              <a:rPr lang="en-US" dirty="0"/>
              <a:t>Malware Family</a:t>
            </a:r>
          </a:p>
        </p:txBody>
      </p:sp>
      <p:grpSp>
        <p:nvGrpSpPr>
          <p:cNvPr id="110595" name="Group 3"/>
          <p:cNvGrpSpPr>
            <a:grpSpLocks/>
          </p:cNvGrpSpPr>
          <p:nvPr/>
        </p:nvGrpSpPr>
        <p:grpSpPr bwMode="auto">
          <a:xfrm>
            <a:off x="2057400" y="1219201"/>
            <a:ext cx="1873250" cy="2138363"/>
            <a:chOff x="336" y="768"/>
            <a:chExt cx="1180" cy="1347"/>
          </a:xfrm>
        </p:grpSpPr>
        <p:pic>
          <p:nvPicPr>
            <p:cNvPr id="110596" name="Picture 4" descr="MCj04324230000[1]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36" y="768"/>
              <a:ext cx="1180" cy="1088"/>
            </a:xfrm>
            <a:prstGeom prst="rect">
              <a:avLst/>
            </a:prstGeom>
            <a:noFill/>
          </p:spPr>
        </p:pic>
        <p:sp>
          <p:nvSpPr>
            <p:cNvPr id="110597" name="Text Box 5"/>
            <p:cNvSpPr txBox="1">
              <a:spLocks noChangeArrowheads="1"/>
            </p:cNvSpPr>
            <p:nvPr/>
          </p:nvSpPr>
          <p:spPr bwMode="auto">
            <a:xfrm>
              <a:off x="720" y="1824"/>
              <a:ext cx="50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virus</a:t>
              </a:r>
            </a:p>
          </p:txBody>
        </p:sp>
      </p:grpSp>
      <p:grpSp>
        <p:nvGrpSpPr>
          <p:cNvPr id="110598" name="Group 6"/>
          <p:cNvGrpSpPr>
            <a:grpSpLocks/>
          </p:cNvGrpSpPr>
          <p:nvPr/>
        </p:nvGrpSpPr>
        <p:grpSpPr bwMode="auto">
          <a:xfrm>
            <a:off x="5715000" y="1066802"/>
            <a:ext cx="2103438" cy="1833563"/>
            <a:chOff x="1920" y="1200"/>
            <a:chExt cx="1325" cy="1155"/>
          </a:xfrm>
        </p:grpSpPr>
        <p:pic>
          <p:nvPicPr>
            <p:cNvPr id="110599" name="Picture 7" descr="MCj02345390000[1]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160" y="1200"/>
              <a:ext cx="1085" cy="1124"/>
            </a:xfrm>
            <a:prstGeom prst="rect">
              <a:avLst/>
            </a:prstGeom>
            <a:noFill/>
          </p:spPr>
        </p:pic>
        <p:sp>
          <p:nvSpPr>
            <p:cNvPr id="110600" name="Text Box 8"/>
            <p:cNvSpPr txBox="1">
              <a:spLocks noChangeArrowheads="1"/>
            </p:cNvSpPr>
            <p:nvPr/>
          </p:nvSpPr>
          <p:spPr bwMode="auto">
            <a:xfrm>
              <a:off x="1920" y="2064"/>
              <a:ext cx="94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time bomb</a:t>
              </a:r>
            </a:p>
          </p:txBody>
        </p:sp>
      </p:grpSp>
      <p:grpSp>
        <p:nvGrpSpPr>
          <p:cNvPr id="110601" name="Group 9"/>
          <p:cNvGrpSpPr>
            <a:grpSpLocks/>
          </p:cNvGrpSpPr>
          <p:nvPr/>
        </p:nvGrpSpPr>
        <p:grpSpPr bwMode="auto">
          <a:xfrm>
            <a:off x="8839202" y="381001"/>
            <a:ext cx="1728788" cy="2214563"/>
            <a:chOff x="4320" y="816"/>
            <a:chExt cx="1089" cy="1395"/>
          </a:xfrm>
        </p:grpSpPr>
        <p:pic>
          <p:nvPicPr>
            <p:cNvPr id="110602" name="Picture 10" descr="MCj02390090000[1]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320" y="816"/>
              <a:ext cx="734" cy="1101"/>
            </a:xfrm>
            <a:prstGeom prst="rect">
              <a:avLst/>
            </a:prstGeom>
            <a:noFill/>
          </p:spPr>
        </p:pic>
        <p:sp>
          <p:nvSpPr>
            <p:cNvPr id="110603" name="Text Box 11"/>
            <p:cNvSpPr txBox="1">
              <a:spLocks noChangeArrowheads="1"/>
            </p:cNvSpPr>
            <p:nvPr/>
          </p:nvSpPr>
          <p:spPr bwMode="auto">
            <a:xfrm>
              <a:off x="4416" y="1920"/>
              <a:ext cx="99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logic bomb</a:t>
              </a:r>
            </a:p>
          </p:txBody>
        </p:sp>
      </p:grpSp>
      <p:grpSp>
        <p:nvGrpSpPr>
          <p:cNvPr id="110604" name="Group 12"/>
          <p:cNvGrpSpPr>
            <a:grpSpLocks/>
          </p:cNvGrpSpPr>
          <p:nvPr/>
        </p:nvGrpSpPr>
        <p:grpSpPr bwMode="auto">
          <a:xfrm>
            <a:off x="2438400" y="4572001"/>
            <a:ext cx="1524000" cy="1870075"/>
            <a:chOff x="336" y="2208"/>
            <a:chExt cx="960" cy="1178"/>
          </a:xfrm>
        </p:grpSpPr>
        <p:pic>
          <p:nvPicPr>
            <p:cNvPr id="110605" name="Picture 13" descr="MCj03575550000[1]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36" y="2208"/>
              <a:ext cx="960" cy="838"/>
            </a:xfrm>
            <a:prstGeom prst="rect">
              <a:avLst/>
            </a:prstGeom>
            <a:noFill/>
          </p:spPr>
        </p:pic>
        <p:sp>
          <p:nvSpPr>
            <p:cNvPr id="110606" name="Text Box 14"/>
            <p:cNvSpPr txBox="1">
              <a:spLocks noChangeArrowheads="1"/>
            </p:cNvSpPr>
            <p:nvPr/>
          </p:nvSpPr>
          <p:spPr bwMode="auto">
            <a:xfrm>
              <a:off x="470" y="3095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worm</a:t>
              </a:r>
            </a:p>
          </p:txBody>
        </p:sp>
      </p:grpSp>
      <p:grpSp>
        <p:nvGrpSpPr>
          <p:cNvPr id="110607" name="Group 15"/>
          <p:cNvGrpSpPr>
            <a:grpSpLocks/>
          </p:cNvGrpSpPr>
          <p:nvPr/>
        </p:nvGrpSpPr>
        <p:grpSpPr bwMode="auto">
          <a:xfrm>
            <a:off x="4038600" y="2438401"/>
            <a:ext cx="1219200" cy="2327275"/>
            <a:chOff x="1920" y="2352"/>
            <a:chExt cx="768" cy="1466"/>
          </a:xfrm>
        </p:grpSpPr>
        <p:pic>
          <p:nvPicPr>
            <p:cNvPr id="110608" name="Picture 16" descr="MCj03054970000[1]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1920" y="2352"/>
              <a:ext cx="768" cy="1149"/>
            </a:xfrm>
            <a:prstGeom prst="rect">
              <a:avLst/>
            </a:prstGeom>
            <a:noFill/>
          </p:spPr>
        </p:pic>
        <p:sp>
          <p:nvSpPr>
            <p:cNvPr id="110609" name="Text Box 17"/>
            <p:cNvSpPr txBox="1">
              <a:spLocks noChangeArrowheads="1"/>
            </p:cNvSpPr>
            <p:nvPr/>
          </p:nvSpPr>
          <p:spPr bwMode="auto">
            <a:xfrm>
              <a:off x="2054" y="3527"/>
              <a:ext cx="56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rabbit</a:t>
              </a:r>
            </a:p>
          </p:txBody>
        </p:sp>
      </p:grpSp>
      <p:grpSp>
        <p:nvGrpSpPr>
          <p:cNvPr id="110610" name="Group 18"/>
          <p:cNvGrpSpPr>
            <a:grpSpLocks/>
          </p:cNvGrpSpPr>
          <p:nvPr/>
        </p:nvGrpSpPr>
        <p:grpSpPr bwMode="auto">
          <a:xfrm>
            <a:off x="5791200" y="4097480"/>
            <a:ext cx="1371600" cy="2290763"/>
            <a:chOff x="3264" y="2304"/>
            <a:chExt cx="864" cy="1443"/>
          </a:xfrm>
        </p:grpSpPr>
        <p:pic>
          <p:nvPicPr>
            <p:cNvPr id="110611" name="Picture 19" descr="MCj02527270000[1]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3360" y="2304"/>
              <a:ext cx="768" cy="1008"/>
            </a:xfrm>
            <a:prstGeom prst="rect">
              <a:avLst/>
            </a:prstGeom>
            <a:noFill/>
          </p:spPr>
        </p:pic>
        <p:sp>
          <p:nvSpPr>
            <p:cNvPr id="110612" name="Text Box 20"/>
            <p:cNvSpPr txBox="1">
              <a:spLocks noChangeArrowheads="1"/>
            </p:cNvSpPr>
            <p:nvPr/>
          </p:nvSpPr>
          <p:spPr bwMode="auto">
            <a:xfrm>
              <a:off x="3264" y="3456"/>
              <a:ext cx="77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/>
                <a:t>trapdoor</a:t>
              </a:r>
            </a:p>
          </p:txBody>
        </p:sp>
      </p:grpSp>
      <p:grpSp>
        <p:nvGrpSpPr>
          <p:cNvPr id="110613" name="Group 21"/>
          <p:cNvGrpSpPr>
            <a:grpSpLocks/>
          </p:cNvGrpSpPr>
          <p:nvPr/>
        </p:nvGrpSpPr>
        <p:grpSpPr bwMode="auto">
          <a:xfrm>
            <a:off x="8305799" y="2514603"/>
            <a:ext cx="1856014" cy="2122417"/>
            <a:chOff x="4080" y="2448"/>
            <a:chExt cx="1488" cy="1533"/>
          </a:xfrm>
        </p:grpSpPr>
        <p:pic>
          <p:nvPicPr>
            <p:cNvPr id="110614" name="Picture 22" descr="MCBD04940_0000[1]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4080" y="2448"/>
              <a:ext cx="1344" cy="1257"/>
            </a:xfrm>
            <a:prstGeom prst="rect">
              <a:avLst/>
            </a:prstGeom>
            <a:noFill/>
          </p:spPr>
        </p:pic>
        <p:sp>
          <p:nvSpPr>
            <p:cNvPr id="110615" name="Text Box 23"/>
            <p:cNvSpPr txBox="1">
              <a:spLocks noChangeArrowheads="1"/>
            </p:cNvSpPr>
            <p:nvPr/>
          </p:nvSpPr>
          <p:spPr bwMode="auto">
            <a:xfrm>
              <a:off x="4176" y="3648"/>
              <a:ext cx="1392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Trojan horse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8991600" y="5888181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bot</a:t>
            </a:r>
            <a:endParaRPr lang="en-US" dirty="0"/>
          </a:p>
        </p:txBody>
      </p:sp>
      <p:pic>
        <p:nvPicPr>
          <p:cNvPr id="27" name="Picture 26" descr="j0232605.wm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7200" y="4426526"/>
            <a:ext cx="1320800" cy="1866900"/>
          </a:xfrm>
          <a:prstGeom prst="rect">
            <a:avLst/>
          </a:prstGeom>
        </p:spPr>
      </p:pic>
      <p:pic>
        <p:nvPicPr>
          <p:cNvPr id="1026" name="Picture 2" descr="Early-Warning Ransomware Detection Tool ...">
            <a:extLst>
              <a:ext uri="{FF2B5EF4-FFF2-40B4-BE49-F238E27FC236}">
                <a16:creationId xmlns:a16="http://schemas.microsoft.com/office/drawing/2014/main" id="{DB31751A-772F-60B5-B4E2-CA7B26571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11" y="3248818"/>
            <a:ext cx="2061987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8119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Malware Categorization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349" y="1268243"/>
            <a:ext cx="10227957" cy="216075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Based on independence</a:t>
            </a:r>
          </a:p>
          <a:p>
            <a:pPr lvl="1"/>
            <a:r>
              <a:rPr lang="en-US" dirty="0"/>
              <a:t>Parasitic: fragments of programs that cannot exist independently of some actual programs. – survive in programs.</a:t>
            </a:r>
          </a:p>
          <a:p>
            <a:pPr lvl="1"/>
            <a:r>
              <a:rPr lang="en-US" dirty="0"/>
              <a:t>Self-contained: independent programs scheduled and run by OS – can just live on computer</a:t>
            </a:r>
          </a:p>
          <a:p>
            <a:r>
              <a:rPr lang="en-US" dirty="0"/>
              <a:t>Based on replication</a:t>
            </a:r>
          </a:p>
          <a:p>
            <a:pPr lvl="1"/>
            <a:r>
              <a:rPr lang="en-US" dirty="0"/>
              <a:t>Replicating: produce one or</a:t>
            </a:r>
            <a:r>
              <a:rPr lang="en-US" b="1" dirty="0"/>
              <a:t> </a:t>
            </a:r>
            <a:r>
              <a:rPr lang="en-US" dirty="0"/>
              <a:t>more copies of itself</a:t>
            </a:r>
          </a:p>
          <a:p>
            <a:pPr lvl="1"/>
            <a:r>
              <a:rPr lang="en-US" dirty="0"/>
              <a:t>Non-replicating: do not replicate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D6C659-8FAD-4849-B4FC-8AB41EE2C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767672"/>
              </p:ext>
            </p:extLst>
          </p:nvPr>
        </p:nvGraphicFramePr>
        <p:xfrm>
          <a:off x="1450694" y="3429000"/>
          <a:ext cx="8248890" cy="25634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9630">
                  <a:extLst>
                    <a:ext uri="{9D8B030D-6E8A-4147-A177-3AD203B41FA5}">
                      <a16:colId xmlns:a16="http://schemas.microsoft.com/office/drawing/2014/main" val="421502236"/>
                    </a:ext>
                  </a:extLst>
                </a:gridCol>
                <a:gridCol w="2749630">
                  <a:extLst>
                    <a:ext uri="{9D8B030D-6E8A-4147-A177-3AD203B41FA5}">
                      <a16:colId xmlns:a16="http://schemas.microsoft.com/office/drawing/2014/main" val="329179576"/>
                    </a:ext>
                  </a:extLst>
                </a:gridCol>
                <a:gridCol w="2749630">
                  <a:extLst>
                    <a:ext uri="{9D8B030D-6E8A-4147-A177-3AD203B41FA5}">
                      <a16:colId xmlns:a16="http://schemas.microsoft.com/office/drawing/2014/main" val="4164059530"/>
                    </a:ext>
                  </a:extLst>
                </a:gridCol>
              </a:tblGrid>
              <a:tr h="809263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parasitic – needs host to survive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b="0" dirty="0">
                          <a:solidFill>
                            <a:schemeClr val="tx1"/>
                          </a:solidFill>
                        </a:rPr>
                        <a:t>self-contained – live on its own 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590234"/>
                  </a:ext>
                </a:extLst>
              </a:tr>
              <a:tr h="809263"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Replicating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220447"/>
                  </a:ext>
                </a:extLst>
              </a:tr>
              <a:tr h="809263">
                <a:tc>
                  <a:txBody>
                    <a:bodyPr/>
                    <a:lstStyle/>
                    <a:p>
                      <a:r>
                        <a:rPr lang="en-GB" sz="2800" dirty="0">
                          <a:solidFill>
                            <a:schemeClr val="tx1"/>
                          </a:solidFill>
                        </a:rPr>
                        <a:t>Non-replicating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041796"/>
                  </a:ext>
                </a:extLst>
              </a:tr>
            </a:tbl>
          </a:graphicData>
        </a:graphic>
      </p:graphicFrame>
      <p:grpSp>
        <p:nvGrpSpPr>
          <p:cNvPr id="6" name="Group 3">
            <a:extLst>
              <a:ext uri="{FF2B5EF4-FFF2-40B4-BE49-F238E27FC236}">
                <a16:creationId xmlns:a16="http://schemas.microsoft.com/office/drawing/2014/main" id="{1B549F77-B368-7D4A-9065-8DB6174EBEC4}"/>
              </a:ext>
            </a:extLst>
          </p:cNvPr>
          <p:cNvGrpSpPr>
            <a:grpSpLocks/>
          </p:cNvGrpSpPr>
          <p:nvPr/>
        </p:nvGrpSpPr>
        <p:grpSpPr bwMode="auto">
          <a:xfrm>
            <a:off x="4783532" y="4275038"/>
            <a:ext cx="1068219" cy="1216731"/>
            <a:chOff x="336" y="768"/>
            <a:chExt cx="1180" cy="1701"/>
          </a:xfrm>
        </p:grpSpPr>
        <p:pic>
          <p:nvPicPr>
            <p:cNvPr id="8" name="Picture 4" descr="MCj04324230000[1]">
              <a:extLst>
                <a:ext uri="{FF2B5EF4-FFF2-40B4-BE49-F238E27FC236}">
                  <a16:creationId xmlns:a16="http://schemas.microsoft.com/office/drawing/2014/main" id="{CF8BCCEA-71DD-A54E-A9DC-713E6B0177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36" y="768"/>
              <a:ext cx="1180" cy="1088"/>
            </a:xfrm>
            <a:prstGeom prst="rect">
              <a:avLst/>
            </a:prstGeom>
            <a:noFill/>
          </p:spPr>
        </p:pic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A96AD0DC-C2E2-2144-BA4A-E41CD9815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824"/>
              <a:ext cx="204" cy="6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10" name="Group 12">
            <a:extLst>
              <a:ext uri="{FF2B5EF4-FFF2-40B4-BE49-F238E27FC236}">
                <a16:creationId xmlns:a16="http://schemas.microsoft.com/office/drawing/2014/main" id="{7FAD2F55-BC0D-7547-A7CD-8A9DD141F9DB}"/>
              </a:ext>
            </a:extLst>
          </p:cNvPr>
          <p:cNvGrpSpPr>
            <a:grpSpLocks/>
          </p:cNvGrpSpPr>
          <p:nvPr/>
        </p:nvGrpSpPr>
        <p:grpSpPr bwMode="auto">
          <a:xfrm>
            <a:off x="7725009" y="4169114"/>
            <a:ext cx="1280095" cy="1294137"/>
            <a:chOff x="336" y="2208"/>
            <a:chExt cx="960" cy="1310"/>
          </a:xfrm>
        </p:grpSpPr>
        <p:pic>
          <p:nvPicPr>
            <p:cNvPr id="11" name="Picture 13" descr="MCj03575550000[1]">
              <a:extLst>
                <a:ext uri="{FF2B5EF4-FFF2-40B4-BE49-F238E27FC236}">
                  <a16:creationId xmlns:a16="http://schemas.microsoft.com/office/drawing/2014/main" id="{8EF9645D-41F2-0548-9283-199B51F7C2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36" y="2208"/>
              <a:ext cx="960" cy="838"/>
            </a:xfrm>
            <a:prstGeom prst="rect">
              <a:avLst/>
            </a:prstGeom>
            <a:noFill/>
          </p:spPr>
        </p:pic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7B47658D-08A1-1746-84DE-CADCBB9930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" y="3095"/>
              <a:ext cx="122" cy="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4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pic>
        <p:nvPicPr>
          <p:cNvPr id="13" name="Picture 7" descr="MCj02345390000[1]">
            <a:extLst>
              <a:ext uri="{FF2B5EF4-FFF2-40B4-BE49-F238E27FC236}">
                <a16:creationId xmlns:a16="http://schemas.microsoft.com/office/drawing/2014/main" id="{74A01F66-9631-3841-9CFC-79424850C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54607" y="5166318"/>
            <a:ext cx="583874" cy="623897"/>
          </a:xfrm>
          <a:prstGeom prst="rect">
            <a:avLst/>
          </a:prstGeom>
          <a:noFill/>
        </p:spPr>
      </p:pic>
      <p:pic>
        <p:nvPicPr>
          <p:cNvPr id="14" name="Picture 10" descr="MCj02390090000[1]">
            <a:extLst>
              <a:ext uri="{FF2B5EF4-FFF2-40B4-BE49-F238E27FC236}">
                <a16:creationId xmlns:a16="http://schemas.microsoft.com/office/drawing/2014/main" id="{3E3DE3BF-AE7B-9E48-A0D8-A3E897290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03907" y="4836025"/>
            <a:ext cx="677576" cy="879810"/>
          </a:xfrm>
          <a:prstGeom prst="rect">
            <a:avLst/>
          </a:prstGeom>
          <a:noFill/>
        </p:spPr>
      </p:pic>
      <p:pic>
        <p:nvPicPr>
          <p:cNvPr id="15" name="Picture 22" descr="MCBD04940_0000[1]">
            <a:extLst>
              <a:ext uri="{FF2B5EF4-FFF2-40B4-BE49-F238E27FC236}">
                <a16:creationId xmlns:a16="http://schemas.microsoft.com/office/drawing/2014/main" id="{81B4D90F-4E3D-E44B-A4AA-97FAAAE07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60649" y="5023010"/>
            <a:ext cx="838240" cy="783979"/>
          </a:xfrm>
          <a:prstGeom prst="rect">
            <a:avLst/>
          </a:prstGeom>
          <a:noFill/>
        </p:spPr>
      </p:pic>
      <p:pic>
        <p:nvPicPr>
          <p:cNvPr id="16" name="Picture 15" descr="j0232605.wmf">
            <a:extLst>
              <a:ext uri="{FF2B5EF4-FFF2-40B4-BE49-F238E27FC236}">
                <a16:creationId xmlns:a16="http://schemas.microsoft.com/office/drawing/2014/main" id="{8FB9C41A-657D-DB4D-A785-AF6038D662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3999" y="5055825"/>
            <a:ext cx="838240" cy="1110870"/>
          </a:xfrm>
          <a:prstGeom prst="rect">
            <a:avLst/>
          </a:prstGeom>
        </p:spPr>
      </p:pic>
      <p:pic>
        <p:nvPicPr>
          <p:cNvPr id="4" name="Picture 2" descr="Early-Warning Ransomware Detection Tool ...">
            <a:extLst>
              <a:ext uri="{FF2B5EF4-FFF2-40B4-BE49-F238E27FC236}">
                <a16:creationId xmlns:a16="http://schemas.microsoft.com/office/drawing/2014/main" id="{9F9A3C9D-EAE8-FE1D-705F-C65EF8590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591" y="5173686"/>
            <a:ext cx="1294443" cy="83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216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Worm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>
          <a:xfrm>
            <a:off x="513349" y="1268243"/>
            <a:ext cx="10840451" cy="189059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Worm </a:t>
            </a:r>
            <a:r>
              <a:rPr lang="en-US" dirty="0">
                <a:sym typeface="Symbol" pitchFamily="18" charset="2"/>
              </a:rPr>
              <a:t></a:t>
            </a:r>
            <a:r>
              <a:rPr lang="en-US" dirty="0"/>
              <a:t> a program that can replicate itself and send copies from computer to computer across net work connections.</a:t>
            </a:r>
          </a:p>
          <a:p>
            <a:r>
              <a:rPr lang="en-US" dirty="0"/>
              <a:t>First worm by Xerox lab, non-malicious, search for idle system to run a computationally heavy task</a:t>
            </a:r>
          </a:p>
          <a:p>
            <a:r>
              <a:rPr lang="en-US" dirty="0">
                <a:solidFill>
                  <a:srgbClr val="C00000"/>
                </a:solidFill>
              </a:rPr>
              <a:t>SQL Slammer </a:t>
            </a:r>
            <a:r>
              <a:rPr lang="en-US" dirty="0"/>
              <a:t>infected 250,000 systems within 10 minutes!</a:t>
            </a:r>
          </a:p>
          <a:p>
            <a:endParaRPr lang="en-US" dirty="0"/>
          </a:p>
        </p:txBody>
      </p:sp>
      <p:pic>
        <p:nvPicPr>
          <p:cNvPr id="12186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84436" y="3194167"/>
            <a:ext cx="4572000" cy="3048000"/>
          </a:xfrm>
          <a:prstGeom prst="rect">
            <a:avLst/>
          </a:prstGeom>
          <a:noFill/>
        </p:spPr>
      </p:pic>
      <p:pic>
        <p:nvPicPr>
          <p:cNvPr id="12186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3198065"/>
            <a:ext cx="4572000" cy="2971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61530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Bot: (a.k.a. zombie) is a program that secretly takes over an Internet-attached computer and uses that computer to launch attacks, under a remote control.</a:t>
            </a:r>
          </a:p>
          <a:p>
            <a:r>
              <a:rPr lang="en-US" dirty="0"/>
              <a:t>Remote Control Facility (communication channel for the boss bot to communicate with the minion bots.):</a:t>
            </a:r>
          </a:p>
          <a:p>
            <a:pPr lvl="1"/>
            <a:r>
              <a:rPr lang="en-US" dirty="0"/>
              <a:t>by an IRC channel.</a:t>
            </a:r>
          </a:p>
          <a:p>
            <a:pPr lvl="1"/>
            <a:r>
              <a:rPr lang="en-US" dirty="0"/>
              <a:t>covert communication channels via protocols e.g., HTTP.</a:t>
            </a:r>
          </a:p>
          <a:p>
            <a:r>
              <a:rPr lang="en-US" dirty="0"/>
              <a:t>Botnet construction:</a:t>
            </a:r>
          </a:p>
          <a:p>
            <a:pPr lvl="1"/>
            <a:r>
              <a:rPr lang="en-US" dirty="0"/>
              <a:t>need a vulnerability in a large number of systems.</a:t>
            </a:r>
          </a:p>
          <a:p>
            <a:r>
              <a:rPr lang="en-US" dirty="0"/>
              <a:t>Widely used in DDoS attacks</a:t>
            </a:r>
          </a:p>
        </p:txBody>
      </p:sp>
    </p:spTree>
    <p:extLst>
      <p:ext uri="{BB962C8B-B14F-4D97-AF65-F5344CB8AC3E}">
        <p14:creationId xmlns:p14="http://schemas.microsoft.com/office/powerpoint/2010/main" val="1085130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29304-BD87-8A86-351B-A6CBA7AC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Ransomware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CA51A5-2688-470A-65DA-3EBB2E252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Ransomware</a:t>
            </a:r>
            <a:r>
              <a:rPr lang="en-US" dirty="0"/>
              <a:t> is malware that denies legitimate accesses to resources such as files, databases, even the whole computer and demands payment to restore accesses.</a:t>
            </a:r>
          </a:p>
          <a:p>
            <a:pPr lvl="1"/>
            <a:r>
              <a:rPr lang="en-US" dirty="0"/>
              <a:t>it is the primary security concern for today’s small and median enterprises.</a:t>
            </a:r>
          </a:p>
          <a:p>
            <a:r>
              <a:rPr lang="en-US" dirty="0"/>
              <a:t>Well-known ransomware</a:t>
            </a:r>
          </a:p>
          <a:p>
            <a:pPr lvl="1"/>
            <a:r>
              <a:rPr lang="en-US" dirty="0"/>
              <a:t>Petya, WannaCry, </a:t>
            </a:r>
            <a:r>
              <a:rPr lang="en-US" dirty="0" err="1"/>
              <a:t>SamSam</a:t>
            </a:r>
            <a:r>
              <a:rPr lang="en-US" dirty="0"/>
              <a:t>, </a:t>
            </a:r>
            <a:r>
              <a:rPr lang="en-US" dirty="0" err="1"/>
              <a:t>CryptoLocker</a:t>
            </a:r>
            <a:r>
              <a:rPr lang="en-US" dirty="0"/>
              <a:t> etc.</a:t>
            </a:r>
          </a:p>
          <a:p>
            <a:r>
              <a:rPr lang="en-US" dirty="0"/>
              <a:t>Well-known attacks</a:t>
            </a:r>
          </a:p>
          <a:p>
            <a:pPr lvl="1"/>
            <a:r>
              <a:rPr lang="en-US" dirty="0"/>
              <a:t>Ukraine (2017), Colonial pipeline (2021), UK National Health Service (2024), UnitedHealth (2024)</a:t>
            </a:r>
          </a:p>
          <a:p>
            <a:r>
              <a:rPr lang="en-US" dirty="0"/>
              <a:t>Most ransomware applied data encryption to prevent user accesses. </a:t>
            </a:r>
          </a:p>
        </p:txBody>
      </p:sp>
    </p:spTree>
    <p:extLst>
      <p:ext uri="{BB962C8B-B14F-4D97-AF65-F5344CB8AC3E}">
        <p14:creationId xmlns:p14="http://schemas.microsoft.com/office/powerpoint/2010/main" val="3661406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24730B-2B73-8CCA-8789-C6B268FA5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Analysis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3C480E-6AA8-0BA6-9E0E-A087EA49BA2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To analyze software vulnerabilities and malware</a:t>
            </a:r>
          </a:p>
        </p:txBody>
      </p:sp>
    </p:spTree>
    <p:extLst>
      <p:ext uri="{BB962C8B-B14F-4D97-AF65-F5344CB8AC3E}">
        <p14:creationId xmlns:p14="http://schemas.microsoft.com/office/powerpoint/2010/main" val="415730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3E90-6000-B641-B63D-BA01C4F4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2C6F8-2ADF-C146-9687-715B7C301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49" y="1268243"/>
            <a:ext cx="10840451" cy="4889670"/>
          </a:xfrm>
        </p:spPr>
        <p:txBody>
          <a:bodyPr>
            <a:normAutofit/>
          </a:bodyPr>
          <a:lstStyle/>
          <a:p>
            <a:r>
              <a:rPr lang="en-GB" dirty="0"/>
              <a:t>Program Analysis analyses and extracts program signatures and behaviours</a:t>
            </a:r>
          </a:p>
          <a:p>
            <a:r>
              <a:rPr lang="en-GB" dirty="0"/>
              <a:t>Two types of program analysis in general.</a:t>
            </a:r>
          </a:p>
          <a:p>
            <a:pPr lvl="1"/>
            <a:r>
              <a:rPr lang="en-GB" dirty="0"/>
              <a:t>Static Analysis: do not execute program</a:t>
            </a:r>
          </a:p>
          <a:p>
            <a:pPr lvl="1"/>
            <a:r>
              <a:rPr lang="en-GB" dirty="0"/>
              <a:t>Dynamic Analysis: execute program</a:t>
            </a:r>
          </a:p>
          <a:p>
            <a:pPr lvl="1"/>
            <a:endParaRPr lang="en-GB" dirty="0"/>
          </a:p>
          <a:p>
            <a:r>
              <a:rPr lang="en-GB" dirty="0"/>
              <a:t>It can be used to extract malware signatures and understand their behaviours</a:t>
            </a:r>
          </a:p>
          <a:p>
            <a:endParaRPr lang="en-GB" dirty="0"/>
          </a:p>
          <a:p>
            <a:r>
              <a:rPr lang="en-GB" dirty="0"/>
              <a:t>Likewise, it can be used to analyse a given program to detect vulnerabilities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8391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3E90-6000-B641-B63D-BA01C4F4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627" y="310719"/>
            <a:ext cx="10840451" cy="584828"/>
          </a:xfrm>
        </p:spPr>
        <p:txBody>
          <a:bodyPr/>
          <a:lstStyle/>
          <a:p>
            <a:r>
              <a:rPr lang="en-GB" dirty="0"/>
              <a:t>Static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2C6F8-2ADF-C146-9687-715B7C301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381" y="984165"/>
            <a:ext cx="5825026" cy="4889670"/>
          </a:xfrm>
        </p:spPr>
        <p:txBody>
          <a:bodyPr>
            <a:normAutofit fontScale="92500"/>
          </a:bodyPr>
          <a:lstStyle/>
          <a:p>
            <a:r>
              <a:rPr lang="en-GB" sz="2000" dirty="0"/>
              <a:t>Does not need to execute the </a:t>
            </a:r>
            <a:r>
              <a:rPr lang="en-US" altLang="zh-CN" sz="2000" dirty="0"/>
              <a:t>software</a:t>
            </a:r>
            <a:r>
              <a:rPr lang="en-GB" sz="2000" dirty="0"/>
              <a:t>; </a:t>
            </a:r>
          </a:p>
          <a:p>
            <a:r>
              <a:rPr lang="en-GB" sz="2000" dirty="0"/>
              <a:t>Statically analyse its source code or binary code to understand its </a:t>
            </a:r>
            <a:r>
              <a:rPr lang="en-GB" sz="2000" dirty="0" err="1"/>
              <a:t>behavior</a:t>
            </a:r>
            <a:r>
              <a:rPr lang="en-GB" sz="2000" dirty="0"/>
              <a:t>, typically by extracting graphs (CFG, call graph, etc.)</a:t>
            </a:r>
          </a:p>
          <a:p>
            <a:pPr lvl="1"/>
            <a:r>
              <a:rPr lang="en-GB" sz="2000" dirty="0"/>
              <a:t>e.g. APIs used to access sensitive data</a:t>
            </a:r>
          </a:p>
          <a:p>
            <a:pPr lvl="1"/>
            <a:r>
              <a:rPr lang="en-GB" sz="2000" dirty="0"/>
              <a:t>e.g. calling a network API immediately after accessing sensitive data is an indication of data leakage.</a:t>
            </a:r>
          </a:p>
          <a:p>
            <a:r>
              <a:rPr lang="en-GB" sz="2200" b="1" dirty="0"/>
              <a:t>Advantage</a:t>
            </a:r>
            <a:r>
              <a:rPr lang="en-GB" sz="2200" dirty="0"/>
              <a:t>: rich semantics, low overhead, easy to implement, risk-free – no risk and </a:t>
            </a:r>
            <a:r>
              <a:rPr lang="en-GB" sz="2200" dirty="0" err="1"/>
              <a:t>ez.</a:t>
            </a:r>
            <a:endParaRPr lang="en-GB" sz="2200" dirty="0"/>
          </a:p>
          <a:p>
            <a:r>
              <a:rPr lang="en-GB" sz="2200" b="1" dirty="0"/>
              <a:t>Limitation</a:t>
            </a:r>
            <a:r>
              <a:rPr lang="en-GB" sz="2200" dirty="0"/>
              <a:t>:</a:t>
            </a:r>
            <a:r>
              <a:rPr lang="zh-CN" altLang="en-US" sz="2200" dirty="0"/>
              <a:t> </a:t>
            </a:r>
            <a:r>
              <a:rPr lang="en-SG" altLang="zh-CN" sz="2200" dirty="0"/>
              <a:t>easy to evade (obfuscation</a:t>
            </a:r>
            <a:r>
              <a:rPr lang="en-US" altLang="zh-CN" sz="2200" dirty="0"/>
              <a:t>);</a:t>
            </a:r>
            <a:r>
              <a:rPr lang="zh-CN" altLang="en-US" sz="2200" dirty="0"/>
              <a:t> </a:t>
            </a:r>
            <a:r>
              <a:rPr lang="en-US" altLang="zh-CN" sz="2200" dirty="0"/>
              <a:t>false</a:t>
            </a:r>
            <a:r>
              <a:rPr lang="zh-CN" altLang="en-US" sz="2200" dirty="0"/>
              <a:t> </a:t>
            </a:r>
            <a:r>
              <a:rPr lang="en-US" altLang="zh-CN" sz="2200" dirty="0"/>
              <a:t>alarms – undetected, false alarms (static analysis might alarm it because something seen dangerous but actually is not)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D0FC67-70F6-D451-9D4F-9E3787B09B30}"/>
              </a:ext>
            </a:extLst>
          </p:cNvPr>
          <p:cNvSpPr txBox="1"/>
          <p:nvPr/>
        </p:nvSpPr>
        <p:spPr>
          <a:xfrm>
            <a:off x="6619689" y="1797784"/>
            <a:ext cx="4112664" cy="163121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</a:t>
            </a:r>
          </a:p>
          <a:p>
            <a:pPr algn="l"/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lang="en-GB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read_contact_file</a:t>
            </a:r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(contact, buffer)</a:t>
            </a:r>
          </a:p>
          <a:p>
            <a:pPr algn="l"/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lang="en-GB" sz="20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network_send</a:t>
            </a:r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(buffer, destination)</a:t>
            </a:r>
          </a:p>
          <a:p>
            <a:pPr algn="l"/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....</a:t>
            </a:r>
          </a:p>
          <a:p>
            <a:pPr algn="l"/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AAB962-FD2A-AF03-16FF-142ECF4FEDFC}"/>
              </a:ext>
            </a:extLst>
          </p:cNvPr>
          <p:cNvSpPr txBox="1"/>
          <p:nvPr/>
        </p:nvSpPr>
        <p:spPr>
          <a:xfrm>
            <a:off x="6788645" y="3567103"/>
            <a:ext cx="3943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dirty="0">
                <a:solidFill>
                  <a:srgbClr val="C00000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rPr>
              <a:t>suspicious code leaking contact info</a:t>
            </a:r>
          </a:p>
        </p:txBody>
      </p:sp>
    </p:spTree>
    <p:extLst>
      <p:ext uri="{BB962C8B-B14F-4D97-AF65-F5344CB8AC3E}">
        <p14:creationId xmlns:p14="http://schemas.microsoft.com/office/powerpoint/2010/main" val="12461320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 Control-Flow Graph (CFG)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4475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SG" dirty="0"/>
              <a:t>A way to represent the possible flow of control inside a function.</a:t>
            </a:r>
          </a:p>
          <a:p>
            <a:pPr marL="244475" rtl="0" fontAlgn="base">
              <a:spcBef>
                <a:spcPts val="1263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SG" b="1" dirty="0"/>
              <a:t>Nodes</a:t>
            </a:r>
            <a:r>
              <a:rPr lang="en-SG" dirty="0"/>
              <a:t>: called </a:t>
            </a:r>
            <a:r>
              <a:rPr lang="en-SG" b="1" i="1" dirty="0"/>
              <a:t>basic blocks</a:t>
            </a:r>
            <a:r>
              <a:rPr lang="en-SG" dirty="0"/>
              <a:t>. Each block consists of straight-line code </a:t>
            </a:r>
            <a:r>
              <a:rPr lang="en-US" altLang="zh-CN" dirty="0"/>
              <a:t>without control transfer</a:t>
            </a:r>
            <a:r>
              <a:rPr lang="en-SG" dirty="0"/>
              <a:t>. (By default, CPU increments the current address to fetch the next instruction to execution, unless the current instruction in execution asks the CPU to go somewhere else, which is called a </a:t>
            </a:r>
            <a:r>
              <a:rPr lang="en-SG" b="1" i="1" dirty="0"/>
              <a:t>control transfer</a:t>
            </a:r>
            <a:r>
              <a:rPr lang="en-SG" dirty="0"/>
              <a:t>.)</a:t>
            </a:r>
          </a:p>
          <a:p>
            <a:pPr marL="244475" rtl="0" fontAlgn="base">
              <a:spcBef>
                <a:spcPts val="1263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SG" b="1" dirty="0"/>
              <a:t>Edges</a:t>
            </a:r>
            <a:r>
              <a:rPr lang="en-SG" dirty="0"/>
              <a:t>: An edge A → B means that control could flow from A to B.</a:t>
            </a:r>
          </a:p>
          <a:p>
            <a:pPr marL="244475" rtl="0" fontAlgn="base">
              <a:spcBef>
                <a:spcPts val="1263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SG" dirty="0"/>
              <a:t>There is one unique entry node and one unique exit node.</a:t>
            </a:r>
          </a:p>
        </p:txBody>
      </p:sp>
    </p:spTree>
    <p:extLst>
      <p:ext uri="{BB962C8B-B14F-4D97-AF65-F5344CB8AC3E}">
        <p14:creationId xmlns:p14="http://schemas.microsoft.com/office/powerpoint/2010/main" val="2592410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8A359A2-A450-5038-6F9A-3D194C09D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 Control-Flow Graph (CFG)</a:t>
            </a:r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3918BBB-F85A-B582-1418-AC59D530BB63}"/>
              </a:ext>
            </a:extLst>
          </p:cNvPr>
          <p:cNvSpPr/>
          <p:nvPr/>
        </p:nvSpPr>
        <p:spPr>
          <a:xfrm>
            <a:off x="1620646" y="1334334"/>
            <a:ext cx="2530037" cy="28804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int foo(int x) {</a:t>
            </a:r>
          </a:p>
          <a:p>
            <a:r>
              <a:rPr lang="en-US" dirty="0">
                <a:solidFill>
                  <a:schemeClr val="tx1"/>
                </a:solidFill>
              </a:rPr>
              <a:t>   int y;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   </a:t>
            </a:r>
            <a:r>
              <a:rPr lang="en-US" altLang="zh-CN" dirty="0">
                <a:solidFill>
                  <a:schemeClr val="tx1"/>
                </a:solidFill>
              </a:rPr>
              <a:t>int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arr</a:t>
            </a:r>
            <a:r>
              <a:rPr lang="en-US" altLang="zh-CN" dirty="0">
                <a:solidFill>
                  <a:schemeClr val="tx1"/>
                </a:solidFill>
              </a:rPr>
              <a:t>[10];</a:t>
            </a: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x = x+1;</a:t>
            </a:r>
          </a:p>
          <a:p>
            <a:r>
              <a:rPr lang="en-US" dirty="0">
                <a:solidFill>
                  <a:schemeClr val="tx1"/>
                </a:solidFill>
              </a:rPr>
              <a:t>   if (x</a:t>
            </a:r>
            <a:r>
              <a:rPr lang="en-US" altLang="zh-CN" dirty="0">
                <a:solidFill>
                  <a:schemeClr val="tx1"/>
                </a:solidFill>
              </a:rPr>
              <a:t>&lt;</a:t>
            </a:r>
            <a:r>
              <a:rPr lang="en-US" dirty="0">
                <a:solidFill>
                  <a:schemeClr val="tx1"/>
                </a:solidFill>
              </a:rPr>
              <a:t>0)</a:t>
            </a:r>
          </a:p>
          <a:p>
            <a:r>
              <a:rPr lang="en-US" dirty="0">
                <a:solidFill>
                  <a:schemeClr val="tx1"/>
                </a:solidFill>
              </a:rPr>
              <a:t>     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y= -x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</a:rPr>
              <a:t>   else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zh-CN" altLang="en-US" dirty="0">
                <a:solidFill>
                  <a:schemeClr val="tx1"/>
                </a:solidFill>
              </a:rPr>
              <a:t>  </a:t>
            </a:r>
            <a:r>
              <a:rPr lang="en-US" altLang="zh-CN" dirty="0" err="1">
                <a:solidFill>
                  <a:schemeClr val="tx1"/>
                </a:solidFill>
              </a:rPr>
              <a:t>arr</a:t>
            </a:r>
            <a:r>
              <a:rPr lang="en-US" altLang="zh-CN" dirty="0">
                <a:solidFill>
                  <a:schemeClr val="tx1"/>
                </a:solidFill>
              </a:rPr>
              <a:t>[x]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10;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}</a:t>
            </a:r>
          </a:p>
        </p:txBody>
      </p:sp>
      <p:grpSp>
        <p:nvGrpSpPr>
          <p:cNvPr id="12" name="Google Shape;389;p27">
            <a:extLst>
              <a:ext uri="{FF2B5EF4-FFF2-40B4-BE49-F238E27FC236}">
                <a16:creationId xmlns:a16="http://schemas.microsoft.com/office/drawing/2014/main" id="{44FF1A90-8585-0EDA-CBF5-E909F32BD447}"/>
              </a:ext>
            </a:extLst>
          </p:cNvPr>
          <p:cNvGrpSpPr/>
          <p:nvPr/>
        </p:nvGrpSpPr>
        <p:grpSpPr>
          <a:xfrm>
            <a:off x="5532438" y="1189038"/>
            <a:ext cx="2474912" cy="661987"/>
            <a:chOff x="-1" y="0"/>
            <a:chExt cx="3518463" cy="885058"/>
          </a:xfrm>
        </p:grpSpPr>
        <p:sp>
          <p:nvSpPr>
            <p:cNvPr id="14" name="Google Shape;390;p27">
              <a:extLst>
                <a:ext uri="{FF2B5EF4-FFF2-40B4-BE49-F238E27FC236}">
                  <a16:creationId xmlns:a16="http://schemas.microsoft.com/office/drawing/2014/main" id="{FD06C72A-AEF7-B4EC-AD68-6031ECCFCAEA}"/>
                </a:ext>
              </a:extLst>
            </p:cNvPr>
            <p:cNvSpPr/>
            <p:nvPr/>
          </p:nvSpPr>
          <p:spPr>
            <a:xfrm>
              <a:off x="996167" y="0"/>
              <a:ext cx="2522295" cy="88505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rgbClr val="445D9F"/>
                </a:gs>
              </a:gsLst>
              <a:lin ang="5400000" scaled="0"/>
            </a:gradFill>
            <a:ln>
              <a:noFill/>
            </a:ln>
            <a:effectLst>
              <a:outerShdw blurRad="76200" rotWithShape="0">
                <a:srgbClr val="808080">
                  <a:alpha val="79607"/>
                </a:srgbClr>
              </a:outerShdw>
            </a:effectLst>
          </p:spPr>
          <p:txBody>
            <a:bodyPr spcFirstLastPara="1" wrap="square" lIns="35700" tIns="35700" rIns="35700" bIns="3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4"/>
                <a:buFont typeface="Courier"/>
                <a:buNone/>
              </a:pPr>
              <a:r>
                <a:rPr lang="en-US" sz="3094" b="1" i="0" u="none" strike="noStrike" cap="none" dirty="0">
                  <a:solidFill>
                    <a:srgbClr val="000000"/>
                  </a:solidFill>
                  <a:latin typeface="Courier"/>
                  <a:ea typeface="Courier"/>
                  <a:cs typeface="Courier"/>
                  <a:sym typeface="Courier"/>
                </a:rPr>
                <a:t>ENTRY</a:t>
              </a:r>
              <a:endParaRPr dirty="0"/>
            </a:p>
          </p:txBody>
        </p:sp>
        <p:sp>
          <p:nvSpPr>
            <p:cNvPr id="15" name="Google Shape;391;p27">
              <a:extLst>
                <a:ext uri="{FF2B5EF4-FFF2-40B4-BE49-F238E27FC236}">
                  <a16:creationId xmlns:a16="http://schemas.microsoft.com/office/drawing/2014/main" id="{7A209254-8FC0-CD4A-766E-38C7859BFAC3}"/>
                </a:ext>
              </a:extLst>
            </p:cNvPr>
            <p:cNvSpPr txBox="1"/>
            <p:nvPr/>
          </p:nvSpPr>
          <p:spPr>
            <a:xfrm>
              <a:off x="-1" y="194255"/>
              <a:ext cx="690787" cy="4965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00" tIns="35700" rIns="35700" bIns="357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urier"/>
                <a:buNone/>
              </a:pPr>
              <a:r>
                <a:rPr lang="en-US" sz="1800" b="1" i="0" u="none" strike="noStrike" cap="none" dirty="0">
                  <a:solidFill>
                    <a:srgbClr val="000000"/>
                  </a:solidFill>
                  <a:latin typeface="Courier"/>
                  <a:ea typeface="Courier"/>
                  <a:cs typeface="Courier"/>
                  <a:sym typeface="Courier"/>
                </a:rPr>
                <a:t>B0:</a:t>
              </a:r>
              <a:endParaRPr dirty="0"/>
            </a:p>
          </p:txBody>
        </p:sp>
      </p:grpSp>
      <p:grpSp>
        <p:nvGrpSpPr>
          <p:cNvPr id="16" name="Google Shape;392;p27">
            <a:extLst>
              <a:ext uri="{FF2B5EF4-FFF2-40B4-BE49-F238E27FC236}">
                <a16:creationId xmlns:a16="http://schemas.microsoft.com/office/drawing/2014/main" id="{0E7443E6-5471-4A92-409B-0E64A84A8F59}"/>
              </a:ext>
            </a:extLst>
          </p:cNvPr>
          <p:cNvGrpSpPr/>
          <p:nvPr/>
        </p:nvGrpSpPr>
        <p:grpSpPr>
          <a:xfrm>
            <a:off x="5124450" y="1843088"/>
            <a:ext cx="3335337" cy="1468437"/>
            <a:chOff x="-1" y="0"/>
            <a:chExt cx="4743490" cy="1963539"/>
          </a:xfrm>
        </p:grpSpPr>
        <p:cxnSp>
          <p:nvCxnSpPr>
            <p:cNvPr id="17" name="Google Shape;393;p27">
              <a:extLst>
                <a:ext uri="{FF2B5EF4-FFF2-40B4-BE49-F238E27FC236}">
                  <a16:creationId xmlns:a16="http://schemas.microsoft.com/office/drawing/2014/main" id="{7A941CF7-DEB3-42FC-53CF-ED790FAF914F}"/>
                </a:ext>
              </a:extLst>
            </p:cNvPr>
            <p:cNvCxnSpPr/>
            <p:nvPr/>
          </p:nvCxnSpPr>
          <p:spPr>
            <a:xfrm>
              <a:off x="2862800" y="0"/>
              <a:ext cx="0" cy="838484"/>
            </a:xfrm>
            <a:prstGeom prst="straightConnector1">
              <a:avLst/>
            </a:prstGeom>
            <a:noFill/>
            <a:ln w="76200" cap="flat" cmpd="sng">
              <a:solidFill>
                <a:srgbClr val="064B9B"/>
              </a:solidFill>
              <a:prstDash val="solid"/>
              <a:miter lim="400000"/>
              <a:headEnd type="none" w="sm" len="sm"/>
              <a:tailEnd type="triangle" w="med" len="med"/>
            </a:ln>
          </p:spPr>
        </p:cxnSp>
        <p:grpSp>
          <p:nvGrpSpPr>
            <p:cNvPr id="18" name="Google Shape;394;p27">
              <a:extLst>
                <a:ext uri="{FF2B5EF4-FFF2-40B4-BE49-F238E27FC236}">
                  <a16:creationId xmlns:a16="http://schemas.microsoft.com/office/drawing/2014/main" id="{B26A938B-F1B4-D7E0-BFA9-A940800C1951}"/>
                </a:ext>
              </a:extLst>
            </p:cNvPr>
            <p:cNvGrpSpPr/>
            <p:nvPr/>
          </p:nvGrpSpPr>
          <p:grpSpPr>
            <a:xfrm>
              <a:off x="-1" y="858579"/>
              <a:ext cx="4743490" cy="1104960"/>
              <a:chOff x="-1" y="0"/>
              <a:chExt cx="4743489" cy="1104958"/>
            </a:xfrm>
          </p:grpSpPr>
          <p:grpSp>
            <p:nvGrpSpPr>
              <p:cNvPr id="21" name="Google Shape;395;p27">
                <a:extLst>
                  <a:ext uri="{FF2B5EF4-FFF2-40B4-BE49-F238E27FC236}">
                    <a16:creationId xmlns:a16="http://schemas.microsoft.com/office/drawing/2014/main" id="{BF6A6790-3085-DFF7-DAC4-574203A2D008}"/>
                  </a:ext>
                </a:extLst>
              </p:cNvPr>
              <p:cNvGrpSpPr/>
              <p:nvPr/>
            </p:nvGrpSpPr>
            <p:grpSpPr>
              <a:xfrm>
                <a:off x="980948" y="0"/>
                <a:ext cx="3762540" cy="1104958"/>
                <a:chOff x="0" y="0"/>
                <a:chExt cx="3762538" cy="1104957"/>
              </a:xfrm>
            </p:grpSpPr>
            <p:sp>
              <p:nvSpPr>
                <p:cNvPr id="23" name="Google Shape;396;p27">
                  <a:extLst>
                    <a:ext uri="{FF2B5EF4-FFF2-40B4-BE49-F238E27FC236}">
                      <a16:creationId xmlns:a16="http://schemas.microsoft.com/office/drawing/2014/main" id="{7CB6D3AC-2E53-6282-1A1C-E02E7AA4EDC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3762538" cy="1104957"/>
                </a:xfrm>
                <a:prstGeom prst="roundRect">
                  <a:avLst>
                    <a:gd name="adj" fmla="val 19083"/>
                  </a:avLst>
                </a:prstGeom>
                <a:solidFill>
                  <a:srgbClr val="76D6FF"/>
                </a:solidFill>
                <a:ln>
                  <a:noFill/>
                </a:ln>
                <a:effectLst>
                  <a:outerShdw blurRad="76200" rotWithShape="0">
                    <a:srgbClr val="808080">
                      <a:alpha val="79607"/>
                    </a:srgbClr>
                  </a:outerShdw>
                </a:effectLst>
              </p:spPr>
              <p:txBody>
                <a:bodyPr spcFirstLastPara="1" wrap="square" lIns="35700" tIns="35700" rIns="35700" bIns="3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ourier New"/>
                    <a:buNone/>
                  </a:pPr>
                  <a:endParaRPr sz="1600" b="0" i="0" u="none" strike="noStrike" cap="none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4" name="Google Shape;397;p27">
                  <a:extLst>
                    <a:ext uri="{FF2B5EF4-FFF2-40B4-BE49-F238E27FC236}">
                      <a16:creationId xmlns:a16="http://schemas.microsoft.com/office/drawing/2014/main" id="{B9C3BBF6-E833-4795-45EA-83958A49C033}"/>
                    </a:ext>
                  </a:extLst>
                </p:cNvPr>
                <p:cNvSpPr txBox="1"/>
                <p:nvPr/>
              </p:nvSpPr>
              <p:spPr>
                <a:xfrm>
                  <a:off x="500205" y="155165"/>
                  <a:ext cx="2947750" cy="7619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35700" tIns="35700" rIns="35700" bIns="35700" anchor="ctr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17"/>
                    <a:buFont typeface="Courier"/>
                    <a:buNone/>
                  </a:pPr>
                  <a:r>
                    <a:rPr lang="en-US" altLang="zh-CN" sz="1617" dirty="0">
                      <a:solidFill>
                        <a:srgbClr val="000000"/>
                      </a:solidFill>
                      <a:latin typeface="Courier"/>
                      <a:cs typeface="Courier"/>
                      <a:sym typeface="Courier"/>
                    </a:rPr>
                    <a:t>x= x+1</a:t>
                  </a:r>
                  <a:r>
                    <a:rPr lang="en-US" altLang="zh-CN" sz="1617" dirty="0">
                      <a:solidFill>
                        <a:srgbClr val="000000"/>
                      </a:solidFill>
                      <a:latin typeface="Courier"/>
                      <a:sym typeface="Courier"/>
                    </a:rPr>
                    <a:t>;</a:t>
                  </a:r>
                  <a:endParaRPr dirty="0"/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17"/>
                    <a:buFont typeface="Courier"/>
                    <a:buNone/>
                  </a:pPr>
                  <a:r>
                    <a:rPr lang="en-US" sz="1617" b="0" i="0" u="none" strike="noStrike" cap="none" dirty="0">
                      <a:solidFill>
                        <a:srgbClr val="000000"/>
                      </a:solidFill>
                      <a:latin typeface="Courier"/>
                      <a:ea typeface="Courier"/>
                      <a:cs typeface="Courier"/>
                      <a:sym typeface="Courier"/>
                    </a:rPr>
                    <a:t>if (x</a:t>
                  </a:r>
                  <a:r>
                    <a:rPr lang="en-US" altLang="zh-CN" sz="1617" b="0" i="0" u="none" strike="noStrike" cap="none" dirty="0">
                      <a:solidFill>
                        <a:srgbClr val="000000"/>
                      </a:solidFill>
                      <a:latin typeface="Courier"/>
                      <a:ea typeface="Courier"/>
                      <a:cs typeface="Courier"/>
                      <a:sym typeface="Courier"/>
                    </a:rPr>
                    <a:t>&lt;</a:t>
                  </a:r>
                  <a:r>
                    <a:rPr lang="en-US" sz="1617" b="0" i="0" u="none" strike="noStrike" cap="none" dirty="0">
                      <a:solidFill>
                        <a:srgbClr val="000000"/>
                      </a:solidFill>
                      <a:latin typeface="Courier"/>
                      <a:ea typeface="Courier"/>
                      <a:cs typeface="Courier"/>
                      <a:sym typeface="Courier"/>
                    </a:rPr>
                    <a:t>0)</a:t>
                  </a:r>
                  <a:endParaRPr dirty="0"/>
                </a:p>
              </p:txBody>
            </p:sp>
          </p:grpSp>
          <p:sp>
            <p:nvSpPr>
              <p:cNvPr id="22" name="Google Shape;398;p27">
                <a:extLst>
                  <a:ext uri="{FF2B5EF4-FFF2-40B4-BE49-F238E27FC236}">
                    <a16:creationId xmlns:a16="http://schemas.microsoft.com/office/drawing/2014/main" id="{5B6CBB28-8D50-30FB-BC44-1AE3CBA60B23}"/>
                  </a:ext>
                </a:extLst>
              </p:cNvPr>
              <p:cNvSpPr txBox="1"/>
              <p:nvPr/>
            </p:nvSpPr>
            <p:spPr>
              <a:xfrm>
                <a:off x="-1" y="97907"/>
                <a:ext cx="690787" cy="4965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5700" tIns="35700" rIns="35700" bIns="357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urier"/>
                  <a:buNone/>
                </a:pPr>
                <a:r>
                  <a:rPr lang="en-US" sz="1800" b="1" i="0" u="none" strike="noStrike" cap="none">
                    <a:solidFill>
                      <a:srgbClr val="000000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B1:</a:t>
                </a:r>
                <a:endParaRPr/>
              </a:p>
            </p:txBody>
          </p:sp>
        </p:grpSp>
      </p:grpSp>
      <p:grpSp>
        <p:nvGrpSpPr>
          <p:cNvPr id="25" name="Google Shape;399;p27">
            <a:extLst>
              <a:ext uri="{FF2B5EF4-FFF2-40B4-BE49-F238E27FC236}">
                <a16:creationId xmlns:a16="http://schemas.microsoft.com/office/drawing/2014/main" id="{A522DEF9-473A-A090-1FE4-45B0ABE96BAC}"/>
              </a:ext>
            </a:extLst>
          </p:cNvPr>
          <p:cNvGrpSpPr/>
          <p:nvPr/>
        </p:nvGrpSpPr>
        <p:grpSpPr>
          <a:xfrm>
            <a:off x="5532438" y="4521200"/>
            <a:ext cx="2533649" cy="1295400"/>
            <a:chOff x="-1" y="-1"/>
            <a:chExt cx="3602143" cy="1730358"/>
          </a:xfrm>
        </p:grpSpPr>
        <p:cxnSp>
          <p:nvCxnSpPr>
            <p:cNvPr id="26" name="Google Shape;400;p27">
              <a:extLst>
                <a:ext uri="{FF2B5EF4-FFF2-40B4-BE49-F238E27FC236}">
                  <a16:creationId xmlns:a16="http://schemas.microsoft.com/office/drawing/2014/main" id="{42054BAA-0099-9908-C763-E776B34785A9}"/>
                </a:ext>
              </a:extLst>
            </p:cNvPr>
            <p:cNvCxnSpPr/>
            <p:nvPr/>
          </p:nvCxnSpPr>
          <p:spPr>
            <a:xfrm>
              <a:off x="932132" y="-1"/>
              <a:ext cx="810257" cy="812166"/>
            </a:xfrm>
            <a:prstGeom prst="straightConnector1">
              <a:avLst/>
            </a:prstGeom>
            <a:noFill/>
            <a:ln w="76200" cap="flat" cmpd="sng">
              <a:solidFill>
                <a:srgbClr val="064B9B"/>
              </a:solidFill>
              <a:prstDash val="solid"/>
              <a:miter lim="400000"/>
              <a:headEnd type="none" w="sm" len="sm"/>
              <a:tailEnd type="triangle" w="med" len="med"/>
            </a:ln>
          </p:spPr>
        </p:cxnSp>
        <p:cxnSp>
          <p:nvCxnSpPr>
            <p:cNvPr id="27" name="Google Shape;401;p27">
              <a:extLst>
                <a:ext uri="{FF2B5EF4-FFF2-40B4-BE49-F238E27FC236}">
                  <a16:creationId xmlns:a16="http://schemas.microsoft.com/office/drawing/2014/main" id="{FD4C26F7-4CEF-3626-A130-76A67ED67197}"/>
                </a:ext>
              </a:extLst>
            </p:cNvPr>
            <p:cNvCxnSpPr/>
            <p:nvPr/>
          </p:nvCxnSpPr>
          <p:spPr>
            <a:xfrm flipH="1">
              <a:off x="2681294" y="10602"/>
              <a:ext cx="857653" cy="858817"/>
            </a:xfrm>
            <a:prstGeom prst="straightConnector1">
              <a:avLst/>
            </a:prstGeom>
            <a:noFill/>
            <a:ln w="76200" cap="flat" cmpd="sng">
              <a:solidFill>
                <a:srgbClr val="064B9B"/>
              </a:solidFill>
              <a:prstDash val="solid"/>
              <a:miter lim="400000"/>
              <a:headEnd type="none" w="sm" len="sm"/>
              <a:tailEnd type="triangle" w="med" len="med"/>
            </a:ln>
          </p:spPr>
        </p:cxnSp>
        <p:grpSp>
          <p:nvGrpSpPr>
            <p:cNvPr id="28" name="Google Shape;402;p27">
              <a:extLst>
                <a:ext uri="{FF2B5EF4-FFF2-40B4-BE49-F238E27FC236}">
                  <a16:creationId xmlns:a16="http://schemas.microsoft.com/office/drawing/2014/main" id="{1F5BCC2B-587E-04B4-E4CB-6FE0FF62617C}"/>
                </a:ext>
              </a:extLst>
            </p:cNvPr>
            <p:cNvGrpSpPr/>
            <p:nvPr/>
          </p:nvGrpSpPr>
          <p:grpSpPr>
            <a:xfrm>
              <a:off x="-1" y="845298"/>
              <a:ext cx="3602143" cy="885059"/>
              <a:chOff x="-1" y="0"/>
              <a:chExt cx="3602142" cy="885058"/>
            </a:xfrm>
          </p:grpSpPr>
          <p:sp>
            <p:nvSpPr>
              <p:cNvPr id="29" name="Google Shape;403;p27">
                <a:extLst>
                  <a:ext uri="{FF2B5EF4-FFF2-40B4-BE49-F238E27FC236}">
                    <a16:creationId xmlns:a16="http://schemas.microsoft.com/office/drawing/2014/main" id="{27A8DEE0-4255-E163-7E29-D6EC5B5006D0}"/>
                  </a:ext>
                </a:extLst>
              </p:cNvPr>
              <p:cNvSpPr/>
              <p:nvPr/>
            </p:nvSpPr>
            <p:spPr>
              <a:xfrm>
                <a:off x="1079849" y="0"/>
                <a:ext cx="2522292" cy="885058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rgbClr val="445D9F"/>
                  </a:gs>
                </a:gsLst>
                <a:lin ang="5400000" scaled="0"/>
              </a:gradFill>
              <a:ln>
                <a:noFill/>
              </a:ln>
              <a:effectLst>
                <a:outerShdw blurRad="76200" rotWithShape="0">
                  <a:srgbClr val="808080">
                    <a:alpha val="79607"/>
                  </a:srgbClr>
                </a:outerShdw>
              </a:effectLst>
            </p:spPr>
            <p:txBody>
              <a:bodyPr spcFirstLastPara="1" wrap="square" lIns="35700" tIns="35700" rIns="35700" bIns="3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94"/>
                  <a:buFont typeface="Courier"/>
                  <a:buNone/>
                </a:pPr>
                <a:r>
                  <a:rPr lang="en-US" sz="3094" b="1" i="0" u="none" strike="noStrike" cap="none" dirty="0">
                    <a:solidFill>
                      <a:srgbClr val="000000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EXIT</a:t>
                </a:r>
                <a:endParaRPr dirty="0"/>
              </a:p>
            </p:txBody>
          </p:sp>
          <p:sp>
            <p:nvSpPr>
              <p:cNvPr id="30" name="Google Shape;404;p27">
                <a:extLst>
                  <a:ext uri="{FF2B5EF4-FFF2-40B4-BE49-F238E27FC236}">
                    <a16:creationId xmlns:a16="http://schemas.microsoft.com/office/drawing/2014/main" id="{63D2196C-43D4-8147-B86C-962D279226E6}"/>
                  </a:ext>
                </a:extLst>
              </p:cNvPr>
              <p:cNvSpPr txBox="1"/>
              <p:nvPr/>
            </p:nvSpPr>
            <p:spPr>
              <a:xfrm>
                <a:off x="-1" y="113023"/>
                <a:ext cx="690787" cy="4663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5700" tIns="35700" rIns="35700" bIns="35700" anchor="ctr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urier"/>
                  <a:buNone/>
                </a:pPr>
                <a:r>
                  <a:rPr lang="en-US" sz="1800" b="1" i="0" u="none" strike="noStrike" cap="none" dirty="0">
                    <a:solidFill>
                      <a:srgbClr val="000000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B</a:t>
                </a:r>
                <a:r>
                  <a:rPr lang="en-US" altLang="zh-CN" sz="1800" b="1" i="0" u="none" strike="noStrike" cap="none" dirty="0">
                    <a:solidFill>
                      <a:srgbClr val="000000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4</a:t>
                </a:r>
                <a:r>
                  <a:rPr lang="en-US" sz="1800" b="1" i="0" u="none" strike="noStrike" cap="none" dirty="0">
                    <a:solidFill>
                      <a:srgbClr val="000000"/>
                    </a:solidFill>
                    <a:latin typeface="Courier"/>
                    <a:ea typeface="Courier"/>
                    <a:cs typeface="Courier"/>
                    <a:sym typeface="Courier"/>
                  </a:rPr>
                  <a:t>:</a:t>
                </a:r>
                <a:endParaRPr dirty="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19D9590-16CD-77BE-E154-7E435AC594F1}"/>
              </a:ext>
            </a:extLst>
          </p:cNvPr>
          <p:cNvGrpSpPr/>
          <p:nvPr/>
        </p:nvGrpSpPr>
        <p:grpSpPr>
          <a:xfrm>
            <a:off x="4648200" y="3262313"/>
            <a:ext cx="4548433" cy="1300361"/>
            <a:chOff x="4648200" y="3262313"/>
            <a:chExt cx="4548433" cy="1300361"/>
          </a:xfrm>
        </p:grpSpPr>
        <p:cxnSp>
          <p:nvCxnSpPr>
            <p:cNvPr id="11" name="Google Shape;388;p27">
              <a:extLst>
                <a:ext uri="{FF2B5EF4-FFF2-40B4-BE49-F238E27FC236}">
                  <a16:creationId xmlns:a16="http://schemas.microsoft.com/office/drawing/2014/main" id="{B81DE036-C887-9864-CDE4-62584842F648}"/>
                </a:ext>
              </a:extLst>
            </p:cNvPr>
            <p:cNvCxnSpPr/>
            <p:nvPr/>
          </p:nvCxnSpPr>
          <p:spPr>
            <a:xfrm>
              <a:off x="7605713" y="3262313"/>
              <a:ext cx="571500" cy="606425"/>
            </a:xfrm>
            <a:prstGeom prst="straightConnector1">
              <a:avLst/>
            </a:prstGeom>
            <a:noFill/>
            <a:ln w="76200" cap="flat" cmpd="sng">
              <a:solidFill>
                <a:srgbClr val="064B9B"/>
              </a:solidFill>
              <a:prstDash val="solid"/>
              <a:miter lim="400000"/>
              <a:headEnd type="none" w="sm" len="sm"/>
              <a:tailEnd type="triangle" w="med" len="med"/>
            </a:ln>
          </p:spPr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A778229-7128-C370-8E0F-90ECC4A8D94B}"/>
                </a:ext>
              </a:extLst>
            </p:cNvPr>
            <p:cNvGrpSpPr/>
            <p:nvPr/>
          </p:nvGrpSpPr>
          <p:grpSpPr>
            <a:xfrm>
              <a:off x="4648200" y="3262313"/>
              <a:ext cx="4548433" cy="1300361"/>
              <a:chOff x="4648200" y="3262313"/>
              <a:chExt cx="4548433" cy="1300361"/>
            </a:xfrm>
          </p:grpSpPr>
          <p:grpSp>
            <p:nvGrpSpPr>
              <p:cNvPr id="31" name="Google Shape;405;p27">
                <a:extLst>
                  <a:ext uri="{FF2B5EF4-FFF2-40B4-BE49-F238E27FC236}">
                    <a16:creationId xmlns:a16="http://schemas.microsoft.com/office/drawing/2014/main" id="{6937CE2C-3F52-FCA3-DB85-0FC38B1F1FBB}"/>
                  </a:ext>
                </a:extLst>
              </p:cNvPr>
              <p:cNvGrpSpPr/>
              <p:nvPr/>
            </p:nvGrpSpPr>
            <p:grpSpPr>
              <a:xfrm>
                <a:off x="4648200" y="3262313"/>
                <a:ext cx="4548433" cy="1300361"/>
                <a:chOff x="-1" y="-1"/>
                <a:chExt cx="6468895" cy="1739005"/>
              </a:xfrm>
            </p:grpSpPr>
            <p:cxnSp>
              <p:nvCxnSpPr>
                <p:cNvPr id="32" name="Google Shape;406;p27">
                  <a:extLst>
                    <a:ext uri="{FF2B5EF4-FFF2-40B4-BE49-F238E27FC236}">
                      <a16:creationId xmlns:a16="http://schemas.microsoft.com/office/drawing/2014/main" id="{A7528AA2-D705-AAEB-1349-C69D8708E905}"/>
                    </a:ext>
                  </a:extLst>
                </p:cNvPr>
                <p:cNvCxnSpPr/>
                <p:nvPr/>
              </p:nvCxnSpPr>
              <p:spPr>
                <a:xfrm flipH="1">
                  <a:off x="2138119" y="-1"/>
                  <a:ext cx="857957" cy="857693"/>
                </a:xfrm>
                <a:prstGeom prst="straightConnector1">
                  <a:avLst/>
                </a:prstGeom>
                <a:noFill/>
                <a:ln w="76200" cap="flat" cmpd="sng">
                  <a:solidFill>
                    <a:srgbClr val="064B9B"/>
                  </a:solidFill>
                  <a:prstDash val="solid"/>
                  <a:miter lim="400000"/>
                  <a:headEnd type="none" w="sm" len="sm"/>
                  <a:tailEnd type="triangle" w="med" len="med"/>
                </a:ln>
              </p:spPr>
            </p:cxnSp>
            <p:grpSp>
              <p:nvGrpSpPr>
                <p:cNvPr id="33" name="Google Shape;407;p27">
                  <a:extLst>
                    <a:ext uri="{FF2B5EF4-FFF2-40B4-BE49-F238E27FC236}">
                      <a16:creationId xmlns:a16="http://schemas.microsoft.com/office/drawing/2014/main" id="{43179FB1-801B-8D92-4143-C5C2CEE3CBB3}"/>
                    </a:ext>
                  </a:extLst>
                </p:cNvPr>
                <p:cNvGrpSpPr/>
                <p:nvPr/>
              </p:nvGrpSpPr>
              <p:grpSpPr>
                <a:xfrm>
                  <a:off x="-1" y="844995"/>
                  <a:ext cx="3759620" cy="885061"/>
                  <a:chOff x="-1" y="1"/>
                  <a:chExt cx="3759619" cy="885059"/>
                </a:xfrm>
              </p:grpSpPr>
              <p:grpSp>
                <p:nvGrpSpPr>
                  <p:cNvPr id="39" name="Google Shape;408;p27">
                    <a:extLst>
                      <a:ext uri="{FF2B5EF4-FFF2-40B4-BE49-F238E27FC236}">
                        <a16:creationId xmlns:a16="http://schemas.microsoft.com/office/drawing/2014/main" id="{E4EA0B62-7A1F-041F-CC35-A6762CF87F3B}"/>
                      </a:ext>
                    </a:extLst>
                  </p:cNvPr>
                  <p:cNvGrpSpPr/>
                  <p:nvPr/>
                </p:nvGrpSpPr>
                <p:grpSpPr>
                  <a:xfrm>
                    <a:off x="690786" y="1"/>
                    <a:ext cx="3068832" cy="885059"/>
                    <a:chOff x="-326806" y="1"/>
                    <a:chExt cx="3068831" cy="885058"/>
                  </a:xfrm>
                </p:grpSpPr>
                <p:sp>
                  <p:nvSpPr>
                    <p:cNvPr id="41" name="Google Shape;409;p27">
                      <a:extLst>
                        <a:ext uri="{FF2B5EF4-FFF2-40B4-BE49-F238E27FC236}">
                          <a16:creationId xmlns:a16="http://schemas.microsoft.com/office/drawing/2014/main" id="{D7F45A91-7BF4-F6DA-20B4-539F33B9CD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326806" y="1"/>
                      <a:ext cx="2951942" cy="885058"/>
                    </a:xfrm>
                    <a:prstGeom prst="roundRect">
                      <a:avLst>
                        <a:gd name="adj" fmla="val 21968"/>
                      </a:avLst>
                    </a:prstGeom>
                    <a:solidFill>
                      <a:srgbClr val="76D6FF"/>
                    </a:solidFill>
                    <a:ln>
                      <a:noFill/>
                    </a:ln>
                    <a:effectLst>
                      <a:outerShdw blurRad="76200" rotWithShape="0">
                        <a:srgbClr val="808080">
                          <a:alpha val="79607"/>
                        </a:srgbClr>
                      </a:outerShdw>
                    </a:effectLst>
                  </p:spPr>
                  <p:txBody>
                    <a:bodyPr spcFirstLastPara="1" wrap="square" lIns="35700" tIns="35700" rIns="35700" bIns="3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urier New"/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p:txBody>
                </p:sp>
                <p:sp>
                  <p:nvSpPr>
                    <p:cNvPr id="42" name="Google Shape;410;p27">
                      <a:extLst>
                        <a:ext uri="{FF2B5EF4-FFF2-40B4-BE49-F238E27FC236}">
                          <a16:creationId xmlns:a16="http://schemas.microsoft.com/office/drawing/2014/main" id="{01918537-3AE7-8FBD-0493-C8DDD46EA7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-230024" y="214189"/>
                      <a:ext cx="2972049" cy="42921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35700" tIns="35700" rIns="35700" bIns="35700" anchor="ctr" anchorCtr="0">
                      <a:sp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7"/>
                        <a:buFont typeface="Courier"/>
                        <a:buNone/>
                      </a:pPr>
                      <a:r>
                        <a:rPr lang="en-US" sz="1617" dirty="0">
                          <a:solidFill>
                            <a:srgbClr val="000000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y = -x</a:t>
                      </a:r>
                      <a:r>
                        <a:rPr lang="en-US" sz="1617" b="0" i="0" u="none" strike="noStrike" cap="none" dirty="0">
                          <a:solidFill>
                            <a:srgbClr val="000000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;</a:t>
                      </a:r>
                      <a:endParaRPr dirty="0"/>
                    </a:p>
                  </p:txBody>
                </p:sp>
              </p:grpSp>
              <p:sp>
                <p:nvSpPr>
                  <p:cNvPr id="40" name="Google Shape;411;p27">
                    <a:extLst>
                      <a:ext uri="{FF2B5EF4-FFF2-40B4-BE49-F238E27FC236}">
                        <a16:creationId xmlns:a16="http://schemas.microsoft.com/office/drawing/2014/main" id="{1042A097-6768-808C-5618-F38FB9859C3F}"/>
                      </a:ext>
                    </a:extLst>
                  </p:cNvPr>
                  <p:cNvSpPr txBox="1"/>
                  <p:nvPr/>
                </p:nvSpPr>
                <p:spPr>
                  <a:xfrm>
                    <a:off x="-1" y="97907"/>
                    <a:ext cx="690787" cy="49654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35700" tIns="35700" rIns="35700" bIns="35700" anchor="ctr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ourier"/>
                      <a:buNone/>
                    </a:pPr>
                    <a:r>
                      <a:rPr lang="en-US" sz="1800" b="1" i="0" u="none" strike="noStrike" cap="none" dirty="0">
                        <a:solidFill>
                          <a:srgbClr val="000000"/>
                        </a:solidFill>
                        <a:latin typeface="Courier"/>
                        <a:ea typeface="Courier"/>
                        <a:cs typeface="Courier"/>
                        <a:sym typeface="Courier"/>
                      </a:rPr>
                      <a:t>B2:</a:t>
                    </a:r>
                    <a:endParaRPr dirty="0"/>
                  </a:p>
                </p:txBody>
              </p:sp>
            </p:grpSp>
            <p:grpSp>
              <p:nvGrpSpPr>
                <p:cNvPr id="34" name="Google Shape;412;p27">
                  <a:extLst>
                    <a:ext uri="{FF2B5EF4-FFF2-40B4-BE49-F238E27FC236}">
                      <a16:creationId xmlns:a16="http://schemas.microsoft.com/office/drawing/2014/main" id="{CB428BF2-28F2-A750-6632-E7D4E0A35CB6}"/>
                    </a:ext>
                  </a:extLst>
                </p:cNvPr>
                <p:cNvGrpSpPr/>
                <p:nvPr/>
              </p:nvGrpSpPr>
              <p:grpSpPr>
                <a:xfrm>
                  <a:off x="3703654" y="339073"/>
                  <a:ext cx="2765240" cy="1399931"/>
                  <a:chOff x="60924" y="109473"/>
                  <a:chExt cx="2765238" cy="1399929"/>
                </a:xfrm>
              </p:grpSpPr>
              <p:grpSp>
                <p:nvGrpSpPr>
                  <p:cNvPr id="35" name="Google Shape;413;p27">
                    <a:extLst>
                      <a:ext uri="{FF2B5EF4-FFF2-40B4-BE49-F238E27FC236}">
                        <a16:creationId xmlns:a16="http://schemas.microsoft.com/office/drawing/2014/main" id="{8978F7C7-F14A-D6B0-F210-93EE39E3404E}"/>
                      </a:ext>
                    </a:extLst>
                  </p:cNvPr>
                  <p:cNvGrpSpPr/>
                  <p:nvPr/>
                </p:nvGrpSpPr>
                <p:grpSpPr>
                  <a:xfrm>
                    <a:off x="368367" y="624343"/>
                    <a:ext cx="2457795" cy="885059"/>
                    <a:chOff x="368367" y="2388"/>
                    <a:chExt cx="2457794" cy="885058"/>
                  </a:xfrm>
                </p:grpSpPr>
                <p:sp>
                  <p:nvSpPr>
                    <p:cNvPr id="37" name="Google Shape;414;p27">
                      <a:extLst>
                        <a:ext uri="{FF2B5EF4-FFF2-40B4-BE49-F238E27FC236}">
                          <a16:creationId xmlns:a16="http://schemas.microsoft.com/office/drawing/2014/main" id="{129F99B5-4F09-F264-4820-EDD498E685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8367" y="2388"/>
                      <a:ext cx="2386525" cy="885058"/>
                    </a:xfrm>
                    <a:prstGeom prst="roundRect">
                      <a:avLst>
                        <a:gd name="adj" fmla="val 21968"/>
                      </a:avLst>
                    </a:prstGeom>
                    <a:solidFill>
                      <a:srgbClr val="76D6FF"/>
                    </a:solidFill>
                    <a:ln>
                      <a:noFill/>
                    </a:ln>
                    <a:effectLst>
                      <a:outerShdw blurRad="76200" rotWithShape="0">
                        <a:srgbClr val="808080">
                          <a:alpha val="79607"/>
                        </a:srgbClr>
                      </a:outerShdw>
                    </a:effectLst>
                  </p:spPr>
                  <p:txBody>
                    <a:bodyPr spcFirstLastPara="1" wrap="square" lIns="35700" tIns="35700" rIns="35700" bIns="3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urier New"/>
                        <a:buNone/>
                      </a:pPr>
                      <a:endParaRPr sz="1600" b="0" i="0" u="none" strike="noStrike" cap="non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p:txBody>
                </p:sp>
                <p:sp>
                  <p:nvSpPr>
                    <p:cNvPr id="38" name="Google Shape;415;p27">
                      <a:extLst>
                        <a:ext uri="{FF2B5EF4-FFF2-40B4-BE49-F238E27FC236}">
                          <a16:creationId xmlns:a16="http://schemas.microsoft.com/office/drawing/2014/main" id="{687D74E3-9DB0-65FD-E56B-FF966D1D48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8704" y="207628"/>
                      <a:ext cx="2237457" cy="42921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35700" tIns="35700" rIns="35700" bIns="35700" anchor="ctr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17"/>
                        <a:buFont typeface="Courier"/>
                        <a:buNone/>
                      </a:pPr>
                      <a:r>
                        <a:rPr lang="en-US" altLang="zh-CN" sz="1617" dirty="0" err="1">
                          <a:solidFill>
                            <a:srgbClr val="000000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</a:t>
                      </a:r>
                      <a:r>
                        <a:rPr lang="en-US" altLang="zh-CN" sz="1617" b="0" i="0" u="none" strike="noStrike" cap="none" dirty="0" err="1">
                          <a:solidFill>
                            <a:srgbClr val="000000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rr</a:t>
                      </a:r>
                      <a:r>
                        <a:rPr lang="en-US" altLang="zh-CN" sz="1617" b="0" i="0" u="none" strike="noStrike" cap="none" dirty="0">
                          <a:solidFill>
                            <a:srgbClr val="000000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[x]</a:t>
                      </a:r>
                      <a:r>
                        <a:rPr lang="zh-CN" altLang="en-US" sz="1617" b="0" i="0" u="none" strike="noStrike" cap="none" dirty="0">
                          <a:solidFill>
                            <a:srgbClr val="000000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 </a:t>
                      </a:r>
                      <a:r>
                        <a:rPr lang="en-US" altLang="zh-CN" sz="1617" b="0" i="0" u="none" strike="noStrike" cap="none" dirty="0">
                          <a:solidFill>
                            <a:srgbClr val="000000"/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=10;</a:t>
                      </a:r>
                      <a:endParaRPr dirty="0"/>
                    </a:p>
                  </p:txBody>
                </p:sp>
              </p:grpSp>
              <p:sp>
                <p:nvSpPr>
                  <p:cNvPr id="36" name="Google Shape;416;p27">
                    <a:extLst>
                      <a:ext uri="{FF2B5EF4-FFF2-40B4-BE49-F238E27FC236}">
                        <a16:creationId xmlns:a16="http://schemas.microsoft.com/office/drawing/2014/main" id="{9A277347-5EC4-9B65-4C56-329CFCB83028}"/>
                      </a:ext>
                    </a:extLst>
                  </p:cNvPr>
                  <p:cNvSpPr txBox="1"/>
                  <p:nvPr/>
                </p:nvSpPr>
                <p:spPr>
                  <a:xfrm>
                    <a:off x="60924" y="109473"/>
                    <a:ext cx="690787" cy="4668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35700" tIns="35700" rIns="35700" bIns="35700" anchor="ctr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Courier"/>
                      <a:buNone/>
                    </a:pPr>
                    <a:r>
                      <a:rPr lang="en-US" sz="1800" b="1" i="0" u="none" strike="noStrike" cap="none" dirty="0">
                        <a:solidFill>
                          <a:srgbClr val="000000"/>
                        </a:solidFill>
                        <a:latin typeface="Courier"/>
                        <a:ea typeface="Courier"/>
                        <a:cs typeface="Courier"/>
                        <a:sym typeface="Courier"/>
                      </a:rPr>
                      <a:t>B</a:t>
                    </a:r>
                    <a:r>
                      <a:rPr lang="en-US" altLang="zh-CN" sz="1800" b="1" i="0" u="none" strike="noStrike" cap="none" dirty="0">
                        <a:solidFill>
                          <a:srgbClr val="000000"/>
                        </a:solidFill>
                        <a:latin typeface="Courier"/>
                        <a:ea typeface="Courier"/>
                        <a:cs typeface="Courier"/>
                        <a:sym typeface="Courier"/>
                      </a:rPr>
                      <a:t>3</a:t>
                    </a:r>
                    <a:r>
                      <a:rPr lang="en-US" sz="1800" b="1" i="0" u="none" strike="noStrike" cap="none" dirty="0">
                        <a:solidFill>
                          <a:srgbClr val="000000"/>
                        </a:solidFill>
                        <a:latin typeface="Courier"/>
                        <a:ea typeface="Courier"/>
                        <a:cs typeface="Courier"/>
                        <a:sym typeface="Courier"/>
                      </a:rPr>
                      <a:t>:</a:t>
                    </a:r>
                    <a:endParaRPr dirty="0"/>
                  </a:p>
                </p:txBody>
              </p:sp>
            </p:grp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7DD7F6-3431-05CC-1576-4439285A820A}"/>
                  </a:ext>
                </a:extLst>
              </p:cNvPr>
              <p:cNvSpPr txBox="1"/>
              <p:nvPr/>
            </p:nvSpPr>
            <p:spPr>
              <a:xfrm>
                <a:off x="5532438" y="3389226"/>
                <a:ext cx="576183" cy="3385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6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True</a:t>
                </a:r>
                <a:endParaRPr lang="en-US" sz="16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7E30F1-1CDD-E13D-6299-CB37410D619E}"/>
                  </a:ext>
                </a:extLst>
              </p:cNvPr>
              <p:cNvSpPr txBox="1"/>
              <p:nvPr/>
            </p:nvSpPr>
            <p:spPr>
              <a:xfrm>
                <a:off x="8161452" y="3400182"/>
                <a:ext cx="670376" cy="338554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1600" dirty="0">
                    <a:latin typeface="Helvetica Neue" panose="02000503000000020004" pitchFamily="2" charset="0"/>
                    <a:ea typeface="Helvetica Neue" panose="02000503000000020004" pitchFamily="2" charset="0"/>
                    <a:cs typeface="Helvetica Neue" panose="02000503000000020004" pitchFamily="2" charset="0"/>
                  </a:rPr>
                  <a:t>False</a:t>
                </a:r>
                <a:endParaRPr lang="en-US" sz="16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7303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3E90-6000-B641-B63D-BA01C4F4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2C6F8-2ADF-C146-9687-715B7C301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350" y="1268243"/>
            <a:ext cx="5310042" cy="4360661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Monitor and control malware execution to collect the malware’s runtime </a:t>
            </a:r>
            <a:r>
              <a:rPr lang="en-GB" dirty="0" err="1"/>
              <a:t>behavior</a:t>
            </a:r>
            <a:r>
              <a:rPr lang="en-GB" dirty="0"/>
              <a:t> such as API calls, data flow, network traffic, etc.</a:t>
            </a:r>
          </a:p>
          <a:p>
            <a:r>
              <a:rPr lang="en-GB" b="1" dirty="0"/>
              <a:t>Advantage</a:t>
            </a:r>
            <a:r>
              <a:rPr lang="en-GB" dirty="0"/>
              <a:t>: can obtain real data flows and control flows</a:t>
            </a:r>
          </a:p>
          <a:p>
            <a:r>
              <a:rPr lang="en-GB" b="1" dirty="0"/>
              <a:t>Limitation</a:t>
            </a:r>
            <a:r>
              <a:rPr lang="en-GB" dirty="0"/>
              <a:t>: difficult to extract semantic information, high overhead to securely monitor malware execution (since malware may attack the monitor)</a:t>
            </a:r>
          </a:p>
          <a:p>
            <a:pPr lvl="1"/>
            <a:r>
              <a:rPr lang="en-GB" dirty="0"/>
              <a:t>Malware may also be checking whether they are being monitored…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CE199-FE84-7648-A289-C38B6528AE23}"/>
              </a:ext>
            </a:extLst>
          </p:cNvPr>
          <p:cNvSpPr txBox="1"/>
          <p:nvPr/>
        </p:nvSpPr>
        <p:spPr>
          <a:xfrm>
            <a:off x="6266868" y="1112443"/>
            <a:ext cx="3311099" cy="477053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GB" sz="1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func1</a:t>
            </a:r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</a:t>
            </a:r>
          </a:p>
          <a:p>
            <a:pPr algn="l"/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lang="en-GB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read_contact_file</a:t>
            </a:r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(contact, buffer)</a:t>
            </a:r>
          </a:p>
          <a:p>
            <a:pPr algn="l"/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.. }</a:t>
            </a:r>
          </a:p>
          <a:p>
            <a:pPr algn="l"/>
            <a:endParaRPr lang="en-GB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GB" sz="1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func2</a:t>
            </a:r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</a:t>
            </a:r>
          </a:p>
          <a:p>
            <a:pPr algn="l"/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....</a:t>
            </a:r>
          </a:p>
          <a:p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</a:t>
            </a:r>
            <a:r>
              <a:rPr lang="en-GB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network_send</a:t>
            </a:r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(data, destination)</a:t>
            </a:r>
          </a:p>
          <a:p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...}</a:t>
            </a:r>
          </a:p>
          <a:p>
            <a:pPr algn="l"/>
            <a:endParaRPr lang="en-GB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GB" sz="1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funct3</a:t>
            </a:r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</a:t>
            </a:r>
          </a:p>
          <a:p>
            <a:pPr algn="l"/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....</a:t>
            </a:r>
          </a:p>
          <a:p>
            <a:pPr algn="l"/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func1(..)</a:t>
            </a:r>
          </a:p>
          <a:p>
            <a:pPr algn="l"/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....</a:t>
            </a:r>
          </a:p>
          <a:p>
            <a:pPr algn="l"/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func4(...)</a:t>
            </a:r>
          </a:p>
          <a:p>
            <a:pPr algn="l"/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}</a:t>
            </a:r>
          </a:p>
          <a:p>
            <a:pPr algn="l"/>
            <a:endParaRPr lang="en-GB" sz="16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l"/>
            <a:r>
              <a:rPr lang="en-GB" sz="1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func4</a:t>
            </a:r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{</a:t>
            </a:r>
          </a:p>
          <a:p>
            <a:pPr algn="l"/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   func2(...)</a:t>
            </a:r>
          </a:p>
          <a:p>
            <a:pPr algn="l"/>
            <a:r>
              <a:rPr lang="en-GB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}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A5F44CB-338B-B14F-B222-10E7BA36BBD2}"/>
              </a:ext>
            </a:extLst>
          </p:cNvPr>
          <p:cNvSpPr/>
          <p:nvPr/>
        </p:nvSpPr>
        <p:spPr>
          <a:xfrm>
            <a:off x="10014000" y="1685103"/>
            <a:ext cx="901337" cy="470263"/>
          </a:xfrm>
          <a:prstGeom prst="ellipse">
            <a:avLst/>
          </a:prstGeom>
          <a:solidFill>
            <a:srgbClr val="FF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444736-6BE9-0840-9035-900849E6557C}"/>
              </a:ext>
            </a:extLst>
          </p:cNvPr>
          <p:cNvCxnSpPr/>
          <p:nvPr/>
        </p:nvCxnSpPr>
        <p:spPr>
          <a:xfrm>
            <a:off x="10457476" y="1149527"/>
            <a:ext cx="14384" cy="53557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3E7E7EF-BB6B-DF42-B136-86613B139D3D}"/>
              </a:ext>
            </a:extLst>
          </p:cNvPr>
          <p:cNvSpPr/>
          <p:nvPr/>
        </p:nvSpPr>
        <p:spPr>
          <a:xfrm>
            <a:off x="10014000" y="2643277"/>
            <a:ext cx="901337" cy="470263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C65341-B087-2941-ABFE-CE14FD7B3779}"/>
              </a:ext>
            </a:extLst>
          </p:cNvPr>
          <p:cNvSpPr/>
          <p:nvPr/>
        </p:nvSpPr>
        <p:spPr>
          <a:xfrm>
            <a:off x="10014000" y="3963314"/>
            <a:ext cx="901337" cy="470263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7D6977-5F08-2642-B241-E0EE7484849D}"/>
              </a:ext>
            </a:extLst>
          </p:cNvPr>
          <p:cNvSpPr/>
          <p:nvPr/>
        </p:nvSpPr>
        <p:spPr>
          <a:xfrm>
            <a:off x="10014000" y="4797001"/>
            <a:ext cx="901337" cy="470263"/>
          </a:xfrm>
          <a:prstGeom prst="ellipse">
            <a:avLst/>
          </a:prstGeom>
          <a:solidFill>
            <a:srgbClr val="FF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449682-522D-8846-B01B-5B30A703873A}"/>
              </a:ext>
            </a:extLst>
          </p:cNvPr>
          <p:cNvCxnSpPr/>
          <p:nvPr/>
        </p:nvCxnSpPr>
        <p:spPr>
          <a:xfrm flipH="1">
            <a:off x="10461403" y="5279146"/>
            <a:ext cx="6530" cy="53557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A3F89A7-A367-CA42-AEEE-5201A8A2E146}"/>
              </a:ext>
            </a:extLst>
          </p:cNvPr>
          <p:cNvCxnSpPr/>
          <p:nvPr/>
        </p:nvCxnSpPr>
        <p:spPr>
          <a:xfrm>
            <a:off x="10464668" y="2155366"/>
            <a:ext cx="0" cy="48791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0E68BE-59C6-EA44-A327-03F21859B100}"/>
              </a:ext>
            </a:extLst>
          </p:cNvPr>
          <p:cNvCxnSpPr/>
          <p:nvPr/>
        </p:nvCxnSpPr>
        <p:spPr>
          <a:xfrm>
            <a:off x="10464668" y="4433577"/>
            <a:ext cx="0" cy="36342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796BF6-39F6-4748-AB73-1301B52A3150}"/>
              </a:ext>
            </a:extLst>
          </p:cNvPr>
          <p:cNvCxnSpPr/>
          <p:nvPr/>
        </p:nvCxnSpPr>
        <p:spPr>
          <a:xfrm>
            <a:off x="10464668" y="3113540"/>
            <a:ext cx="0" cy="849774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E594DD9-85FC-5A42-9F41-A9B040F093F2}"/>
              </a:ext>
            </a:extLst>
          </p:cNvPr>
          <p:cNvSpPr txBox="1"/>
          <p:nvPr/>
        </p:nvSpPr>
        <p:spPr>
          <a:xfrm>
            <a:off x="10935338" y="1364063"/>
            <a:ext cx="11991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read sensitive data</a:t>
            </a:r>
            <a:endParaRPr lang="en-GB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CBF6D7-CBD0-4945-B6D2-86EB280B5A1D}"/>
              </a:ext>
            </a:extLst>
          </p:cNvPr>
          <p:cNvSpPr txBox="1"/>
          <p:nvPr/>
        </p:nvSpPr>
        <p:spPr>
          <a:xfrm>
            <a:off x="10954482" y="4678189"/>
            <a:ext cx="1108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network send</a:t>
            </a:r>
            <a:endParaRPr lang="en-GB" sz="2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58285B-01FF-1B4C-B2E1-4B20AA789589}"/>
              </a:ext>
            </a:extLst>
          </p:cNvPr>
          <p:cNvSpPr/>
          <p:nvPr/>
        </p:nvSpPr>
        <p:spPr>
          <a:xfrm>
            <a:off x="1436875" y="6093461"/>
            <a:ext cx="9621310" cy="47344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Dynamic analysis is often used in tandem with static analysis in practice</a:t>
            </a:r>
            <a:endParaRPr lang="en-GB" sz="24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0403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B9077-D22E-EF12-1765-7D0C0FC5B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82289-8C26-F922-1B6C-3CF67DF2C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software vulnerabilities arise from improper handling of inputs</a:t>
            </a:r>
          </a:p>
          <a:p>
            <a:pPr lvl="1"/>
            <a:r>
              <a:rPr lang="en-US" dirty="0"/>
              <a:t>Inputs can be from users, environment variables, configuration files, network packets, etc.</a:t>
            </a:r>
          </a:p>
          <a:p>
            <a:r>
              <a:rPr lang="en-US" dirty="0"/>
              <a:t>Command injection and buffer overflow vulnerabilities are quite common</a:t>
            </a:r>
          </a:p>
          <a:p>
            <a:r>
              <a:rPr lang="en-US" dirty="0"/>
              <a:t>Operating system and programming languages have built-in support to prevent buffer overflows.</a:t>
            </a:r>
          </a:p>
          <a:p>
            <a:r>
              <a:rPr lang="en-US" dirty="0"/>
              <a:t>Malware can be categorized based on </a:t>
            </a:r>
            <a:r>
              <a:rPr lang="en-US" i="1" dirty="0"/>
              <a:t>Independence </a:t>
            </a:r>
            <a:r>
              <a:rPr lang="en-US" dirty="0"/>
              <a:t>and </a:t>
            </a:r>
            <a:r>
              <a:rPr lang="en-US" i="1" dirty="0"/>
              <a:t>Replication</a:t>
            </a:r>
          </a:p>
          <a:p>
            <a:r>
              <a:rPr lang="en-US" dirty="0"/>
              <a:t>Vulnerabilities and Malware can be analyzed using static analysis and dynamic analysis.</a:t>
            </a:r>
          </a:p>
        </p:txBody>
      </p:sp>
    </p:spTree>
    <p:extLst>
      <p:ext uri="{BB962C8B-B14F-4D97-AF65-F5344CB8AC3E}">
        <p14:creationId xmlns:p14="http://schemas.microsoft.com/office/powerpoint/2010/main" val="873328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A694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tx1"/>
          </a:solidFill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5400">
          <a:noFill/>
        </a:ln>
      </a:spPr>
      <a:bodyPr wrap="none" rtlCol="0">
        <a:spAutoFit/>
      </a:bodyPr>
      <a:lstStyle>
        <a:defPPr algn="l">
          <a:defRPr sz="1600" dirty="0" smtClean="0">
            <a:latin typeface="Helvetica Neue" panose="02000503000000020004" pitchFamily="2" charset="0"/>
            <a:ea typeface="Helvetica Neue" panose="02000503000000020004" pitchFamily="2" charset="0"/>
            <a:cs typeface="Helvetica Neue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31295CED-DD91-154F-A28B-658E647D80F4}" vid="{29E40D5C-155D-D94C-822C-4AB35D3CC2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6AD1B51FFACD45B62528B91A79C429" ma:contentTypeVersion="18" ma:contentTypeDescription="Create a new document." ma:contentTypeScope="" ma:versionID="9672dfb9ec3908af57a6b314afe3680d">
  <xsd:schema xmlns:xsd="http://www.w3.org/2001/XMLSchema" xmlns:xs="http://www.w3.org/2001/XMLSchema" xmlns:p="http://schemas.microsoft.com/office/2006/metadata/properties" xmlns:ns2="1b6a39ee-1380-4096-9882-8248104ba7f7" xmlns:ns3="4604cec2-e769-4190-9d56-5d48f74b6442" targetNamespace="http://schemas.microsoft.com/office/2006/metadata/properties" ma:root="true" ma:fieldsID="12d78462d111bb2baa1b9a3ac61ee40a" ns2:_="" ns3:_="">
    <xsd:import namespace="1b6a39ee-1380-4096-9882-8248104ba7f7"/>
    <xsd:import namespace="4604cec2-e769-4190-9d56-5d48f74b64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Comment" minOccurs="0"/>
                <xsd:element ref="ns2:lcf76f155ced4ddcb4097134ff3c332f" minOccurs="0"/>
                <xsd:element ref="ns3:TaxCatchAll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6a39ee-1380-4096-9882-8248104ba7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Comment" ma:index="21" nillable="true" ma:displayName="Comment" ma:description="What was the last change about" ma:format="Dropdown" ma:internalName="Comment">
      <xsd:simpleType>
        <xsd:restriction base="dms:Text">
          <xsd:maxLength value="255"/>
        </xsd:restriction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eec61d7-21c4-46ea-8069-5c692c33a4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04cec2-e769-4190-9d56-5d48f74b644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943aed9-ec56-40d8-95cb-c4327e5e8870}" ma:internalName="TaxCatchAll" ma:showField="CatchAllData" ma:web="4604cec2-e769-4190-9d56-5d48f74b64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 xmlns="1b6a39ee-1380-4096-9882-8248104ba7f7" xsi:nil="true"/>
    <TaxCatchAll xmlns="4604cec2-e769-4190-9d56-5d48f74b6442" xsi:nil="true"/>
    <lcf76f155ced4ddcb4097134ff3c332f xmlns="1b6a39ee-1380-4096-9882-8248104ba7f7">
      <Terms xmlns="http://schemas.microsoft.com/office/infopath/2007/PartnerControls"/>
    </lcf76f155ced4ddcb4097134ff3c332f>
    <_Flow_SignoffStatus xmlns="1b6a39ee-1380-4096-9882-8248104ba7f7" xsi:nil="true"/>
  </documentManagement>
</p:properties>
</file>

<file path=customXml/itemProps1.xml><?xml version="1.0" encoding="utf-8"?>
<ds:datastoreItem xmlns:ds="http://schemas.openxmlformats.org/officeDocument/2006/customXml" ds:itemID="{10A9929B-50A6-4310-9865-E5630E528DF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DAEC2-93EE-4C3D-8021-9646044281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6a39ee-1380-4096-9882-8248104ba7f7"/>
    <ds:schemaRef ds:uri="4604cec2-e769-4190-9d56-5d48f74b64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3033D5F-57C4-4885-AE2B-B03E916FF137}">
  <ds:schemaRefs>
    <ds:schemaRef ds:uri="4604cec2-e769-4190-9d56-5d48f74b6442"/>
    <ds:schemaRef ds:uri="http://purl.org/dc/terms/"/>
    <ds:schemaRef ds:uri="http://www.w3.org/XML/1998/namespace"/>
    <ds:schemaRef ds:uri="http://schemas.microsoft.com/office/2006/documentManagement/types"/>
    <ds:schemaRef ds:uri="1b6a39ee-1380-4096-9882-8248104ba7f7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1e756f9c-e3e7-4810-90da-ea6bfb97c434}" enabled="1" method="Privileged" siteId="{c98a79ca-5a9a-4791-a243-f06afd67464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10100</TotalTime>
  <Words>3057</Words>
  <Application>Microsoft Macintosh PowerPoint</Application>
  <PresentationFormat>Widescreen</PresentationFormat>
  <Paragraphs>496</Paragraphs>
  <Slides>36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Arial</vt:lpstr>
      <vt:lpstr>Arial Nova</vt:lpstr>
      <vt:lpstr>Arial Nova Light</vt:lpstr>
      <vt:lpstr>Calibri</vt:lpstr>
      <vt:lpstr>Comic Sans MS</vt:lpstr>
      <vt:lpstr>Courier</vt:lpstr>
      <vt:lpstr>Courier New</vt:lpstr>
      <vt:lpstr>Helvetica</vt:lpstr>
      <vt:lpstr>Helvetica Neue</vt:lpstr>
      <vt:lpstr>Symbol</vt:lpstr>
      <vt:lpstr>Times New Roman</vt:lpstr>
      <vt:lpstr>Office Theme</vt:lpstr>
      <vt:lpstr>PowerPoint Presentation</vt:lpstr>
      <vt:lpstr>Recap of Week 9</vt:lpstr>
      <vt:lpstr>Overview</vt:lpstr>
      <vt:lpstr>Secure Programming and Vulnerabilities</vt:lpstr>
      <vt:lpstr>Motivation Example</vt:lpstr>
      <vt:lpstr>Vulnerability</vt:lpstr>
      <vt:lpstr>Trends of Vulnerabilities</vt:lpstr>
      <vt:lpstr>Handling Program Input</vt:lpstr>
      <vt:lpstr>Common Input Validation Vulnerabilities</vt:lpstr>
      <vt:lpstr>Buffer Overflow </vt:lpstr>
      <vt:lpstr>NIST’s definition of BO</vt:lpstr>
      <vt:lpstr>Typical Buffer Overflow Attack Scenario</vt:lpstr>
      <vt:lpstr>Memory Layout of Programs</vt:lpstr>
      <vt:lpstr>Example of Buffer Overflow</vt:lpstr>
      <vt:lpstr>Consequence of Buffer overflow </vt:lpstr>
      <vt:lpstr>PowerPoint Presentation</vt:lpstr>
      <vt:lpstr>PowerPoint Presentation</vt:lpstr>
      <vt:lpstr>PowerPoint Presentation</vt:lpstr>
      <vt:lpstr>Countermeasures for Memory Corruption Vulnerabilities</vt:lpstr>
      <vt:lpstr>Secure Programming</vt:lpstr>
      <vt:lpstr>Good programming practices</vt:lpstr>
      <vt:lpstr>System Supports</vt:lpstr>
      <vt:lpstr>Language Support (Memory-safe languages) </vt:lpstr>
      <vt:lpstr>Malware</vt:lpstr>
      <vt:lpstr>Malware Family</vt:lpstr>
      <vt:lpstr>Malware Categorization </vt:lpstr>
      <vt:lpstr>Worm</vt:lpstr>
      <vt:lpstr>Botnet</vt:lpstr>
      <vt:lpstr>Ransomware</vt:lpstr>
      <vt:lpstr>Program Analysis</vt:lpstr>
      <vt:lpstr>Program Analysis</vt:lpstr>
      <vt:lpstr>Static Analysis</vt:lpstr>
      <vt:lpstr> Control-Flow Graph (CFG)</vt:lpstr>
      <vt:lpstr> Control-Flow Graph (CFG)</vt:lpstr>
      <vt:lpstr>Dynamic Analysis</vt:lpstr>
      <vt:lpstr>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 Development</dc:title>
  <dc:creator>Shar Lwin Khin (Dr)</dc:creator>
  <cp:lastModifiedBy>Nicholas SOH De Lin</cp:lastModifiedBy>
  <cp:revision>355</cp:revision>
  <dcterms:created xsi:type="dcterms:W3CDTF">2019-12-21T16:17:09Z</dcterms:created>
  <dcterms:modified xsi:type="dcterms:W3CDTF">2025-11-12T16:58:12Z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e756f9c-e3e7-4810-90da-ea6bfb97c434_Enabled">
    <vt:lpwstr>true</vt:lpwstr>
  </property>
  <property fmtid="{D5CDD505-2E9C-101B-9397-08002B2CF9AE}" pid="3" name="MSIP_Label_1e756f9c-e3e7-4810-90da-ea6bfb97c434_SetDate">
    <vt:lpwstr>2022-03-10T07:42:05Z</vt:lpwstr>
  </property>
  <property fmtid="{D5CDD505-2E9C-101B-9397-08002B2CF9AE}" pid="4" name="MSIP_Label_1e756f9c-e3e7-4810-90da-ea6bfb97c434_Method">
    <vt:lpwstr>Privileged</vt:lpwstr>
  </property>
  <property fmtid="{D5CDD505-2E9C-101B-9397-08002B2CF9AE}" pid="5" name="MSIP_Label_1e756f9c-e3e7-4810-90da-ea6bfb97c434_Name">
    <vt:lpwstr>1e756f9c-e3e7-4810-90da-ea6bfb97c434</vt:lpwstr>
  </property>
  <property fmtid="{D5CDD505-2E9C-101B-9397-08002B2CF9AE}" pid="6" name="MSIP_Label_1e756f9c-e3e7-4810-90da-ea6bfb97c434_SiteId">
    <vt:lpwstr>c98a79ca-5a9a-4791-a243-f06afd67464d</vt:lpwstr>
  </property>
  <property fmtid="{D5CDD505-2E9C-101B-9397-08002B2CF9AE}" pid="7" name="MSIP_Label_1e756f9c-e3e7-4810-90da-ea6bfb97c434_ActionId">
    <vt:lpwstr>ded57cb0-6ae7-4a04-96f5-8ddd3599d327</vt:lpwstr>
  </property>
  <property fmtid="{D5CDD505-2E9C-101B-9397-08002B2CF9AE}" pid="8" name="MSIP_Label_1e756f9c-e3e7-4810-90da-ea6bfb97c434_ContentBits">
    <vt:lpwstr>0</vt:lpwstr>
  </property>
  <property fmtid="{D5CDD505-2E9C-101B-9397-08002B2CF9AE}" pid="9" name="ContentTypeId">
    <vt:lpwstr>0x0101000C6AD1B51FFACD45B62528B91A79C429</vt:lpwstr>
  </property>
</Properties>
</file>