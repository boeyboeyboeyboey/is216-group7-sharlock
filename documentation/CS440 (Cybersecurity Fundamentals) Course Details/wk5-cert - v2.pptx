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4" r:id="rId4"/>
  </p:sldMasterIdLst>
  <p:notesMasterIdLst>
    <p:notesMasterId r:id="rId36"/>
  </p:notesMasterIdLst>
  <p:handoutMasterIdLst>
    <p:handoutMasterId r:id="rId37"/>
  </p:handoutMasterIdLst>
  <p:sldIdLst>
    <p:sldId id="256" r:id="rId5"/>
    <p:sldId id="480" r:id="rId6"/>
    <p:sldId id="483" r:id="rId7"/>
    <p:sldId id="523" r:id="rId8"/>
    <p:sldId id="524" r:id="rId9"/>
    <p:sldId id="521" r:id="rId10"/>
    <p:sldId id="522" r:id="rId11"/>
    <p:sldId id="481" r:id="rId12"/>
    <p:sldId id="475" r:id="rId13"/>
    <p:sldId id="441" r:id="rId14"/>
    <p:sldId id="485" r:id="rId15"/>
    <p:sldId id="476" r:id="rId16"/>
    <p:sldId id="477" r:id="rId17"/>
    <p:sldId id="486" r:id="rId18"/>
    <p:sldId id="460" r:id="rId19"/>
    <p:sldId id="487" r:id="rId20"/>
    <p:sldId id="465" r:id="rId21"/>
    <p:sldId id="478" r:id="rId22"/>
    <p:sldId id="479" r:id="rId23"/>
    <p:sldId id="490" r:id="rId24"/>
    <p:sldId id="443" r:id="rId25"/>
    <p:sldId id="488" r:id="rId26"/>
    <p:sldId id="442" r:id="rId27"/>
    <p:sldId id="395" r:id="rId28"/>
    <p:sldId id="468" r:id="rId29"/>
    <p:sldId id="491" r:id="rId30"/>
    <p:sldId id="525" r:id="rId31"/>
    <p:sldId id="469" r:id="rId32"/>
    <p:sldId id="489" r:id="rId33"/>
    <p:sldId id="482" r:id="rId34"/>
    <p:sldId id="638" r:id="rId3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9900"/>
    <a:srgbClr val="00FFFF"/>
    <a:srgbClr val="FF7C80"/>
    <a:srgbClr val="FF3300"/>
    <a:srgbClr val="00FFCC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8C3C93-F926-4453-A78B-2520DBD2B064}" v="13" dt="2025-09-11T05:29:50.0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39" autoAdjust="0"/>
    <p:restoredTop sz="87828" autoAdjust="0"/>
  </p:normalViewPr>
  <p:slideViewPr>
    <p:cSldViewPr>
      <p:cViewPr varScale="1">
        <p:scale>
          <a:sx n="128" d="100"/>
          <a:sy n="128" d="100"/>
        </p:scale>
        <p:origin x="976" y="18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15" d="100"/>
          <a:sy n="115" d="100"/>
        </p:scale>
        <p:origin x="-3944" y="-10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 Guomin" userId="dccf0981-1625-43db-a7d9-40d73e3f3472" providerId="ADAL" clId="{FC8C3C93-F926-4453-A78B-2520DBD2B064}"/>
    <pc:docChg chg="undo custSel delSld modSld">
      <pc:chgData name="YANG Guomin" userId="dccf0981-1625-43db-a7d9-40d73e3f3472" providerId="ADAL" clId="{FC8C3C93-F926-4453-A78B-2520DBD2B064}" dt="2025-09-11T05:40:17.917" v="162" actId="1035"/>
      <pc:docMkLst>
        <pc:docMk/>
      </pc:docMkLst>
      <pc:sldChg chg="del">
        <pc:chgData name="YANG Guomin" userId="dccf0981-1625-43db-a7d9-40d73e3f3472" providerId="ADAL" clId="{FC8C3C93-F926-4453-A78B-2520DBD2B064}" dt="2025-09-11T05:24:47.014" v="0" actId="47"/>
        <pc:sldMkLst>
          <pc:docMk/>
          <pc:sldMk cId="3646747150" sldId="466"/>
        </pc:sldMkLst>
      </pc:sldChg>
      <pc:sldChg chg="del">
        <pc:chgData name="YANG Guomin" userId="dccf0981-1625-43db-a7d9-40d73e3f3472" providerId="ADAL" clId="{FC8C3C93-F926-4453-A78B-2520DBD2B064}" dt="2025-09-11T05:24:51.808" v="1" actId="47"/>
        <pc:sldMkLst>
          <pc:docMk/>
          <pc:sldMk cId="3305619444" sldId="467"/>
        </pc:sldMkLst>
      </pc:sldChg>
      <pc:sldChg chg="modSp mod">
        <pc:chgData name="YANG Guomin" userId="dccf0981-1625-43db-a7d9-40d73e3f3472" providerId="ADAL" clId="{FC8C3C93-F926-4453-A78B-2520DBD2B064}" dt="2025-09-11T05:31:09.353" v="145" actId="207"/>
        <pc:sldMkLst>
          <pc:docMk/>
          <pc:sldMk cId="2017209221" sldId="469"/>
        </pc:sldMkLst>
        <pc:spChg chg="mod">
          <ac:chgData name="YANG Guomin" userId="dccf0981-1625-43db-a7d9-40d73e3f3472" providerId="ADAL" clId="{FC8C3C93-F926-4453-A78B-2520DBD2B064}" dt="2025-09-11T05:29:50.044" v="143"/>
          <ac:spMkLst>
            <pc:docMk/>
            <pc:sldMk cId="2017209221" sldId="469"/>
            <ac:spMk id="241666" creationId="{00000000-0000-0000-0000-000000000000}"/>
          </ac:spMkLst>
        </pc:spChg>
        <pc:spChg chg="mod">
          <ac:chgData name="YANG Guomin" userId="dccf0981-1625-43db-a7d9-40d73e3f3472" providerId="ADAL" clId="{FC8C3C93-F926-4453-A78B-2520DBD2B064}" dt="2025-09-11T05:31:09.353" v="145" actId="207"/>
          <ac:spMkLst>
            <pc:docMk/>
            <pc:sldMk cId="2017209221" sldId="469"/>
            <ac:spMk id="241667" creationId="{00000000-0000-0000-0000-000000000000}"/>
          </ac:spMkLst>
        </pc:spChg>
      </pc:sldChg>
      <pc:sldChg chg="del">
        <pc:chgData name="YANG Guomin" userId="dccf0981-1625-43db-a7d9-40d73e3f3472" providerId="ADAL" clId="{FC8C3C93-F926-4453-A78B-2520DBD2B064}" dt="2025-09-11T05:28:35.982" v="129" actId="47"/>
        <pc:sldMkLst>
          <pc:docMk/>
          <pc:sldMk cId="3121957545" sldId="470"/>
        </pc:sldMkLst>
      </pc:sldChg>
      <pc:sldChg chg="del">
        <pc:chgData name="YANG Guomin" userId="dccf0981-1625-43db-a7d9-40d73e3f3472" providerId="ADAL" clId="{FC8C3C93-F926-4453-A78B-2520DBD2B064}" dt="2025-09-11T05:28:47.297" v="130" actId="47"/>
        <pc:sldMkLst>
          <pc:docMk/>
          <pc:sldMk cId="522809477" sldId="471"/>
        </pc:sldMkLst>
      </pc:sldChg>
      <pc:sldChg chg="modSp mod">
        <pc:chgData name="YANG Guomin" userId="dccf0981-1625-43db-a7d9-40d73e3f3472" providerId="ADAL" clId="{FC8C3C93-F926-4453-A78B-2520DBD2B064}" dt="2025-09-11T05:40:17.917" v="162" actId="1035"/>
        <pc:sldMkLst>
          <pc:docMk/>
          <pc:sldMk cId="2146636176" sldId="477"/>
        </pc:sldMkLst>
        <pc:spChg chg="mod">
          <ac:chgData name="YANG Guomin" userId="dccf0981-1625-43db-a7d9-40d73e3f3472" providerId="ADAL" clId="{FC8C3C93-F926-4453-A78B-2520DBD2B064}" dt="2025-09-11T05:40:17.917" v="162" actId="1035"/>
          <ac:spMkLst>
            <pc:docMk/>
            <pc:sldMk cId="2146636176" sldId="477"/>
            <ac:spMk id="3" creationId="{00000000-0000-0000-0000-000000000000}"/>
          </ac:spMkLst>
        </pc:spChg>
      </pc:sldChg>
      <pc:sldChg chg="modSp mod">
        <pc:chgData name="YANG Guomin" userId="dccf0981-1625-43db-a7d9-40d73e3f3472" providerId="ADAL" clId="{FC8C3C93-F926-4453-A78B-2520DBD2B064}" dt="2025-09-11T05:26:44.435" v="66" actId="313"/>
        <pc:sldMkLst>
          <pc:docMk/>
          <pc:sldMk cId="2656603268" sldId="525"/>
        </pc:sldMkLst>
        <pc:spChg chg="mod">
          <ac:chgData name="YANG Guomin" userId="dccf0981-1625-43db-a7d9-40d73e3f3472" providerId="ADAL" clId="{FC8C3C93-F926-4453-A78B-2520DBD2B064}" dt="2025-09-11T05:26:44.435" v="66" actId="313"/>
          <ac:spMkLst>
            <pc:docMk/>
            <pc:sldMk cId="2656603268" sldId="525"/>
            <ac:spMk id="2" creationId="{00000000-0000-0000-0000-000000000000}"/>
          </ac:spMkLst>
        </pc:spChg>
      </pc:sldChg>
    </pc:docChg>
  </pc:docChgLst>
  <pc:docChgLst>
    <pc:chgData name="YANG Guomin" userId="dccf0981-1625-43db-a7d9-40d73e3f3472" providerId="ADAL" clId="{305AA11C-983F-4858-9A8C-739109440E06}"/>
    <pc:docChg chg="undo custSel modSld">
      <pc:chgData name="YANG Guomin" userId="dccf0981-1625-43db-a7d9-40d73e3f3472" providerId="ADAL" clId="{305AA11C-983F-4858-9A8C-739109440E06}" dt="2025-09-10T03:11:26.245" v="217" actId="20577"/>
      <pc:docMkLst>
        <pc:docMk/>
      </pc:docMkLst>
      <pc:sldChg chg="modSp mod">
        <pc:chgData name="YANG Guomin" userId="dccf0981-1625-43db-a7d9-40d73e3f3472" providerId="ADAL" clId="{305AA11C-983F-4858-9A8C-739109440E06}" dt="2025-09-08T03:25:22.833" v="115" actId="403"/>
        <pc:sldMkLst>
          <pc:docMk/>
          <pc:sldMk cId="1057091041" sldId="395"/>
        </pc:sldMkLst>
        <pc:spChg chg="mod">
          <ac:chgData name="YANG Guomin" userId="dccf0981-1625-43db-a7d9-40d73e3f3472" providerId="ADAL" clId="{305AA11C-983F-4858-9A8C-739109440E06}" dt="2025-09-08T03:25:22.833" v="115" actId="403"/>
          <ac:spMkLst>
            <pc:docMk/>
            <pc:sldMk cId="1057091041" sldId="395"/>
            <ac:spMk id="13344" creationId="{00000000-0000-0000-0000-000000000000}"/>
          </ac:spMkLst>
        </pc:spChg>
      </pc:sldChg>
      <pc:sldChg chg="modSp mod modNotesTx">
        <pc:chgData name="YANG Guomin" userId="dccf0981-1625-43db-a7d9-40d73e3f3472" providerId="ADAL" clId="{305AA11C-983F-4858-9A8C-739109440E06}" dt="2025-09-08T03:20:26.800" v="100" actId="207"/>
        <pc:sldMkLst>
          <pc:docMk/>
          <pc:sldMk cId="2978575751" sldId="441"/>
        </pc:sldMkLst>
        <pc:spChg chg="mod">
          <ac:chgData name="YANG Guomin" userId="dccf0981-1625-43db-a7d9-40d73e3f3472" providerId="ADAL" clId="{305AA11C-983F-4858-9A8C-739109440E06}" dt="2025-09-08T03:20:26.800" v="100" actId="207"/>
          <ac:spMkLst>
            <pc:docMk/>
            <pc:sldMk cId="2978575751" sldId="441"/>
            <ac:spMk id="8197" creationId="{00000000-0000-0000-0000-000000000000}"/>
          </ac:spMkLst>
        </pc:spChg>
      </pc:sldChg>
      <pc:sldChg chg="modSp mod">
        <pc:chgData name="YANG Guomin" userId="dccf0981-1625-43db-a7d9-40d73e3f3472" providerId="ADAL" clId="{305AA11C-983F-4858-9A8C-739109440E06}" dt="2025-09-08T03:25:08.900" v="113" actId="207"/>
        <pc:sldMkLst>
          <pc:docMk/>
          <pc:sldMk cId="1925272545" sldId="442"/>
        </pc:sldMkLst>
        <pc:spChg chg="mod">
          <ac:chgData name="YANG Guomin" userId="dccf0981-1625-43db-a7d9-40d73e3f3472" providerId="ADAL" clId="{305AA11C-983F-4858-9A8C-739109440E06}" dt="2025-09-08T03:25:08.900" v="113" actId="207"/>
          <ac:spMkLst>
            <pc:docMk/>
            <pc:sldMk cId="1925272545" sldId="442"/>
            <ac:spMk id="12293" creationId="{00000000-0000-0000-0000-000000000000}"/>
          </ac:spMkLst>
        </pc:spChg>
      </pc:sldChg>
      <pc:sldChg chg="modSp mod">
        <pc:chgData name="YANG Guomin" userId="dccf0981-1625-43db-a7d9-40d73e3f3472" providerId="ADAL" clId="{305AA11C-983F-4858-9A8C-739109440E06}" dt="2025-09-08T03:24:57.358" v="112" actId="113"/>
        <pc:sldMkLst>
          <pc:docMk/>
          <pc:sldMk cId="2511969174" sldId="443"/>
        </pc:sldMkLst>
        <pc:spChg chg="mod">
          <ac:chgData name="YANG Guomin" userId="dccf0981-1625-43db-a7d9-40d73e3f3472" providerId="ADAL" clId="{305AA11C-983F-4858-9A8C-739109440E06}" dt="2025-09-08T03:24:57.358" v="112" actId="113"/>
          <ac:spMkLst>
            <pc:docMk/>
            <pc:sldMk cId="2511969174" sldId="443"/>
            <ac:spMk id="16389" creationId="{00000000-0000-0000-0000-000000000000}"/>
          </ac:spMkLst>
        </pc:spChg>
      </pc:sldChg>
      <pc:sldChg chg="modSp mod">
        <pc:chgData name="YANG Guomin" userId="dccf0981-1625-43db-a7d9-40d73e3f3472" providerId="ADAL" clId="{305AA11C-983F-4858-9A8C-739109440E06}" dt="2025-09-08T03:22:52.333" v="108" actId="207"/>
        <pc:sldMkLst>
          <pc:docMk/>
          <pc:sldMk cId="3371547078" sldId="460"/>
        </pc:sldMkLst>
        <pc:spChg chg="mod">
          <ac:chgData name="YANG Guomin" userId="dccf0981-1625-43db-a7d9-40d73e3f3472" providerId="ADAL" clId="{305AA11C-983F-4858-9A8C-739109440E06}" dt="2025-09-08T03:22:52.333" v="108" actId="207"/>
          <ac:spMkLst>
            <pc:docMk/>
            <pc:sldMk cId="3371547078" sldId="460"/>
            <ac:spMk id="404483" creationId="{00000000-0000-0000-0000-000000000000}"/>
          </ac:spMkLst>
        </pc:spChg>
      </pc:sldChg>
      <pc:sldChg chg="modSp">
        <pc:chgData name="YANG Guomin" userId="dccf0981-1625-43db-a7d9-40d73e3f3472" providerId="ADAL" clId="{305AA11C-983F-4858-9A8C-739109440E06}" dt="2025-09-08T03:23:24.939" v="110" actId="207"/>
        <pc:sldMkLst>
          <pc:docMk/>
          <pc:sldMk cId="576121422" sldId="465"/>
        </pc:sldMkLst>
        <pc:spChg chg="mod">
          <ac:chgData name="YANG Guomin" userId="dccf0981-1625-43db-a7d9-40d73e3f3472" providerId="ADAL" clId="{305AA11C-983F-4858-9A8C-739109440E06}" dt="2025-09-08T03:23:24.939" v="110" actId="207"/>
          <ac:spMkLst>
            <pc:docMk/>
            <pc:sldMk cId="576121422" sldId="465"/>
            <ac:spMk id="10245" creationId="{00000000-0000-0000-0000-000000000000}"/>
          </ac:spMkLst>
        </pc:spChg>
      </pc:sldChg>
      <pc:sldChg chg="modSp mod">
        <pc:chgData name="YANG Guomin" userId="dccf0981-1625-43db-a7d9-40d73e3f3472" providerId="ADAL" clId="{305AA11C-983F-4858-9A8C-739109440E06}" dt="2025-09-08T03:26:27.837" v="121" actId="20577"/>
        <pc:sldMkLst>
          <pc:docMk/>
          <pc:sldMk cId="2776190243" sldId="468"/>
        </pc:sldMkLst>
        <pc:spChg chg="mod">
          <ac:chgData name="YANG Guomin" userId="dccf0981-1625-43db-a7d9-40d73e3f3472" providerId="ADAL" clId="{305AA11C-983F-4858-9A8C-739109440E06}" dt="2025-09-08T03:26:27.837" v="121" actId="20577"/>
          <ac:spMkLst>
            <pc:docMk/>
            <pc:sldMk cId="2776190243" sldId="468"/>
            <ac:spMk id="8" creationId="{00000000-0000-0000-0000-000000000000}"/>
          </ac:spMkLst>
        </pc:spChg>
      </pc:sldChg>
      <pc:sldChg chg="modSp mod">
        <pc:chgData name="YANG Guomin" userId="dccf0981-1625-43db-a7d9-40d73e3f3472" providerId="ADAL" clId="{305AA11C-983F-4858-9A8C-739109440E06}" dt="2025-09-08T03:38:23.756" v="164" actId="207"/>
        <pc:sldMkLst>
          <pc:docMk/>
          <pc:sldMk cId="2017209221" sldId="469"/>
        </pc:sldMkLst>
        <pc:spChg chg="mod">
          <ac:chgData name="YANG Guomin" userId="dccf0981-1625-43db-a7d9-40d73e3f3472" providerId="ADAL" clId="{305AA11C-983F-4858-9A8C-739109440E06}" dt="2025-09-08T03:38:23.756" v="164" actId="207"/>
          <ac:spMkLst>
            <pc:docMk/>
            <pc:sldMk cId="2017209221" sldId="469"/>
            <ac:spMk id="241667" creationId="{00000000-0000-0000-0000-000000000000}"/>
          </ac:spMkLst>
        </pc:spChg>
      </pc:sldChg>
      <pc:sldChg chg="modSp mod">
        <pc:chgData name="YANG Guomin" userId="dccf0981-1625-43db-a7d9-40d73e3f3472" providerId="ADAL" clId="{305AA11C-983F-4858-9A8C-739109440E06}" dt="2025-09-08T03:27:48.422" v="131" actId="1076"/>
        <pc:sldMkLst>
          <pc:docMk/>
          <pc:sldMk cId="3121957545" sldId="470"/>
        </pc:sldMkLst>
      </pc:sldChg>
      <pc:sldChg chg="modSp mod">
        <pc:chgData name="YANG Guomin" userId="dccf0981-1625-43db-a7d9-40d73e3f3472" providerId="ADAL" clId="{305AA11C-983F-4858-9A8C-739109440E06}" dt="2025-09-08T03:21:54.817" v="105" actId="403"/>
        <pc:sldMkLst>
          <pc:docMk/>
          <pc:sldMk cId="2371270075" sldId="476"/>
        </pc:sldMkLst>
        <pc:spChg chg="mod">
          <ac:chgData name="YANG Guomin" userId="dccf0981-1625-43db-a7d9-40d73e3f3472" providerId="ADAL" clId="{305AA11C-983F-4858-9A8C-739109440E06}" dt="2025-09-08T03:21:51.108" v="103" actId="1076"/>
          <ac:spMkLst>
            <pc:docMk/>
            <pc:sldMk cId="2371270075" sldId="476"/>
            <ac:spMk id="6" creationId="{00000000-0000-0000-0000-000000000000}"/>
          </ac:spMkLst>
        </pc:spChg>
        <pc:spChg chg="mod">
          <ac:chgData name="YANG Guomin" userId="dccf0981-1625-43db-a7d9-40d73e3f3472" providerId="ADAL" clId="{305AA11C-983F-4858-9A8C-739109440E06}" dt="2025-09-08T03:21:54.817" v="105" actId="403"/>
          <ac:spMkLst>
            <pc:docMk/>
            <pc:sldMk cId="2371270075" sldId="476"/>
            <ac:spMk id="7" creationId="{00000000-0000-0000-0000-000000000000}"/>
          </ac:spMkLst>
        </pc:spChg>
      </pc:sldChg>
      <pc:sldChg chg="modSp mod modNotesTx">
        <pc:chgData name="YANG Guomin" userId="dccf0981-1625-43db-a7d9-40d73e3f3472" providerId="ADAL" clId="{305AA11C-983F-4858-9A8C-739109440E06}" dt="2025-09-08T02:57:14.170" v="1" actId="20577"/>
        <pc:sldMkLst>
          <pc:docMk/>
          <pc:sldMk cId="1904459839" sldId="481"/>
        </pc:sldMkLst>
        <pc:spChg chg="mod">
          <ac:chgData name="YANG Guomin" userId="dccf0981-1625-43db-a7d9-40d73e3f3472" providerId="ADAL" clId="{305AA11C-983F-4858-9A8C-739109440E06}" dt="2025-09-08T02:57:07.885" v="0" actId="1076"/>
          <ac:spMkLst>
            <pc:docMk/>
            <pc:sldMk cId="1904459839" sldId="481"/>
            <ac:spMk id="14340" creationId="{00000000-0000-0000-0000-000000000000}"/>
          </ac:spMkLst>
        </pc:spChg>
      </pc:sldChg>
      <pc:sldChg chg="modSp mod">
        <pc:chgData name="YANG Guomin" userId="dccf0981-1625-43db-a7d9-40d73e3f3472" providerId="ADAL" clId="{305AA11C-983F-4858-9A8C-739109440E06}" dt="2025-09-10T03:11:26.245" v="217" actId="20577"/>
        <pc:sldMkLst>
          <pc:docMk/>
          <pc:sldMk cId="2787740987" sldId="482"/>
        </pc:sldMkLst>
        <pc:spChg chg="mod">
          <ac:chgData name="YANG Guomin" userId="dccf0981-1625-43db-a7d9-40d73e3f3472" providerId="ADAL" clId="{305AA11C-983F-4858-9A8C-739109440E06}" dt="2025-09-10T03:11:26.245" v="217" actId="20577"/>
          <ac:spMkLst>
            <pc:docMk/>
            <pc:sldMk cId="2787740987" sldId="482"/>
            <ac:spMk id="2" creationId="{00000000-0000-0000-0000-000000000000}"/>
          </ac:spMkLst>
        </pc:spChg>
      </pc:sldChg>
      <pc:sldChg chg="modSp mod">
        <pc:chgData name="YANG Guomin" userId="dccf0981-1625-43db-a7d9-40d73e3f3472" providerId="ADAL" clId="{305AA11C-983F-4858-9A8C-739109440E06}" dt="2025-09-10T03:11:20.712" v="214" actId="20577"/>
        <pc:sldMkLst>
          <pc:docMk/>
          <pc:sldMk cId="3315067252" sldId="489"/>
        </pc:sldMkLst>
        <pc:spChg chg="mod">
          <ac:chgData name="YANG Guomin" userId="dccf0981-1625-43db-a7d9-40d73e3f3472" providerId="ADAL" clId="{305AA11C-983F-4858-9A8C-739109440E06}" dt="2025-09-10T03:11:20.712" v="214" actId="20577"/>
          <ac:spMkLst>
            <pc:docMk/>
            <pc:sldMk cId="3315067252" sldId="489"/>
            <ac:spMk id="2" creationId="{00000000-0000-0000-0000-000000000000}"/>
          </ac:spMkLst>
        </pc:spChg>
      </pc:sldChg>
      <pc:sldChg chg="modSp modNotesTx">
        <pc:chgData name="YANG Guomin" userId="dccf0981-1625-43db-a7d9-40d73e3f3472" providerId="ADAL" clId="{305AA11C-983F-4858-9A8C-739109440E06}" dt="2025-09-08T03:40:53.422" v="192" actId="20577"/>
        <pc:sldMkLst>
          <pc:docMk/>
          <pc:sldMk cId="1566031504" sldId="521"/>
        </pc:sldMkLst>
        <pc:spChg chg="mod">
          <ac:chgData name="YANG Guomin" userId="dccf0981-1625-43db-a7d9-40d73e3f3472" providerId="ADAL" clId="{305AA11C-983F-4858-9A8C-739109440E06}" dt="2025-09-08T03:40:53.422" v="192" actId="20577"/>
          <ac:spMkLst>
            <pc:docMk/>
            <pc:sldMk cId="1566031504" sldId="521"/>
            <ac:spMk id="45" creationId="{ABBCB804-09FA-4A45-BFC9-3A773A8CFDC8}"/>
          </ac:spMkLst>
        </pc:spChg>
      </pc:sldChg>
      <pc:sldChg chg="modSp mod">
        <pc:chgData name="YANG Guomin" userId="dccf0981-1625-43db-a7d9-40d73e3f3472" providerId="ADAL" clId="{305AA11C-983F-4858-9A8C-739109440E06}" dt="2025-09-08T03:41:10.044" v="206" actId="20577"/>
        <pc:sldMkLst>
          <pc:docMk/>
          <pc:sldMk cId="3589221223" sldId="522"/>
        </pc:sldMkLst>
        <pc:spChg chg="mod">
          <ac:chgData name="YANG Guomin" userId="dccf0981-1625-43db-a7d9-40d73e3f3472" providerId="ADAL" clId="{305AA11C-983F-4858-9A8C-739109440E06}" dt="2025-09-08T03:41:10.044" v="206" actId="20577"/>
          <ac:spMkLst>
            <pc:docMk/>
            <pc:sldMk cId="3589221223" sldId="522"/>
            <ac:spMk id="59" creationId="{A7BD9C8D-E8DE-0549-8E53-CB77660B87A9}"/>
          </ac:spMkLst>
        </pc:spChg>
      </pc:sldChg>
      <pc:sldChg chg="addSp delSp modSp mod addAnim delAnim modAnim">
        <pc:chgData name="YANG Guomin" userId="dccf0981-1625-43db-a7d9-40d73e3f3472" providerId="ADAL" clId="{305AA11C-983F-4858-9A8C-739109440E06}" dt="2025-09-08T03:37:50.520" v="162"/>
        <pc:sldMkLst>
          <pc:docMk/>
          <pc:sldMk cId="2656603268" sldId="525"/>
        </pc:sldMkLst>
        <pc:picChg chg="add del">
          <ac:chgData name="YANG Guomin" userId="dccf0981-1625-43db-a7d9-40d73e3f3472" providerId="ADAL" clId="{305AA11C-983F-4858-9A8C-739109440E06}" dt="2025-09-08T03:31:46.786" v="154" actId="478"/>
          <ac:picMkLst>
            <pc:docMk/>
            <pc:sldMk cId="2656603268" sldId="525"/>
            <ac:picMk id="12" creationId="{00000000-0000-0000-0000-000000000000}"/>
          </ac:picMkLst>
        </pc:picChg>
        <pc:picChg chg="add del">
          <ac:chgData name="YANG Guomin" userId="dccf0981-1625-43db-a7d9-40d73e3f3472" providerId="ADAL" clId="{305AA11C-983F-4858-9A8C-739109440E06}" dt="2025-09-08T03:31:46.786" v="154" actId="478"/>
          <ac:picMkLst>
            <pc:docMk/>
            <pc:sldMk cId="2656603268" sldId="525"/>
            <ac:picMk id="13" creationId="{00000000-0000-0000-0000-000000000000}"/>
          </ac:picMkLst>
        </pc:picChg>
        <pc:picChg chg="add del">
          <ac:chgData name="YANG Guomin" userId="dccf0981-1625-43db-a7d9-40d73e3f3472" providerId="ADAL" clId="{305AA11C-983F-4858-9A8C-739109440E06}" dt="2025-09-08T03:31:46.786" v="154" actId="478"/>
          <ac:picMkLst>
            <pc:docMk/>
            <pc:sldMk cId="2656603268" sldId="525"/>
            <ac:picMk id="14" creationId="{00000000-0000-0000-0000-000000000000}"/>
          </ac:picMkLst>
        </pc:picChg>
        <pc:picChg chg="add del">
          <ac:chgData name="YANG Guomin" userId="dccf0981-1625-43db-a7d9-40d73e3f3472" providerId="ADAL" clId="{305AA11C-983F-4858-9A8C-739109440E06}" dt="2025-09-08T03:31:46.786" v="154" actId="478"/>
          <ac:picMkLst>
            <pc:docMk/>
            <pc:sldMk cId="2656603268" sldId="525"/>
            <ac:picMk id="15" creationId="{00000000-0000-0000-0000-000000000000}"/>
          </ac:picMkLst>
        </pc:picChg>
        <pc:picChg chg="add del">
          <ac:chgData name="YANG Guomin" userId="dccf0981-1625-43db-a7d9-40d73e3f3472" providerId="ADAL" clId="{305AA11C-983F-4858-9A8C-739109440E06}" dt="2025-09-08T03:31:46.786" v="154" actId="478"/>
          <ac:picMkLst>
            <pc:docMk/>
            <pc:sldMk cId="2656603268" sldId="525"/>
            <ac:picMk id="16" creationId="{00000000-0000-0000-0000-000000000000}"/>
          </ac:picMkLst>
        </pc:picChg>
        <pc:picChg chg="add del">
          <ac:chgData name="YANG Guomin" userId="dccf0981-1625-43db-a7d9-40d73e3f3472" providerId="ADAL" clId="{305AA11C-983F-4858-9A8C-739109440E06}" dt="2025-09-08T03:31:46.786" v="154" actId="478"/>
          <ac:picMkLst>
            <pc:docMk/>
            <pc:sldMk cId="2656603268" sldId="525"/>
            <ac:picMk id="17" creationId="{00000000-0000-0000-0000-000000000000}"/>
          </ac:picMkLst>
        </pc:picChg>
        <pc:picChg chg="add del">
          <ac:chgData name="YANG Guomin" userId="dccf0981-1625-43db-a7d9-40d73e3f3472" providerId="ADAL" clId="{305AA11C-983F-4858-9A8C-739109440E06}" dt="2025-09-08T03:31:46.786" v="154" actId="478"/>
          <ac:picMkLst>
            <pc:docMk/>
            <pc:sldMk cId="2656603268" sldId="525"/>
            <ac:picMk id="18" creationId="{00000000-0000-0000-0000-000000000000}"/>
          </ac:picMkLst>
        </pc:picChg>
        <pc:picChg chg="add del">
          <ac:chgData name="YANG Guomin" userId="dccf0981-1625-43db-a7d9-40d73e3f3472" providerId="ADAL" clId="{305AA11C-983F-4858-9A8C-739109440E06}" dt="2025-09-08T03:31:46.786" v="154" actId="478"/>
          <ac:picMkLst>
            <pc:docMk/>
            <pc:sldMk cId="2656603268" sldId="525"/>
            <ac:picMk id="19" creationId="{D4883013-80E9-BD4D-B21A-9578ACEB80B8}"/>
          </ac:picMkLst>
        </pc:picChg>
        <pc:picChg chg="add del">
          <ac:chgData name="YANG Guomin" userId="dccf0981-1625-43db-a7d9-40d73e3f3472" providerId="ADAL" clId="{305AA11C-983F-4858-9A8C-739109440E06}" dt="2025-09-08T03:31:46.786" v="154" actId="478"/>
          <ac:picMkLst>
            <pc:docMk/>
            <pc:sldMk cId="2656603268" sldId="525"/>
            <ac:picMk id="20" creationId="{00000000-0000-0000-0000-000000000000}"/>
          </ac:picMkLst>
        </pc:picChg>
        <pc:picChg chg="add del">
          <ac:chgData name="YANG Guomin" userId="dccf0981-1625-43db-a7d9-40d73e3f3472" providerId="ADAL" clId="{305AA11C-983F-4858-9A8C-739109440E06}" dt="2025-09-08T03:31:46.786" v="154" actId="478"/>
          <ac:picMkLst>
            <pc:docMk/>
            <pc:sldMk cId="2656603268" sldId="525"/>
            <ac:picMk id="21" creationId="{00000000-0000-0000-0000-000000000000}"/>
          </ac:picMkLst>
        </pc:picChg>
      </pc:sldChg>
    </pc:docChg>
  </pc:docChgLst>
  <pc:docChgLst>
    <pc:chgData name="YANG Guomin" userId="dccf0981-1625-43db-a7d9-40d73e3f3472" providerId="ADAL" clId="{110725CE-DC06-48E1-B814-E29954781E6C}"/>
    <pc:docChg chg="modSld">
      <pc:chgData name="YANG Guomin" userId="dccf0981-1625-43db-a7d9-40d73e3f3472" providerId="ADAL" clId="{110725CE-DC06-48E1-B814-E29954781E6C}" dt="2024-09-10T13:14:32.021" v="19"/>
      <pc:docMkLst>
        <pc:docMk/>
      </pc:docMkLst>
      <pc:sldChg chg="modSp mod modAnim">
        <pc:chgData name="YANG Guomin" userId="dccf0981-1625-43db-a7d9-40d73e3f3472" providerId="ADAL" clId="{110725CE-DC06-48E1-B814-E29954781E6C}" dt="2024-09-10T13:14:32.021" v="19"/>
        <pc:sldMkLst>
          <pc:docMk/>
          <pc:sldMk cId="2776190243" sldId="468"/>
        </pc:sldMkLst>
      </pc:sldChg>
      <pc:sldChg chg="addSp modSp mod">
        <pc:chgData name="YANG Guomin" userId="dccf0981-1625-43db-a7d9-40d73e3f3472" providerId="ADAL" clId="{110725CE-DC06-48E1-B814-E29954781E6C}" dt="2024-09-10T12:59:35.978" v="8" actId="1076"/>
        <pc:sldMkLst>
          <pc:docMk/>
          <pc:sldMk cId="1904459839" sldId="481"/>
        </pc:sldMkLst>
      </pc:sldChg>
      <pc:sldChg chg="modSp mod">
        <pc:chgData name="YANG Guomin" userId="dccf0981-1625-43db-a7d9-40d73e3f3472" providerId="ADAL" clId="{110725CE-DC06-48E1-B814-E29954781E6C}" dt="2024-09-10T12:57:23.960" v="1" actId="20577"/>
        <pc:sldMkLst>
          <pc:docMk/>
          <pc:sldMk cId="3589221223" sldId="522"/>
        </pc:sldMkLst>
      </pc:sldChg>
      <pc:sldChg chg="modSp mod">
        <pc:chgData name="YANG Guomin" userId="dccf0981-1625-43db-a7d9-40d73e3f3472" providerId="ADAL" clId="{110725CE-DC06-48E1-B814-E29954781E6C}" dt="2024-09-10T12:57:07.549" v="0" actId="20577"/>
        <pc:sldMkLst>
          <pc:docMk/>
          <pc:sldMk cId="3023085051" sldId="524"/>
        </pc:sldMkLst>
      </pc:sldChg>
    </pc:docChg>
  </pc:docChgLst>
  <pc:docChgLst>
    <pc:chgData name="YANG Guomin" userId="dccf0981-1625-43db-a7d9-40d73e3f3472" providerId="ADAL" clId="{21B00C38-735A-4629-84FD-EACB385A4135}"/>
    <pc:docChg chg="undo redo custSel addSld delSld modSld sldOrd">
      <pc:chgData name="YANG Guomin" userId="dccf0981-1625-43db-a7d9-40d73e3f3472" providerId="ADAL" clId="{21B00C38-735A-4629-84FD-EACB385A4135}" dt="2023-09-07T03:04:06.700" v="73" actId="478"/>
      <pc:docMkLst>
        <pc:docMk/>
      </pc:docMkLst>
      <pc:sldChg chg="modSp mod">
        <pc:chgData name="YANG Guomin" userId="dccf0981-1625-43db-a7d9-40d73e3f3472" providerId="ADAL" clId="{21B00C38-735A-4629-84FD-EACB385A4135}" dt="2023-09-07T02:50:36.262" v="63" actId="20577"/>
        <pc:sldMkLst>
          <pc:docMk/>
          <pc:sldMk cId="2978575751" sldId="441"/>
        </pc:sldMkLst>
      </pc:sldChg>
      <pc:sldChg chg="modSp mod">
        <pc:chgData name="YANG Guomin" userId="dccf0981-1625-43db-a7d9-40d73e3f3472" providerId="ADAL" clId="{21B00C38-735A-4629-84FD-EACB385A4135}" dt="2023-09-07T02:58:33.883" v="72" actId="20577"/>
        <pc:sldMkLst>
          <pc:docMk/>
          <pc:sldMk cId="2511969174" sldId="443"/>
        </pc:sldMkLst>
      </pc:sldChg>
      <pc:sldChg chg="modSp mod">
        <pc:chgData name="YANG Guomin" userId="dccf0981-1625-43db-a7d9-40d73e3f3472" providerId="ADAL" clId="{21B00C38-735A-4629-84FD-EACB385A4135}" dt="2023-09-07T02:54:55.016" v="66" actId="20577"/>
        <pc:sldMkLst>
          <pc:docMk/>
          <pc:sldMk cId="3371547078" sldId="460"/>
        </pc:sldMkLst>
      </pc:sldChg>
      <pc:sldChg chg="addSp delSp modSp mod">
        <pc:chgData name="YANG Guomin" userId="dccf0981-1625-43db-a7d9-40d73e3f3472" providerId="ADAL" clId="{21B00C38-735A-4629-84FD-EACB385A4135}" dt="2023-09-07T02:49:40.839" v="58" actId="1076"/>
        <pc:sldMkLst>
          <pc:docMk/>
          <pc:sldMk cId="2236615410" sldId="475"/>
        </pc:sldMkLst>
      </pc:sldChg>
      <pc:sldChg chg="modSp del mod">
        <pc:chgData name="YANG Guomin" userId="dccf0981-1625-43db-a7d9-40d73e3f3472" providerId="ADAL" clId="{21B00C38-735A-4629-84FD-EACB385A4135}" dt="2023-09-07T02:31:21.560" v="4" actId="47"/>
        <pc:sldMkLst>
          <pc:docMk/>
          <pc:sldMk cId="2995211682" sldId="484"/>
        </pc:sldMkLst>
      </pc:sldChg>
      <pc:sldChg chg="modSp add mod">
        <pc:chgData name="YANG Guomin" userId="dccf0981-1625-43db-a7d9-40d73e3f3472" providerId="ADAL" clId="{21B00C38-735A-4629-84FD-EACB385A4135}" dt="2023-09-07T02:31:30.036" v="11" actId="20577"/>
        <pc:sldMkLst>
          <pc:docMk/>
          <pc:sldMk cId="1566031504" sldId="521"/>
        </pc:sldMkLst>
      </pc:sldChg>
      <pc:sldChg chg="delSp modSp add mod delAnim">
        <pc:chgData name="YANG Guomin" userId="dccf0981-1625-43db-a7d9-40d73e3f3472" providerId="ADAL" clId="{21B00C38-735A-4629-84FD-EACB385A4135}" dt="2023-09-07T03:04:06.700" v="73" actId="478"/>
        <pc:sldMkLst>
          <pc:docMk/>
          <pc:sldMk cId="3589221223" sldId="522"/>
        </pc:sldMkLst>
      </pc:sldChg>
      <pc:sldChg chg="add ord">
        <pc:chgData name="YANG Guomin" userId="dccf0981-1625-43db-a7d9-40d73e3f3472" providerId="ADAL" clId="{21B00C38-735A-4629-84FD-EACB385A4135}" dt="2023-09-07T02:32:29.710" v="14"/>
        <pc:sldMkLst>
          <pc:docMk/>
          <pc:sldMk cId="2162791789" sldId="523"/>
        </pc:sldMkLst>
      </pc:sldChg>
      <pc:sldChg chg="add ord">
        <pc:chgData name="YANG Guomin" userId="dccf0981-1625-43db-a7d9-40d73e3f3472" providerId="ADAL" clId="{21B00C38-735A-4629-84FD-EACB385A4135}" dt="2023-09-07T02:32:31.745" v="16"/>
        <pc:sldMkLst>
          <pc:docMk/>
          <pc:sldMk cId="3023085051" sldId="524"/>
        </pc:sldMkLst>
      </pc:sldChg>
    </pc:docChg>
  </pc:docChgLst>
  <pc:docChgLst>
    <pc:chgData name="YANG Guomin" userId="dccf0981-1625-43db-a7d9-40d73e3f3472" providerId="ADAL" clId="{D0FC2D5C-653A-401A-AC07-DB0131A7C35F}"/>
    <pc:docChg chg="undo custSel addSld modSld sldOrd">
      <pc:chgData name="YANG Guomin" userId="dccf0981-1625-43db-a7d9-40d73e3f3472" providerId="ADAL" clId="{D0FC2D5C-653A-401A-AC07-DB0131A7C35F}" dt="2024-09-13T02:55:39.587" v="296" actId="20577"/>
      <pc:docMkLst>
        <pc:docMk/>
      </pc:docMkLst>
      <pc:sldChg chg="modSp mod">
        <pc:chgData name="YANG Guomin" userId="dccf0981-1625-43db-a7d9-40d73e3f3472" providerId="ADAL" clId="{D0FC2D5C-653A-401A-AC07-DB0131A7C35F}" dt="2024-09-13T02:44:42.658" v="96" actId="207"/>
        <pc:sldMkLst>
          <pc:docMk/>
          <pc:sldMk cId="2511969174" sldId="443"/>
        </pc:sldMkLst>
      </pc:sldChg>
      <pc:sldChg chg="add">
        <pc:chgData name="YANG Guomin" userId="dccf0981-1625-43db-a7d9-40d73e3f3472" providerId="ADAL" clId="{D0FC2D5C-653A-401A-AC07-DB0131A7C35F}" dt="2024-09-13T02:45:36.782" v="97"/>
        <pc:sldMkLst>
          <pc:docMk/>
          <pc:sldMk cId="3646747150" sldId="466"/>
        </pc:sldMkLst>
      </pc:sldChg>
      <pc:sldChg chg="delSp modSp add mod">
        <pc:chgData name="YANG Guomin" userId="dccf0981-1625-43db-a7d9-40d73e3f3472" providerId="ADAL" clId="{D0FC2D5C-653A-401A-AC07-DB0131A7C35F}" dt="2024-09-13T02:46:58.494" v="101" actId="1076"/>
        <pc:sldMkLst>
          <pc:docMk/>
          <pc:sldMk cId="3305619444" sldId="467"/>
        </pc:sldMkLst>
      </pc:sldChg>
      <pc:sldChg chg="add">
        <pc:chgData name="YANG Guomin" userId="dccf0981-1625-43db-a7d9-40d73e3f3472" providerId="ADAL" clId="{D0FC2D5C-653A-401A-AC07-DB0131A7C35F}" dt="2024-09-13T02:45:36.782" v="97"/>
        <pc:sldMkLst>
          <pc:docMk/>
          <pc:sldMk cId="2017209221" sldId="469"/>
        </pc:sldMkLst>
      </pc:sldChg>
      <pc:sldChg chg="addSp modSp add mod">
        <pc:chgData name="YANG Guomin" userId="dccf0981-1625-43db-a7d9-40d73e3f3472" providerId="ADAL" clId="{D0FC2D5C-653A-401A-AC07-DB0131A7C35F}" dt="2024-09-13T02:48:46.328" v="211" actId="13926"/>
        <pc:sldMkLst>
          <pc:docMk/>
          <pc:sldMk cId="3121957545" sldId="470"/>
        </pc:sldMkLst>
      </pc:sldChg>
      <pc:sldChg chg="modSp add mod">
        <pc:chgData name="YANG Guomin" userId="dccf0981-1625-43db-a7d9-40d73e3f3472" providerId="ADAL" clId="{D0FC2D5C-653A-401A-AC07-DB0131A7C35F}" dt="2024-09-13T02:49:23.652" v="261" actId="20577"/>
        <pc:sldMkLst>
          <pc:docMk/>
          <pc:sldMk cId="522809477" sldId="471"/>
        </pc:sldMkLst>
      </pc:sldChg>
      <pc:sldChg chg="addSp modSp mod">
        <pc:chgData name="YANG Guomin" userId="dccf0981-1625-43db-a7d9-40d73e3f3472" providerId="ADAL" clId="{D0FC2D5C-653A-401A-AC07-DB0131A7C35F}" dt="2024-09-13T02:43:54.357" v="94" actId="1076"/>
        <pc:sldMkLst>
          <pc:docMk/>
          <pc:sldMk cId="2236615410" sldId="475"/>
        </pc:sldMkLst>
      </pc:sldChg>
      <pc:sldChg chg="modSp mod ord">
        <pc:chgData name="YANG Guomin" userId="dccf0981-1625-43db-a7d9-40d73e3f3472" providerId="ADAL" clId="{D0FC2D5C-653A-401A-AC07-DB0131A7C35F}" dt="2024-09-13T02:53:37.869" v="267" actId="20577"/>
        <pc:sldMkLst>
          <pc:docMk/>
          <pc:sldMk cId="2787740987" sldId="482"/>
        </pc:sldMkLst>
      </pc:sldChg>
      <pc:sldChg chg="add">
        <pc:chgData name="YANG Guomin" userId="dccf0981-1625-43db-a7d9-40d73e3f3472" providerId="ADAL" clId="{D0FC2D5C-653A-401A-AC07-DB0131A7C35F}" dt="2024-09-13T02:52:54.075" v="262"/>
        <pc:sldMkLst>
          <pc:docMk/>
          <pc:sldMk cId="3315067252" sldId="489"/>
        </pc:sldMkLst>
      </pc:sldChg>
      <pc:sldChg chg="add">
        <pc:chgData name="YANG Guomin" userId="dccf0981-1625-43db-a7d9-40d73e3f3472" providerId="ADAL" clId="{D0FC2D5C-653A-401A-AC07-DB0131A7C35F}" dt="2024-09-13T02:45:36.782" v="97"/>
        <pc:sldMkLst>
          <pc:docMk/>
          <pc:sldMk cId="2656603268" sldId="525"/>
        </pc:sldMkLst>
      </pc:sldChg>
      <pc:sldChg chg="modSp add mod modAnim">
        <pc:chgData name="YANG Guomin" userId="dccf0981-1625-43db-a7d9-40d73e3f3472" providerId="ADAL" clId="{D0FC2D5C-653A-401A-AC07-DB0131A7C35F}" dt="2024-09-13T02:55:39.587" v="296" actId="20577"/>
        <pc:sldMkLst>
          <pc:docMk/>
          <pc:sldMk cId="3151396038" sldId="63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673EB9-E5D1-A54E-A9D3-4C892F846E92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AC55CD-2926-6C41-9353-D8934592F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61950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3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83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83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57C2F54B-C96C-4BC3-A1C9-0690152BC6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6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70389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2014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818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57C4F5-E8D4-4DEE-8611-0156B8F58791}" type="slidenum">
              <a:rPr lang="en-US"/>
              <a:pPr/>
              <a:t>8</a:t>
            </a:fld>
            <a:endParaRPr lang="en-US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8419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D6A553B-5D05-4C19-B306-8EE8F7B95CCE}" type="slidenum">
              <a:rPr lang="en-US"/>
              <a:pPr/>
              <a:t>9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6461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1F81D7-2BD1-4099-973F-B821E20FB7F4}" type="slidenum">
              <a:rPr lang="en-US"/>
              <a:pPr/>
              <a:t>10</a:t>
            </a:fld>
            <a:endParaRPr 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3183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C2F54B-C96C-4BC3-A1C9-0690152BC6EC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7629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if </a:t>
            </a:r>
            <a:r>
              <a:rPr lang="en-US" dirty="0" err="1"/>
              <a:t>url</a:t>
            </a:r>
            <a:r>
              <a:rPr lang="en-US" dirty="0"/>
              <a:t> same</a:t>
            </a:r>
          </a:p>
          <a:p>
            <a:r>
              <a:rPr lang="en-US" dirty="0"/>
              <a:t>Check if it is in the trusted source of CA</a:t>
            </a:r>
          </a:p>
          <a:p>
            <a:r>
              <a:rPr lang="en-US" dirty="0"/>
              <a:t>Check if it is expired or not </a:t>
            </a:r>
          </a:p>
          <a:p>
            <a:r>
              <a:rPr lang="en-US" dirty="0"/>
              <a:t>Check if it is in revocation or not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C2F54B-C96C-4BC3-A1C9-0690152BC6E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419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Compulsory is URL and domain checking with the receiver.</a:t>
            </a:r>
          </a:p>
          <a:p>
            <a:r>
              <a:rPr lang="en-US" dirty="0"/>
              <a:t>Validity period</a:t>
            </a:r>
          </a:p>
          <a:p>
            <a:r>
              <a:rPr lang="en-US" dirty="0"/>
              <a:t>Verify the signature</a:t>
            </a:r>
          </a:p>
          <a:p>
            <a:endParaRPr lang="en-US" dirty="0"/>
          </a:p>
          <a:p>
            <a:r>
              <a:rPr lang="en-US" dirty="0"/>
              <a:t>CRL is loosely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C2F54B-C96C-4BC3-A1C9-0690152BC6EC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704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75AFABF-46F4-4FB2-93F6-E94B59DFFCBB}" type="slidenum">
              <a:rPr lang="en-US"/>
              <a:pPr/>
              <a:t>23</a:t>
            </a:fld>
            <a:endParaRPr lang="en-U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8626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C8B3C7-F319-40B0-BC6F-58A2AADBDD19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0683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D4FAC-B258-624A-81B3-9D14B008603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608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514601"/>
            <a:ext cx="10363200" cy="7016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519113"/>
          </a:xfrm>
        </p:spPr>
        <p:txBody>
          <a:bodyPr/>
          <a:lstStyle>
            <a:lvl1pPr marL="0" indent="0" algn="ctr">
              <a:buFontTx/>
              <a:buNone/>
              <a:defRPr sz="2800" b="1"/>
            </a:lvl1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477000"/>
            <a:ext cx="1727200" cy="3810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2336800" y="6477000"/>
            <a:ext cx="58928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477000"/>
            <a:ext cx="2844800" cy="381000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B576E1FE-D46A-4A89-B895-6FD4B80B8B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5141" name="Picture 21" descr="FOS_H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0" y="104777"/>
            <a:ext cx="1303866" cy="657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0985AD-1335-CF45-9AA3-8F5CD4EE4D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31259"/>
            <a:ext cx="1828800" cy="5900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7DA8A-A668-4056-92C5-6EB6B12BA1D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95400"/>
            <a:ext cx="5384800" cy="20005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95400"/>
            <a:ext cx="5384800" cy="20005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45ED67-E93A-4804-92A9-55796F95E25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22972"/>
            <a:ext cx="10972800" cy="646331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13210"/>
            <a:ext cx="5386917" cy="4616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175432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713210"/>
            <a:ext cx="5389033" cy="4616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175432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A60613-45D4-49D6-8C59-60284698370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77263-22BF-46FA-AAAE-E0DB7B5AB5E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08154-32BB-4934-BCDE-DDE4206D08E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53134"/>
            <a:ext cx="10363200" cy="6463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447800"/>
            <a:ext cx="5080000" cy="27761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47800"/>
            <a:ext cx="5080000" cy="27761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3048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Yingjiu Li 2007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143E2E-C669-4605-8125-2EED450D82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349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FCD11AF-F143-4E95-9F76-FBF526213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onnsiteX0" fmla="*/ 0 w 10840451"/>
              <a:gd name="connsiteY0" fmla="*/ 0 h 584828"/>
              <a:gd name="connsiteX1" fmla="*/ 10840451 w 10840451"/>
              <a:gd name="connsiteY1" fmla="*/ 0 h 584828"/>
              <a:gd name="connsiteX2" fmla="*/ 10840451 w 10840451"/>
              <a:gd name="connsiteY2" fmla="*/ 584828 h 584828"/>
              <a:gd name="connsiteX3" fmla="*/ 0 w 10840451"/>
              <a:gd name="connsiteY3" fmla="*/ 584828 h 584828"/>
              <a:gd name="connsiteX4" fmla="*/ 0 w 10840451"/>
              <a:gd name="connsiteY4" fmla="*/ 0 h 584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B1108A6-71D4-4871-A524-4FC6C414A6F8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EB485F1-9C7A-4089-BC0C-E0EC4F8CDA6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2831977" y="6347537"/>
            <a:ext cx="6604986" cy="510464"/>
          </a:xfrm>
        </p:spPr>
        <p:txBody>
          <a:bodyPr anchor="b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3ACFFB6-D74F-46F9-BA08-950DC89D9A9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666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bg>
      <p:bgPr>
        <a:solidFill>
          <a:schemeClr val="bg1">
            <a:alpha val="58824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8A8981B-AC8B-4A35-AA1C-761B40FAB541}"/>
              </a:ext>
            </a:extLst>
          </p:cNvPr>
          <p:cNvSpPr txBox="1"/>
          <p:nvPr userDrawn="1"/>
        </p:nvSpPr>
        <p:spPr>
          <a:xfrm>
            <a:off x="11754034" y="6550223"/>
            <a:ext cx="437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D86BCF-B0C7-40BD-8691-2D73369643C4}" type="slidenum">
              <a:rPr lang="en-SG" sz="1400" smtClean="0">
                <a:latin typeface="Arial Nova" panose="020B05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pPr algn="ctr"/>
              <a:t>‹#›</a:t>
            </a:fld>
            <a:endParaRPr lang="en-SG" sz="1400" dirty="0">
              <a:latin typeface="Arial Nova" panose="020B0504020202020204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868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6629400"/>
            <a:ext cx="12192000" cy="228600"/>
          </a:xfrm>
          <a:prstGeom prst="rect">
            <a:avLst/>
          </a:prstGeom>
          <a:solidFill>
            <a:srgbClr val="C692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>
              <a:solidFill>
                <a:srgbClr val="115DA3"/>
              </a:solidFill>
            </a:endParaRP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288925"/>
            <a:ext cx="11074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95400"/>
            <a:ext cx="10972800" cy="2283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553200"/>
            <a:ext cx="1524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800"/>
            </a:lvl1pPr>
          </a:lstStyle>
          <a:p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35200" y="6553200"/>
            <a:ext cx="7010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278533" y="6629400"/>
            <a:ext cx="17272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/>
            </a:lvl1pPr>
          </a:lstStyle>
          <a:p>
            <a:pPr>
              <a:defRPr/>
            </a:pPr>
            <a:fld id="{2864FEDC-6772-4B18-8481-29DFFB59064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B0DA44-52F5-3B47-8B8F-48A32E22FA62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6185767"/>
            <a:ext cx="1313574" cy="4055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AE2EE86-B917-D94E-9C50-F466D837933F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969522" y="6185767"/>
            <a:ext cx="1273277" cy="5122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47FF41-1C11-DEB0-3AD7-123BDC619E0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80050" y="63500"/>
            <a:ext cx="125412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SMU Classification: Restricted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C692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C69200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C69200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C69200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C69200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C69200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C69200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C69200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C69200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wmf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wmf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etf.org/html.charters/pkix-charter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Mercury_Browser" TargetMode="External"/><Relationship Id="rId5" Type="http://schemas.openxmlformats.org/officeDocument/2006/relationships/image" Target="../media/image11.png"/><Relationship Id="rId10" Type="http://schemas.openxmlformats.org/officeDocument/2006/relationships/hyperlink" Target="https://commons.wikimedia.org/wiki/File:Application-certificate.svg" TargetMode="External"/><Relationship Id="rId4" Type="http://schemas.openxmlformats.org/officeDocument/2006/relationships/hyperlink" Target="https://stackoverflow.com/questions/23439339/three-js-technique-for-turning-a-transparent-png-into-a-3d-card-with-the-geo" TargetMode="External"/><Relationship Id="rId9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hyperlink" Target="https://stackoverflow.com/questions/23439339/three-js-technique-for-turning-a-transparent-png-into-a-3d-card-with-the-geo" TargetMode="External"/><Relationship Id="rId7" Type="http://schemas.openxmlformats.org/officeDocument/2006/relationships/image" Target="../media/image13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hyperlink" Target="https://en.wikipedia.org/wiki/Mercury_Browser" TargetMode="External"/><Relationship Id="rId4" Type="http://schemas.openxmlformats.org/officeDocument/2006/relationships/image" Target="../media/image11.png"/><Relationship Id="rId9" Type="http://schemas.openxmlformats.org/officeDocument/2006/relationships/hyperlink" Target="https://commons.wikimedia.org/wiki/File:Application-certificate.svg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23392" y="2080609"/>
            <a:ext cx="10585176" cy="1569660"/>
          </a:xfrm>
        </p:spPr>
        <p:txBody>
          <a:bodyPr/>
          <a:lstStyle/>
          <a:p>
            <a:pPr eaLnBrk="1" hangingPunct="1"/>
            <a:r>
              <a:rPr lang="en-US" sz="4800" dirty="0"/>
              <a:t>CS440 Foundation of Cybersecurity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Week 5: Public Key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492" y="70946"/>
            <a:ext cx="8305800" cy="641350"/>
          </a:xfrm>
        </p:spPr>
        <p:txBody>
          <a:bodyPr/>
          <a:lstStyle/>
          <a:p>
            <a:r>
              <a:rPr lang="en-US" dirty="0"/>
              <a:t>Recap of Week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9492" y="980728"/>
            <a:ext cx="10737108" cy="4093428"/>
          </a:xfrm>
        </p:spPr>
        <p:txBody>
          <a:bodyPr/>
          <a:lstStyle/>
          <a:p>
            <a:r>
              <a:rPr lang="en-US" sz="2400" dirty="0"/>
              <a:t>Integrity: to detect whether data is modified by an unauthorized entity</a:t>
            </a:r>
          </a:p>
          <a:p>
            <a:r>
              <a:rPr lang="en-US" sz="2400" dirty="0"/>
              <a:t>High level idea: message + tag with two principles: (1) tag is generated using a secret; (2) tag is closely bound to message.</a:t>
            </a:r>
          </a:p>
          <a:p>
            <a:r>
              <a:rPr lang="en-US" sz="2400" dirty="0"/>
              <a:t>Symmetric key based solution:</a:t>
            </a:r>
          </a:p>
          <a:p>
            <a:pPr lvl="1"/>
            <a:r>
              <a:rPr lang="en-US" sz="2000" dirty="0"/>
              <a:t>HMAC: use a hash function with a key. Understand the three properties of a hash function.</a:t>
            </a:r>
          </a:p>
          <a:p>
            <a:r>
              <a:rPr lang="en-US" sz="2400" dirty="0"/>
              <a:t>Asymmetric key based solution:</a:t>
            </a:r>
          </a:p>
          <a:p>
            <a:pPr lvl="1"/>
            <a:r>
              <a:rPr lang="en-US" sz="2000" dirty="0"/>
              <a:t>RSA signatures. Remember the steps of signing and verification.</a:t>
            </a:r>
            <a:endParaRPr lang="en-US" sz="2400" dirty="0"/>
          </a:p>
          <a:p>
            <a:r>
              <a:rPr lang="en-US" sz="2400" dirty="0"/>
              <a:t>Understand how to compare HMAC with RSA signatures</a:t>
            </a:r>
          </a:p>
          <a:p>
            <a:r>
              <a:rPr lang="en-US" sz="2400" dirty="0"/>
              <a:t>Understand how to use RSA signatures and RSA encryption.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869BCE-D170-4E8E-8001-31554DBA6AA7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907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2430" y="1268760"/>
            <a:ext cx="11190194" cy="3736407"/>
          </a:xfrm>
        </p:spPr>
        <p:txBody>
          <a:bodyPr/>
          <a:lstStyle/>
          <a:p>
            <a:r>
              <a:rPr lang="en-US" dirty="0"/>
              <a:t>Introduction of the concept of certificates and Public Key Infrastructure (PKI).</a:t>
            </a:r>
          </a:p>
          <a:p>
            <a:r>
              <a:rPr lang="en-US" dirty="0"/>
              <a:t>Four important procedures.</a:t>
            </a:r>
          </a:p>
          <a:p>
            <a:pPr lvl="1"/>
            <a:r>
              <a:rPr lang="en-US" dirty="0"/>
              <a:t>certificate request generation (by public key owner)</a:t>
            </a:r>
          </a:p>
          <a:p>
            <a:pPr lvl="1"/>
            <a:r>
              <a:rPr lang="en-US" dirty="0"/>
              <a:t>certificate issuance (by CA)</a:t>
            </a:r>
          </a:p>
          <a:p>
            <a:pPr lvl="1"/>
            <a:r>
              <a:rPr lang="en-US" dirty="0"/>
              <a:t>certificate verification (by verifier)</a:t>
            </a:r>
          </a:p>
          <a:p>
            <a:pPr lvl="1"/>
            <a:r>
              <a:rPr lang="en-US" dirty="0"/>
              <a:t>certificate revocation (by CA)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869BCE-D170-4E8E-8001-31554DBA6AA7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280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Consider Hybrid Encryption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B21B4-BDD8-9940-8CE5-DAF64F653F33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26CB157-F202-3A46-B1A2-D57D3DCCFCC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76500" y="1973262"/>
            <a:ext cx="1143000" cy="128716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12F48EC-2361-774D-8B06-858B8C82A191}"/>
              </a:ext>
            </a:extLst>
          </p:cNvPr>
          <p:cNvSpPr txBox="1"/>
          <p:nvPr/>
        </p:nvSpPr>
        <p:spPr>
          <a:xfrm>
            <a:off x="2628900" y="1439862"/>
            <a:ext cx="863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ysClr val="windowText" lastClr="000000"/>
                </a:solidFill>
                <a:latin typeface="Times New Roman" pitchFamily="18" charset="0"/>
              </a:rPr>
              <a:t>Alice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6F0E430-FD97-0142-B61A-CABD851BF2E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801100" y="2049462"/>
            <a:ext cx="914400" cy="108284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0BA6CAC-D291-464F-8F7C-EB6A86136ECA}"/>
              </a:ext>
            </a:extLst>
          </p:cNvPr>
          <p:cNvSpPr txBox="1"/>
          <p:nvPr/>
        </p:nvSpPr>
        <p:spPr>
          <a:xfrm>
            <a:off x="8953500" y="1516062"/>
            <a:ext cx="6977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ysClr val="windowText" lastClr="000000"/>
                </a:solidFill>
                <a:latin typeface="Times New Roman" pitchFamily="18" charset="0"/>
              </a:rPr>
              <a:t>Bob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11B4E4-8BA7-A444-8199-6F2E6222B7E2}"/>
              </a:ext>
            </a:extLst>
          </p:cNvPr>
          <p:cNvSpPr/>
          <p:nvPr/>
        </p:nvSpPr>
        <p:spPr>
          <a:xfrm>
            <a:off x="4457700" y="2278062"/>
            <a:ext cx="3657600" cy="838200"/>
          </a:xfrm>
          <a:prstGeom prst="rect">
            <a:avLst/>
          </a:prstGeom>
          <a:gradFill rotWithShape="1">
            <a:gsLst>
              <a:gs pos="0">
                <a:srgbClr val="2D2DB9">
                  <a:shade val="51000"/>
                  <a:satMod val="130000"/>
                </a:srgbClr>
              </a:gs>
              <a:gs pos="80000">
                <a:srgbClr val="2D2DB9">
                  <a:shade val="93000"/>
                  <a:satMod val="130000"/>
                </a:srgbClr>
              </a:gs>
              <a:gs pos="100000">
                <a:srgbClr val="2D2DB9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2D2DB9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srgbClr val="FFFFFF"/>
                </a:solidFill>
                <a:latin typeface="Times New Roman"/>
              </a:rPr>
              <a:t>C1=AES-CBC(k, M),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srgbClr val="FFFFFF"/>
                </a:solidFill>
                <a:latin typeface="Times New Roman"/>
              </a:rPr>
              <a:t>C2=RSA(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</a:rPr>
              <a:t>PK</a:t>
            </a:r>
            <a:r>
              <a:rPr lang="en-US" sz="2000" baseline="-25000" dirty="0" err="1">
                <a:solidFill>
                  <a:srgbClr val="FFFFFF"/>
                </a:solidFill>
                <a:latin typeface="Times New Roman"/>
              </a:rPr>
              <a:t>Alice</a:t>
            </a:r>
            <a:r>
              <a:rPr lang="en-US" sz="2000" dirty="0">
                <a:solidFill>
                  <a:srgbClr val="FFFFFF"/>
                </a:solidFill>
                <a:latin typeface="Times New Roman"/>
              </a:rPr>
              <a:t>, k)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397A840-C0B9-DE46-A964-9E430576C2E3}"/>
              </a:ext>
            </a:extLst>
          </p:cNvPr>
          <p:cNvCxnSpPr/>
          <p:nvPr/>
        </p:nvCxnSpPr>
        <p:spPr>
          <a:xfrm flipH="1">
            <a:off x="4686300" y="3192462"/>
            <a:ext cx="3429000" cy="0"/>
          </a:xfrm>
          <a:prstGeom prst="straightConnector1">
            <a:avLst/>
          </a:prstGeom>
          <a:noFill/>
          <a:ln w="25400" cap="flat" cmpd="sng" algn="ctr">
            <a:solidFill>
              <a:srgbClr val="00CC99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229AFF6-F3EE-CA4C-8299-F7CF424CB8FC}"/>
              </a:ext>
            </a:extLst>
          </p:cNvPr>
          <p:cNvSpPr txBox="1"/>
          <p:nvPr/>
        </p:nvSpPr>
        <p:spPr>
          <a:xfrm>
            <a:off x="5067300" y="1740197"/>
            <a:ext cx="23791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ysClr val="windowText" lastClr="000000"/>
                </a:solidFill>
                <a:latin typeface="Times New Roman" pitchFamily="18" charset="0"/>
              </a:rPr>
              <a:t>hybrid encryption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65883B4-DE18-F64C-B06A-E3EFAB4EDCD2}"/>
              </a:ext>
            </a:extLst>
          </p:cNvPr>
          <p:cNvSpPr/>
          <p:nvPr/>
        </p:nvSpPr>
        <p:spPr>
          <a:xfrm>
            <a:off x="4229100" y="4030662"/>
            <a:ext cx="4191000" cy="1905000"/>
          </a:xfrm>
          <a:prstGeom prst="rect">
            <a:avLst/>
          </a:prstGeom>
          <a:solidFill>
            <a:srgbClr val="AAE2CA"/>
          </a:solidFill>
          <a:ln w="25400" cap="flat" cmpd="sng" algn="ctr">
            <a:solidFill>
              <a:srgbClr val="808080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Public Key Directory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3333CC"/>
                </a:solidFill>
                <a:latin typeface="Times New Roman"/>
              </a:rPr>
              <a:t>Alice </a:t>
            </a:r>
            <a:r>
              <a:rPr lang="en-US" sz="2400" b="1" dirty="0">
                <a:solidFill>
                  <a:srgbClr val="3333CC"/>
                </a:solidFill>
                <a:latin typeface="Times New Roman"/>
                <a:sym typeface="Wingdings" pitchFamily="2" charset="2"/>
              </a:rPr>
              <a:t></a:t>
            </a:r>
            <a:r>
              <a:rPr lang="en-US" sz="2400" b="1" dirty="0" err="1">
                <a:solidFill>
                  <a:srgbClr val="3333CC"/>
                </a:solidFill>
                <a:latin typeface="Times New Roman"/>
                <a:sym typeface="Wingdings" pitchFamily="2" charset="2"/>
              </a:rPr>
              <a:t>PK</a:t>
            </a:r>
            <a:r>
              <a:rPr lang="en-US" sz="2400" b="1" baseline="-25000" dirty="0" err="1">
                <a:solidFill>
                  <a:srgbClr val="3333CC"/>
                </a:solidFill>
                <a:latin typeface="Times New Roman"/>
                <a:sym typeface="Wingdings" pitchFamily="2" charset="2"/>
              </a:rPr>
              <a:t>Alice</a:t>
            </a:r>
            <a:endParaRPr lang="en-US" sz="2400" b="1" baseline="-25000" dirty="0">
              <a:solidFill>
                <a:srgbClr val="3333CC"/>
              </a:solidFill>
              <a:latin typeface="Times New Roman"/>
              <a:sym typeface="Wingdings" pitchFamily="2" charset="2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3333CC"/>
                </a:solidFill>
                <a:latin typeface="Times New Roman"/>
              </a:rPr>
              <a:t>Bob </a:t>
            </a:r>
            <a:r>
              <a:rPr lang="en-US" sz="2400" b="1" dirty="0">
                <a:solidFill>
                  <a:srgbClr val="3333CC"/>
                </a:solidFill>
                <a:latin typeface="Times New Roman"/>
                <a:sym typeface="Wingdings" pitchFamily="2" charset="2"/>
              </a:rPr>
              <a:t></a:t>
            </a:r>
            <a:r>
              <a:rPr lang="en-US" sz="2400" b="1" dirty="0" err="1">
                <a:solidFill>
                  <a:srgbClr val="3333CC"/>
                </a:solidFill>
                <a:latin typeface="Times New Roman"/>
                <a:sym typeface="Wingdings" pitchFamily="2" charset="2"/>
              </a:rPr>
              <a:t>PK</a:t>
            </a:r>
            <a:r>
              <a:rPr lang="en-US" sz="2400" b="1" baseline="-25000" dirty="0" err="1">
                <a:solidFill>
                  <a:srgbClr val="3333CC"/>
                </a:solidFill>
                <a:latin typeface="Times New Roman"/>
                <a:sym typeface="Wingdings" pitchFamily="2" charset="2"/>
              </a:rPr>
              <a:t>Bob</a:t>
            </a:r>
            <a:endParaRPr lang="en-US" sz="2400" b="1" baseline="-25000" dirty="0">
              <a:solidFill>
                <a:srgbClr val="3333CC"/>
              </a:solidFill>
              <a:latin typeface="Times New Roman"/>
              <a:sym typeface="Wingdings" pitchFamily="2" charset="2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3333CC"/>
                </a:solidFill>
                <a:latin typeface="Times New Roman"/>
              </a:rPr>
              <a:t>Charlie  </a:t>
            </a:r>
            <a:r>
              <a:rPr lang="en-US" sz="2400" b="1" dirty="0">
                <a:solidFill>
                  <a:srgbClr val="3333CC"/>
                </a:solidFill>
                <a:latin typeface="Times New Roman"/>
                <a:sym typeface="Wingdings" pitchFamily="2" charset="2"/>
              </a:rPr>
              <a:t></a:t>
            </a:r>
            <a:r>
              <a:rPr lang="en-US" sz="2400" b="1" dirty="0" err="1">
                <a:solidFill>
                  <a:srgbClr val="3333CC"/>
                </a:solidFill>
                <a:latin typeface="Times New Roman"/>
                <a:sym typeface="Wingdings" pitchFamily="2" charset="2"/>
              </a:rPr>
              <a:t>PK</a:t>
            </a:r>
            <a:r>
              <a:rPr lang="en-US" sz="2400" b="1" baseline="-25000" dirty="0" err="1">
                <a:solidFill>
                  <a:srgbClr val="3333CC"/>
                </a:solidFill>
                <a:latin typeface="Times New Roman"/>
                <a:sym typeface="Wingdings" pitchFamily="2" charset="2"/>
              </a:rPr>
              <a:t>Charlie</a:t>
            </a:r>
            <a:endParaRPr lang="en-US" sz="2400" b="1" baseline="-25000" dirty="0">
              <a:solidFill>
                <a:srgbClr val="3333CC"/>
              </a:solidFill>
              <a:latin typeface="Times New Roman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 baseline="-250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C5B66FF4-86A5-A845-AB15-3554D1670633}"/>
              </a:ext>
            </a:extLst>
          </p:cNvPr>
          <p:cNvSpPr/>
          <p:nvPr/>
        </p:nvSpPr>
        <p:spPr>
          <a:xfrm>
            <a:off x="7429501" y="3192462"/>
            <a:ext cx="1905000" cy="1556657"/>
          </a:xfrm>
          <a:custGeom>
            <a:avLst/>
            <a:gdLst>
              <a:gd name="connsiteX0" fmla="*/ 0 w 2181497"/>
              <a:gd name="connsiteY0" fmla="*/ 1632857 h 1632857"/>
              <a:gd name="connsiteX1" fmla="*/ 1593669 w 2181497"/>
              <a:gd name="connsiteY1" fmla="*/ 953589 h 1632857"/>
              <a:gd name="connsiteX2" fmla="*/ 2181497 w 2181497"/>
              <a:gd name="connsiteY2" fmla="*/ 0 h 163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81497" h="1632857">
                <a:moveTo>
                  <a:pt x="0" y="1632857"/>
                </a:moveTo>
                <a:cubicBezTo>
                  <a:pt x="615043" y="1429294"/>
                  <a:pt x="1230086" y="1225732"/>
                  <a:pt x="1593669" y="953589"/>
                </a:cubicBezTo>
                <a:cubicBezTo>
                  <a:pt x="1957252" y="681446"/>
                  <a:pt x="2069374" y="340723"/>
                  <a:pt x="2181497" y="0"/>
                </a:cubicBezTo>
              </a:path>
            </a:pathLst>
          </a:custGeom>
          <a:noFill/>
          <a:ln w="31750" cap="flat" cmpd="sng" algn="ctr">
            <a:solidFill>
              <a:srgbClr val="C00000"/>
            </a:solidFill>
            <a:prstDash val="dash"/>
            <a:headEnd type="none"/>
            <a:tailEnd type="triangle"/>
          </a:ln>
          <a:effectLst/>
        </p:spPr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6D205EF9-2D8D-D74E-AC3E-C025D9DF9EAE}"/>
              </a:ext>
            </a:extLst>
          </p:cNvPr>
          <p:cNvSpPr/>
          <p:nvPr/>
        </p:nvSpPr>
        <p:spPr>
          <a:xfrm rot="5605455">
            <a:off x="3505556" y="2820487"/>
            <a:ext cx="1199168" cy="2304858"/>
          </a:xfrm>
          <a:custGeom>
            <a:avLst/>
            <a:gdLst>
              <a:gd name="connsiteX0" fmla="*/ 0 w 2181497"/>
              <a:gd name="connsiteY0" fmla="*/ 1632857 h 1632857"/>
              <a:gd name="connsiteX1" fmla="*/ 1593669 w 2181497"/>
              <a:gd name="connsiteY1" fmla="*/ 953589 h 1632857"/>
              <a:gd name="connsiteX2" fmla="*/ 2181497 w 2181497"/>
              <a:gd name="connsiteY2" fmla="*/ 0 h 163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81497" h="1632857">
                <a:moveTo>
                  <a:pt x="0" y="1632857"/>
                </a:moveTo>
                <a:cubicBezTo>
                  <a:pt x="615043" y="1429294"/>
                  <a:pt x="1230086" y="1225732"/>
                  <a:pt x="1593669" y="953589"/>
                </a:cubicBezTo>
                <a:cubicBezTo>
                  <a:pt x="1957252" y="681446"/>
                  <a:pt x="2069374" y="340723"/>
                  <a:pt x="2181497" y="0"/>
                </a:cubicBezTo>
              </a:path>
            </a:pathLst>
          </a:custGeom>
          <a:noFill/>
          <a:ln w="31750" cap="flat" cmpd="sng" algn="ctr">
            <a:solidFill>
              <a:srgbClr val="C00000"/>
            </a:solidFill>
            <a:prstDash val="dash"/>
            <a:headEnd type="none"/>
            <a:tailEnd type="triangle"/>
          </a:ln>
          <a:effectLst/>
        </p:spPr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2791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2" grpId="0" animBg="1"/>
      <p:bldP spid="34" grpId="0"/>
      <p:bldP spid="36" grpId="0" animBg="1"/>
      <p:bldP spid="3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Challenge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D14A00-6747-D247-A33E-8491D82C5689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CC0F5-F79E-EB45-A8F3-DBD947CEE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349" y="1037178"/>
            <a:ext cx="10840451" cy="501011"/>
          </a:xfrm>
        </p:spPr>
        <p:txBody>
          <a:bodyPr/>
          <a:lstStyle/>
          <a:p>
            <a:r>
              <a:rPr lang="en-US" sz="2200" dirty="0">
                <a:ea typeface="Helvetica Neue" panose="02000503000000020004" pitchFamily="2" charset="0"/>
                <a:cs typeface="Helvetica Neue" panose="02000503000000020004" pitchFamily="2" charset="0"/>
              </a:rPr>
              <a:t>What Will Go Wrong if </a:t>
            </a:r>
            <a:r>
              <a:rPr lang="en-US" sz="2200" dirty="0">
                <a:solidFill>
                  <a:srgbClr val="FF0000"/>
                </a:solidFill>
                <a:ea typeface="Helvetica Neue" panose="02000503000000020004" pitchFamily="2" charset="0"/>
                <a:cs typeface="Helvetica Neue" panose="02000503000000020004" pitchFamily="2" charset="0"/>
              </a:rPr>
              <a:t>Mallory Replaces Alice’s Public Key </a:t>
            </a:r>
            <a:r>
              <a:rPr lang="en-US" sz="2200" dirty="0">
                <a:ea typeface="Helvetica Neue" panose="02000503000000020004" pitchFamily="2" charset="0"/>
                <a:cs typeface="Helvetica Neue" panose="02000503000000020004" pitchFamily="2" charset="0"/>
              </a:rPr>
              <a:t>with Hers? </a:t>
            </a:r>
          </a:p>
          <a:p>
            <a:endParaRPr lang="en-US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D493EC56-F83F-4F4B-9A8C-EF232B6310D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024106" y="2012974"/>
            <a:ext cx="914400" cy="1082842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40C24EC9-7758-5041-9082-0B6AE78809AD}"/>
              </a:ext>
            </a:extLst>
          </p:cNvPr>
          <p:cNvSpPr txBox="1"/>
          <p:nvPr/>
        </p:nvSpPr>
        <p:spPr>
          <a:xfrm>
            <a:off x="9252706" y="1479574"/>
            <a:ext cx="6977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ysClr val="windowText" lastClr="000000"/>
                </a:solidFill>
                <a:latin typeface="Times New Roman" pitchFamily="18" charset="0"/>
              </a:rPr>
              <a:t>Bob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4CB7520-BB71-7142-A171-42980090B4E7}"/>
              </a:ext>
            </a:extLst>
          </p:cNvPr>
          <p:cNvSpPr/>
          <p:nvPr/>
        </p:nvSpPr>
        <p:spPr>
          <a:xfrm>
            <a:off x="4680706" y="4298974"/>
            <a:ext cx="4191000" cy="1905000"/>
          </a:xfrm>
          <a:prstGeom prst="rect">
            <a:avLst/>
          </a:prstGeom>
          <a:solidFill>
            <a:srgbClr val="AAE2CA"/>
          </a:solidFill>
          <a:ln w="25400" cap="flat" cmpd="sng" algn="ctr">
            <a:solidFill>
              <a:srgbClr val="808080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Public Key Directory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3333CC"/>
                </a:solidFill>
                <a:latin typeface="Times New Roman"/>
              </a:rPr>
              <a:t>Alice </a:t>
            </a:r>
            <a:r>
              <a:rPr lang="en-US" sz="2400" b="1" dirty="0">
                <a:solidFill>
                  <a:srgbClr val="3333CC"/>
                </a:solidFill>
                <a:latin typeface="Times New Roman"/>
                <a:sym typeface="Wingdings" pitchFamily="2" charset="2"/>
              </a:rPr>
              <a:t></a:t>
            </a:r>
            <a:r>
              <a:rPr lang="en-US" sz="2400" b="1" dirty="0" err="1">
                <a:solidFill>
                  <a:srgbClr val="3333CC"/>
                </a:solidFill>
                <a:latin typeface="Times New Roman"/>
                <a:sym typeface="Wingdings" pitchFamily="2" charset="2"/>
              </a:rPr>
              <a:t>PK</a:t>
            </a:r>
            <a:r>
              <a:rPr lang="en-US" sz="2400" b="1" baseline="-25000" dirty="0" err="1">
                <a:solidFill>
                  <a:srgbClr val="3333CC"/>
                </a:solidFill>
                <a:latin typeface="Times New Roman"/>
                <a:sym typeface="Wingdings" pitchFamily="2" charset="2"/>
              </a:rPr>
              <a:t>Alice</a:t>
            </a:r>
            <a:endParaRPr lang="en-US" sz="2400" b="1" baseline="-25000" dirty="0">
              <a:solidFill>
                <a:srgbClr val="3333CC"/>
              </a:solidFill>
              <a:latin typeface="Times New Roman"/>
              <a:sym typeface="Wingdings" pitchFamily="2" charset="2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3333CC"/>
                </a:solidFill>
                <a:latin typeface="Times New Roman"/>
              </a:rPr>
              <a:t>Bob </a:t>
            </a:r>
            <a:r>
              <a:rPr lang="en-US" sz="2400" b="1" dirty="0">
                <a:solidFill>
                  <a:srgbClr val="3333CC"/>
                </a:solidFill>
                <a:latin typeface="Times New Roman"/>
                <a:sym typeface="Wingdings" pitchFamily="2" charset="2"/>
              </a:rPr>
              <a:t></a:t>
            </a:r>
            <a:r>
              <a:rPr lang="en-US" sz="2400" b="1" dirty="0" err="1">
                <a:solidFill>
                  <a:srgbClr val="3333CC"/>
                </a:solidFill>
                <a:latin typeface="Times New Roman"/>
                <a:sym typeface="Wingdings" pitchFamily="2" charset="2"/>
              </a:rPr>
              <a:t>PK</a:t>
            </a:r>
            <a:r>
              <a:rPr lang="en-US" sz="2400" b="1" baseline="-25000" dirty="0" err="1">
                <a:solidFill>
                  <a:srgbClr val="3333CC"/>
                </a:solidFill>
                <a:latin typeface="Times New Roman"/>
                <a:sym typeface="Wingdings" pitchFamily="2" charset="2"/>
              </a:rPr>
              <a:t>Bob</a:t>
            </a:r>
            <a:endParaRPr lang="en-US" sz="2400" b="1" baseline="-25000" dirty="0">
              <a:solidFill>
                <a:srgbClr val="3333CC"/>
              </a:solidFill>
              <a:latin typeface="Times New Roman"/>
              <a:sym typeface="Wingdings" pitchFamily="2" charset="2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3333CC"/>
                </a:solidFill>
                <a:latin typeface="Times New Roman"/>
              </a:rPr>
              <a:t>Charlie  </a:t>
            </a:r>
            <a:r>
              <a:rPr lang="en-US" sz="2400" b="1" dirty="0">
                <a:solidFill>
                  <a:srgbClr val="3333CC"/>
                </a:solidFill>
                <a:latin typeface="Times New Roman"/>
                <a:sym typeface="Wingdings" pitchFamily="2" charset="2"/>
              </a:rPr>
              <a:t></a:t>
            </a:r>
            <a:r>
              <a:rPr lang="en-US" sz="2400" b="1" dirty="0" err="1">
                <a:solidFill>
                  <a:srgbClr val="3333CC"/>
                </a:solidFill>
                <a:latin typeface="Times New Roman"/>
                <a:sym typeface="Wingdings" pitchFamily="2" charset="2"/>
              </a:rPr>
              <a:t>PK</a:t>
            </a:r>
            <a:r>
              <a:rPr lang="en-US" sz="2400" b="1" baseline="-25000" dirty="0" err="1">
                <a:solidFill>
                  <a:srgbClr val="3333CC"/>
                </a:solidFill>
                <a:latin typeface="Times New Roman"/>
                <a:sym typeface="Wingdings" pitchFamily="2" charset="2"/>
              </a:rPr>
              <a:t>Charlie</a:t>
            </a:r>
            <a:endParaRPr lang="en-US" sz="2400" b="1" baseline="-25000" dirty="0">
              <a:solidFill>
                <a:srgbClr val="3333CC"/>
              </a:solidFill>
              <a:latin typeface="Times New Roman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 baseline="-250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E09C35F-CC5A-5247-BDB5-17044A97FA58}"/>
              </a:ext>
            </a:extLst>
          </p:cNvPr>
          <p:cNvSpPr txBox="1"/>
          <p:nvPr/>
        </p:nvSpPr>
        <p:spPr>
          <a:xfrm>
            <a:off x="6509507" y="4710398"/>
            <a:ext cx="1319592" cy="461665"/>
          </a:xfrm>
          <a:prstGeom prst="rect">
            <a:avLst/>
          </a:prstGeom>
          <a:solidFill>
            <a:srgbClr val="AAE2CA"/>
          </a:solidFill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 err="1">
                <a:solidFill>
                  <a:srgbClr val="C00000"/>
                </a:solidFill>
                <a:latin typeface="Times New Roman" pitchFamily="18" charset="0"/>
              </a:rPr>
              <a:t>PK</a:t>
            </a:r>
            <a:r>
              <a:rPr lang="en-US" sz="2400" b="1" baseline="-25000" dirty="0" err="1">
                <a:solidFill>
                  <a:srgbClr val="C00000"/>
                </a:solidFill>
                <a:latin typeface="Times New Roman" pitchFamily="18" charset="0"/>
              </a:rPr>
              <a:t>Mallory</a:t>
            </a:r>
            <a:endParaRPr lang="en-US" sz="2400" b="1" baseline="-25000" dirty="0">
              <a:solidFill>
                <a:srgbClr val="C00000"/>
              </a:solidFill>
              <a:latin typeface="Times New Roman" pitchFamily="18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BE21872F-EE30-A34E-B5E9-9B48F5AB2FF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23306" y="2241574"/>
            <a:ext cx="1143000" cy="1287162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9BD5B082-F7F0-A24B-8299-7B1CB7E35E25}"/>
              </a:ext>
            </a:extLst>
          </p:cNvPr>
          <p:cNvSpPr txBox="1"/>
          <p:nvPr/>
        </p:nvSpPr>
        <p:spPr>
          <a:xfrm>
            <a:off x="2775706" y="1708174"/>
            <a:ext cx="863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ysClr val="windowText" lastClr="000000"/>
                </a:solidFill>
                <a:latin typeface="Times New Roman" pitchFamily="18" charset="0"/>
              </a:rPr>
              <a:t>Alice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E6CBBBB-D028-9C42-B0DA-2F6D95973808}"/>
              </a:ext>
            </a:extLst>
          </p:cNvPr>
          <p:cNvSpPr txBox="1"/>
          <p:nvPr/>
        </p:nvSpPr>
        <p:spPr>
          <a:xfrm>
            <a:off x="2623306" y="3994174"/>
            <a:ext cx="1295400" cy="461665"/>
          </a:xfrm>
          <a:prstGeom prst="rect">
            <a:avLst/>
          </a:prstGeom>
          <a:solidFill>
            <a:srgbClr val="AAE2CA"/>
          </a:solidFill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ysClr val="windowText" lastClr="000000"/>
                </a:solidFill>
                <a:latin typeface="Times New Roman" pitchFamily="18" charset="0"/>
              </a:rPr>
              <a:t>Mallory</a:t>
            </a:r>
          </a:p>
        </p:txBody>
      </p:sp>
      <p:pic>
        <p:nvPicPr>
          <p:cNvPr id="55" name="Picture 4">
            <a:extLst>
              <a:ext uri="{FF2B5EF4-FFF2-40B4-BE49-F238E27FC236}">
                <a16:creationId xmlns:a16="http://schemas.microsoft.com/office/drawing/2014/main" id="{75BD48EC-9631-2B4C-932D-90BE13DBE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8506" y="4451374"/>
            <a:ext cx="1873250" cy="1552575"/>
          </a:xfrm>
          <a:prstGeom prst="rect">
            <a:avLst/>
          </a:prstGeom>
          <a:solidFill>
            <a:srgbClr val="AAE2C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468C1382-8A8D-4A48-8997-121E17F49E45}"/>
              </a:ext>
            </a:extLst>
          </p:cNvPr>
          <p:cNvSpPr/>
          <p:nvPr/>
        </p:nvSpPr>
        <p:spPr>
          <a:xfrm>
            <a:off x="4756906" y="2317774"/>
            <a:ext cx="3657600" cy="8382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rgbClr val="2D2DB9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srgbClr val="FFFFFF"/>
                </a:solidFill>
                <a:latin typeface="Times New Roman"/>
              </a:rPr>
              <a:t>C1=AES-CBC(k, M),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srgbClr val="FFFFFF"/>
                </a:solidFill>
                <a:latin typeface="Times New Roman"/>
              </a:rPr>
              <a:t>C2=RSA(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</a:rPr>
              <a:t>PK</a:t>
            </a:r>
            <a:r>
              <a:rPr lang="en-US" sz="2000" baseline="-25000" dirty="0" err="1">
                <a:solidFill>
                  <a:srgbClr val="FFFFFF"/>
                </a:solidFill>
                <a:latin typeface="Times New Roman"/>
              </a:rPr>
              <a:t>Alice</a:t>
            </a:r>
            <a:r>
              <a:rPr lang="en-US" sz="2000" dirty="0">
                <a:solidFill>
                  <a:srgbClr val="FFFFFF"/>
                </a:solidFill>
                <a:latin typeface="Times New Roman"/>
              </a:rPr>
              <a:t>,   k)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32E7501-1248-F84F-8E24-AD7198D248C3}"/>
              </a:ext>
            </a:extLst>
          </p:cNvPr>
          <p:cNvCxnSpPr/>
          <p:nvPr/>
        </p:nvCxnSpPr>
        <p:spPr>
          <a:xfrm flipH="1">
            <a:off x="4985506" y="3232174"/>
            <a:ext cx="3429000" cy="0"/>
          </a:xfrm>
          <a:prstGeom prst="straightConnector1">
            <a:avLst/>
          </a:prstGeom>
          <a:noFill/>
          <a:ln w="25400" cap="flat" cmpd="sng" algn="ctr">
            <a:solidFill>
              <a:srgbClr val="00CC99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FA5E522A-070D-5A4C-8CB6-BE693D34E39F}"/>
              </a:ext>
            </a:extLst>
          </p:cNvPr>
          <p:cNvSpPr txBox="1"/>
          <p:nvPr/>
        </p:nvSpPr>
        <p:spPr>
          <a:xfrm>
            <a:off x="5366506" y="1779909"/>
            <a:ext cx="23791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ysClr val="windowText" lastClr="000000"/>
                </a:solidFill>
                <a:latin typeface="Times New Roman" pitchFamily="18" charset="0"/>
              </a:rPr>
              <a:t>hybrid encryption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F16D802-7ACC-EC42-AB45-F50847934291}"/>
              </a:ext>
            </a:extLst>
          </p:cNvPr>
          <p:cNvSpPr txBox="1"/>
          <p:nvPr/>
        </p:nvSpPr>
        <p:spPr>
          <a:xfrm>
            <a:off x="5366506" y="2750195"/>
            <a:ext cx="2493183" cy="4001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dirty="0">
                <a:solidFill>
                  <a:srgbClr val="FFFFFF"/>
                </a:solidFill>
                <a:latin typeface="Times New Roman" pitchFamily="18" charset="0"/>
              </a:rPr>
              <a:t>C2=RSA(</a:t>
            </a:r>
            <a:r>
              <a:rPr lang="en-US" sz="2000" b="1" dirty="0" err="1">
                <a:solidFill>
                  <a:srgbClr val="C00000"/>
                </a:solidFill>
                <a:latin typeface="Times New Roman" pitchFamily="18" charset="0"/>
              </a:rPr>
              <a:t>PK</a:t>
            </a:r>
            <a:r>
              <a:rPr lang="en-US" sz="2000" b="1" baseline="-25000" dirty="0" err="1">
                <a:solidFill>
                  <a:srgbClr val="C00000"/>
                </a:solidFill>
                <a:latin typeface="Times New Roman" pitchFamily="18" charset="0"/>
              </a:rPr>
              <a:t>Mallory</a:t>
            </a:r>
            <a:r>
              <a:rPr lang="en-US" sz="2000" b="1" baseline="-25000" dirty="0">
                <a:solidFill>
                  <a:srgbClr val="C00000"/>
                </a:solidFill>
                <a:latin typeface="Times New Roman" pitchFamily="18" charset="0"/>
              </a:rPr>
              <a:t>, </a:t>
            </a:r>
            <a:r>
              <a:rPr lang="en-US" sz="2000" b="1" dirty="0">
                <a:solidFill>
                  <a:srgbClr val="FFFFFF"/>
                </a:solidFill>
                <a:latin typeface="Times New Roman" pitchFamily="18" charset="0"/>
              </a:rPr>
              <a:t>k)</a:t>
            </a:r>
          </a:p>
        </p:txBody>
      </p:sp>
      <p:sp>
        <p:nvSpPr>
          <p:cNvPr id="61" name="Freeform 60">
            <a:extLst>
              <a:ext uri="{FF2B5EF4-FFF2-40B4-BE49-F238E27FC236}">
                <a16:creationId xmlns:a16="http://schemas.microsoft.com/office/drawing/2014/main" id="{8907FD29-D89A-9A43-8CA4-FE39AD0AACFD}"/>
              </a:ext>
            </a:extLst>
          </p:cNvPr>
          <p:cNvSpPr/>
          <p:nvPr/>
        </p:nvSpPr>
        <p:spPr>
          <a:xfrm>
            <a:off x="8033507" y="3232174"/>
            <a:ext cx="1447800" cy="1709057"/>
          </a:xfrm>
          <a:custGeom>
            <a:avLst/>
            <a:gdLst>
              <a:gd name="connsiteX0" fmla="*/ 0 w 2181497"/>
              <a:gd name="connsiteY0" fmla="*/ 1632857 h 1632857"/>
              <a:gd name="connsiteX1" fmla="*/ 1593669 w 2181497"/>
              <a:gd name="connsiteY1" fmla="*/ 953589 h 1632857"/>
              <a:gd name="connsiteX2" fmla="*/ 2181497 w 2181497"/>
              <a:gd name="connsiteY2" fmla="*/ 0 h 163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81497" h="1632857">
                <a:moveTo>
                  <a:pt x="0" y="1632857"/>
                </a:moveTo>
                <a:cubicBezTo>
                  <a:pt x="615043" y="1429294"/>
                  <a:pt x="1230086" y="1225732"/>
                  <a:pt x="1593669" y="953589"/>
                </a:cubicBezTo>
                <a:cubicBezTo>
                  <a:pt x="1957252" y="681446"/>
                  <a:pt x="2069374" y="340723"/>
                  <a:pt x="2181497" y="0"/>
                </a:cubicBezTo>
              </a:path>
            </a:pathLst>
          </a:custGeom>
          <a:noFill/>
          <a:ln w="31750" cap="flat" cmpd="sng" algn="ctr">
            <a:solidFill>
              <a:srgbClr val="C00000"/>
            </a:solidFill>
            <a:prstDash val="dash"/>
            <a:headEnd type="none"/>
            <a:tailEnd type="triangle"/>
          </a:ln>
          <a:effectLst/>
        </p:spPr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rgbClr val="000000"/>
                </a:solidFill>
                <a:latin typeface="Times New Roman"/>
              </a:rPr>
              <a:t>               </a:t>
            </a:r>
          </a:p>
        </p:txBody>
      </p:sp>
      <p:sp>
        <p:nvSpPr>
          <p:cNvPr id="62" name="Freeform 61">
            <a:extLst>
              <a:ext uri="{FF2B5EF4-FFF2-40B4-BE49-F238E27FC236}">
                <a16:creationId xmlns:a16="http://schemas.microsoft.com/office/drawing/2014/main" id="{52FBF9C1-6B69-D64B-94BF-423664E718DF}"/>
              </a:ext>
            </a:extLst>
          </p:cNvPr>
          <p:cNvSpPr/>
          <p:nvPr/>
        </p:nvSpPr>
        <p:spPr>
          <a:xfrm rot="5605455" flipH="1">
            <a:off x="4571283" y="4410228"/>
            <a:ext cx="676044" cy="1638949"/>
          </a:xfrm>
          <a:custGeom>
            <a:avLst/>
            <a:gdLst>
              <a:gd name="connsiteX0" fmla="*/ 0 w 2181497"/>
              <a:gd name="connsiteY0" fmla="*/ 1632857 h 1632857"/>
              <a:gd name="connsiteX1" fmla="*/ 1593669 w 2181497"/>
              <a:gd name="connsiteY1" fmla="*/ 953589 h 1632857"/>
              <a:gd name="connsiteX2" fmla="*/ 2181497 w 2181497"/>
              <a:gd name="connsiteY2" fmla="*/ 0 h 163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81497" h="1632857">
                <a:moveTo>
                  <a:pt x="0" y="1632857"/>
                </a:moveTo>
                <a:cubicBezTo>
                  <a:pt x="615043" y="1429294"/>
                  <a:pt x="1230086" y="1225732"/>
                  <a:pt x="1593669" y="953589"/>
                </a:cubicBezTo>
                <a:cubicBezTo>
                  <a:pt x="1957252" y="681446"/>
                  <a:pt x="2069374" y="340723"/>
                  <a:pt x="2181497" y="0"/>
                </a:cubicBezTo>
              </a:path>
            </a:pathLst>
          </a:custGeom>
          <a:noFill/>
          <a:ln w="31750" cap="flat" cmpd="sng" algn="ctr">
            <a:solidFill>
              <a:srgbClr val="C00000"/>
            </a:solidFill>
            <a:prstDash val="dash"/>
            <a:headEnd type="none"/>
            <a:tailEnd type="triangle"/>
          </a:ln>
          <a:effectLst/>
        </p:spPr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23085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4" grpId="0" animBg="1"/>
      <p:bldP spid="60" grpId="0" animBg="1"/>
      <p:bldP spid="61" grpId="0" animBg="1"/>
      <p:bldP spid="6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Consider Digital Signing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07D6FA-1371-4542-BE45-C99145F02CD7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251EB6B-3C81-F347-B119-D469DD98842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08636" y="1792742"/>
            <a:ext cx="1143000" cy="128716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BFB6C37-259F-B34B-877F-61B87209E069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757036" y="1868942"/>
            <a:ext cx="914400" cy="1082842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ABBCB804-09FA-4A45-BFC9-3A773A8CFDC8}"/>
              </a:ext>
            </a:extLst>
          </p:cNvPr>
          <p:cNvSpPr/>
          <p:nvPr/>
        </p:nvSpPr>
        <p:spPr>
          <a:xfrm>
            <a:off x="4642236" y="2173742"/>
            <a:ext cx="1981200" cy="838200"/>
          </a:xfrm>
          <a:prstGeom prst="rect">
            <a:avLst/>
          </a:prstGeom>
          <a:gradFill rotWithShape="1">
            <a:gsLst>
              <a:gs pos="0">
                <a:srgbClr val="2D2DB9">
                  <a:shade val="51000"/>
                  <a:satMod val="130000"/>
                </a:srgbClr>
              </a:gs>
              <a:gs pos="80000">
                <a:srgbClr val="2D2DB9">
                  <a:shade val="93000"/>
                  <a:satMod val="130000"/>
                </a:srgbClr>
              </a:gs>
              <a:gs pos="100000">
                <a:srgbClr val="2D2DB9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2D2DB9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rgbClr val="FFFFFF"/>
                </a:solidFill>
                <a:latin typeface="Times New Roman"/>
              </a:rPr>
              <a:t>Hi, meet me at 2PM, …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3D9CE5A-F72E-F447-A200-13F77A7EBDA0}"/>
              </a:ext>
            </a:extLst>
          </p:cNvPr>
          <p:cNvSpPr/>
          <p:nvPr/>
        </p:nvSpPr>
        <p:spPr>
          <a:xfrm>
            <a:off x="6623436" y="2173742"/>
            <a:ext cx="838200" cy="838200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dirty="0">
                <a:solidFill>
                  <a:srgbClr val="FFFFFF"/>
                </a:solidFill>
                <a:latin typeface="Times New Roman"/>
              </a:rPr>
              <a:t>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E5EBAC-CF62-484D-841C-038584F4B595}"/>
              </a:ext>
            </a:extLst>
          </p:cNvPr>
          <p:cNvSpPr txBox="1"/>
          <p:nvPr/>
        </p:nvSpPr>
        <p:spPr>
          <a:xfrm>
            <a:off x="2661036" y="1348550"/>
            <a:ext cx="863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ysClr val="windowText" lastClr="000000"/>
                </a:solidFill>
                <a:latin typeface="Times New Roman" pitchFamily="18" charset="0"/>
              </a:rPr>
              <a:t>Alice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AD0F08C-F4E5-A247-93C8-B3CD7B1025E4}"/>
              </a:ext>
            </a:extLst>
          </p:cNvPr>
          <p:cNvSpPr txBox="1"/>
          <p:nvPr/>
        </p:nvSpPr>
        <p:spPr>
          <a:xfrm>
            <a:off x="8985636" y="1335542"/>
            <a:ext cx="6977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ysClr val="windowText" lastClr="000000"/>
                </a:solidFill>
                <a:latin typeface="Times New Roman" pitchFamily="18" charset="0"/>
              </a:rPr>
              <a:t>Bob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1A31D96-6BBD-1A46-9999-AF13C314910B}"/>
              </a:ext>
            </a:extLst>
          </p:cNvPr>
          <p:cNvSpPr txBox="1"/>
          <p:nvPr/>
        </p:nvSpPr>
        <p:spPr>
          <a:xfrm>
            <a:off x="4947036" y="1716542"/>
            <a:ext cx="12273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ysClr val="windowText" lastClr="000000"/>
                </a:solidFill>
                <a:latin typeface="Times New Roman" pitchFamily="18" charset="0"/>
              </a:rPr>
              <a:t>message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0FC278B-FF4E-3947-91A8-36B8E45ECA92}"/>
              </a:ext>
            </a:extLst>
          </p:cNvPr>
          <p:cNvSpPr txBox="1"/>
          <p:nvPr/>
        </p:nvSpPr>
        <p:spPr>
          <a:xfrm>
            <a:off x="6699636" y="1411742"/>
            <a:ext cx="11248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Times New Roman" pitchFamily="18" charset="0"/>
              </a:rPr>
              <a:t>RSA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Times New Roman" pitchFamily="18" charset="0"/>
              </a:rPr>
              <a:t>signature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8EF5625-2BD4-AB4E-ABFB-4CC089DEC32B}"/>
              </a:ext>
            </a:extLst>
          </p:cNvPr>
          <p:cNvCxnSpPr/>
          <p:nvPr/>
        </p:nvCxnSpPr>
        <p:spPr>
          <a:xfrm>
            <a:off x="4261236" y="3164342"/>
            <a:ext cx="3810000" cy="0"/>
          </a:xfrm>
          <a:prstGeom prst="straightConnector1">
            <a:avLst/>
          </a:prstGeom>
          <a:noFill/>
          <a:ln w="25400" cap="flat" cmpd="sng" algn="ctr">
            <a:solidFill>
              <a:srgbClr val="00CC99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84AF66EC-9E7A-C842-AD17-95CD1B21C0BC}"/>
              </a:ext>
            </a:extLst>
          </p:cNvPr>
          <p:cNvSpPr/>
          <p:nvPr/>
        </p:nvSpPr>
        <p:spPr>
          <a:xfrm>
            <a:off x="3880236" y="4002542"/>
            <a:ext cx="4191000" cy="1905000"/>
          </a:xfrm>
          <a:prstGeom prst="rect">
            <a:avLst/>
          </a:prstGeom>
          <a:solidFill>
            <a:srgbClr val="AAE2CA"/>
          </a:solidFill>
          <a:ln w="25400" cap="flat" cmpd="sng" algn="ctr">
            <a:solidFill>
              <a:srgbClr val="808080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Public Key Directory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3333CC"/>
                </a:solidFill>
                <a:latin typeface="Times New Roman"/>
              </a:rPr>
              <a:t>Alice </a:t>
            </a:r>
            <a:r>
              <a:rPr lang="en-US" sz="2400" b="1" dirty="0">
                <a:solidFill>
                  <a:srgbClr val="3333CC"/>
                </a:solidFill>
                <a:latin typeface="Times New Roman"/>
                <a:sym typeface="Wingdings" pitchFamily="2" charset="2"/>
              </a:rPr>
              <a:t></a:t>
            </a:r>
            <a:r>
              <a:rPr lang="en-US" sz="2400" b="1" dirty="0" err="1">
                <a:solidFill>
                  <a:srgbClr val="3333CC"/>
                </a:solidFill>
                <a:latin typeface="Times New Roman"/>
                <a:sym typeface="Wingdings" pitchFamily="2" charset="2"/>
              </a:rPr>
              <a:t>PK</a:t>
            </a:r>
            <a:r>
              <a:rPr lang="en-US" sz="2400" b="1" baseline="-25000" dirty="0" err="1">
                <a:solidFill>
                  <a:srgbClr val="3333CC"/>
                </a:solidFill>
                <a:latin typeface="Times New Roman"/>
                <a:sym typeface="Wingdings" pitchFamily="2" charset="2"/>
              </a:rPr>
              <a:t>Alice</a:t>
            </a:r>
            <a:endParaRPr lang="en-US" sz="2400" b="1" baseline="-25000" dirty="0">
              <a:solidFill>
                <a:srgbClr val="3333CC"/>
              </a:solidFill>
              <a:latin typeface="Times New Roman"/>
              <a:sym typeface="Wingdings" pitchFamily="2" charset="2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3333CC"/>
                </a:solidFill>
                <a:latin typeface="Times New Roman"/>
              </a:rPr>
              <a:t>Bob </a:t>
            </a:r>
            <a:r>
              <a:rPr lang="en-US" sz="2400" b="1" dirty="0">
                <a:solidFill>
                  <a:srgbClr val="3333CC"/>
                </a:solidFill>
                <a:latin typeface="Times New Roman"/>
                <a:sym typeface="Wingdings" pitchFamily="2" charset="2"/>
              </a:rPr>
              <a:t></a:t>
            </a:r>
            <a:r>
              <a:rPr lang="en-US" sz="2400" b="1" dirty="0" err="1">
                <a:solidFill>
                  <a:srgbClr val="3333CC"/>
                </a:solidFill>
                <a:latin typeface="Times New Roman"/>
                <a:sym typeface="Wingdings" pitchFamily="2" charset="2"/>
              </a:rPr>
              <a:t>PK</a:t>
            </a:r>
            <a:r>
              <a:rPr lang="en-US" sz="2400" b="1" baseline="-25000" dirty="0" err="1">
                <a:solidFill>
                  <a:srgbClr val="3333CC"/>
                </a:solidFill>
                <a:latin typeface="Times New Roman"/>
                <a:sym typeface="Wingdings" pitchFamily="2" charset="2"/>
              </a:rPr>
              <a:t>Bob</a:t>
            </a:r>
            <a:endParaRPr lang="en-US" sz="2400" b="1" baseline="-25000" dirty="0">
              <a:solidFill>
                <a:srgbClr val="3333CC"/>
              </a:solidFill>
              <a:latin typeface="Times New Roman"/>
              <a:sym typeface="Wingdings" pitchFamily="2" charset="2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3333CC"/>
                </a:solidFill>
                <a:latin typeface="Times New Roman"/>
              </a:rPr>
              <a:t>Charlie  </a:t>
            </a:r>
            <a:r>
              <a:rPr lang="en-US" sz="2400" b="1" dirty="0">
                <a:solidFill>
                  <a:srgbClr val="3333CC"/>
                </a:solidFill>
                <a:latin typeface="Times New Roman"/>
                <a:sym typeface="Wingdings" pitchFamily="2" charset="2"/>
              </a:rPr>
              <a:t></a:t>
            </a:r>
            <a:r>
              <a:rPr lang="en-US" sz="2400" b="1" dirty="0" err="1">
                <a:solidFill>
                  <a:srgbClr val="3333CC"/>
                </a:solidFill>
                <a:latin typeface="Times New Roman"/>
                <a:sym typeface="Wingdings" pitchFamily="2" charset="2"/>
              </a:rPr>
              <a:t>PK</a:t>
            </a:r>
            <a:r>
              <a:rPr lang="en-US" sz="2400" b="1" baseline="-25000" dirty="0" err="1">
                <a:solidFill>
                  <a:srgbClr val="3333CC"/>
                </a:solidFill>
                <a:latin typeface="Times New Roman"/>
                <a:sym typeface="Wingdings" pitchFamily="2" charset="2"/>
              </a:rPr>
              <a:t>Charlie</a:t>
            </a:r>
            <a:endParaRPr lang="en-US" sz="2400" b="1" baseline="-25000" dirty="0">
              <a:solidFill>
                <a:srgbClr val="3333CC"/>
              </a:solidFill>
              <a:latin typeface="Times New Roman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 baseline="-250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4E8F0466-850F-2D42-AF0F-8F0729EA4308}"/>
              </a:ext>
            </a:extLst>
          </p:cNvPr>
          <p:cNvSpPr/>
          <p:nvPr/>
        </p:nvSpPr>
        <p:spPr>
          <a:xfrm>
            <a:off x="7069750" y="3044599"/>
            <a:ext cx="2181497" cy="1632857"/>
          </a:xfrm>
          <a:custGeom>
            <a:avLst/>
            <a:gdLst>
              <a:gd name="connsiteX0" fmla="*/ 0 w 2181497"/>
              <a:gd name="connsiteY0" fmla="*/ 1632857 h 1632857"/>
              <a:gd name="connsiteX1" fmla="*/ 1593669 w 2181497"/>
              <a:gd name="connsiteY1" fmla="*/ 953589 h 1632857"/>
              <a:gd name="connsiteX2" fmla="*/ 2181497 w 2181497"/>
              <a:gd name="connsiteY2" fmla="*/ 0 h 163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81497" h="1632857">
                <a:moveTo>
                  <a:pt x="0" y="1632857"/>
                </a:moveTo>
                <a:cubicBezTo>
                  <a:pt x="615043" y="1429294"/>
                  <a:pt x="1230086" y="1225732"/>
                  <a:pt x="1593669" y="953589"/>
                </a:cubicBezTo>
                <a:cubicBezTo>
                  <a:pt x="1957252" y="681446"/>
                  <a:pt x="2069374" y="340723"/>
                  <a:pt x="2181497" y="0"/>
                </a:cubicBezTo>
              </a:path>
            </a:pathLst>
          </a:custGeom>
          <a:noFill/>
          <a:ln w="31750" cap="flat" cmpd="sng" algn="ctr">
            <a:solidFill>
              <a:srgbClr val="C00000"/>
            </a:solidFill>
            <a:prstDash val="dash"/>
            <a:headEnd type="none"/>
            <a:tailEnd type="triangle"/>
          </a:ln>
          <a:effectLst/>
        </p:spPr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F0E4E27A-755E-C943-A3D4-87B62B40085A}"/>
              </a:ext>
            </a:extLst>
          </p:cNvPr>
          <p:cNvSpPr/>
          <p:nvPr/>
        </p:nvSpPr>
        <p:spPr>
          <a:xfrm rot="5605455">
            <a:off x="3227152" y="2932481"/>
            <a:ext cx="1439249" cy="1937542"/>
          </a:xfrm>
          <a:custGeom>
            <a:avLst/>
            <a:gdLst>
              <a:gd name="connsiteX0" fmla="*/ 0 w 2181497"/>
              <a:gd name="connsiteY0" fmla="*/ 1632857 h 1632857"/>
              <a:gd name="connsiteX1" fmla="*/ 1593669 w 2181497"/>
              <a:gd name="connsiteY1" fmla="*/ 953589 h 1632857"/>
              <a:gd name="connsiteX2" fmla="*/ 2181497 w 2181497"/>
              <a:gd name="connsiteY2" fmla="*/ 0 h 163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81497" h="1632857">
                <a:moveTo>
                  <a:pt x="0" y="1632857"/>
                </a:moveTo>
                <a:cubicBezTo>
                  <a:pt x="615043" y="1429294"/>
                  <a:pt x="1230086" y="1225732"/>
                  <a:pt x="1593669" y="953589"/>
                </a:cubicBezTo>
                <a:cubicBezTo>
                  <a:pt x="1957252" y="681446"/>
                  <a:pt x="2069374" y="340723"/>
                  <a:pt x="2181497" y="0"/>
                </a:cubicBezTo>
              </a:path>
            </a:pathLst>
          </a:custGeom>
          <a:noFill/>
          <a:ln w="31750" cap="flat" cmpd="sng" algn="ctr">
            <a:solidFill>
              <a:srgbClr val="C00000"/>
            </a:solidFill>
            <a:prstDash val="dash"/>
            <a:headEnd type="none"/>
            <a:tailEnd type="triangle"/>
          </a:ln>
          <a:effectLst/>
        </p:spPr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66031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37" grpId="0"/>
      <p:bldP spid="38" grpId="0"/>
      <p:bldP spid="39" grpId="0"/>
      <p:bldP spid="40" grpId="0"/>
      <p:bldP spid="42" grpId="0" animBg="1"/>
      <p:bldP spid="43" grpId="0" animBg="1"/>
      <p:bldP spid="4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Challenge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05E13E-750A-A547-9806-D8B2EAE7FF33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6E553B34-D923-BD49-B495-5BE34EDA919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634762" y="2157123"/>
            <a:ext cx="914400" cy="1082842"/>
          </a:xfrm>
          <a:prstGeom prst="rect">
            <a:avLst/>
          </a:prstGeom>
        </p:spPr>
      </p:pic>
      <p:grpSp>
        <p:nvGrpSpPr>
          <p:cNvPr id="46" name="Group 6">
            <a:extLst>
              <a:ext uri="{FF2B5EF4-FFF2-40B4-BE49-F238E27FC236}">
                <a16:creationId xmlns:a16="http://schemas.microsoft.com/office/drawing/2014/main" id="{FBD74EE8-BAC1-5944-91FC-6EE04D7B8D43}"/>
              </a:ext>
            </a:extLst>
          </p:cNvPr>
          <p:cNvGrpSpPr/>
          <p:nvPr/>
        </p:nvGrpSpPr>
        <p:grpSpPr>
          <a:xfrm>
            <a:off x="4519962" y="2461923"/>
            <a:ext cx="2819400" cy="838200"/>
            <a:chOff x="3048000" y="4800600"/>
            <a:chExt cx="2819400" cy="838200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7BD9C8D-E8DE-0549-8E53-CB77660B87A9}"/>
                </a:ext>
              </a:extLst>
            </p:cNvPr>
            <p:cNvSpPr/>
            <p:nvPr/>
          </p:nvSpPr>
          <p:spPr>
            <a:xfrm>
              <a:off x="3048000" y="4800600"/>
              <a:ext cx="1981200" cy="838200"/>
            </a:xfrm>
            <a:prstGeom prst="rect">
              <a:avLst/>
            </a:prstGeom>
            <a:gradFill rotWithShape="1">
              <a:gsLst>
                <a:gs pos="0">
                  <a:srgbClr val="2D2DB9">
                    <a:shade val="51000"/>
                    <a:satMod val="130000"/>
                  </a:srgbClr>
                </a:gs>
                <a:gs pos="80000">
                  <a:srgbClr val="2D2DB9">
                    <a:shade val="93000"/>
                    <a:satMod val="130000"/>
                  </a:srgbClr>
                </a:gs>
                <a:gs pos="100000">
                  <a:srgbClr val="2D2DB9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2D2DB9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400" dirty="0">
                  <a:solidFill>
                    <a:srgbClr val="FFFFFF"/>
                  </a:solidFill>
                  <a:latin typeface="Times New Roman"/>
                </a:rPr>
                <a:t>Hi, meet me at 2PM, …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7BC5437F-61D8-8049-A13B-4F7F2EC9EFB1}"/>
                </a:ext>
              </a:extLst>
            </p:cNvPr>
            <p:cNvSpPr/>
            <p:nvPr/>
          </p:nvSpPr>
          <p:spPr>
            <a:xfrm>
              <a:off x="5029200" y="4800600"/>
              <a:ext cx="838200" cy="838200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3200" dirty="0">
                  <a:solidFill>
                    <a:srgbClr val="FFFFFF"/>
                  </a:solidFill>
                  <a:latin typeface="Times New Roman"/>
                </a:rPr>
                <a:t>s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48A9E0FA-A523-A244-9150-AF686A03D38B}"/>
              </a:ext>
            </a:extLst>
          </p:cNvPr>
          <p:cNvSpPr txBox="1"/>
          <p:nvPr/>
        </p:nvSpPr>
        <p:spPr>
          <a:xfrm>
            <a:off x="8863362" y="1623723"/>
            <a:ext cx="6977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ysClr val="windowText" lastClr="000000"/>
                </a:solidFill>
                <a:latin typeface="Times New Roman" pitchFamily="18" charset="0"/>
              </a:rPr>
              <a:t>Bob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BBF6BAF-8AC9-BC44-94B2-775BF04B923E}"/>
              </a:ext>
            </a:extLst>
          </p:cNvPr>
          <p:cNvSpPr txBox="1"/>
          <p:nvPr/>
        </p:nvSpPr>
        <p:spPr>
          <a:xfrm>
            <a:off x="4824762" y="2004723"/>
            <a:ext cx="12273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ysClr val="windowText" lastClr="000000"/>
                </a:solidFill>
                <a:latin typeface="Times New Roman" pitchFamily="18" charset="0"/>
              </a:rPr>
              <a:t>message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AC90094-48FC-6647-A829-C5411D07D14C}"/>
              </a:ext>
            </a:extLst>
          </p:cNvPr>
          <p:cNvSpPr txBox="1"/>
          <p:nvPr/>
        </p:nvSpPr>
        <p:spPr>
          <a:xfrm>
            <a:off x="6577362" y="1699923"/>
            <a:ext cx="11248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Times New Roman" pitchFamily="18" charset="0"/>
              </a:rPr>
              <a:t>RSA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Times New Roman" pitchFamily="18" charset="0"/>
              </a:rPr>
              <a:t>signature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B99A044-3480-CD4A-8A82-CA42582368BE}"/>
              </a:ext>
            </a:extLst>
          </p:cNvPr>
          <p:cNvCxnSpPr/>
          <p:nvPr/>
        </p:nvCxnSpPr>
        <p:spPr>
          <a:xfrm>
            <a:off x="4138962" y="3452523"/>
            <a:ext cx="3810000" cy="0"/>
          </a:xfrm>
          <a:prstGeom prst="straightConnector1">
            <a:avLst/>
          </a:prstGeom>
          <a:noFill/>
          <a:ln w="25400" cap="flat" cmpd="sng" algn="ctr">
            <a:solidFill>
              <a:srgbClr val="00CC99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4C8E0585-6B02-D24A-BC16-E2473D4DD447}"/>
              </a:ext>
            </a:extLst>
          </p:cNvPr>
          <p:cNvSpPr/>
          <p:nvPr/>
        </p:nvSpPr>
        <p:spPr>
          <a:xfrm>
            <a:off x="3757962" y="4290723"/>
            <a:ext cx="4191000" cy="1905000"/>
          </a:xfrm>
          <a:prstGeom prst="rect">
            <a:avLst/>
          </a:prstGeom>
          <a:solidFill>
            <a:srgbClr val="AAE2CA"/>
          </a:solidFill>
          <a:ln w="25400" cap="flat" cmpd="sng" algn="ctr">
            <a:solidFill>
              <a:srgbClr val="808080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Public Key Directory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3333CC"/>
                </a:solidFill>
                <a:latin typeface="Times New Roman"/>
              </a:rPr>
              <a:t>Alice </a:t>
            </a:r>
            <a:r>
              <a:rPr lang="en-US" sz="2400" b="1" dirty="0">
                <a:solidFill>
                  <a:srgbClr val="3333CC"/>
                </a:solidFill>
                <a:latin typeface="Times New Roman"/>
                <a:sym typeface="Wingdings" pitchFamily="2" charset="2"/>
              </a:rPr>
              <a:t></a:t>
            </a:r>
            <a:r>
              <a:rPr lang="en-US" sz="2400" b="1" dirty="0" err="1">
                <a:solidFill>
                  <a:srgbClr val="3333CC"/>
                </a:solidFill>
                <a:latin typeface="Times New Roman"/>
                <a:sym typeface="Wingdings" pitchFamily="2" charset="2"/>
              </a:rPr>
              <a:t>PK</a:t>
            </a:r>
            <a:r>
              <a:rPr lang="en-US" sz="2400" b="1" baseline="-25000" dirty="0" err="1">
                <a:solidFill>
                  <a:srgbClr val="3333CC"/>
                </a:solidFill>
                <a:latin typeface="Times New Roman"/>
                <a:sym typeface="Wingdings" pitchFamily="2" charset="2"/>
              </a:rPr>
              <a:t>Alice</a:t>
            </a:r>
            <a:endParaRPr lang="en-US" sz="2400" b="1" baseline="-25000" dirty="0">
              <a:solidFill>
                <a:srgbClr val="3333CC"/>
              </a:solidFill>
              <a:latin typeface="Times New Roman"/>
              <a:sym typeface="Wingdings" pitchFamily="2" charset="2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3333CC"/>
                </a:solidFill>
                <a:latin typeface="Times New Roman"/>
              </a:rPr>
              <a:t>Bob </a:t>
            </a:r>
            <a:r>
              <a:rPr lang="en-US" sz="2400" b="1" dirty="0">
                <a:solidFill>
                  <a:srgbClr val="3333CC"/>
                </a:solidFill>
                <a:latin typeface="Times New Roman"/>
                <a:sym typeface="Wingdings" pitchFamily="2" charset="2"/>
              </a:rPr>
              <a:t></a:t>
            </a:r>
            <a:r>
              <a:rPr lang="en-US" sz="2400" b="1" dirty="0" err="1">
                <a:solidFill>
                  <a:srgbClr val="3333CC"/>
                </a:solidFill>
                <a:latin typeface="Times New Roman"/>
                <a:sym typeface="Wingdings" pitchFamily="2" charset="2"/>
              </a:rPr>
              <a:t>PK</a:t>
            </a:r>
            <a:r>
              <a:rPr lang="en-US" sz="2400" b="1" baseline="-25000" dirty="0" err="1">
                <a:solidFill>
                  <a:srgbClr val="3333CC"/>
                </a:solidFill>
                <a:latin typeface="Times New Roman"/>
                <a:sym typeface="Wingdings" pitchFamily="2" charset="2"/>
              </a:rPr>
              <a:t>Bob</a:t>
            </a:r>
            <a:endParaRPr lang="en-US" sz="2400" b="1" baseline="-25000" dirty="0">
              <a:solidFill>
                <a:srgbClr val="3333CC"/>
              </a:solidFill>
              <a:latin typeface="Times New Roman"/>
              <a:sym typeface="Wingdings" pitchFamily="2" charset="2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3333CC"/>
                </a:solidFill>
                <a:latin typeface="Times New Roman"/>
              </a:rPr>
              <a:t>Charlie  </a:t>
            </a:r>
            <a:r>
              <a:rPr lang="en-US" sz="2400" b="1" dirty="0">
                <a:solidFill>
                  <a:srgbClr val="3333CC"/>
                </a:solidFill>
                <a:latin typeface="Times New Roman"/>
                <a:sym typeface="Wingdings" pitchFamily="2" charset="2"/>
              </a:rPr>
              <a:t></a:t>
            </a:r>
            <a:r>
              <a:rPr lang="en-US" sz="2400" b="1" dirty="0" err="1">
                <a:solidFill>
                  <a:srgbClr val="3333CC"/>
                </a:solidFill>
                <a:latin typeface="Times New Roman"/>
                <a:sym typeface="Wingdings" pitchFamily="2" charset="2"/>
              </a:rPr>
              <a:t>PK</a:t>
            </a:r>
            <a:r>
              <a:rPr lang="en-US" sz="2400" b="1" baseline="-25000" dirty="0" err="1">
                <a:solidFill>
                  <a:srgbClr val="3333CC"/>
                </a:solidFill>
                <a:latin typeface="Times New Roman"/>
                <a:sym typeface="Wingdings" pitchFamily="2" charset="2"/>
              </a:rPr>
              <a:t>Charlie</a:t>
            </a:r>
            <a:endParaRPr lang="en-US" sz="2400" b="1" baseline="-25000" dirty="0">
              <a:solidFill>
                <a:srgbClr val="3333CC"/>
              </a:solidFill>
              <a:latin typeface="Times New Roman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 baseline="-250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B1EC255-9B19-794F-A9C8-C642EED29388}"/>
              </a:ext>
            </a:extLst>
          </p:cNvPr>
          <p:cNvSpPr txBox="1"/>
          <p:nvPr/>
        </p:nvSpPr>
        <p:spPr>
          <a:xfrm>
            <a:off x="5917566" y="4755897"/>
            <a:ext cx="1319592" cy="461665"/>
          </a:xfrm>
          <a:prstGeom prst="rect">
            <a:avLst/>
          </a:prstGeom>
          <a:solidFill>
            <a:srgbClr val="AAE2CA"/>
          </a:solidFill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 err="1">
                <a:solidFill>
                  <a:srgbClr val="C00000"/>
                </a:solidFill>
                <a:latin typeface="Times New Roman" pitchFamily="18" charset="0"/>
              </a:rPr>
              <a:t>PK</a:t>
            </a:r>
            <a:r>
              <a:rPr lang="en-US" sz="2400" b="1" baseline="-25000" dirty="0" err="1">
                <a:solidFill>
                  <a:srgbClr val="C00000"/>
                </a:solidFill>
                <a:latin typeface="Times New Roman" pitchFamily="18" charset="0"/>
              </a:rPr>
              <a:t>Mallory</a:t>
            </a:r>
            <a:endParaRPr lang="en-US" sz="2400" b="1" baseline="-25000" dirty="0">
              <a:solidFill>
                <a:srgbClr val="C00000"/>
              </a:solidFill>
              <a:latin typeface="Times New Roman" pitchFamily="18" charset="0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8CE925D7-5883-5E41-AD35-574966EC6AA4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233962" y="2385723"/>
            <a:ext cx="1143000" cy="128716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63F980CF-4A5D-344F-95DB-CFC9C0549C62}"/>
              </a:ext>
            </a:extLst>
          </p:cNvPr>
          <p:cNvSpPr txBox="1"/>
          <p:nvPr/>
        </p:nvSpPr>
        <p:spPr>
          <a:xfrm>
            <a:off x="2386362" y="1852323"/>
            <a:ext cx="863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ysClr val="windowText" lastClr="000000"/>
                </a:solidFill>
                <a:latin typeface="Times New Roman" pitchFamily="18" charset="0"/>
              </a:rPr>
              <a:t>Alice</a:t>
            </a:r>
          </a:p>
        </p:txBody>
      </p:sp>
      <p:sp>
        <p:nvSpPr>
          <p:cNvPr id="57" name="Freeform 56">
            <a:extLst>
              <a:ext uri="{FF2B5EF4-FFF2-40B4-BE49-F238E27FC236}">
                <a16:creationId xmlns:a16="http://schemas.microsoft.com/office/drawing/2014/main" id="{92F9603B-62A7-1E4D-A2C4-CD17EA3CBE40}"/>
              </a:ext>
            </a:extLst>
          </p:cNvPr>
          <p:cNvSpPr/>
          <p:nvPr/>
        </p:nvSpPr>
        <p:spPr>
          <a:xfrm>
            <a:off x="6947476" y="3332780"/>
            <a:ext cx="2181497" cy="1632857"/>
          </a:xfrm>
          <a:custGeom>
            <a:avLst/>
            <a:gdLst>
              <a:gd name="connsiteX0" fmla="*/ 0 w 2181497"/>
              <a:gd name="connsiteY0" fmla="*/ 1632857 h 1632857"/>
              <a:gd name="connsiteX1" fmla="*/ 1593669 w 2181497"/>
              <a:gd name="connsiteY1" fmla="*/ 953589 h 1632857"/>
              <a:gd name="connsiteX2" fmla="*/ 2181497 w 2181497"/>
              <a:gd name="connsiteY2" fmla="*/ 0 h 163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81497" h="1632857">
                <a:moveTo>
                  <a:pt x="0" y="1632857"/>
                </a:moveTo>
                <a:cubicBezTo>
                  <a:pt x="615043" y="1429294"/>
                  <a:pt x="1230086" y="1225732"/>
                  <a:pt x="1593669" y="953589"/>
                </a:cubicBezTo>
                <a:cubicBezTo>
                  <a:pt x="1957252" y="681446"/>
                  <a:pt x="2069374" y="340723"/>
                  <a:pt x="2181497" y="0"/>
                </a:cubicBezTo>
              </a:path>
            </a:pathLst>
          </a:custGeom>
          <a:noFill/>
          <a:ln w="31750" cap="flat" cmpd="sng" algn="ctr">
            <a:solidFill>
              <a:srgbClr val="C00000"/>
            </a:solidFill>
            <a:prstDash val="dash"/>
            <a:headEnd type="none"/>
            <a:tailEnd type="triangle"/>
          </a:ln>
          <a:effectLst/>
        </p:spPr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3252C5-E5FF-D54A-9807-919819767D30}"/>
              </a:ext>
            </a:extLst>
          </p:cNvPr>
          <p:cNvSpPr txBox="1"/>
          <p:nvPr/>
        </p:nvSpPr>
        <p:spPr>
          <a:xfrm>
            <a:off x="513349" y="1046976"/>
            <a:ext cx="92707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Arial Nova" panose="020B05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if </a:t>
            </a:r>
            <a:r>
              <a:rPr lang="en-US" sz="2200" dirty="0">
                <a:solidFill>
                  <a:srgbClr val="FF0000"/>
                </a:solidFill>
                <a:latin typeface="Arial Nova" panose="020B05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Mallory replaces Alice’s public key </a:t>
            </a:r>
            <a:r>
              <a:rPr lang="en-US" sz="2200" dirty="0">
                <a:latin typeface="Arial Nova" panose="020B05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with Mallory’s public key?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D1846B-E056-2264-1036-E4175394623B}"/>
              </a:ext>
            </a:extLst>
          </p:cNvPr>
          <p:cNvSpPr txBox="1"/>
          <p:nvPr/>
        </p:nvSpPr>
        <p:spPr>
          <a:xfrm>
            <a:off x="1563124" y="4183763"/>
            <a:ext cx="1295400" cy="461665"/>
          </a:xfrm>
          <a:prstGeom prst="rect">
            <a:avLst/>
          </a:prstGeom>
          <a:solidFill>
            <a:srgbClr val="AAE2CA"/>
          </a:solidFill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ysClr val="windowText" lastClr="000000"/>
                </a:solidFill>
                <a:latin typeface="Times New Roman" pitchFamily="18" charset="0"/>
              </a:rPr>
              <a:t>Mallory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F045EDAD-8044-9A9D-0056-CFD0E32E3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324" y="4640963"/>
            <a:ext cx="1873250" cy="1552575"/>
          </a:xfrm>
          <a:prstGeom prst="rect">
            <a:avLst/>
          </a:prstGeom>
          <a:solidFill>
            <a:srgbClr val="AAE2C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0D88C754-E52F-1C07-7F94-246C7CEF05CA}"/>
              </a:ext>
            </a:extLst>
          </p:cNvPr>
          <p:cNvSpPr/>
          <p:nvPr/>
        </p:nvSpPr>
        <p:spPr>
          <a:xfrm rot="5605455" flipH="1">
            <a:off x="3704001" y="4357934"/>
            <a:ext cx="558099" cy="1672605"/>
          </a:xfrm>
          <a:custGeom>
            <a:avLst/>
            <a:gdLst>
              <a:gd name="connsiteX0" fmla="*/ 0 w 2181497"/>
              <a:gd name="connsiteY0" fmla="*/ 1632857 h 1632857"/>
              <a:gd name="connsiteX1" fmla="*/ 1593669 w 2181497"/>
              <a:gd name="connsiteY1" fmla="*/ 953589 h 1632857"/>
              <a:gd name="connsiteX2" fmla="*/ 2181497 w 2181497"/>
              <a:gd name="connsiteY2" fmla="*/ 0 h 163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81497" h="1632857">
                <a:moveTo>
                  <a:pt x="0" y="1632857"/>
                </a:moveTo>
                <a:cubicBezTo>
                  <a:pt x="615043" y="1429294"/>
                  <a:pt x="1230086" y="1225732"/>
                  <a:pt x="1593669" y="953589"/>
                </a:cubicBezTo>
                <a:cubicBezTo>
                  <a:pt x="1957252" y="681446"/>
                  <a:pt x="2069374" y="340723"/>
                  <a:pt x="2181497" y="0"/>
                </a:cubicBezTo>
              </a:path>
            </a:pathLst>
          </a:custGeom>
          <a:noFill/>
          <a:ln w="31750" cap="flat" cmpd="sng" algn="ctr">
            <a:solidFill>
              <a:srgbClr val="C00000"/>
            </a:solidFill>
            <a:prstDash val="dash"/>
            <a:headEnd type="none"/>
            <a:tailEnd type="triangle"/>
          </a:ln>
          <a:effectLst/>
        </p:spPr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89221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7" grpId="0" animBg="1"/>
      <p:bldP spid="8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761871" y="348164"/>
            <a:ext cx="8305800" cy="641350"/>
          </a:xfrm>
        </p:spPr>
        <p:txBody>
          <a:bodyPr/>
          <a:lstStyle/>
          <a:p>
            <a:pPr eaLnBrk="1" hangingPunct="1"/>
            <a:r>
              <a:rPr lang="en-US" dirty="0"/>
              <a:t>Public key certificate and PKI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idx="1"/>
          </p:nvPr>
        </p:nvSpPr>
        <p:spPr>
          <a:xfrm>
            <a:off x="761871" y="1484784"/>
            <a:ext cx="10873208" cy="4659737"/>
          </a:xfrm>
        </p:spPr>
        <p:txBody>
          <a:bodyPr/>
          <a:lstStyle/>
          <a:p>
            <a:pPr eaLnBrk="1" hangingPunct="1"/>
            <a:r>
              <a:rPr lang="en-US" sz="2800" b="1" dirty="0"/>
              <a:t>Public key certificate</a:t>
            </a:r>
            <a:r>
              <a:rPr lang="en-US" sz="2800" dirty="0"/>
              <a:t>: </a:t>
            </a:r>
          </a:p>
          <a:p>
            <a:pPr lvl="1"/>
            <a:r>
              <a:rPr lang="en-US" sz="2400" dirty="0"/>
              <a:t>a digital token issued by an (trusted) </a:t>
            </a:r>
            <a:r>
              <a:rPr lang="en-US" sz="2400" u="sng" dirty="0">
                <a:highlight>
                  <a:srgbClr val="FFFF00"/>
                </a:highlight>
              </a:rPr>
              <a:t>authority</a:t>
            </a:r>
            <a:r>
              <a:rPr lang="en-US" sz="2400" dirty="0"/>
              <a:t> to certify the </a:t>
            </a:r>
            <a:r>
              <a:rPr lang="en-US" sz="2400" dirty="0">
                <a:highlight>
                  <a:srgbClr val="FFFF00"/>
                </a:highlight>
              </a:rPr>
              <a:t>ownership of a public key</a:t>
            </a:r>
            <a:r>
              <a:rPr lang="en-US" sz="2400" dirty="0"/>
              <a:t>. </a:t>
            </a:r>
          </a:p>
          <a:p>
            <a:pPr eaLnBrk="1" hangingPunct="1"/>
            <a:r>
              <a:rPr lang="en-US" sz="2800" b="1" dirty="0"/>
              <a:t>Public Key Infrastructure</a:t>
            </a:r>
          </a:p>
          <a:p>
            <a:pPr lvl="1" eaLnBrk="1" hangingPunct="1"/>
            <a:r>
              <a:rPr lang="en-US" sz="2400" dirty="0"/>
              <a:t>A set of policies, procedures, and products used to implement public key cryptosystem in a large setting. </a:t>
            </a:r>
            <a:r>
              <a:rPr lang="en-US" sz="2400" dirty="0">
                <a:hlinkClick r:id="rId3"/>
              </a:rPr>
              <a:t>http://www.ietf.org/html.charters/pkix-charter.html</a:t>
            </a:r>
            <a:r>
              <a:rPr lang="en-US" sz="2400" dirty="0"/>
              <a:t> </a:t>
            </a:r>
          </a:p>
          <a:p>
            <a:pPr lvl="1"/>
            <a:r>
              <a:rPr lang="en-US" sz="2400" b="1" dirty="0"/>
              <a:t>Core idea:</a:t>
            </a:r>
            <a:r>
              <a:rPr lang="en-US" sz="2400" dirty="0"/>
              <a:t> Certificate Authority (CA) issues certificates to public-key holders.</a:t>
            </a:r>
          </a:p>
          <a:p>
            <a:pPr lvl="1" eaLnBrk="1" hangingPunct="1"/>
            <a:r>
              <a:rPr lang="en-US" sz="2400" b="1" dirty="0"/>
              <a:t>X.509 standard</a:t>
            </a:r>
            <a:r>
              <a:rPr lang="en-US" sz="2400" dirty="0"/>
              <a:t>: A widely used standard for defining and managing digital certificates.</a:t>
            </a:r>
          </a:p>
        </p:txBody>
      </p:sp>
      <p:sp>
        <p:nvSpPr>
          <p:cNvPr id="1433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2907ADD-9313-4148-ADDD-38EFFE38D902}" type="slidenum">
              <a:rPr lang="en-US"/>
              <a:pPr/>
              <a:t>8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DB6035-582E-EDFB-9EDB-4915BA60DC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1130" y="220656"/>
            <a:ext cx="2377739" cy="175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459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191344" y="78840"/>
            <a:ext cx="4536504" cy="1200329"/>
          </a:xfrm>
        </p:spPr>
        <p:txBody>
          <a:bodyPr/>
          <a:lstStyle/>
          <a:p>
            <a:pPr eaLnBrk="1" hangingPunct="1"/>
            <a:r>
              <a:rPr lang="en-US" dirty="0"/>
              <a:t>Example: SMU’s Certificate</a:t>
            </a:r>
          </a:p>
        </p:txBody>
      </p:sp>
      <p:sp>
        <p:nvSpPr>
          <p:cNvPr id="92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DEE8461-C10A-4538-99EF-DB8723BBDFB0}" type="slidenum">
              <a:rPr lang="en-US"/>
              <a:pPr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AE3289-32A4-092F-33BB-B25B643DE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500" y="0"/>
            <a:ext cx="5391307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F05311F-408B-3106-74D9-4D8B2991CDE7}"/>
              </a:ext>
            </a:extLst>
          </p:cNvPr>
          <p:cNvSpPr txBox="1"/>
          <p:nvPr/>
        </p:nvSpPr>
        <p:spPr>
          <a:xfrm>
            <a:off x="263352" y="4293096"/>
            <a:ext cx="4464496" cy="646331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Find the certificate of www.google.com</a:t>
            </a:r>
          </a:p>
          <a:p>
            <a:pPr algn="l"/>
            <a:r>
              <a:rPr lang="en-US" dirty="0"/>
              <a:t>Who is the issuer?</a:t>
            </a:r>
          </a:p>
        </p:txBody>
      </p:sp>
    </p:spTree>
    <p:extLst>
      <p:ext uri="{BB962C8B-B14F-4D97-AF65-F5344CB8AC3E}">
        <p14:creationId xmlns:p14="http://schemas.microsoft.com/office/powerpoint/2010/main" val="2236615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479376" y="188640"/>
            <a:ext cx="8610600" cy="707886"/>
          </a:xfrm>
        </p:spPr>
        <p:txBody>
          <a:bodyPr/>
          <a:lstStyle/>
          <a:p>
            <a:pPr eaLnBrk="1" hangingPunct="1"/>
            <a:r>
              <a:rPr lang="en-US" sz="4000" dirty="0"/>
              <a:t>Public key certificate contents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idx="1"/>
          </p:nvPr>
        </p:nvSpPr>
        <p:spPr>
          <a:xfrm>
            <a:off x="695400" y="1124744"/>
            <a:ext cx="9361040" cy="5029069"/>
          </a:xfrm>
        </p:spPr>
        <p:txBody>
          <a:bodyPr/>
          <a:lstStyle/>
          <a:p>
            <a:pPr eaLnBrk="1" hangingPunct="1"/>
            <a:r>
              <a:rPr lang="en-US" sz="2800" dirty="0"/>
              <a:t>Mandatory components in a public key certificate</a:t>
            </a:r>
          </a:p>
          <a:p>
            <a:pPr lvl="1" eaLnBrk="1" hangingPunct="1"/>
            <a:r>
              <a:rPr lang="en-US" sz="2400" dirty="0">
                <a:solidFill>
                  <a:srgbClr val="008000"/>
                </a:solidFill>
              </a:rPr>
              <a:t>the subject identifier:</a:t>
            </a:r>
            <a:r>
              <a:rPr lang="en-US" sz="24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the public key owner’s identity which the certificate is issued to.</a:t>
            </a:r>
          </a:p>
          <a:p>
            <a:pPr lvl="1" eaLnBrk="1" hangingPunct="1"/>
            <a:r>
              <a:rPr lang="en-US" sz="2400" dirty="0">
                <a:solidFill>
                  <a:srgbClr val="008000"/>
                </a:solidFill>
              </a:rPr>
              <a:t>the issuer’s identifier: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the Certification Authority (CA) ’s identity</a:t>
            </a:r>
          </a:p>
          <a:p>
            <a:pPr lvl="1" eaLnBrk="1" hangingPunct="1"/>
            <a:r>
              <a:rPr lang="en-US" sz="2400" dirty="0">
                <a:solidFill>
                  <a:srgbClr val="008000"/>
                </a:solidFill>
              </a:rPr>
              <a:t>the public key info: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0D0D0D"/>
                </a:solidFill>
              </a:rPr>
              <a:t>the certified public key (</a:t>
            </a:r>
            <a:r>
              <a:rPr lang="en-US" sz="2400" dirty="0" err="1">
                <a:solidFill>
                  <a:srgbClr val="0D0D0D"/>
                </a:solidFill>
              </a:rPr>
              <a:t>n,e</a:t>
            </a:r>
            <a:r>
              <a:rPr lang="en-US" sz="2400" dirty="0">
                <a:solidFill>
                  <a:srgbClr val="0D0D0D"/>
                </a:solidFill>
              </a:rPr>
              <a:t>) </a:t>
            </a:r>
          </a:p>
          <a:p>
            <a:pPr lvl="1" eaLnBrk="1" hangingPunct="1"/>
            <a:r>
              <a:rPr lang="en-US" sz="2400" dirty="0">
                <a:solidFill>
                  <a:srgbClr val="008000"/>
                </a:solidFill>
              </a:rPr>
              <a:t>validity period: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0D0D0D"/>
                </a:solidFill>
              </a:rPr>
              <a:t>for how long</a:t>
            </a:r>
          </a:p>
          <a:p>
            <a:pPr lvl="1" eaLnBrk="1" hangingPunct="1"/>
            <a:r>
              <a:rPr lang="en-US" sz="2400" dirty="0">
                <a:solidFill>
                  <a:srgbClr val="008000"/>
                </a:solidFill>
              </a:rPr>
              <a:t>CA’s signature: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0D0D0D"/>
                </a:solidFill>
              </a:rPr>
              <a:t>to show the genuineness of the certificate. </a:t>
            </a:r>
            <a:r>
              <a:rPr lang="en-US" sz="2400" dirty="0">
                <a:solidFill>
                  <a:srgbClr val="C00000"/>
                </a:solidFill>
              </a:rPr>
              <a:t>(The signature is computed upon the whole certificate data.)</a:t>
            </a:r>
          </a:p>
          <a:p>
            <a:endParaRPr lang="en-US" sz="2800" dirty="0">
              <a:solidFill>
                <a:srgbClr val="0D0D0D"/>
              </a:solidFill>
            </a:endParaRPr>
          </a:p>
          <a:p>
            <a:r>
              <a:rPr lang="en-US" sz="2800" dirty="0">
                <a:solidFill>
                  <a:srgbClr val="0D0D0D"/>
                </a:solidFill>
              </a:rPr>
              <a:t>See details from SMU’s certificate (and in lab exercise). </a:t>
            </a:r>
          </a:p>
          <a:p>
            <a:pPr marL="0" indent="0">
              <a:buNone/>
            </a:pPr>
            <a:endParaRPr lang="en-US" sz="2800" dirty="0">
              <a:solidFill>
                <a:srgbClr val="0D0D0D"/>
              </a:solidFill>
            </a:endParaRPr>
          </a:p>
        </p:txBody>
      </p:sp>
      <p:sp>
        <p:nvSpPr>
          <p:cNvPr id="819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9771504-F045-43BA-8BAC-48BE0DC27D2D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575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196752"/>
            <a:ext cx="10513168" cy="4167295"/>
          </a:xfrm>
        </p:spPr>
        <p:txBody>
          <a:bodyPr/>
          <a:lstStyle/>
          <a:p>
            <a:r>
              <a:rPr lang="en-US" dirty="0">
                <a:solidFill>
                  <a:srgbClr val="D9D9D9"/>
                </a:solidFill>
              </a:rPr>
              <a:t>Introduction of the concept of certificates and Public Key Infrastructure (PKI)</a:t>
            </a:r>
          </a:p>
          <a:p>
            <a:r>
              <a:rPr lang="en-US" dirty="0"/>
              <a:t>Four important algorithms</a:t>
            </a:r>
          </a:p>
          <a:p>
            <a:pPr lvl="1"/>
            <a:r>
              <a:rPr lang="en-US" dirty="0"/>
              <a:t>certificate request algorithms (by public key owner and CA)</a:t>
            </a:r>
          </a:p>
          <a:p>
            <a:pPr lvl="1"/>
            <a:r>
              <a:rPr lang="en-US" dirty="0">
                <a:solidFill>
                  <a:srgbClr val="D9D9D9"/>
                </a:solidFill>
              </a:rPr>
              <a:t>certificate issuance algorithm (by CA)</a:t>
            </a:r>
          </a:p>
          <a:p>
            <a:pPr lvl="1"/>
            <a:r>
              <a:rPr lang="en-US" dirty="0">
                <a:solidFill>
                  <a:srgbClr val="D9D9D9"/>
                </a:solidFill>
              </a:rPr>
              <a:t>certificate verification algorithm (by verifier)</a:t>
            </a:r>
          </a:p>
          <a:p>
            <a:pPr lvl="1"/>
            <a:r>
              <a:rPr lang="en-US" dirty="0">
                <a:solidFill>
                  <a:srgbClr val="D9D9D9"/>
                </a:solidFill>
              </a:rPr>
              <a:t>certificate revocation algorithm (by CA)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869BCE-D170-4E8E-8001-31554DBA6AA7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37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96850"/>
            <a:ext cx="8305800" cy="641350"/>
          </a:xfrm>
        </p:spPr>
        <p:txBody>
          <a:bodyPr/>
          <a:lstStyle/>
          <a:p>
            <a:r>
              <a:rPr lang="en-US" dirty="0"/>
              <a:t>Certification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035164"/>
            <a:ext cx="10657184" cy="2283702"/>
          </a:xfrm>
        </p:spPr>
        <p:txBody>
          <a:bodyPr/>
          <a:lstStyle/>
          <a:p>
            <a:r>
              <a:rPr lang="en-US" dirty="0"/>
              <a:t>Alice has generated her RSA key (</a:t>
            </a:r>
            <a:r>
              <a:rPr lang="en-US" dirty="0" err="1"/>
              <a:t>n,e,d</a:t>
            </a:r>
            <a:r>
              <a:rPr lang="en-US" dirty="0"/>
              <a:t>).</a:t>
            </a:r>
          </a:p>
          <a:p>
            <a:r>
              <a:rPr lang="en-US" dirty="0"/>
              <a:t>Alice wants the CA to certify her (</a:t>
            </a:r>
            <a:r>
              <a:rPr lang="en-US" dirty="0" err="1"/>
              <a:t>n,e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namely to get a certificate on (</a:t>
            </a:r>
            <a:r>
              <a:rPr lang="en-US" dirty="0" err="1"/>
              <a:t>n,e</a:t>
            </a:r>
            <a:r>
              <a:rPr lang="en-US" dirty="0"/>
              <a:t>).</a:t>
            </a:r>
          </a:p>
          <a:p>
            <a:r>
              <a:rPr lang="en-US" dirty="0"/>
              <a:t>What should Alice send to CA?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869BCE-D170-4E8E-8001-31554DBA6AA7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67408" y="3539135"/>
            <a:ext cx="102251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+mn-lt"/>
              </a:rPr>
              <a:t>CA’s concern (besides verifying Alice’s identity): </a:t>
            </a:r>
          </a:p>
          <a:p>
            <a:r>
              <a:rPr lang="en-US" sz="2400" dirty="0">
                <a:latin typeface="+mn-lt"/>
              </a:rPr>
              <a:t>    I know she is Alice after checking her identity card. But, how do I know </a:t>
            </a:r>
            <a:r>
              <a:rPr lang="en-US" sz="2400" dirty="0">
                <a:solidFill>
                  <a:srgbClr val="0000FF"/>
                </a:solidFill>
                <a:latin typeface="+mn-lt"/>
              </a:rPr>
              <a:t>(</a:t>
            </a:r>
            <a:r>
              <a:rPr lang="en-US" sz="2400" dirty="0" err="1">
                <a:solidFill>
                  <a:srgbClr val="0000FF"/>
                </a:solidFill>
                <a:latin typeface="+mn-lt"/>
              </a:rPr>
              <a:t>n,e</a:t>
            </a:r>
            <a:r>
              <a:rPr lang="en-US" sz="2400" dirty="0">
                <a:solidFill>
                  <a:srgbClr val="0000FF"/>
                </a:solidFill>
                <a:latin typeface="+mn-lt"/>
              </a:rPr>
              <a:t>) </a:t>
            </a:r>
            <a:r>
              <a:rPr lang="en-US" sz="2400" dirty="0">
                <a:latin typeface="+mn-lt"/>
              </a:rPr>
              <a:t>are indeed her public key? Can Alice can convince me that she knows the corresponding </a:t>
            </a:r>
            <a:r>
              <a:rPr lang="en-US" sz="2400" dirty="0">
                <a:solidFill>
                  <a:srgbClr val="0000FF"/>
                </a:solidFill>
                <a:latin typeface="+mn-lt"/>
              </a:rPr>
              <a:t>d</a:t>
            </a:r>
            <a:r>
              <a:rPr lang="en-US" sz="2400" dirty="0">
                <a:latin typeface="+mn-lt"/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408" y="5229200"/>
            <a:ext cx="100811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+mj-lt"/>
              </a:rPr>
              <a:t>Alice’s concern:</a:t>
            </a:r>
          </a:p>
          <a:p>
            <a:r>
              <a:rPr lang="en-US" sz="2400" dirty="0">
                <a:latin typeface="+mj-lt"/>
              </a:rPr>
              <a:t>    Even though CA is an authority,  I don’t </a:t>
            </a:r>
            <a:r>
              <a:rPr lang="en-US" sz="2400" dirty="0" err="1">
                <a:latin typeface="+mj-lt"/>
              </a:rPr>
              <a:t>wanna</a:t>
            </a:r>
            <a:r>
              <a:rPr lang="en-US" sz="2400" dirty="0">
                <a:latin typeface="+mj-lt"/>
              </a:rPr>
              <a:t> tell him my private key. I should be the only person in the world who knows my private key!</a:t>
            </a:r>
          </a:p>
        </p:txBody>
      </p:sp>
    </p:spTree>
    <p:extLst>
      <p:ext uri="{BB962C8B-B14F-4D97-AF65-F5344CB8AC3E}">
        <p14:creationId xmlns:p14="http://schemas.microsoft.com/office/powerpoint/2010/main" val="2371270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760" y="239983"/>
            <a:ext cx="9144000" cy="584776"/>
          </a:xfrm>
        </p:spPr>
        <p:txBody>
          <a:bodyPr/>
          <a:lstStyle/>
          <a:p>
            <a:r>
              <a:rPr lang="en-US" sz="3200" dirty="0"/>
              <a:t>Certification Request Generation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9760" y="1196752"/>
            <a:ext cx="11233248" cy="4819781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Alice's RSA public key </a:t>
            </a:r>
            <a:r>
              <a:rPr lang="en-US" sz="2400" dirty="0">
                <a:solidFill>
                  <a:srgbClr val="C00000"/>
                </a:solidFill>
              </a:rPr>
              <a:t>(</a:t>
            </a:r>
            <a:r>
              <a:rPr lang="en-US" sz="2400" dirty="0" err="1">
                <a:solidFill>
                  <a:srgbClr val="C00000"/>
                </a:solidFill>
              </a:rPr>
              <a:t>n,e</a:t>
            </a:r>
            <a:r>
              <a:rPr lang="en-US" sz="2400" dirty="0">
                <a:solidFill>
                  <a:srgbClr val="C00000"/>
                </a:solidFill>
              </a:rPr>
              <a:t>)</a:t>
            </a:r>
            <a:r>
              <a:rPr lang="en-US" sz="2400" dirty="0"/>
              <a:t> and private key </a:t>
            </a:r>
            <a:r>
              <a:rPr lang="en-US" sz="2400" dirty="0">
                <a:solidFill>
                  <a:srgbClr val="C00000"/>
                </a:solidFill>
              </a:rPr>
              <a:t>d</a:t>
            </a:r>
            <a:r>
              <a:rPr lang="en-US" sz="2400" dirty="0"/>
              <a:t>. </a:t>
            </a:r>
          </a:p>
          <a:p>
            <a:r>
              <a:rPr lang="en-US" sz="2400" dirty="0"/>
              <a:t>Alice’s certificate request is Alice’s signature  on her public key using her private key.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Let </a:t>
            </a:r>
            <a:r>
              <a:rPr lang="en-US" sz="2400" dirty="0">
                <a:solidFill>
                  <a:srgbClr val="C00000"/>
                </a:solidFill>
                <a:ea typeface="+mn-ea"/>
                <a:cs typeface="+mn-cs"/>
              </a:rPr>
              <a:t>M</a:t>
            </a:r>
            <a:r>
              <a:rPr lang="en-US" sz="2400" dirty="0"/>
              <a:t> be the message consisting of </a:t>
            </a:r>
            <a:r>
              <a:rPr lang="en-US" sz="2400" dirty="0">
                <a:solidFill>
                  <a:srgbClr val="C00000"/>
                </a:solidFill>
                <a:ea typeface="+mn-ea"/>
                <a:cs typeface="+mn-cs"/>
              </a:rPr>
              <a:t>n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C00000"/>
                </a:solidFill>
                <a:ea typeface="+mn-ea"/>
                <a:cs typeface="+mn-cs"/>
              </a:rPr>
              <a:t>e</a:t>
            </a:r>
            <a:r>
              <a:rPr lang="en-US" sz="2400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Alice signs </a:t>
            </a:r>
            <a:r>
              <a:rPr lang="en-US" sz="2400" dirty="0">
                <a:solidFill>
                  <a:srgbClr val="C00000"/>
                </a:solidFill>
                <a:ea typeface="+mn-ea"/>
                <a:cs typeface="+mn-cs"/>
              </a:rPr>
              <a:t>M</a:t>
            </a:r>
            <a:r>
              <a:rPr lang="en-US" sz="2400" dirty="0"/>
              <a:t> to get a signature </a:t>
            </a:r>
            <a:r>
              <a:rPr lang="en-US" sz="2400" dirty="0">
                <a:solidFill>
                  <a:srgbClr val="C00000"/>
                </a:solidFill>
                <a:ea typeface="+mn-ea"/>
                <a:cs typeface="+mn-cs"/>
              </a:rPr>
              <a:t>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Alice sends (</a:t>
            </a:r>
            <a:r>
              <a:rPr lang="en-US" sz="2400" dirty="0">
                <a:solidFill>
                  <a:srgbClr val="C00000"/>
                </a:solidFill>
                <a:ea typeface="+mn-ea"/>
                <a:cs typeface="+mn-cs"/>
              </a:rPr>
              <a:t>M,s</a:t>
            </a:r>
            <a:r>
              <a:rPr lang="en-US" sz="2400" dirty="0"/>
              <a:t>) to CA as her certificate request.</a:t>
            </a:r>
          </a:p>
          <a:p>
            <a:r>
              <a:rPr lang="en-US" sz="2400" dirty="0"/>
              <a:t>To verify Alice's request (</a:t>
            </a:r>
            <a:r>
              <a:rPr lang="en-US" sz="2400" dirty="0">
                <a:solidFill>
                  <a:srgbClr val="C00000"/>
                </a:solidFill>
              </a:rPr>
              <a:t>M,s</a:t>
            </a:r>
            <a:r>
              <a:rPr lang="en-US" sz="2400" dirty="0"/>
              <a:t>), CA</a:t>
            </a:r>
            <a:endParaRPr lang="en-US" sz="2800" dirty="0"/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extracts (</a:t>
            </a:r>
            <a:r>
              <a:rPr lang="en-US" sz="2400" dirty="0" err="1">
                <a:solidFill>
                  <a:srgbClr val="C00000"/>
                </a:solidFill>
                <a:ea typeface="+mn-ea"/>
                <a:cs typeface="+mn-cs"/>
              </a:rPr>
              <a:t>n,e</a:t>
            </a:r>
            <a:r>
              <a:rPr lang="en-US" sz="2400" dirty="0"/>
              <a:t>) from </a:t>
            </a:r>
            <a:r>
              <a:rPr lang="en-US" sz="2400" dirty="0">
                <a:solidFill>
                  <a:srgbClr val="C00000"/>
                </a:solidFill>
                <a:ea typeface="+mn-ea"/>
                <a:cs typeface="+mn-cs"/>
              </a:rPr>
              <a:t>M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verifies (</a:t>
            </a:r>
            <a:r>
              <a:rPr lang="en-US" sz="2400" dirty="0">
                <a:solidFill>
                  <a:srgbClr val="C00000"/>
                </a:solidFill>
                <a:ea typeface="+mn-ea"/>
                <a:cs typeface="+mn-cs"/>
              </a:rPr>
              <a:t>M,s</a:t>
            </a:r>
            <a:r>
              <a:rPr lang="en-US" sz="2400" dirty="0"/>
              <a:t>) using (</a:t>
            </a:r>
            <a:r>
              <a:rPr lang="en-US" sz="2400" dirty="0" err="1">
                <a:solidFill>
                  <a:srgbClr val="C00000"/>
                </a:solidFill>
                <a:ea typeface="+mn-ea"/>
                <a:cs typeface="+mn-cs"/>
              </a:rPr>
              <a:t>n,e</a:t>
            </a:r>
            <a:r>
              <a:rPr lang="en-US" sz="2400" dirty="0"/>
              <a:t>).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If the signature (</a:t>
            </a:r>
            <a:r>
              <a:rPr lang="en-US" sz="2400" dirty="0">
                <a:solidFill>
                  <a:srgbClr val="C00000"/>
                </a:solidFill>
                <a:ea typeface="+mn-ea"/>
                <a:cs typeface="+mn-cs"/>
              </a:rPr>
              <a:t>M,s</a:t>
            </a:r>
            <a:r>
              <a:rPr lang="en-US" sz="2400" dirty="0"/>
              <a:t>) is valid, the request is approved</a:t>
            </a:r>
          </a:p>
          <a:p>
            <a:pPr lvl="2"/>
            <a:r>
              <a:rPr lang="en-US" sz="2000" dirty="0"/>
              <a:t>CA is convinced Alice knows </a:t>
            </a:r>
            <a:r>
              <a:rPr lang="en-US" dirty="0">
                <a:solidFill>
                  <a:srgbClr val="C00000"/>
                </a:solidFill>
                <a:ea typeface="+mn-ea"/>
                <a:cs typeface="+mn-cs"/>
              </a:rPr>
              <a:t>d</a:t>
            </a:r>
            <a:r>
              <a:rPr lang="en-US" sz="2000" dirty="0"/>
              <a:t>. Otherwise she cannot 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869BCE-D170-4E8E-8001-31554DBA6AA7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636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345352"/>
            <a:ext cx="10585176" cy="4167295"/>
          </a:xfrm>
        </p:spPr>
        <p:txBody>
          <a:bodyPr/>
          <a:lstStyle/>
          <a:p>
            <a:r>
              <a:rPr lang="en-US" dirty="0">
                <a:solidFill>
                  <a:srgbClr val="D9D9D9"/>
                </a:solidFill>
              </a:rPr>
              <a:t>Introduction of the concept of certificates and Public Key Infrastructure (PKI)</a:t>
            </a:r>
          </a:p>
          <a:p>
            <a:r>
              <a:rPr lang="en-US" dirty="0"/>
              <a:t>Four important algorithms</a:t>
            </a:r>
          </a:p>
          <a:p>
            <a:pPr lvl="1"/>
            <a:r>
              <a:rPr lang="en-US" dirty="0">
                <a:solidFill>
                  <a:srgbClr val="D9D9D9"/>
                </a:solidFill>
              </a:rPr>
              <a:t>certificate request generation algorithm (by public key owner)</a:t>
            </a:r>
          </a:p>
          <a:p>
            <a:pPr lvl="1"/>
            <a:r>
              <a:rPr lang="en-US" dirty="0"/>
              <a:t>certificate issuance algorithm (by CA)</a:t>
            </a:r>
          </a:p>
          <a:p>
            <a:pPr lvl="1"/>
            <a:r>
              <a:rPr lang="en-US" dirty="0">
                <a:solidFill>
                  <a:srgbClr val="D9D9D9"/>
                </a:solidFill>
              </a:rPr>
              <a:t>certificate verification algorithm (by verifier)</a:t>
            </a:r>
          </a:p>
          <a:p>
            <a:pPr lvl="1"/>
            <a:r>
              <a:rPr lang="en-US" dirty="0">
                <a:solidFill>
                  <a:srgbClr val="D9D9D9"/>
                </a:solidFill>
              </a:rPr>
              <a:t>certificate revocation algorithm (by CA)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869BCE-D170-4E8E-8001-31554DBA6AA7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57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911424" y="188640"/>
            <a:ext cx="7772400" cy="646331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Certificate Issuance</a:t>
            </a:r>
            <a:endParaRPr lang="en-US" dirty="0"/>
          </a:p>
        </p:txBody>
      </p:sp>
      <p:sp>
        <p:nvSpPr>
          <p:cNvPr id="4044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2567" y="1171315"/>
            <a:ext cx="10657184" cy="3600986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CN" sz="2800" dirty="0">
                <a:ea typeface="宋体" pitchFamily="2" charset="-122"/>
              </a:rPr>
              <a:t>CA checks Alice’s identity and verifies Alice’s request using the public key being signed.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800" dirty="0">
                <a:ea typeface="宋体" pitchFamily="2" charset="-122"/>
              </a:rPr>
              <a:t>If both are correct, CA issues a certificate for Alice’s public key in the following steps: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altLang="zh-CN" sz="2400" dirty="0">
                <a:ea typeface="宋体" pitchFamily="2" charset="-122"/>
              </a:rPr>
              <a:t>Construct the certificate body consisting of the elements defined by the X.509 PKI standard (key elements explained in Slide 10). 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altLang="zh-CN" sz="2400" dirty="0">
                <a:ea typeface="宋体" pitchFamily="2" charset="-122"/>
              </a:rPr>
              <a:t>Sign the certificate body with CA's private key. 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altLang="zh-CN" sz="2400" dirty="0">
                <a:ea typeface="宋体" pitchFamily="2" charset="-122"/>
              </a:rPr>
              <a:t>Alice's certificate = </a:t>
            </a:r>
            <a:r>
              <a:rPr lang="en-US" altLang="zh-CN" sz="2400" dirty="0">
                <a:solidFill>
                  <a:srgbClr val="0000FF"/>
                </a:solidFill>
                <a:ea typeface="宋体" pitchFamily="2" charset="-122"/>
              </a:rPr>
              <a:t>certificate body </a:t>
            </a:r>
            <a:r>
              <a:rPr lang="en-US" altLang="zh-CN" sz="2400" dirty="0">
                <a:ea typeface="宋体" pitchFamily="2" charset="-122"/>
              </a:rPr>
              <a:t>+ </a:t>
            </a:r>
            <a:r>
              <a:rPr lang="en-US" altLang="zh-CN" sz="2400" dirty="0">
                <a:solidFill>
                  <a:srgbClr val="0000FF"/>
                </a:solidFill>
                <a:ea typeface="宋体" pitchFamily="2" charset="-122"/>
              </a:rPr>
              <a:t>CA's signature</a:t>
            </a:r>
          </a:p>
        </p:txBody>
      </p:sp>
      <p:sp>
        <p:nvSpPr>
          <p:cNvPr id="717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7F54E09-F763-4BA9-B944-4ADF01285109}" type="slidenum">
              <a:rPr lang="en-US"/>
              <a:pPr/>
              <a:t>15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127448" y="5384835"/>
            <a:ext cx="9721080" cy="83099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lvl="1"/>
            <a:r>
              <a:rPr lang="en-US" altLang="zh-CN" sz="2400" dirty="0">
                <a:solidFill>
                  <a:schemeClr val="bg1"/>
                </a:solidFill>
                <a:ea typeface="宋体" pitchFamily="2" charset="-122"/>
              </a:rPr>
              <a:t>Alice's certificate is a document signed by CA upon Alice's public key and Alice's identity, as well as other important information.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1547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345352"/>
            <a:ext cx="10801200" cy="4167295"/>
          </a:xfrm>
        </p:spPr>
        <p:txBody>
          <a:bodyPr/>
          <a:lstStyle/>
          <a:p>
            <a:r>
              <a:rPr lang="en-US" dirty="0">
                <a:solidFill>
                  <a:srgbClr val="D9D9D9"/>
                </a:solidFill>
              </a:rPr>
              <a:t>Introduction of the concept of certificates and Public Key Infrastructure (PKI)</a:t>
            </a:r>
          </a:p>
          <a:p>
            <a:r>
              <a:rPr lang="en-US" dirty="0"/>
              <a:t>Four important algorithms</a:t>
            </a:r>
          </a:p>
          <a:p>
            <a:pPr lvl="1"/>
            <a:r>
              <a:rPr lang="en-US" dirty="0">
                <a:solidFill>
                  <a:srgbClr val="D9D9D9"/>
                </a:solidFill>
              </a:rPr>
              <a:t>certificate request generation algorithm (by public key owner)</a:t>
            </a:r>
          </a:p>
          <a:p>
            <a:pPr lvl="1"/>
            <a:r>
              <a:rPr lang="en-US" dirty="0">
                <a:solidFill>
                  <a:srgbClr val="D9D9D9"/>
                </a:solidFill>
              </a:rPr>
              <a:t>certificate issuance algorithm (by CA)</a:t>
            </a:r>
          </a:p>
          <a:p>
            <a:pPr lvl="1"/>
            <a:r>
              <a:rPr lang="en-US" dirty="0"/>
              <a:t>certificate verification algorithm (by verifier)</a:t>
            </a:r>
          </a:p>
          <a:p>
            <a:pPr lvl="1"/>
            <a:r>
              <a:rPr lang="en-US" dirty="0">
                <a:solidFill>
                  <a:srgbClr val="D9D9D9"/>
                </a:solidFill>
              </a:rPr>
              <a:t>certificate revocation algorithm (by CA)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869BCE-D170-4E8E-8001-31554DBA6AA7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421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>
          <a:xfrm>
            <a:off x="911424" y="75736"/>
            <a:ext cx="8305800" cy="641350"/>
          </a:xfrm>
        </p:spPr>
        <p:txBody>
          <a:bodyPr/>
          <a:lstStyle/>
          <a:p>
            <a:pPr eaLnBrk="1" hangingPunct="1"/>
            <a:r>
              <a:rPr lang="en-US" dirty="0"/>
              <a:t>Certificate Verification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idx="1"/>
          </p:nvPr>
        </p:nvSpPr>
        <p:spPr>
          <a:xfrm>
            <a:off x="911424" y="1124744"/>
            <a:ext cx="10508976" cy="4598182"/>
          </a:xfrm>
        </p:spPr>
        <p:txBody>
          <a:bodyPr/>
          <a:lstStyle/>
          <a:p>
            <a:r>
              <a:rPr lang="en-US" sz="2400" dirty="0"/>
              <a:t>A public key certificate is publicly verifiable, i.e. it can be verified by anyone.</a:t>
            </a:r>
          </a:p>
          <a:p>
            <a:pPr eaLnBrk="1" hangingPunct="1"/>
            <a:r>
              <a:rPr lang="en-US" sz="2400" dirty="0"/>
              <a:t>A user obtains a web server's certificate, either by receiving it from the server or retrieving it from some directory.</a:t>
            </a:r>
          </a:p>
          <a:p>
            <a:pPr eaLnBrk="1" hangingPunct="1"/>
            <a:r>
              <a:rPr lang="en-US" sz="2400" dirty="0"/>
              <a:t>To verify Alice’s certificate, Bob runs the following steps: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If it has expired, return false; otherwise,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verify the signature of the certificate with the certificate body using CA’s public key. If invalid, return false;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verify whether CA’s public key in use is trusted. If positive, return true; otherwise return false.</a:t>
            </a:r>
          </a:p>
          <a:p>
            <a:pPr marL="1200150" lvl="2" indent="-342900"/>
            <a:r>
              <a:rPr lang="en-US" u="sng" dirty="0">
                <a:solidFill>
                  <a:srgbClr val="C00000"/>
                </a:solidFill>
              </a:rPr>
              <a:t>How to verify CA’s public key???</a:t>
            </a:r>
          </a:p>
        </p:txBody>
      </p:sp>
      <p:sp>
        <p:nvSpPr>
          <p:cNvPr id="1024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038607C-8A7D-46E7-9B2A-B6771D6A9D2B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121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424" y="51411"/>
            <a:ext cx="8305800" cy="646331"/>
          </a:xfrm>
        </p:spPr>
        <p:txBody>
          <a:bodyPr/>
          <a:lstStyle/>
          <a:p>
            <a:r>
              <a:rPr lang="en-US" dirty="0"/>
              <a:t>Certification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22729"/>
            <a:ext cx="9790112" cy="3440942"/>
          </a:xfrm>
        </p:spPr>
        <p:txBody>
          <a:bodyPr/>
          <a:lstStyle/>
          <a:p>
            <a:r>
              <a:rPr lang="en-US" dirty="0"/>
              <a:t>Alice’s CA is certified by another CA.</a:t>
            </a:r>
          </a:p>
          <a:p>
            <a:r>
              <a:rPr lang="en-US" dirty="0"/>
              <a:t>Alice’s CA’s CA is certified by another CA.</a:t>
            </a:r>
          </a:p>
          <a:p>
            <a:r>
              <a:rPr lang="en-US" dirty="0"/>
              <a:t>Alice’s CA’s CA’s CA is certified by …</a:t>
            </a:r>
          </a:p>
          <a:p>
            <a:r>
              <a:rPr lang="en-US" dirty="0"/>
              <a:t> …..</a:t>
            </a:r>
          </a:p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869BCE-D170-4E8E-8001-31554DBA6AA7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40996" y="4147067"/>
            <a:ext cx="1547208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3791744" y="4724401"/>
            <a:ext cx="6192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This must be ended at some CA!!</a:t>
            </a:r>
          </a:p>
        </p:txBody>
      </p:sp>
    </p:spTree>
    <p:extLst>
      <p:ext uri="{BB962C8B-B14F-4D97-AF65-F5344CB8AC3E}">
        <p14:creationId xmlns:p14="http://schemas.microsoft.com/office/powerpoint/2010/main" val="3507637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Certification Chain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2464" y="6629400"/>
            <a:ext cx="1905000" cy="228600"/>
          </a:xfrm>
        </p:spPr>
        <p:txBody>
          <a:bodyPr/>
          <a:lstStyle/>
          <a:p>
            <a:pPr>
              <a:defRPr/>
            </a:pPr>
            <a:fld id="{33869BCE-D170-4E8E-8001-31554DBA6AA7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48" y="5469925"/>
            <a:ext cx="990600" cy="11155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1697" y="430632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SCIS 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528" y="2908214"/>
            <a:ext cx="1382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SMU 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5937" y="1617280"/>
            <a:ext cx="1398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MOE CA</a:t>
            </a:r>
          </a:p>
        </p:txBody>
      </p:sp>
      <p:cxnSp>
        <p:nvCxnSpPr>
          <p:cNvPr id="20" name="Straight Arrow Connector 19"/>
          <p:cNvCxnSpPr>
            <a:stCxn id="8" idx="2"/>
            <a:endCxn id="7" idx="0"/>
          </p:cNvCxnSpPr>
          <p:nvPr/>
        </p:nvCxnSpPr>
        <p:spPr>
          <a:xfrm>
            <a:off x="1989583" y="3369879"/>
            <a:ext cx="0" cy="936448"/>
          </a:xfrm>
          <a:prstGeom prst="straightConnector1">
            <a:avLst/>
          </a:prstGeom>
          <a:ln>
            <a:solidFill>
              <a:srgbClr val="3333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1976924" y="4767992"/>
            <a:ext cx="0" cy="533400"/>
          </a:xfrm>
          <a:prstGeom prst="straightConnector1">
            <a:avLst/>
          </a:prstGeom>
          <a:ln>
            <a:solidFill>
              <a:srgbClr val="3333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cxnSpLocks/>
            <a:stCxn id="9" idx="2"/>
          </p:cNvCxnSpPr>
          <p:nvPr/>
        </p:nvCxnSpPr>
        <p:spPr>
          <a:xfrm>
            <a:off x="1895007" y="2078945"/>
            <a:ext cx="0" cy="788513"/>
          </a:xfrm>
          <a:prstGeom prst="straightConnector1">
            <a:avLst/>
          </a:prstGeom>
          <a:ln>
            <a:solidFill>
              <a:srgbClr val="3333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262737" y="4741480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certify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62737" y="3670215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certify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2737" y="2379280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certify</a:t>
            </a:r>
          </a:p>
        </p:txBody>
      </p:sp>
      <p:sp>
        <p:nvSpPr>
          <p:cNvPr id="32" name="Freeform 31"/>
          <p:cNvSpPr/>
          <p:nvPr/>
        </p:nvSpPr>
        <p:spPr>
          <a:xfrm rot="16200000">
            <a:off x="1701883" y="952500"/>
            <a:ext cx="604155" cy="832756"/>
          </a:xfrm>
          <a:custGeom>
            <a:avLst/>
            <a:gdLst>
              <a:gd name="connsiteX0" fmla="*/ 11239 w 1292534"/>
              <a:gd name="connsiteY0" fmla="*/ 484571 h 934270"/>
              <a:gd name="connsiteX1" fmla="*/ 606884 w 1292534"/>
              <a:gd name="connsiteY1" fmla="*/ 934091 h 934270"/>
              <a:gd name="connsiteX2" fmla="*/ 1292438 w 1292534"/>
              <a:gd name="connsiteY2" fmla="*/ 439619 h 934270"/>
              <a:gd name="connsiteX3" fmla="*/ 651839 w 1292534"/>
              <a:gd name="connsiteY3" fmla="*/ 1336 h 934270"/>
              <a:gd name="connsiteX4" fmla="*/ 0 w 1292534"/>
              <a:gd name="connsiteY4" fmla="*/ 293524 h 934270"/>
              <a:gd name="connsiteX5" fmla="*/ 0 w 1292534"/>
              <a:gd name="connsiteY5" fmla="*/ 293524 h 934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2534" h="934270">
                <a:moveTo>
                  <a:pt x="11239" y="484571"/>
                </a:moveTo>
                <a:cubicBezTo>
                  <a:pt x="202295" y="713077"/>
                  <a:pt x="393351" y="941583"/>
                  <a:pt x="606884" y="934091"/>
                </a:cubicBezTo>
                <a:cubicBezTo>
                  <a:pt x="820417" y="926599"/>
                  <a:pt x="1284946" y="595078"/>
                  <a:pt x="1292438" y="439619"/>
                </a:cubicBezTo>
                <a:cubicBezTo>
                  <a:pt x="1299930" y="284160"/>
                  <a:pt x="867245" y="25685"/>
                  <a:pt x="651839" y="1336"/>
                </a:cubicBezTo>
                <a:cubicBezTo>
                  <a:pt x="436433" y="-23013"/>
                  <a:pt x="0" y="293524"/>
                  <a:pt x="0" y="293524"/>
                </a:cubicBezTo>
                <a:lnTo>
                  <a:pt x="0" y="293524"/>
                </a:lnTo>
              </a:path>
            </a:pathLst>
          </a:custGeom>
          <a:ln w="38100">
            <a:solidFill>
              <a:schemeClr val="accent2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2346894" y="990601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self-certify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50814" y="1123104"/>
            <a:ext cx="793381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Self-certify: 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/>
              <a:t>A CA can self-certify itself by signing its own public key using its private key.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/>
              <a:t>Such a CA is called </a:t>
            </a:r>
            <a:r>
              <a:rPr lang="en-US" sz="2400" b="1" i="1" dirty="0"/>
              <a:t>root</a:t>
            </a:r>
            <a:r>
              <a:rPr lang="en-US" sz="2400" dirty="0"/>
              <a:t> CA. A root CA’s certificate is called a </a:t>
            </a:r>
            <a:r>
              <a:rPr lang="en-US" sz="2400" b="1" i="1" dirty="0"/>
              <a:t>self-signed</a:t>
            </a:r>
            <a:r>
              <a:rPr lang="en-US" sz="2400" dirty="0"/>
              <a:t> certificate.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/>
              <a:t>Demo: Examples of root CAs in browsers.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7368" y="5796862"/>
            <a:ext cx="853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Alice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4077115" y="4141316"/>
            <a:ext cx="72621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To verify Alice’s certificate</a:t>
            </a:r>
            <a:r>
              <a:rPr lang="en-US" sz="2400" dirty="0"/>
              <a:t>, 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/>
              <a:t>Bob verifies all certificates along the chain (bottom-up), until he reaches the root CA.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/>
              <a:t>Then, he </a:t>
            </a:r>
            <a:r>
              <a:rPr lang="en-US" sz="2400" b="1" u="sng" dirty="0"/>
              <a:t>decides</a:t>
            </a:r>
            <a:r>
              <a:rPr lang="en-US" sz="2400" dirty="0"/>
              <a:t> whether the root CA is trusted!</a:t>
            </a:r>
          </a:p>
        </p:txBody>
      </p:sp>
      <p:cxnSp>
        <p:nvCxnSpPr>
          <p:cNvPr id="38" name="Straight Arrow Connector 37"/>
          <p:cNvCxnSpPr>
            <a:stCxn id="8" idx="2"/>
          </p:cNvCxnSpPr>
          <p:nvPr/>
        </p:nvCxnSpPr>
        <p:spPr>
          <a:xfrm flipH="1">
            <a:off x="1282784" y="3369879"/>
            <a:ext cx="706799" cy="592521"/>
          </a:xfrm>
          <a:prstGeom prst="straightConnector1">
            <a:avLst/>
          </a:prstGeom>
          <a:ln>
            <a:solidFill>
              <a:srgbClr val="3333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8" idx="2"/>
          </p:cNvCxnSpPr>
          <p:nvPr/>
        </p:nvCxnSpPr>
        <p:spPr>
          <a:xfrm flipH="1">
            <a:off x="977984" y="3369879"/>
            <a:ext cx="1011599" cy="287721"/>
          </a:xfrm>
          <a:prstGeom prst="straightConnector1">
            <a:avLst/>
          </a:prstGeom>
          <a:ln>
            <a:solidFill>
              <a:srgbClr val="3333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9" idx="2"/>
          </p:cNvCxnSpPr>
          <p:nvPr/>
        </p:nvCxnSpPr>
        <p:spPr>
          <a:xfrm flipH="1">
            <a:off x="1511384" y="2078945"/>
            <a:ext cx="383623" cy="588055"/>
          </a:xfrm>
          <a:prstGeom prst="straightConnector1">
            <a:avLst/>
          </a:prstGeom>
          <a:ln>
            <a:solidFill>
              <a:srgbClr val="3333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9" idx="2"/>
          </p:cNvCxnSpPr>
          <p:nvPr/>
        </p:nvCxnSpPr>
        <p:spPr>
          <a:xfrm flipH="1">
            <a:off x="977984" y="2078945"/>
            <a:ext cx="917023" cy="435655"/>
          </a:xfrm>
          <a:prstGeom prst="straightConnector1">
            <a:avLst/>
          </a:prstGeom>
          <a:ln>
            <a:solidFill>
              <a:srgbClr val="3333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849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/>
      <p:bldP spid="34" grpId="0"/>
      <p:bldP spid="3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6196A-23A1-3640-AD72-FBBCCF65A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15528"/>
            <a:ext cx="11074400" cy="641350"/>
          </a:xfrm>
        </p:spPr>
        <p:txBody>
          <a:bodyPr/>
          <a:lstStyle/>
          <a:p>
            <a:r>
              <a:rPr lang="en-US" dirty="0"/>
              <a:t>Use of Certificate in Internet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8BD27-54F5-C444-BAD1-91926F5E6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4800" y="6645412"/>
            <a:ext cx="1727200" cy="228600"/>
          </a:xfrm>
        </p:spPr>
        <p:txBody>
          <a:bodyPr/>
          <a:lstStyle/>
          <a:p>
            <a:pPr>
              <a:defRPr/>
            </a:pPr>
            <a:fld id="{36D7DA8A-A668-4056-92C5-6EB6B12BA1D4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70AA25-0C66-0948-88F9-EC56FA6D87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08000" y="1078607"/>
            <a:ext cx="1555552" cy="1555552"/>
          </a:xfrm>
          <a:prstGeom prst="rect">
            <a:avLst/>
          </a:prstGeom>
        </p:spPr>
      </p:pic>
      <p:pic>
        <p:nvPicPr>
          <p:cNvPr id="9" name="Picture 8" descr="Logo, icon&#10;&#10;Description automatically generated">
            <a:extLst>
              <a:ext uri="{FF2B5EF4-FFF2-40B4-BE49-F238E27FC236}">
                <a16:creationId xmlns:a16="http://schemas.microsoft.com/office/drawing/2014/main" id="{5C76C9AD-3549-154B-962D-AFF7994E6C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3618296" y="1013575"/>
            <a:ext cx="1685616" cy="1685616"/>
          </a:xfrm>
          <a:prstGeom prst="rect">
            <a:avLst/>
          </a:prstGeom>
        </p:spPr>
      </p:pic>
      <p:pic>
        <p:nvPicPr>
          <p:cNvPr id="16" name="Graphic 15" descr="Computer outline">
            <a:extLst>
              <a:ext uri="{FF2B5EF4-FFF2-40B4-BE49-F238E27FC236}">
                <a16:creationId xmlns:a16="http://schemas.microsoft.com/office/drawing/2014/main" id="{45F9153B-FA1D-8F4C-9D60-AAFAA87B61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96400" y="764704"/>
            <a:ext cx="2183358" cy="2183358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0604D56-6956-FD43-A334-B2C715FA5B30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063552" y="1856383"/>
            <a:ext cx="155474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4DE4711-2C5D-364E-B983-614AC55DE3EC}"/>
              </a:ext>
            </a:extLst>
          </p:cNvPr>
          <p:cNvSpPr txBox="1"/>
          <p:nvPr/>
        </p:nvSpPr>
        <p:spPr>
          <a:xfrm>
            <a:off x="1953404" y="1474742"/>
            <a:ext cx="1608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www.abc.com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D8560A6-B680-4E4E-B115-7DCB8F837F59}"/>
              </a:ext>
            </a:extLst>
          </p:cNvPr>
          <p:cNvCxnSpPr>
            <a:cxnSpLocks/>
            <a:stCxn id="9" idx="3"/>
            <a:endCxn id="16" idx="1"/>
          </p:cNvCxnSpPr>
          <p:nvPr/>
        </p:nvCxnSpPr>
        <p:spPr>
          <a:xfrm>
            <a:off x="5303912" y="1856383"/>
            <a:ext cx="43924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4FA92CE-6F59-C34C-9B35-F8710421B0B6}"/>
              </a:ext>
            </a:extLst>
          </p:cNvPr>
          <p:cNvSpPr txBox="1"/>
          <p:nvPr/>
        </p:nvSpPr>
        <p:spPr>
          <a:xfrm>
            <a:off x="6264809" y="1474742"/>
            <a:ext cx="2480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Request for Certificate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7B25932-1D32-2943-B601-C85C2E286C30}"/>
              </a:ext>
            </a:extLst>
          </p:cNvPr>
          <p:cNvCxnSpPr/>
          <p:nvPr/>
        </p:nvCxnSpPr>
        <p:spPr>
          <a:xfrm flipH="1">
            <a:off x="5303912" y="2060848"/>
            <a:ext cx="43924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Vertical Scroll 28">
            <a:extLst>
              <a:ext uri="{FF2B5EF4-FFF2-40B4-BE49-F238E27FC236}">
                <a16:creationId xmlns:a16="http://schemas.microsoft.com/office/drawing/2014/main" id="{47AF0600-9FF3-BE44-A238-F957E6BB3901}"/>
              </a:ext>
            </a:extLst>
          </p:cNvPr>
          <p:cNvSpPr/>
          <p:nvPr/>
        </p:nvSpPr>
        <p:spPr>
          <a:xfrm>
            <a:off x="6858656" y="2132856"/>
            <a:ext cx="2088232" cy="1296144"/>
          </a:xfrm>
          <a:prstGeom prst="verticalScroll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www.abc.com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4" name="Picture 33" descr="A picture containing cookie cutter, light, vector graphics&#10;&#10;Description automatically generated">
            <a:extLst>
              <a:ext uri="{FF2B5EF4-FFF2-40B4-BE49-F238E27FC236}">
                <a16:creationId xmlns:a16="http://schemas.microsoft.com/office/drawing/2014/main" id="{ECD207EA-5C3A-7247-BF2A-73E47425B2A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8184233" y="3020070"/>
            <a:ext cx="762656" cy="76265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5A42BD51-9D56-264A-979A-FCF0E9C7BC65}"/>
              </a:ext>
            </a:extLst>
          </p:cNvPr>
          <p:cNvSpPr txBox="1"/>
          <p:nvPr/>
        </p:nvSpPr>
        <p:spPr>
          <a:xfrm>
            <a:off x="2801320" y="2524235"/>
            <a:ext cx="1458476" cy="1754326"/>
          </a:xfrm>
          <a:prstGeom prst="rect">
            <a:avLst/>
          </a:prstGeom>
          <a:solidFill>
            <a:srgbClr val="92D050"/>
          </a:solidFill>
          <a:ln w="254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Trusted CAs</a:t>
            </a:r>
          </a:p>
          <a:p>
            <a:r>
              <a:rPr lang="en-US" dirty="0"/>
              <a:t>1. …</a:t>
            </a:r>
          </a:p>
          <a:p>
            <a:r>
              <a:rPr lang="en-US" dirty="0"/>
              <a:t>2. …</a:t>
            </a:r>
          </a:p>
          <a:p>
            <a:r>
              <a:rPr lang="en-US" dirty="0"/>
              <a:t>3.…</a:t>
            </a:r>
          </a:p>
          <a:p>
            <a:r>
              <a:rPr lang="en-US" dirty="0"/>
              <a:t>4. …</a:t>
            </a:r>
          </a:p>
          <a:p>
            <a:r>
              <a:rPr lang="en-US" dirty="0"/>
              <a:t>….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BB1D1F-1102-2A41-ABCD-D657DBE572AE}"/>
              </a:ext>
            </a:extLst>
          </p:cNvPr>
          <p:cNvSpPr txBox="1"/>
          <p:nvPr/>
        </p:nvSpPr>
        <p:spPr>
          <a:xfrm>
            <a:off x="5240957" y="2211178"/>
            <a:ext cx="1736373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Here is my cert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84F1176-BECC-0C4A-B225-D0C3ADB75C9D}"/>
              </a:ext>
            </a:extLst>
          </p:cNvPr>
          <p:cNvGrpSpPr/>
          <p:nvPr/>
        </p:nvGrpSpPr>
        <p:grpSpPr>
          <a:xfrm>
            <a:off x="191344" y="4365104"/>
            <a:ext cx="10770425" cy="1735814"/>
            <a:chOff x="191344" y="4365104"/>
            <a:chExt cx="10770425" cy="1735814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5F056B8-CC18-A945-ACBD-7DA9124790FF}"/>
                </a:ext>
              </a:extLst>
            </p:cNvPr>
            <p:cNvSpPr txBox="1"/>
            <p:nvPr/>
          </p:nvSpPr>
          <p:spPr>
            <a:xfrm>
              <a:off x="191344" y="4496539"/>
              <a:ext cx="2116293" cy="64633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If the cert is for </a:t>
              </a:r>
              <a:r>
                <a:rPr lang="en-US" dirty="0" err="1"/>
                <a:t>www.abc.com</a:t>
              </a:r>
              <a:endParaRPr 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843B299-6DF4-DD41-996F-CEE49211C7FB}"/>
                </a:ext>
              </a:extLst>
            </p:cNvPr>
            <p:cNvSpPr txBox="1"/>
            <p:nvPr/>
          </p:nvSpPr>
          <p:spPr>
            <a:xfrm>
              <a:off x="3546818" y="4496539"/>
              <a:ext cx="2387349" cy="64633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If the cert is verified as valid 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DF091EA-0D8F-6747-AC57-9146246107DC}"/>
                </a:ext>
              </a:extLst>
            </p:cNvPr>
            <p:cNvSpPr txBox="1"/>
            <p:nvPr/>
          </p:nvSpPr>
          <p:spPr>
            <a:xfrm>
              <a:off x="7056758" y="4496539"/>
              <a:ext cx="2639642" cy="64633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Anyone of its chain is on Trusted CA list?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87B67762-3E84-E543-AF49-1EA0D70F95F0}"/>
                </a:ext>
              </a:extLst>
            </p:cNvPr>
            <p:cNvCxnSpPr>
              <a:cxnSpLocks/>
              <a:stCxn id="37" idx="3"/>
              <a:endCxn id="39" idx="1"/>
            </p:cNvCxnSpPr>
            <p:nvPr/>
          </p:nvCxnSpPr>
          <p:spPr>
            <a:xfrm>
              <a:off x="2307637" y="4819705"/>
              <a:ext cx="123918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7321A94F-475E-DE47-B88E-ADE063A5EBC0}"/>
                </a:ext>
              </a:extLst>
            </p:cNvPr>
            <p:cNvCxnSpPr>
              <a:cxnSpLocks/>
              <a:stCxn id="39" idx="3"/>
              <a:endCxn id="40" idx="1"/>
            </p:cNvCxnSpPr>
            <p:nvPr/>
          </p:nvCxnSpPr>
          <p:spPr>
            <a:xfrm>
              <a:off x="5934167" y="4819705"/>
              <a:ext cx="112259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57DBAF4-7099-D34D-B42B-AAB43198043D}"/>
                </a:ext>
              </a:extLst>
            </p:cNvPr>
            <p:cNvSpPr txBox="1"/>
            <p:nvPr/>
          </p:nvSpPr>
          <p:spPr>
            <a:xfrm>
              <a:off x="2765815" y="4472667"/>
              <a:ext cx="338554" cy="36933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n-US" dirty="0"/>
                <a:t>Y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0CBDF3F-AA86-8643-9BCD-7DA1FBEE36A1}"/>
                </a:ext>
              </a:extLst>
            </p:cNvPr>
            <p:cNvSpPr txBox="1"/>
            <p:nvPr/>
          </p:nvSpPr>
          <p:spPr>
            <a:xfrm>
              <a:off x="6240016" y="4455204"/>
              <a:ext cx="338554" cy="36933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n-US" dirty="0"/>
                <a:t>Y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4EB4CA6-1C42-2042-A1BE-6CB118F6A507}"/>
                </a:ext>
              </a:extLst>
            </p:cNvPr>
            <p:cNvSpPr txBox="1"/>
            <p:nvPr/>
          </p:nvSpPr>
          <p:spPr>
            <a:xfrm>
              <a:off x="2712643" y="5561644"/>
              <a:ext cx="736099" cy="36933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n-US" dirty="0"/>
                <a:t>Abort</a:t>
              </a: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EA34D3C9-ACE1-7D43-951D-AB1F397A6B1A}"/>
                </a:ext>
              </a:extLst>
            </p:cNvPr>
            <p:cNvCxnSpPr>
              <a:stCxn id="37" idx="2"/>
              <a:endCxn id="50" idx="1"/>
            </p:cNvCxnSpPr>
            <p:nvPr/>
          </p:nvCxnSpPr>
          <p:spPr>
            <a:xfrm>
              <a:off x="1249491" y="5142870"/>
              <a:ext cx="1463152" cy="60344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39ED3F7B-F4AE-A448-A50D-8C4E8E87DDA6}"/>
                </a:ext>
              </a:extLst>
            </p:cNvPr>
            <p:cNvCxnSpPr>
              <a:stCxn id="39" idx="2"/>
              <a:endCxn id="50" idx="3"/>
            </p:cNvCxnSpPr>
            <p:nvPr/>
          </p:nvCxnSpPr>
          <p:spPr>
            <a:xfrm flipH="1">
              <a:off x="3448742" y="5142870"/>
              <a:ext cx="1291751" cy="60344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1081020-E787-AE48-8686-E87FB261BB26}"/>
                </a:ext>
              </a:extLst>
            </p:cNvPr>
            <p:cNvSpPr txBox="1"/>
            <p:nvPr/>
          </p:nvSpPr>
          <p:spPr>
            <a:xfrm>
              <a:off x="3546818" y="5256584"/>
              <a:ext cx="351378" cy="36933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n-US" dirty="0"/>
                <a:t>N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C60DB93-F622-0840-B872-75FF135B8FFE}"/>
                </a:ext>
              </a:extLst>
            </p:cNvPr>
            <p:cNvSpPr txBox="1"/>
            <p:nvPr/>
          </p:nvSpPr>
          <p:spPr>
            <a:xfrm>
              <a:off x="2189751" y="5256584"/>
              <a:ext cx="351378" cy="36933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n-US" dirty="0"/>
                <a:t>N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890E6824-8230-6B49-BD40-717EA3E4830C}"/>
                </a:ext>
              </a:extLst>
            </p:cNvPr>
            <p:cNvCxnSpPr>
              <a:cxnSpLocks/>
              <a:stCxn id="40" idx="3"/>
              <a:endCxn id="59" idx="1"/>
            </p:cNvCxnSpPr>
            <p:nvPr/>
          </p:nvCxnSpPr>
          <p:spPr>
            <a:xfrm flipV="1">
              <a:off x="9696400" y="4819704"/>
              <a:ext cx="375382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FD964C4-22A9-F147-8B55-A1041FE7F1AC}"/>
                </a:ext>
              </a:extLst>
            </p:cNvPr>
            <p:cNvSpPr txBox="1"/>
            <p:nvPr/>
          </p:nvSpPr>
          <p:spPr>
            <a:xfrm>
              <a:off x="10071782" y="4635038"/>
              <a:ext cx="889987" cy="369332"/>
            </a:xfrm>
            <a:prstGeom prst="rect">
              <a:avLst/>
            </a:prstGeom>
            <a:solidFill>
              <a:srgbClr val="00B050"/>
            </a:solidFill>
            <a:ln w="25400">
              <a:noFill/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n-US" dirty="0"/>
                <a:t>Accept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5711A73-3469-E049-8E43-A424CC5A9AC1}"/>
                </a:ext>
              </a:extLst>
            </p:cNvPr>
            <p:cNvSpPr txBox="1"/>
            <p:nvPr/>
          </p:nvSpPr>
          <p:spPr>
            <a:xfrm>
              <a:off x="7223756" y="5561644"/>
              <a:ext cx="2305646" cy="3693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Self-signed CA?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452EA1E-549E-2343-9166-22EA11DA68C1}"/>
                </a:ext>
              </a:extLst>
            </p:cNvPr>
            <p:cNvSpPr txBox="1"/>
            <p:nvPr/>
          </p:nvSpPr>
          <p:spPr>
            <a:xfrm>
              <a:off x="9726290" y="4365104"/>
              <a:ext cx="338554" cy="36933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n-US" dirty="0"/>
                <a:t>Y</a:t>
              </a: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3E176582-F6EB-0644-BD8D-806932952153}"/>
                </a:ext>
              </a:extLst>
            </p:cNvPr>
            <p:cNvCxnSpPr>
              <a:cxnSpLocks/>
              <a:stCxn id="40" idx="2"/>
              <a:endCxn id="60" idx="0"/>
            </p:cNvCxnSpPr>
            <p:nvPr/>
          </p:nvCxnSpPr>
          <p:spPr>
            <a:xfrm>
              <a:off x="8376579" y="5142870"/>
              <a:ext cx="0" cy="41877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4B7759D-CCC1-494B-872E-6805CE0C9E4D}"/>
                </a:ext>
              </a:extLst>
            </p:cNvPr>
            <p:cNvSpPr txBox="1"/>
            <p:nvPr/>
          </p:nvSpPr>
          <p:spPr>
            <a:xfrm>
              <a:off x="8338808" y="5134991"/>
              <a:ext cx="351378" cy="36933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n-US" dirty="0"/>
                <a:t>N</a:t>
              </a: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4B3F33B7-7177-CF40-976E-4CA898EFA4F7}"/>
                </a:ext>
              </a:extLst>
            </p:cNvPr>
            <p:cNvCxnSpPr>
              <a:stCxn id="60" idx="1"/>
              <a:endCxn id="50" idx="3"/>
            </p:cNvCxnSpPr>
            <p:nvPr/>
          </p:nvCxnSpPr>
          <p:spPr>
            <a:xfrm flipH="1">
              <a:off x="3448742" y="5746310"/>
              <a:ext cx="377501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59CF6CD-173E-7B48-A7BF-C27BD54D34AB}"/>
                </a:ext>
              </a:extLst>
            </p:cNvPr>
            <p:cNvSpPr txBox="1"/>
            <p:nvPr/>
          </p:nvSpPr>
          <p:spPr>
            <a:xfrm>
              <a:off x="5582789" y="5411850"/>
              <a:ext cx="351378" cy="36933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n-US" dirty="0"/>
                <a:t>N</a:t>
              </a: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AAA5BBCA-8B5D-0840-A0E0-225D966E6E9E}"/>
                </a:ext>
              </a:extLst>
            </p:cNvPr>
            <p:cNvCxnSpPr>
              <a:cxnSpLocks/>
            </p:cNvCxnSpPr>
            <p:nvPr/>
          </p:nvCxnSpPr>
          <p:spPr>
            <a:xfrm>
              <a:off x="9481766" y="5749405"/>
              <a:ext cx="59974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B799362-52DA-844B-877A-CBDE3AE6DFAE}"/>
                </a:ext>
              </a:extLst>
            </p:cNvPr>
            <p:cNvSpPr txBox="1"/>
            <p:nvPr/>
          </p:nvSpPr>
          <p:spPr>
            <a:xfrm>
              <a:off x="9616972" y="5411850"/>
              <a:ext cx="338554" cy="36933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n-US" dirty="0"/>
                <a:t>Y</a:t>
              </a:r>
            </a:p>
          </p:txBody>
        </p:sp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62693956-336E-FC45-B0CD-9FF04F51AB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>
              <a:off x="10081512" y="5288152"/>
              <a:ext cx="812766" cy="812766"/>
            </a:xfrm>
            <a:prstGeom prst="rect">
              <a:avLst/>
            </a:prstGeom>
          </p:spPr>
        </p:pic>
      </p:grpSp>
      <p:sp>
        <p:nvSpPr>
          <p:cNvPr id="72" name="Oval Callout 71">
            <a:extLst>
              <a:ext uri="{FF2B5EF4-FFF2-40B4-BE49-F238E27FC236}">
                <a16:creationId xmlns:a16="http://schemas.microsoft.com/office/drawing/2014/main" id="{489D8DD7-DF10-5C49-A361-653AE007E13D}"/>
              </a:ext>
            </a:extLst>
          </p:cNvPr>
          <p:cNvSpPr/>
          <p:nvPr/>
        </p:nvSpPr>
        <p:spPr>
          <a:xfrm>
            <a:off x="9591465" y="3671112"/>
            <a:ext cx="2305646" cy="1254734"/>
          </a:xfrm>
          <a:prstGeom prst="wedgeEllipseCallout">
            <a:avLst>
              <a:gd name="adj1" fmla="val -6604"/>
              <a:gd name="adj2" fmla="val 75544"/>
            </a:avLst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To trust or not to trust?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419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>
          <a:xfrm>
            <a:off x="767408" y="157862"/>
            <a:ext cx="8305800" cy="646331"/>
          </a:xfrm>
        </p:spPr>
        <p:txBody>
          <a:bodyPr/>
          <a:lstStyle/>
          <a:p>
            <a:pPr eaLnBrk="1" hangingPunct="1"/>
            <a:r>
              <a:rPr lang="en-US" dirty="0"/>
              <a:t>Trust Or Not Trust?</a:t>
            </a:r>
            <a:endParaRPr lang="en-US" sz="4000" dirty="0"/>
          </a:p>
        </p:txBody>
      </p:sp>
      <p:sp>
        <p:nvSpPr>
          <p:cNvPr id="16389" name="Rectangle 3"/>
          <p:cNvSpPr>
            <a:spLocks noGrp="1" noChangeArrowheads="1"/>
          </p:cNvSpPr>
          <p:nvPr>
            <p:ph idx="1"/>
          </p:nvPr>
        </p:nvSpPr>
        <p:spPr>
          <a:xfrm>
            <a:off x="764958" y="1412776"/>
            <a:ext cx="10835108" cy="3502497"/>
          </a:xfrm>
        </p:spPr>
        <p:txBody>
          <a:bodyPr/>
          <a:lstStyle/>
          <a:p>
            <a:pPr eaLnBrk="1" hangingPunct="1"/>
            <a:r>
              <a:rPr lang="en-US" dirty="0"/>
              <a:t>It boils down to the question of </a:t>
            </a:r>
            <a:r>
              <a:rPr lang="en-US" u="sng" dirty="0">
                <a:solidFill>
                  <a:srgbClr val="C00000"/>
                </a:solidFill>
              </a:rPr>
              <a:t>how to establish trust</a:t>
            </a:r>
            <a:r>
              <a:rPr lang="en-US" dirty="0"/>
              <a:t>!!</a:t>
            </a:r>
            <a:endParaRPr lang="en-US" altLang="zh-CN" dirty="0">
              <a:ea typeface="宋体" pitchFamily="2" charset="-122"/>
            </a:endParaRPr>
          </a:p>
          <a:p>
            <a:pPr eaLnBrk="1" hangingPunct="1"/>
            <a:r>
              <a:rPr lang="en-US" altLang="zh-CN" dirty="0">
                <a:ea typeface="宋体" pitchFamily="2" charset="-122"/>
              </a:rPr>
              <a:t>Two approaches for trust establishment</a:t>
            </a:r>
          </a:p>
          <a:p>
            <a:pPr lvl="1" eaLnBrk="1" hangingPunct="1"/>
            <a:r>
              <a:rPr lang="en-US" altLang="zh-CN" dirty="0">
                <a:ea typeface="宋体" pitchFamily="2" charset="-122"/>
              </a:rPr>
              <a:t>Most browsers have pre-loaded those root CA certs which are widely considered as trusted, such as Microsoft, Google’s root CA certs.</a:t>
            </a:r>
          </a:p>
          <a:p>
            <a:pPr lvl="1" eaLnBrk="1" hangingPunct="1"/>
            <a:r>
              <a:rPr lang="en-US" altLang="zh-CN" dirty="0">
                <a:ea typeface="宋体" pitchFamily="2" charset="-122"/>
              </a:rPr>
              <a:t>You can manually instruct the browser to trust a root CA’s certificate, by inserting the certificate. </a:t>
            </a:r>
          </a:p>
        </p:txBody>
      </p:sp>
      <p:sp>
        <p:nvSpPr>
          <p:cNvPr id="1638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5D6ACA1-863B-4924-9C84-A2E3A76D0B63}" type="slidenum">
              <a:rPr lang="en-US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969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345352"/>
            <a:ext cx="11074400" cy="4167295"/>
          </a:xfrm>
        </p:spPr>
        <p:txBody>
          <a:bodyPr/>
          <a:lstStyle/>
          <a:p>
            <a:r>
              <a:rPr lang="en-US" dirty="0">
                <a:solidFill>
                  <a:srgbClr val="D9D9D9"/>
                </a:solidFill>
              </a:rPr>
              <a:t>Introduction of the concept of certificates and Public Key Infrastructure (PKI)</a:t>
            </a:r>
          </a:p>
          <a:p>
            <a:r>
              <a:rPr lang="en-US" dirty="0"/>
              <a:t>Four important algorithms</a:t>
            </a:r>
          </a:p>
          <a:p>
            <a:pPr lvl="1"/>
            <a:r>
              <a:rPr lang="en-US" dirty="0">
                <a:solidFill>
                  <a:srgbClr val="D9D9D9"/>
                </a:solidFill>
              </a:rPr>
              <a:t>certificate request generation algorithm (by public key owner)</a:t>
            </a:r>
          </a:p>
          <a:p>
            <a:pPr lvl="1"/>
            <a:r>
              <a:rPr lang="en-US" dirty="0">
                <a:solidFill>
                  <a:srgbClr val="D9D9D9"/>
                </a:solidFill>
              </a:rPr>
              <a:t>certificate issuance algorithm (by CA)</a:t>
            </a:r>
          </a:p>
          <a:p>
            <a:pPr lvl="1"/>
            <a:r>
              <a:rPr lang="en-US" dirty="0">
                <a:solidFill>
                  <a:srgbClr val="D9D9D9"/>
                </a:solidFill>
              </a:rPr>
              <a:t>certificate verification algorithm (by verifier)</a:t>
            </a:r>
          </a:p>
          <a:p>
            <a:pPr lvl="1"/>
            <a:r>
              <a:rPr lang="en-US" dirty="0"/>
              <a:t>certificate revocation algorithm (by CA)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869BCE-D170-4E8E-8001-31554DBA6AA7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9614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>
          <a:xfrm>
            <a:off x="766372" y="192782"/>
            <a:ext cx="8305800" cy="64135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Certificate Revocation</a:t>
            </a:r>
            <a:endParaRPr lang="en-US" dirty="0"/>
          </a:p>
        </p:txBody>
      </p:sp>
      <p:sp>
        <p:nvSpPr>
          <p:cNvPr id="12293" name="Rectangle 3"/>
          <p:cNvSpPr>
            <a:spLocks noGrp="1" noChangeArrowheads="1"/>
          </p:cNvSpPr>
          <p:nvPr>
            <p:ph idx="1"/>
          </p:nvPr>
        </p:nvSpPr>
        <p:spPr>
          <a:xfrm>
            <a:off x="766372" y="1281337"/>
            <a:ext cx="10903877" cy="4105739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What if a private key is compromised? </a:t>
            </a:r>
          </a:p>
          <a:p>
            <a:pPr lvl="1" eaLnBrk="1" hangingPunct="1"/>
            <a:r>
              <a:rPr lang="en-US" altLang="zh-CN" dirty="0">
                <a:ea typeface="宋体" pitchFamily="2" charset="-122"/>
              </a:rPr>
              <a:t>ideally, its corresponding public key should not be used any longer.</a:t>
            </a:r>
          </a:p>
          <a:p>
            <a:r>
              <a:rPr lang="en-US" altLang="zh-CN" dirty="0">
                <a:ea typeface="宋体" pitchFamily="2" charset="-122"/>
              </a:rPr>
              <a:t>Basic idea of revocation: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The authority periodically publishing a black list of those revoked certificates’ serial numbers.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The black list is called </a:t>
            </a:r>
            <a:r>
              <a:rPr lang="en-US" altLang="zh-CN" dirty="0">
                <a:solidFill>
                  <a:srgbClr val="C00000"/>
                </a:solidFill>
                <a:ea typeface="宋体" pitchFamily="2" charset="-122"/>
              </a:rPr>
              <a:t>Certificate Revocation List (CRL)</a:t>
            </a:r>
            <a:r>
              <a:rPr lang="en-US" altLang="zh-CN" dirty="0">
                <a:ea typeface="宋体" pitchFamily="2" charset="-122"/>
              </a:rPr>
              <a:t>.</a:t>
            </a:r>
          </a:p>
          <a:p>
            <a:pPr lvl="1"/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It is the user’s burden to download the latest CRL. </a:t>
            </a:r>
          </a:p>
        </p:txBody>
      </p:sp>
      <p:sp>
        <p:nvSpPr>
          <p:cNvPr id="1229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7665318-303D-4D50-AF85-CEEAF9D10933}" type="slidenum">
              <a:rPr lang="en-US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2725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148914"/>
            <a:ext cx="11074400" cy="707886"/>
          </a:xfrm>
        </p:spPr>
        <p:txBody>
          <a:bodyPr/>
          <a:lstStyle/>
          <a:p>
            <a:pPr eaLnBrk="1" hangingPunct="1"/>
            <a:r>
              <a:rPr lang="en-US" altLang="zh-CN" sz="4000" dirty="0">
                <a:ea typeface="宋体" pitchFamily="2" charset="-122"/>
              </a:rPr>
              <a:t>Certificate Revocation List (</a:t>
            </a:r>
            <a:r>
              <a:rPr lang="en-US" sz="4000" dirty="0"/>
              <a:t>CRL</a:t>
            </a:r>
            <a:r>
              <a:rPr lang="en-US" altLang="zh-CN" sz="4000" dirty="0">
                <a:ea typeface="宋体" pitchFamily="2" charset="-122"/>
              </a:rPr>
              <a:t>)</a:t>
            </a:r>
            <a:r>
              <a:rPr lang="en-US" sz="4000" dirty="0"/>
              <a:t> </a:t>
            </a:r>
          </a:p>
        </p:txBody>
      </p:sp>
      <p:graphicFrame>
        <p:nvGraphicFramePr>
          <p:cNvPr id="224335" name="Group 79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92236900"/>
              </p:ext>
            </p:extLst>
          </p:nvPr>
        </p:nvGraphicFramePr>
        <p:xfrm>
          <a:off x="983432" y="1311843"/>
          <a:ext cx="4495800" cy="3505200"/>
        </p:xfrm>
        <a:graphic>
          <a:graphicData uri="http://schemas.openxmlformats.org/drawingml/2006/table">
            <a:tbl>
              <a:tblPr/>
              <a:tblGrid>
                <a:gridCol w="449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Signature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Alg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: RSA+SHA1,1024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Issuer:C=S’pore,O=SMU,OU=SIS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Last Update: 07/01/07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Next Update: 07/02/07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Revoked Certificates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Signature: ………….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31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AEFB804-6065-4BDD-BF04-CC04073A3F97}" type="slidenum">
              <a:rPr lang="en-US"/>
              <a:pPr/>
              <a:t>24</a:t>
            </a:fld>
            <a:endParaRPr lang="en-US"/>
          </a:p>
        </p:txBody>
      </p:sp>
      <p:sp>
        <p:nvSpPr>
          <p:cNvPr id="13333" name="Rectangle 66"/>
          <p:cNvSpPr>
            <a:spLocks noChangeArrowheads="1"/>
          </p:cNvSpPr>
          <p:nvPr/>
        </p:nvSpPr>
        <p:spPr bwMode="auto">
          <a:xfrm>
            <a:off x="5631632" y="4283643"/>
            <a:ext cx="38100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34" name="Rectangle 68"/>
          <p:cNvSpPr>
            <a:spLocks noChangeArrowheads="1"/>
          </p:cNvSpPr>
          <p:nvPr/>
        </p:nvSpPr>
        <p:spPr bwMode="auto">
          <a:xfrm>
            <a:off x="5631632" y="4283643"/>
            <a:ext cx="3810000" cy="1828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35" name="Text Box 69"/>
          <p:cNvSpPr txBox="1">
            <a:spLocks noChangeArrowheads="1"/>
          </p:cNvSpPr>
          <p:nvPr/>
        </p:nvSpPr>
        <p:spPr bwMode="auto">
          <a:xfrm>
            <a:off x="5631632" y="4283643"/>
            <a:ext cx="3733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Serial Number: 12345…14</a:t>
            </a:r>
          </a:p>
        </p:txBody>
      </p:sp>
      <p:sp>
        <p:nvSpPr>
          <p:cNvPr id="13336" name="Text Box 70"/>
          <p:cNvSpPr txBox="1">
            <a:spLocks noChangeArrowheads="1"/>
          </p:cNvSpPr>
          <p:nvPr/>
        </p:nvSpPr>
        <p:spPr bwMode="auto">
          <a:xfrm>
            <a:off x="5631632" y="4893243"/>
            <a:ext cx="3505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Revocation Date: 28/12/06</a:t>
            </a:r>
          </a:p>
        </p:txBody>
      </p:sp>
      <p:sp>
        <p:nvSpPr>
          <p:cNvPr id="13337" name="Line 71"/>
          <p:cNvSpPr>
            <a:spLocks noChangeShapeType="1"/>
          </p:cNvSpPr>
          <p:nvPr/>
        </p:nvSpPr>
        <p:spPr bwMode="auto">
          <a:xfrm>
            <a:off x="4183832" y="3902643"/>
            <a:ext cx="3429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38" name="Line 72"/>
          <p:cNvSpPr>
            <a:spLocks noChangeShapeType="1"/>
          </p:cNvSpPr>
          <p:nvPr/>
        </p:nvSpPr>
        <p:spPr bwMode="auto">
          <a:xfrm>
            <a:off x="7612832" y="3902643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339" name="Rectangle 80"/>
          <p:cNvSpPr>
            <a:spLocks noChangeArrowheads="1"/>
          </p:cNvSpPr>
          <p:nvPr/>
        </p:nvSpPr>
        <p:spPr bwMode="auto">
          <a:xfrm>
            <a:off x="5631632" y="5502843"/>
            <a:ext cx="38100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40" name="Text Box 81"/>
          <p:cNvSpPr txBox="1">
            <a:spLocks noChangeArrowheads="1"/>
          </p:cNvSpPr>
          <p:nvPr/>
        </p:nvSpPr>
        <p:spPr bwMode="auto">
          <a:xfrm>
            <a:off x="5631632" y="5426643"/>
            <a:ext cx="3733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Serial Number: 12345…21</a:t>
            </a:r>
          </a:p>
        </p:txBody>
      </p:sp>
      <p:sp>
        <p:nvSpPr>
          <p:cNvPr id="13341" name="Line 82"/>
          <p:cNvSpPr>
            <a:spLocks noChangeShapeType="1"/>
          </p:cNvSpPr>
          <p:nvPr/>
        </p:nvSpPr>
        <p:spPr bwMode="auto">
          <a:xfrm>
            <a:off x="5631632" y="5883843"/>
            <a:ext cx="381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42" name="Text Box 83"/>
          <p:cNvSpPr txBox="1">
            <a:spLocks noChangeArrowheads="1"/>
          </p:cNvSpPr>
          <p:nvPr/>
        </p:nvSpPr>
        <p:spPr bwMode="auto">
          <a:xfrm>
            <a:off x="5631632" y="5655244"/>
            <a:ext cx="2209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/>
              <a:t>……</a:t>
            </a:r>
          </a:p>
        </p:txBody>
      </p:sp>
      <p:sp>
        <p:nvSpPr>
          <p:cNvPr id="13344" name="Rectangle 85"/>
          <p:cNvSpPr>
            <a:spLocks noChangeArrowheads="1"/>
          </p:cNvSpPr>
          <p:nvPr/>
        </p:nvSpPr>
        <p:spPr bwMode="auto">
          <a:xfrm>
            <a:off x="1059632" y="5060100"/>
            <a:ext cx="42672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A CRL is a </a:t>
            </a:r>
            <a:r>
              <a:rPr lang="en-US" sz="2000" b="1" dirty="0">
                <a:solidFill>
                  <a:srgbClr val="C00000"/>
                </a:solidFill>
              </a:rPr>
              <a:t>signed</a:t>
            </a:r>
            <a:r>
              <a:rPr lang="en-US" sz="2000" dirty="0">
                <a:solidFill>
                  <a:srgbClr val="C00000"/>
                </a:solidFill>
              </a:rPr>
              <a:t> list issued by CA, which contains the serial numbers of revoked certificates. </a:t>
            </a:r>
          </a:p>
        </p:txBody>
      </p:sp>
    </p:spTree>
    <p:extLst>
      <p:ext uri="{BB962C8B-B14F-4D97-AF65-F5344CB8AC3E}">
        <p14:creationId xmlns:p14="http://schemas.microsoft.com/office/powerpoint/2010/main" val="10570910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Certificate Verification with CRL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695400" y="1224440"/>
            <a:ext cx="10441160" cy="3367076"/>
          </a:xfrm>
        </p:spPr>
        <p:txBody>
          <a:bodyPr/>
          <a:lstStyle/>
          <a:p>
            <a:pPr eaLnBrk="1" hangingPunct="1"/>
            <a:r>
              <a:rPr lang="en-US" sz="2800" dirty="0"/>
              <a:t>To verify Alice’s certificate </a:t>
            </a:r>
            <a:r>
              <a:rPr lang="en-US" sz="2800" dirty="0">
                <a:solidFill>
                  <a:srgbClr val="C00000"/>
                </a:solidFill>
              </a:rPr>
              <a:t>Cert={Alice, </a:t>
            </a:r>
            <a:r>
              <a:rPr lang="en-US" sz="2800" dirty="0" err="1">
                <a:solidFill>
                  <a:srgbClr val="C00000"/>
                </a:solidFill>
              </a:rPr>
              <a:t>n,e</a:t>
            </a:r>
            <a:r>
              <a:rPr lang="en-US" sz="2800" dirty="0">
                <a:solidFill>
                  <a:srgbClr val="C00000"/>
                </a:solidFill>
              </a:rPr>
              <a:t>, </a:t>
            </a:r>
            <a:r>
              <a:rPr lang="en-US" sz="2800" dirty="0" err="1">
                <a:solidFill>
                  <a:srgbClr val="C00000"/>
                </a:solidFill>
              </a:rPr>
              <a:t>Sign</a:t>
            </a:r>
            <a:r>
              <a:rPr lang="en-US" sz="2800" baseline="-25000" dirty="0" err="1">
                <a:solidFill>
                  <a:srgbClr val="C00000"/>
                </a:solidFill>
              </a:rPr>
              <a:t>CA</a:t>
            </a:r>
            <a:r>
              <a:rPr lang="en-US" sz="2800" dirty="0">
                <a:solidFill>
                  <a:srgbClr val="C00000"/>
                </a:solidFill>
              </a:rPr>
              <a:t>(</a:t>
            </a:r>
            <a:r>
              <a:rPr lang="en-US" sz="2800" dirty="0" err="1">
                <a:solidFill>
                  <a:srgbClr val="C00000"/>
                </a:solidFill>
              </a:rPr>
              <a:t>Alice,n,e</a:t>
            </a:r>
            <a:r>
              <a:rPr lang="en-US" sz="2800" dirty="0">
                <a:solidFill>
                  <a:srgbClr val="C00000"/>
                </a:solidFill>
              </a:rPr>
              <a:t>)}</a:t>
            </a:r>
            <a:r>
              <a:rPr lang="en-US" sz="2800" dirty="0"/>
              <a:t>, Bob runs the following steps: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Check if it has expired or not. If not,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verify the signature </a:t>
            </a:r>
            <a:r>
              <a:rPr lang="en-US" dirty="0" err="1"/>
              <a:t>Sign</a:t>
            </a:r>
            <a:r>
              <a:rPr lang="en-US" baseline="-25000" dirty="0" err="1"/>
              <a:t>CA</a:t>
            </a:r>
            <a:r>
              <a:rPr lang="en-US" dirty="0"/>
              <a:t>(Alice, </a:t>
            </a:r>
            <a:r>
              <a:rPr lang="en-US" dirty="0" err="1"/>
              <a:t>n,e</a:t>
            </a:r>
            <a:r>
              <a:rPr lang="en-US" dirty="0"/>
              <a:t>) using CA’s public key;</a:t>
            </a: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dirty="0"/>
              <a:t>verify the entire certification chain;</a:t>
            </a: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dirty="0"/>
              <a:t>check whether Alice’s certificate is in the CRL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ABDA06-FB9D-4286-A4E0-49DB3B46D8A7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89212" y="5033395"/>
            <a:ext cx="10693188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Step 4 is not strictly enforced, because of performance and privacy issues!</a:t>
            </a:r>
          </a:p>
          <a:p>
            <a:r>
              <a:rPr lang="en-US" sz="2400" dirty="0"/>
              <a:t>see: https://www.ssl.com/blogs/how-do-browsers-handle-revoked-ssl-tls-certificates/</a:t>
            </a:r>
          </a:p>
        </p:txBody>
      </p:sp>
    </p:spTree>
    <p:extLst>
      <p:ext uri="{BB962C8B-B14F-4D97-AF65-F5344CB8AC3E}">
        <p14:creationId xmlns:p14="http://schemas.microsoft.com/office/powerpoint/2010/main" val="2776190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6196A-23A1-3640-AD72-FBBCCF65A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15528"/>
            <a:ext cx="11074400" cy="641350"/>
          </a:xfrm>
        </p:spPr>
        <p:txBody>
          <a:bodyPr/>
          <a:lstStyle/>
          <a:p>
            <a:r>
              <a:rPr lang="en-US" dirty="0"/>
              <a:t>Use of Certificate in Internet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8BD27-54F5-C444-BAD1-91926F5E6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4800" y="6645412"/>
            <a:ext cx="1727200" cy="228600"/>
          </a:xfrm>
        </p:spPr>
        <p:txBody>
          <a:bodyPr/>
          <a:lstStyle/>
          <a:p>
            <a:pPr>
              <a:defRPr/>
            </a:pPr>
            <a:fld id="{36D7DA8A-A668-4056-92C5-6EB6B12BA1D4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70AA25-0C66-0948-88F9-EC56FA6D8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08000" y="1078607"/>
            <a:ext cx="1555552" cy="1555552"/>
          </a:xfrm>
          <a:prstGeom prst="rect">
            <a:avLst/>
          </a:prstGeom>
        </p:spPr>
      </p:pic>
      <p:pic>
        <p:nvPicPr>
          <p:cNvPr id="9" name="Picture 8" descr="Logo, icon&#10;&#10;Description automatically generated">
            <a:extLst>
              <a:ext uri="{FF2B5EF4-FFF2-40B4-BE49-F238E27FC236}">
                <a16:creationId xmlns:a16="http://schemas.microsoft.com/office/drawing/2014/main" id="{5C76C9AD-3549-154B-962D-AFF7994E6C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618296" y="1013575"/>
            <a:ext cx="1685616" cy="1685616"/>
          </a:xfrm>
          <a:prstGeom prst="rect">
            <a:avLst/>
          </a:prstGeom>
        </p:spPr>
      </p:pic>
      <p:pic>
        <p:nvPicPr>
          <p:cNvPr id="16" name="Graphic 15" descr="Computer outline">
            <a:extLst>
              <a:ext uri="{FF2B5EF4-FFF2-40B4-BE49-F238E27FC236}">
                <a16:creationId xmlns:a16="http://schemas.microsoft.com/office/drawing/2014/main" id="{45F9153B-FA1D-8F4C-9D60-AAFAA87B61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96400" y="764704"/>
            <a:ext cx="2183358" cy="2183358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0604D56-6956-FD43-A334-B2C715FA5B30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063552" y="1856383"/>
            <a:ext cx="155474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4DE4711-2C5D-364E-B983-614AC55DE3EC}"/>
              </a:ext>
            </a:extLst>
          </p:cNvPr>
          <p:cNvSpPr txBox="1"/>
          <p:nvPr/>
        </p:nvSpPr>
        <p:spPr>
          <a:xfrm>
            <a:off x="1953404" y="1474742"/>
            <a:ext cx="1608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www.abc.com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D8560A6-B680-4E4E-B115-7DCB8F837F59}"/>
              </a:ext>
            </a:extLst>
          </p:cNvPr>
          <p:cNvCxnSpPr>
            <a:cxnSpLocks/>
            <a:stCxn id="9" idx="3"/>
            <a:endCxn id="16" idx="1"/>
          </p:cNvCxnSpPr>
          <p:nvPr/>
        </p:nvCxnSpPr>
        <p:spPr>
          <a:xfrm>
            <a:off x="5303912" y="1856383"/>
            <a:ext cx="43924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4FA92CE-6F59-C34C-9B35-F8710421B0B6}"/>
              </a:ext>
            </a:extLst>
          </p:cNvPr>
          <p:cNvSpPr txBox="1"/>
          <p:nvPr/>
        </p:nvSpPr>
        <p:spPr>
          <a:xfrm>
            <a:off x="6264809" y="1474742"/>
            <a:ext cx="2480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Request for Certificate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7B25932-1D32-2943-B601-C85C2E286C30}"/>
              </a:ext>
            </a:extLst>
          </p:cNvPr>
          <p:cNvCxnSpPr/>
          <p:nvPr/>
        </p:nvCxnSpPr>
        <p:spPr>
          <a:xfrm flipH="1">
            <a:off x="5303912" y="2060848"/>
            <a:ext cx="43924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Vertical Scroll 28">
            <a:extLst>
              <a:ext uri="{FF2B5EF4-FFF2-40B4-BE49-F238E27FC236}">
                <a16:creationId xmlns:a16="http://schemas.microsoft.com/office/drawing/2014/main" id="{47AF0600-9FF3-BE44-A238-F957E6BB3901}"/>
              </a:ext>
            </a:extLst>
          </p:cNvPr>
          <p:cNvSpPr/>
          <p:nvPr/>
        </p:nvSpPr>
        <p:spPr>
          <a:xfrm>
            <a:off x="6858656" y="2132856"/>
            <a:ext cx="2088232" cy="1296144"/>
          </a:xfrm>
          <a:prstGeom prst="verticalScroll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www.abc.com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4" name="Picture 33" descr="A picture containing cookie cutter, light, vector graphics&#10;&#10;Description automatically generated">
            <a:extLst>
              <a:ext uri="{FF2B5EF4-FFF2-40B4-BE49-F238E27FC236}">
                <a16:creationId xmlns:a16="http://schemas.microsoft.com/office/drawing/2014/main" id="{ECD207EA-5C3A-7247-BF2A-73E47425B2A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8184233" y="3020070"/>
            <a:ext cx="762656" cy="76265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5A42BD51-9D56-264A-979A-FCF0E9C7BC65}"/>
              </a:ext>
            </a:extLst>
          </p:cNvPr>
          <p:cNvSpPr txBox="1"/>
          <p:nvPr/>
        </p:nvSpPr>
        <p:spPr>
          <a:xfrm>
            <a:off x="2657399" y="2372092"/>
            <a:ext cx="1478740" cy="1754326"/>
          </a:xfrm>
          <a:prstGeom prst="rect">
            <a:avLst/>
          </a:prstGeom>
          <a:solidFill>
            <a:srgbClr val="92D050"/>
          </a:solidFill>
          <a:ln w="254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Trusted CAs</a:t>
            </a:r>
          </a:p>
          <a:p>
            <a:r>
              <a:rPr lang="en-US" dirty="0"/>
              <a:t>1. …</a:t>
            </a:r>
          </a:p>
          <a:p>
            <a:r>
              <a:rPr lang="en-US" dirty="0"/>
              <a:t>2. …</a:t>
            </a:r>
          </a:p>
          <a:p>
            <a:r>
              <a:rPr lang="en-US" dirty="0"/>
              <a:t>3.…</a:t>
            </a:r>
          </a:p>
          <a:p>
            <a:r>
              <a:rPr lang="en-US" dirty="0"/>
              <a:t>4. …</a:t>
            </a:r>
          </a:p>
          <a:p>
            <a:r>
              <a:rPr lang="en-US" dirty="0"/>
              <a:t>….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BB1D1F-1102-2A41-ABCD-D657DBE572AE}"/>
              </a:ext>
            </a:extLst>
          </p:cNvPr>
          <p:cNvSpPr txBox="1"/>
          <p:nvPr/>
        </p:nvSpPr>
        <p:spPr>
          <a:xfrm>
            <a:off x="5240957" y="2211178"/>
            <a:ext cx="1736373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Here is my cert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F056B8-CC18-A945-ACBD-7DA9124790FF}"/>
              </a:ext>
            </a:extLst>
          </p:cNvPr>
          <p:cNvSpPr txBox="1"/>
          <p:nvPr/>
        </p:nvSpPr>
        <p:spPr>
          <a:xfrm>
            <a:off x="191344" y="4166543"/>
            <a:ext cx="2116293" cy="6463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If the cert is for </a:t>
            </a:r>
            <a:r>
              <a:rPr lang="en-US" dirty="0" err="1"/>
              <a:t>www.abc.com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43B299-6DF4-DD41-996F-CEE49211C7FB}"/>
              </a:ext>
            </a:extLst>
          </p:cNvPr>
          <p:cNvSpPr txBox="1"/>
          <p:nvPr/>
        </p:nvSpPr>
        <p:spPr>
          <a:xfrm>
            <a:off x="3546818" y="4166543"/>
            <a:ext cx="2387349" cy="6463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If the cert is verified as valid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DF091EA-0D8F-6747-AC57-9146246107DC}"/>
              </a:ext>
            </a:extLst>
          </p:cNvPr>
          <p:cNvSpPr txBox="1"/>
          <p:nvPr/>
        </p:nvSpPr>
        <p:spPr>
          <a:xfrm>
            <a:off x="7094417" y="4166543"/>
            <a:ext cx="2478035" cy="6463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Anyone of its chain is on Trusted CA list?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7B67762-3E84-E543-AF49-1EA0D70F95F0}"/>
              </a:ext>
            </a:extLst>
          </p:cNvPr>
          <p:cNvCxnSpPr>
            <a:cxnSpLocks/>
            <a:stCxn id="37" idx="3"/>
            <a:endCxn id="39" idx="1"/>
          </p:cNvCxnSpPr>
          <p:nvPr/>
        </p:nvCxnSpPr>
        <p:spPr>
          <a:xfrm>
            <a:off x="2307637" y="4489709"/>
            <a:ext cx="123918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321A94F-475E-DE47-B88E-ADE063A5EBC0}"/>
              </a:ext>
            </a:extLst>
          </p:cNvPr>
          <p:cNvCxnSpPr>
            <a:cxnSpLocks/>
            <a:stCxn id="39" idx="3"/>
            <a:endCxn id="40" idx="1"/>
          </p:cNvCxnSpPr>
          <p:nvPr/>
        </p:nvCxnSpPr>
        <p:spPr>
          <a:xfrm>
            <a:off x="5934167" y="4489709"/>
            <a:ext cx="11602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57DBAF4-7099-D34D-B42B-AAB43198043D}"/>
              </a:ext>
            </a:extLst>
          </p:cNvPr>
          <p:cNvSpPr txBox="1"/>
          <p:nvPr/>
        </p:nvSpPr>
        <p:spPr>
          <a:xfrm>
            <a:off x="2765815" y="4166543"/>
            <a:ext cx="338554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0CBDF3F-AA86-8643-9BCD-7DA1FBEE36A1}"/>
              </a:ext>
            </a:extLst>
          </p:cNvPr>
          <p:cNvSpPr txBox="1"/>
          <p:nvPr/>
        </p:nvSpPr>
        <p:spPr>
          <a:xfrm>
            <a:off x="6240016" y="4149080"/>
            <a:ext cx="338554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4EB4CA6-1C42-2042-A1BE-6CB118F6A507}"/>
              </a:ext>
            </a:extLst>
          </p:cNvPr>
          <p:cNvSpPr txBox="1"/>
          <p:nvPr/>
        </p:nvSpPr>
        <p:spPr>
          <a:xfrm>
            <a:off x="2645040" y="6056957"/>
            <a:ext cx="736099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Abort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A34D3C9-ACE1-7D43-951D-AB1F397A6B1A}"/>
              </a:ext>
            </a:extLst>
          </p:cNvPr>
          <p:cNvCxnSpPr>
            <a:stCxn id="37" idx="2"/>
            <a:endCxn id="50" idx="1"/>
          </p:cNvCxnSpPr>
          <p:nvPr/>
        </p:nvCxnSpPr>
        <p:spPr>
          <a:xfrm>
            <a:off x="1249491" y="4812874"/>
            <a:ext cx="1395549" cy="14287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9ED3F7B-F4AE-A448-A50D-8C4E8E87DDA6}"/>
              </a:ext>
            </a:extLst>
          </p:cNvPr>
          <p:cNvCxnSpPr>
            <a:stCxn id="39" idx="2"/>
            <a:endCxn id="50" idx="3"/>
          </p:cNvCxnSpPr>
          <p:nvPr/>
        </p:nvCxnSpPr>
        <p:spPr>
          <a:xfrm flipH="1">
            <a:off x="3381139" y="4812874"/>
            <a:ext cx="1359354" cy="14287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1081020-E787-AE48-8686-E87FB261BB26}"/>
              </a:ext>
            </a:extLst>
          </p:cNvPr>
          <p:cNvSpPr txBox="1"/>
          <p:nvPr/>
        </p:nvSpPr>
        <p:spPr>
          <a:xfrm>
            <a:off x="3546818" y="4950460"/>
            <a:ext cx="351378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C60DB93-F622-0840-B872-75FF135B8FFE}"/>
              </a:ext>
            </a:extLst>
          </p:cNvPr>
          <p:cNvSpPr txBox="1"/>
          <p:nvPr/>
        </p:nvSpPr>
        <p:spPr>
          <a:xfrm>
            <a:off x="2189751" y="4950460"/>
            <a:ext cx="351378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N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90E6824-8230-6B49-BD40-717EA3E4830C}"/>
              </a:ext>
            </a:extLst>
          </p:cNvPr>
          <p:cNvCxnSpPr>
            <a:cxnSpLocks/>
            <a:stCxn id="40" idx="3"/>
            <a:endCxn id="44" idx="0"/>
          </p:cNvCxnSpPr>
          <p:nvPr/>
        </p:nvCxnSpPr>
        <p:spPr>
          <a:xfrm>
            <a:off x="9572452" y="4489709"/>
            <a:ext cx="700992" cy="5230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FD964C4-22A9-F147-8B55-A1041FE7F1AC}"/>
              </a:ext>
            </a:extLst>
          </p:cNvPr>
          <p:cNvSpPr txBox="1"/>
          <p:nvPr/>
        </p:nvSpPr>
        <p:spPr>
          <a:xfrm>
            <a:off x="11169389" y="4241826"/>
            <a:ext cx="889987" cy="369332"/>
          </a:xfrm>
          <a:prstGeom prst="rect">
            <a:avLst/>
          </a:prstGeom>
          <a:solidFill>
            <a:srgbClr val="92D050"/>
          </a:solidFill>
          <a:ln w="2540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Accept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5711A73-3469-E049-8E43-A424CC5A9AC1}"/>
              </a:ext>
            </a:extLst>
          </p:cNvPr>
          <p:cNvSpPr txBox="1"/>
          <p:nvPr/>
        </p:nvSpPr>
        <p:spPr>
          <a:xfrm>
            <a:off x="7176120" y="6120878"/>
            <a:ext cx="2305646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Self-signed CA?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452EA1E-549E-2343-9166-22EA11DA68C1}"/>
              </a:ext>
            </a:extLst>
          </p:cNvPr>
          <p:cNvSpPr txBox="1"/>
          <p:nvPr/>
        </p:nvSpPr>
        <p:spPr>
          <a:xfrm>
            <a:off x="9778389" y="4472385"/>
            <a:ext cx="338554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Y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4B7759D-CCC1-494B-872E-6805CE0C9E4D}"/>
              </a:ext>
            </a:extLst>
          </p:cNvPr>
          <p:cNvSpPr txBox="1"/>
          <p:nvPr/>
        </p:nvSpPr>
        <p:spPr>
          <a:xfrm>
            <a:off x="11111929" y="5242858"/>
            <a:ext cx="351378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N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B3F33B7-7177-CF40-976E-4CA898EFA4F7}"/>
              </a:ext>
            </a:extLst>
          </p:cNvPr>
          <p:cNvCxnSpPr>
            <a:cxnSpLocks/>
            <a:stCxn id="60" idx="1"/>
          </p:cNvCxnSpPr>
          <p:nvPr/>
        </p:nvCxnSpPr>
        <p:spPr>
          <a:xfrm flipH="1">
            <a:off x="3448742" y="6305544"/>
            <a:ext cx="372737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59CF6CD-173E-7B48-A7BF-C27BD54D34AB}"/>
              </a:ext>
            </a:extLst>
          </p:cNvPr>
          <p:cNvSpPr txBox="1"/>
          <p:nvPr/>
        </p:nvSpPr>
        <p:spPr>
          <a:xfrm>
            <a:off x="5582789" y="5971084"/>
            <a:ext cx="351378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N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AA5BBCA-8B5D-0840-A0E0-225D966E6E9E}"/>
              </a:ext>
            </a:extLst>
          </p:cNvPr>
          <p:cNvCxnSpPr>
            <a:cxnSpLocks/>
          </p:cNvCxnSpPr>
          <p:nvPr/>
        </p:nvCxnSpPr>
        <p:spPr>
          <a:xfrm>
            <a:off x="9481766" y="6308639"/>
            <a:ext cx="59974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0B799362-52DA-844B-877A-CBDE3AE6DFAE}"/>
              </a:ext>
            </a:extLst>
          </p:cNvPr>
          <p:cNvSpPr txBox="1"/>
          <p:nvPr/>
        </p:nvSpPr>
        <p:spPr>
          <a:xfrm>
            <a:off x="9616972" y="5971084"/>
            <a:ext cx="338554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Y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62693956-336E-FC45-B0CD-9FF04F51AB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081512" y="5821460"/>
            <a:ext cx="812766" cy="812766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8AEC5205-7E9A-CF4A-8693-A3B4944C69BE}"/>
              </a:ext>
            </a:extLst>
          </p:cNvPr>
          <p:cNvSpPr txBox="1"/>
          <p:nvPr/>
        </p:nvSpPr>
        <p:spPr>
          <a:xfrm>
            <a:off x="9481766" y="5012787"/>
            <a:ext cx="1583355" cy="369332"/>
          </a:xfrm>
          <a:prstGeom prst="rect">
            <a:avLst/>
          </a:prstGeom>
          <a:solidFill>
            <a:srgbClr val="FFFF00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Is it revoked?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681973F-BC77-F64E-884B-C321591CC0C9}"/>
              </a:ext>
            </a:extLst>
          </p:cNvPr>
          <p:cNvSpPr txBox="1"/>
          <p:nvPr/>
        </p:nvSpPr>
        <p:spPr>
          <a:xfrm>
            <a:off x="5934167" y="5427524"/>
            <a:ext cx="338554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B76533A-71B5-C348-B703-63F7423B2F6A}"/>
              </a:ext>
            </a:extLst>
          </p:cNvPr>
          <p:cNvCxnSpPr>
            <a:cxnSpLocks/>
            <a:stCxn id="40" idx="2"/>
            <a:endCxn id="60" idx="0"/>
          </p:cNvCxnSpPr>
          <p:nvPr/>
        </p:nvCxnSpPr>
        <p:spPr>
          <a:xfrm flipH="1">
            <a:off x="8328943" y="4812874"/>
            <a:ext cx="4492" cy="13080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FC4924F4-611A-A142-A5CF-063866EC4C8F}"/>
              </a:ext>
            </a:extLst>
          </p:cNvPr>
          <p:cNvSpPr txBox="1"/>
          <p:nvPr/>
        </p:nvSpPr>
        <p:spPr>
          <a:xfrm>
            <a:off x="8379761" y="5751546"/>
            <a:ext cx="351378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N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4EC446A-649C-DE40-AB03-3C727B52976D}"/>
              </a:ext>
            </a:extLst>
          </p:cNvPr>
          <p:cNvCxnSpPr>
            <a:stCxn id="44" idx="1"/>
            <a:endCxn id="50" idx="3"/>
          </p:cNvCxnSpPr>
          <p:nvPr/>
        </p:nvCxnSpPr>
        <p:spPr>
          <a:xfrm flipH="1">
            <a:off x="3381139" y="5197453"/>
            <a:ext cx="6100627" cy="10441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Elbow Connector 84">
            <a:extLst>
              <a:ext uri="{FF2B5EF4-FFF2-40B4-BE49-F238E27FC236}">
                <a16:creationId xmlns:a16="http://schemas.microsoft.com/office/drawing/2014/main" id="{3FA9D761-620E-DA4A-AF44-E10FF3C356F7}"/>
              </a:ext>
            </a:extLst>
          </p:cNvPr>
          <p:cNvCxnSpPr>
            <a:stCxn id="44" idx="2"/>
            <a:endCxn id="59" idx="2"/>
          </p:cNvCxnSpPr>
          <p:nvPr/>
        </p:nvCxnSpPr>
        <p:spPr>
          <a:xfrm rot="5400000" flipH="1" flipV="1">
            <a:off x="10558432" y="4326169"/>
            <a:ext cx="770961" cy="1340939"/>
          </a:xfrm>
          <a:prstGeom prst="bentConnector3">
            <a:avLst>
              <a:gd name="adj1" fmla="val -29651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2643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4267200"/>
            <a:ext cx="1752600" cy="1752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59333" y="362634"/>
            <a:ext cx="11369315" cy="646331"/>
          </a:xfrm>
        </p:spPr>
        <p:txBody>
          <a:bodyPr/>
          <a:lstStyle/>
          <a:p>
            <a:r>
              <a:rPr lang="en-US" dirty="0"/>
              <a:t>Protocol for Symmetric Key Distribution (revisited)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4267200"/>
            <a:ext cx="1752600" cy="17526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971800"/>
            <a:ext cx="838200" cy="838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1981200"/>
            <a:ext cx="914400" cy="9144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1600200"/>
            <a:ext cx="1981200" cy="1981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2800" y="1447800"/>
            <a:ext cx="2209800" cy="22098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600" y="4267200"/>
            <a:ext cx="1752600" cy="17526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6200" y="2438400"/>
            <a:ext cx="1143000" cy="11430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4572000"/>
            <a:ext cx="1143000" cy="1143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4883013-80E9-BD4D-B21A-9578ACEB80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6200" y="2430016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603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0.00023 L -0.11875 0.3053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87" y="16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25 -0.00579 L 0.55834 -0.01135 " pathEditMode="relative" rAng="0" ptsTypes="AA">
                                      <p:cBhvr>
                                        <p:cTn id="19" dur="1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292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Protocol for Symmetric Key Distribution (revisited)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5403D5-9A76-4744-961D-6BC1EFCBF825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16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Server sends its </a:t>
            </a:r>
            <a:r>
              <a:rPr lang="en-US" dirty="0">
                <a:solidFill>
                  <a:srgbClr val="00B050"/>
                </a:solidFill>
              </a:rPr>
              <a:t>public key certificate </a:t>
            </a:r>
            <a:r>
              <a:rPr lang="en-US" dirty="0"/>
              <a:t>to the client. The cert contains Server’s public key (e.g. an RSA public key). </a:t>
            </a:r>
          </a:p>
          <a:p>
            <a:r>
              <a:rPr lang="en-US" dirty="0"/>
              <a:t>Client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verify server’s public key certificate</a:t>
            </a:r>
            <a:r>
              <a:rPr lang="en-US" dirty="0"/>
              <a:t>, if ok </a:t>
            </a:r>
          </a:p>
          <a:p>
            <a:pPr lvl="1"/>
            <a:r>
              <a:rPr lang="en-US" dirty="0"/>
              <a:t>generate a random secret key </a:t>
            </a:r>
            <a:r>
              <a:rPr lang="en-US" dirty="0">
                <a:solidFill>
                  <a:srgbClr val="C00000"/>
                </a:solidFill>
              </a:rPr>
              <a:t>k</a:t>
            </a:r>
            <a:r>
              <a:rPr lang="en-US" dirty="0"/>
              <a:t> (e.g. an AES key)</a:t>
            </a:r>
          </a:p>
          <a:p>
            <a:pPr lvl="1"/>
            <a:r>
              <a:rPr lang="en-US" dirty="0"/>
              <a:t>encrypt </a:t>
            </a:r>
            <a:r>
              <a:rPr lang="en-US" dirty="0" err="1">
                <a:solidFill>
                  <a:srgbClr val="C00000"/>
                </a:solidFill>
              </a:rPr>
              <a:t>k</a:t>
            </a:r>
            <a:r>
              <a:rPr lang="en-US" dirty="0"/>
              <a:t> with Server's public key</a:t>
            </a:r>
          </a:p>
          <a:p>
            <a:pPr lvl="1"/>
            <a:r>
              <a:rPr lang="en-US" dirty="0"/>
              <a:t>send the </a:t>
            </a:r>
            <a:r>
              <a:rPr lang="en-US" dirty="0" err="1"/>
              <a:t>ciphertext</a:t>
            </a:r>
            <a:r>
              <a:rPr lang="en-US" dirty="0"/>
              <a:t> to Server.</a:t>
            </a:r>
          </a:p>
          <a:p>
            <a:r>
              <a:rPr lang="en-US" dirty="0"/>
              <a:t>Server decrypts the ciphertext to get </a:t>
            </a:r>
            <a:r>
              <a:rPr lang="en-US" dirty="0">
                <a:solidFill>
                  <a:srgbClr val="C00000"/>
                </a:solidFill>
              </a:rPr>
              <a:t>k</a:t>
            </a:r>
          </a:p>
          <a:p>
            <a:r>
              <a:rPr lang="en-US" dirty="0"/>
              <a:t>Hereafter, Server and Client use </a:t>
            </a:r>
            <a:r>
              <a:rPr lang="en-US" dirty="0" err="1">
                <a:solidFill>
                  <a:srgbClr val="C00000"/>
                </a:solidFill>
              </a:rPr>
              <a:t>k</a:t>
            </a:r>
            <a:r>
              <a:rPr lang="en-US" dirty="0"/>
              <a:t> to protect their communications. 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encrypt messages using </a:t>
            </a:r>
            <a:r>
              <a:rPr lang="en-US" dirty="0" err="1">
                <a:solidFill>
                  <a:srgbClr val="C00000"/>
                </a:solidFill>
              </a:rPr>
              <a:t>k</a:t>
            </a:r>
            <a:r>
              <a:rPr lang="en-US" dirty="0">
                <a:solidFill>
                  <a:srgbClr val="0000FF"/>
                </a:solidFill>
              </a:rPr>
              <a:t> for confidentiality.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use HMAC with </a:t>
            </a:r>
            <a:r>
              <a:rPr lang="en-US" dirty="0">
                <a:solidFill>
                  <a:srgbClr val="C00000"/>
                </a:solidFill>
              </a:rPr>
              <a:t>k</a:t>
            </a:r>
            <a:r>
              <a:rPr lang="en-US" dirty="0">
                <a:solidFill>
                  <a:srgbClr val="0000FF"/>
                </a:solidFill>
              </a:rPr>
              <a:t> to protect integrity</a:t>
            </a:r>
          </a:p>
        </p:txBody>
      </p:sp>
    </p:spTree>
    <p:extLst>
      <p:ext uri="{BB962C8B-B14F-4D97-AF65-F5344CB8AC3E}">
        <p14:creationId xmlns:p14="http://schemas.microsoft.com/office/powerpoint/2010/main" val="20172092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5B39E8B-6843-EA42-8519-5DAEC2D5B4DC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349" y="1268243"/>
            <a:ext cx="10840451" cy="1768871"/>
          </a:xfrm>
        </p:spPr>
        <p:txBody>
          <a:bodyPr/>
          <a:lstStyle/>
          <a:p>
            <a:r>
              <a:rPr lang="en-US" dirty="0"/>
              <a:t>Company ABC sets up its </a:t>
            </a:r>
            <a:r>
              <a:rPr lang="en-US" dirty="0" err="1"/>
              <a:t>WiFi</a:t>
            </a:r>
            <a:r>
              <a:rPr lang="en-US" dirty="0"/>
              <a:t> network with SSID “WLAN_ABC” for its more than </a:t>
            </a:r>
            <a:r>
              <a:rPr lang="en-US" dirty="0">
                <a:solidFill>
                  <a:srgbClr val="C00000"/>
                </a:solidFill>
              </a:rPr>
              <a:t>5000</a:t>
            </a:r>
            <a:r>
              <a:rPr lang="en-US" dirty="0"/>
              <a:t> internal users. To prevent external users from accessing WLAN_ABC, a user must submit his/her username and password to the wireless access point for the sake of authentication.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9456" y="4022696"/>
            <a:ext cx="9577064" cy="83099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+mn-lt"/>
              </a:rPr>
              <a:t>Q1: How would you advise Company </a:t>
            </a:r>
            <a:r>
              <a:rPr lang="en-US" sz="2400" dirty="0"/>
              <a:t>ABC</a:t>
            </a:r>
            <a:r>
              <a:rPr lang="en-US" sz="2400" dirty="0">
                <a:latin typeface="+mn-lt"/>
              </a:rPr>
              <a:t> to prevent its users’ passwords from being stolen by eavesdroppers during Wi-Fi logins?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3632" y="5241737"/>
            <a:ext cx="9577063" cy="83099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+mn-lt"/>
              </a:rPr>
              <a:t>Q2: </a:t>
            </a:r>
            <a:r>
              <a:rPr lang="en-US" sz="2400" dirty="0"/>
              <a:t>Can </a:t>
            </a:r>
            <a:r>
              <a:rPr lang="en-US" sz="2400" dirty="0">
                <a:latin typeface="+mn-lt"/>
              </a:rPr>
              <a:t>Company </a:t>
            </a:r>
            <a:r>
              <a:rPr lang="en-US" sz="2400" dirty="0"/>
              <a:t>ABC</a:t>
            </a:r>
            <a:r>
              <a:rPr lang="en-US" sz="2400" dirty="0">
                <a:latin typeface="+mn-lt"/>
              </a:rPr>
              <a:t> use a self-signed (root CA) certificate for its Wi-Fi access points?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9CC2B0-456E-724A-BC34-393C7C50E554}"/>
              </a:ext>
            </a:extLst>
          </p:cNvPr>
          <p:cNvSpPr txBox="1"/>
          <p:nvPr/>
        </p:nvSpPr>
        <p:spPr>
          <a:xfrm>
            <a:off x="7282543" y="3037114"/>
            <a:ext cx="42454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 answer this kind of question, state the technique/method to use and explain how this technique works. Be clear and concise.</a:t>
            </a:r>
          </a:p>
        </p:txBody>
      </p:sp>
    </p:spTree>
    <p:extLst>
      <p:ext uri="{BB962C8B-B14F-4D97-AF65-F5344CB8AC3E}">
        <p14:creationId xmlns:p14="http://schemas.microsoft.com/office/powerpoint/2010/main" val="33150672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17212"/>
            <a:ext cx="11074400" cy="584775"/>
          </a:xfrm>
        </p:spPr>
        <p:txBody>
          <a:bodyPr/>
          <a:lstStyle/>
          <a:p>
            <a:r>
              <a:rPr lang="en-US" sz="3200"/>
              <a:t>Case Study: </a:t>
            </a:r>
            <a:r>
              <a:rPr lang="en-US" sz="3200" dirty="0"/>
              <a:t>Hacking On </a:t>
            </a:r>
            <a:r>
              <a:rPr lang="en-US" sz="3200" dirty="0" err="1"/>
              <a:t>DigiNotar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340768"/>
            <a:ext cx="10959008" cy="2948499"/>
          </a:xfrm>
        </p:spPr>
        <p:txBody>
          <a:bodyPr/>
          <a:lstStyle/>
          <a:p>
            <a:r>
              <a:rPr lang="en-US" dirty="0"/>
              <a:t>Read the article </a:t>
            </a:r>
            <a:r>
              <a:rPr lang="en-US" dirty="0" err="1"/>
              <a:t>diginotar-hacking.pdf</a:t>
            </a:r>
            <a:endParaRPr lang="en-US" dirty="0"/>
          </a:p>
          <a:p>
            <a:r>
              <a:rPr lang="en-US" dirty="0"/>
              <a:t>What is a certificate?</a:t>
            </a:r>
          </a:p>
          <a:p>
            <a:r>
              <a:rPr lang="en-US" dirty="0"/>
              <a:t>What is the business of </a:t>
            </a:r>
            <a:r>
              <a:rPr lang="en-US" dirty="0" err="1"/>
              <a:t>DigiNotar</a:t>
            </a:r>
            <a:endParaRPr lang="en-US" dirty="0"/>
          </a:p>
          <a:p>
            <a:r>
              <a:rPr lang="en-US" dirty="0"/>
              <a:t>What did the attacker do after hacking </a:t>
            </a:r>
            <a:r>
              <a:rPr lang="en-US" dirty="0" err="1"/>
              <a:t>DigiNotar</a:t>
            </a:r>
            <a:r>
              <a:rPr lang="en-US" dirty="0"/>
              <a:t>?</a:t>
            </a:r>
          </a:p>
          <a:p>
            <a:r>
              <a:rPr lang="en-US" dirty="0"/>
              <a:t>What is the consequence to the general public?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869BCE-D170-4E8E-8001-31554DBA6AA7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7409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9EFE4-787F-164E-A33F-A31CE80A4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 Away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36529-1848-9A4C-93B9-246F9F0B5758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735ADE-8294-2B41-A73D-86DEAAB4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Digital certificate proves the ownership of the public key</a:t>
            </a:r>
          </a:p>
          <a:p>
            <a:r>
              <a:rPr lang="en-US" dirty="0"/>
              <a:t>Certificates are issued by Certificate Authority (CA), usually a “trusted” third party organization</a:t>
            </a:r>
          </a:p>
          <a:p>
            <a:r>
              <a:rPr lang="en-US" dirty="0"/>
              <a:t>It contains information about public key, the identity of its owner (called subject), information about the CA (called issuer), and CA’s digital signature over the certificate’s content </a:t>
            </a:r>
          </a:p>
          <a:p>
            <a:r>
              <a:rPr lang="en-US" dirty="0"/>
              <a:t>If the CA’s signature is valid, the public key contained in the certificate can be used for secure communication with the subject</a:t>
            </a:r>
          </a:p>
          <a:p>
            <a:r>
              <a:rPr lang="en-US" dirty="0"/>
              <a:t>Root CA is the trusted origin</a:t>
            </a:r>
          </a:p>
          <a:p>
            <a:r>
              <a:rPr lang="en-US" dirty="0"/>
              <a:t>Security originates from trust</a:t>
            </a:r>
          </a:p>
        </p:txBody>
      </p:sp>
    </p:spTree>
    <p:extLst>
      <p:ext uri="{BB962C8B-B14F-4D97-AF65-F5344CB8AC3E}">
        <p14:creationId xmlns:p14="http://schemas.microsoft.com/office/powerpoint/2010/main" val="3151396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mu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381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25400">
          <a:noFill/>
        </a:ln>
      </a:spPr>
      <a:bodyPr wrap="none" rtlCol="0">
        <a:spAutoFit/>
      </a:bodyPr>
      <a:lstStyle>
        <a:defPPr algn="l">
          <a:defRPr dirty="0" smtClean="0"/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S441-w2-network copy" id="{DD2517E9-6DA0-DF4A-9F63-0561FF56FAB7}" vid="{6D0ABBBB-0BC5-0A4E-B281-E3BD763E009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ment xmlns="1b6a39ee-1380-4096-9882-8248104ba7f7" xsi:nil="true"/>
    <TaxCatchAll xmlns="4604cec2-e769-4190-9d56-5d48f74b6442" xsi:nil="true"/>
    <lcf76f155ced4ddcb4097134ff3c332f xmlns="1b6a39ee-1380-4096-9882-8248104ba7f7">
      <Terms xmlns="http://schemas.microsoft.com/office/infopath/2007/PartnerControls"/>
    </lcf76f155ced4ddcb4097134ff3c332f>
    <_Flow_SignoffStatus xmlns="1b6a39ee-1380-4096-9882-8248104ba7f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6AD1B51FFACD45B62528B91A79C429" ma:contentTypeVersion="18" ma:contentTypeDescription="Create a new document." ma:contentTypeScope="" ma:versionID="9672dfb9ec3908af57a6b314afe3680d">
  <xsd:schema xmlns:xsd="http://www.w3.org/2001/XMLSchema" xmlns:xs="http://www.w3.org/2001/XMLSchema" xmlns:p="http://schemas.microsoft.com/office/2006/metadata/properties" xmlns:ns2="1b6a39ee-1380-4096-9882-8248104ba7f7" xmlns:ns3="4604cec2-e769-4190-9d56-5d48f74b6442" targetNamespace="http://schemas.microsoft.com/office/2006/metadata/properties" ma:root="true" ma:fieldsID="12d78462d111bb2baa1b9a3ac61ee40a" ns2:_="" ns3:_="">
    <xsd:import namespace="1b6a39ee-1380-4096-9882-8248104ba7f7"/>
    <xsd:import namespace="4604cec2-e769-4190-9d56-5d48f74b64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Comment" minOccurs="0"/>
                <xsd:element ref="ns2:lcf76f155ced4ddcb4097134ff3c332f" minOccurs="0"/>
                <xsd:element ref="ns3:TaxCatchAll" minOccurs="0"/>
                <xsd:element ref="ns2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6a39ee-1380-4096-9882-8248104ba7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Comment" ma:index="21" nillable="true" ma:displayName="Comment" ma:description="What was the last change about" ma:format="Dropdown" ma:internalName="Comment">
      <xsd:simpleType>
        <xsd:restriction base="dms:Text">
          <xsd:maxLength value="255"/>
        </xsd:restriction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deec61d7-21c4-46ea-8069-5c692c33a4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04cec2-e769-4190-9d56-5d48f74b6442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9943aed9-ec56-40d8-95cb-c4327e5e8870}" ma:internalName="TaxCatchAll" ma:showField="CatchAllData" ma:web="4604cec2-e769-4190-9d56-5d48f74b644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2228CC-5143-4DD3-B3FD-F252F0A246D0}">
  <ds:schemaRefs>
    <ds:schemaRef ds:uri="http://schemas.microsoft.com/office/2006/metadata/properties"/>
    <ds:schemaRef ds:uri="http://schemas.microsoft.com/office/infopath/2007/PartnerControls"/>
    <ds:schemaRef ds:uri="1b6a39ee-1380-4096-9882-8248104ba7f7"/>
    <ds:schemaRef ds:uri="4604cec2-e769-4190-9d56-5d48f74b6442"/>
  </ds:schemaRefs>
</ds:datastoreItem>
</file>

<file path=customXml/itemProps2.xml><?xml version="1.0" encoding="utf-8"?>
<ds:datastoreItem xmlns:ds="http://schemas.openxmlformats.org/officeDocument/2006/customXml" ds:itemID="{ED2B20BA-AC19-4232-BA8F-62628CE06E6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DFBAF34-BEBB-43F5-9B75-0526BF000D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6a39ee-1380-4096-9882-8248104ba7f7"/>
    <ds:schemaRef ds:uri="4604cec2-e769-4190-9d56-5d48f74b644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6951d41b-6b8e-4636-984f-012bff14ba18}" enabled="1" method="Standard" siteId="{c98a79ca-5a9a-4791-a243-f06afd67464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smu</Template>
  <TotalTime>418</TotalTime>
  <Words>2228</Words>
  <Application>Microsoft Macintosh PowerPoint</Application>
  <PresentationFormat>Widescreen</PresentationFormat>
  <Paragraphs>334</Paragraphs>
  <Slides>31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宋体</vt:lpstr>
      <vt:lpstr>Arial</vt:lpstr>
      <vt:lpstr>Arial Nova</vt:lpstr>
      <vt:lpstr>Calibri</vt:lpstr>
      <vt:lpstr>Helvetica Neue</vt:lpstr>
      <vt:lpstr>Times New Roman</vt:lpstr>
      <vt:lpstr>smu</vt:lpstr>
      <vt:lpstr>CS440 Foundation of Cybersecurity</vt:lpstr>
      <vt:lpstr>Recap of Week 4</vt:lpstr>
      <vt:lpstr>Outline</vt:lpstr>
      <vt:lpstr>Consider Hybrid Encryption</vt:lpstr>
      <vt:lpstr>The Challenge</vt:lpstr>
      <vt:lpstr>Consider Digital Signing</vt:lpstr>
      <vt:lpstr>The Challenge</vt:lpstr>
      <vt:lpstr>Public key certificate and PKI</vt:lpstr>
      <vt:lpstr>Example: SMU’s Certificate</vt:lpstr>
      <vt:lpstr>Public key certificate contents</vt:lpstr>
      <vt:lpstr>Outline</vt:lpstr>
      <vt:lpstr>Certification Request</vt:lpstr>
      <vt:lpstr>Certification Request Generation Algorithm</vt:lpstr>
      <vt:lpstr>Outline</vt:lpstr>
      <vt:lpstr>Certificate Issuance</vt:lpstr>
      <vt:lpstr>Outline</vt:lpstr>
      <vt:lpstr>Certificate Verification</vt:lpstr>
      <vt:lpstr>Certification chain</vt:lpstr>
      <vt:lpstr>Certification Chain</vt:lpstr>
      <vt:lpstr>Use of Certificate in Internet</vt:lpstr>
      <vt:lpstr>Trust Or Not Trust?</vt:lpstr>
      <vt:lpstr>Outline</vt:lpstr>
      <vt:lpstr>Certificate Revocation</vt:lpstr>
      <vt:lpstr>Certificate Revocation List (CRL) </vt:lpstr>
      <vt:lpstr>Certificate Verification with CRL</vt:lpstr>
      <vt:lpstr>Use of Certificate in Internet</vt:lpstr>
      <vt:lpstr>Protocol for Symmetric Key Distribution (revisited)</vt:lpstr>
      <vt:lpstr>Protocol for Symmetric Key Distribution (revisited)</vt:lpstr>
      <vt:lpstr>Question</vt:lpstr>
      <vt:lpstr>Case Study: Hacking On DigiNotar</vt:lpstr>
      <vt:lpstr>Take Away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CS440 Foundation of Cybersecurity</dc:title>
  <dc:creator>DING Xuhua</dc:creator>
  <cp:lastModifiedBy>Nicholas SOH De Lin</cp:lastModifiedBy>
  <cp:revision>131</cp:revision>
  <cp:lastPrinted>2021-01-18T09:21:06Z</cp:lastPrinted>
  <dcterms:created xsi:type="dcterms:W3CDTF">2021-01-27T08:20:01Z</dcterms:created>
  <dcterms:modified xsi:type="dcterms:W3CDTF">2025-10-25T18:13:19Z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0x0101000C6AD1B51FFACD45B62528B91A79C429</vt:lpwstr>
  </property>
  <property fmtid="{D5CDD505-2E9C-101B-9397-08002B2CF9AE}" pid="3" name="MSIP_Label_6951d41b-6b8e-4636-984f-012bff14ba18_Enabled">
    <vt:lpwstr>true</vt:lpwstr>
  </property>
  <property fmtid="{D5CDD505-2E9C-101B-9397-08002B2CF9AE}" pid="4" name="MSIP_Label_6951d41b-6b8e-4636-984f-012bff14ba18_SetDate">
    <vt:lpwstr>2023-09-07T02:31:07Z</vt:lpwstr>
  </property>
  <property fmtid="{D5CDD505-2E9C-101B-9397-08002B2CF9AE}" pid="5" name="MSIP_Label_6951d41b-6b8e-4636-984f-012bff14ba18_Method">
    <vt:lpwstr>Standard</vt:lpwstr>
  </property>
  <property fmtid="{D5CDD505-2E9C-101B-9397-08002B2CF9AE}" pid="6" name="MSIP_Label_6951d41b-6b8e-4636-984f-012bff14ba18_Name">
    <vt:lpwstr>6951d41b-6b8e-4636-984f-012bff14ba18</vt:lpwstr>
  </property>
  <property fmtid="{D5CDD505-2E9C-101B-9397-08002B2CF9AE}" pid="7" name="MSIP_Label_6951d41b-6b8e-4636-984f-012bff14ba18_SiteId">
    <vt:lpwstr>c98a79ca-5a9a-4791-a243-f06afd67464d</vt:lpwstr>
  </property>
  <property fmtid="{D5CDD505-2E9C-101B-9397-08002B2CF9AE}" pid="8" name="MSIP_Label_6951d41b-6b8e-4636-984f-012bff14ba18_ActionId">
    <vt:lpwstr>2772430a-bbc2-48b3-8d8b-78f5f51414a0</vt:lpwstr>
  </property>
  <property fmtid="{D5CDD505-2E9C-101B-9397-08002B2CF9AE}" pid="9" name="MSIP_Label_6951d41b-6b8e-4636-984f-012bff14ba18_ContentBits">
    <vt:lpwstr>1</vt:lpwstr>
  </property>
  <property fmtid="{D5CDD505-2E9C-101B-9397-08002B2CF9AE}" pid="10" name="ClassificationContentMarkingHeaderLocations">
    <vt:lpwstr>smu:5</vt:lpwstr>
  </property>
  <property fmtid="{D5CDD505-2E9C-101B-9397-08002B2CF9AE}" pid="11" name="ClassificationContentMarkingHeaderText">
    <vt:lpwstr>SMU Classification: Restricted</vt:lpwstr>
  </property>
</Properties>
</file>