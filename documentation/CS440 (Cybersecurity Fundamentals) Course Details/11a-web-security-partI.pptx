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92" r:id="rId4"/>
  </p:sldMasterIdLst>
  <p:notesMasterIdLst>
    <p:notesMasterId r:id="rId51"/>
  </p:notesMasterIdLst>
  <p:handoutMasterIdLst>
    <p:handoutMasterId r:id="rId52"/>
  </p:handoutMasterIdLst>
  <p:sldIdLst>
    <p:sldId id="455" r:id="rId5"/>
    <p:sldId id="889" r:id="rId6"/>
    <p:sldId id="593" r:id="rId7"/>
    <p:sldId id="806" r:id="rId8"/>
    <p:sldId id="722" r:id="rId9"/>
    <p:sldId id="890" r:id="rId10"/>
    <p:sldId id="723" r:id="rId11"/>
    <p:sldId id="724" r:id="rId12"/>
    <p:sldId id="886" r:id="rId13"/>
    <p:sldId id="664" r:id="rId14"/>
    <p:sldId id="828" r:id="rId15"/>
    <p:sldId id="858" r:id="rId16"/>
    <p:sldId id="827" r:id="rId17"/>
    <p:sldId id="814" r:id="rId18"/>
    <p:sldId id="859" r:id="rId19"/>
    <p:sldId id="815" r:id="rId20"/>
    <p:sldId id="839" r:id="rId21"/>
    <p:sldId id="829" r:id="rId22"/>
    <p:sldId id="899" r:id="rId23"/>
    <p:sldId id="884" r:id="rId24"/>
    <p:sldId id="832" r:id="rId25"/>
    <p:sldId id="848" r:id="rId26"/>
    <p:sldId id="852" r:id="rId27"/>
    <p:sldId id="847" r:id="rId28"/>
    <p:sldId id="896" r:id="rId29"/>
    <p:sldId id="895" r:id="rId30"/>
    <p:sldId id="834" r:id="rId31"/>
    <p:sldId id="835" r:id="rId32"/>
    <p:sldId id="838" r:id="rId33"/>
    <p:sldId id="897" r:id="rId34"/>
    <p:sldId id="840" r:id="rId35"/>
    <p:sldId id="900" r:id="rId36"/>
    <p:sldId id="898" r:id="rId37"/>
    <p:sldId id="841" r:id="rId38"/>
    <p:sldId id="836" r:id="rId39"/>
    <p:sldId id="893" r:id="rId40"/>
    <p:sldId id="842" r:id="rId41"/>
    <p:sldId id="837" r:id="rId42"/>
    <p:sldId id="844" r:id="rId43"/>
    <p:sldId id="845" r:id="rId44"/>
    <p:sldId id="853" r:id="rId45"/>
    <p:sldId id="855" r:id="rId46"/>
    <p:sldId id="856" r:id="rId47"/>
    <p:sldId id="857" r:id="rId48"/>
    <p:sldId id="902" r:id="rId49"/>
    <p:sldId id="830"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47B6"/>
    <a:srgbClr val="102B72"/>
    <a:srgbClr val="FFCC00"/>
    <a:srgbClr val="FFE285"/>
    <a:srgbClr val="FFFFFF"/>
    <a:srgbClr val="F1185C"/>
    <a:srgbClr val="F7F7F7"/>
    <a:srgbClr val="FBFBFB"/>
    <a:srgbClr val="DBA70B"/>
    <a:srgbClr val="F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7B5DC3-C3A8-4D76-A2BC-FC0B286A1B7B}" v="1" dt="2025-10-22T06:00:30.47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5" autoAdjust="0"/>
    <p:restoredTop sz="94220" autoAdjust="0"/>
  </p:normalViewPr>
  <p:slideViewPr>
    <p:cSldViewPr snapToGrid="0" snapToObjects="1">
      <p:cViewPr varScale="1">
        <p:scale>
          <a:sx n="78" d="100"/>
          <a:sy n="78" d="100"/>
        </p:scale>
        <p:origin x="830" y="43"/>
      </p:cViewPr>
      <p:guideLst>
        <p:guide orient="horz" pos="2160"/>
        <p:guide pos="3840"/>
      </p:guideLst>
    </p:cSldViewPr>
  </p:slideViewPr>
  <p:notesTextViewPr>
    <p:cViewPr>
      <p:scale>
        <a:sx n="1" d="1"/>
        <a:sy n="1" d="1"/>
      </p:scale>
      <p:origin x="0" y="0"/>
    </p:cViewPr>
  </p:notesTextViewPr>
  <p:sorterViewPr>
    <p:cViewPr>
      <p:scale>
        <a:sx n="136" d="100"/>
        <a:sy n="136" d="100"/>
      </p:scale>
      <p:origin x="0" y="0"/>
    </p:cViewPr>
  </p:sorterViewPr>
  <p:notesViewPr>
    <p:cSldViewPr snapToGrid="0" snapToObjects="1" showGuides="1">
      <p:cViewPr varScale="1">
        <p:scale>
          <a:sx n="65" d="100"/>
          <a:sy n="65" d="100"/>
        </p:scale>
        <p:origin x="315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6/11/relationships/changesInfo" Target="changesInfos/changesInfo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Guomin" userId="dccf0981-1625-43db-a7d9-40d73e3f3472" providerId="ADAL" clId="{78C773FA-E1C1-8747-AB87-5D3D030EE7D3}"/>
    <pc:docChg chg="custSel modSld">
      <pc:chgData name="YANG Guomin" userId="dccf0981-1625-43db-a7d9-40d73e3f3472" providerId="ADAL" clId="{78C773FA-E1C1-8747-AB87-5D3D030EE7D3}" dt="2023-03-16T02:24:53.575" v="4" actId="478"/>
      <pc:docMkLst>
        <pc:docMk/>
      </pc:docMkLst>
      <pc:sldChg chg="delSp modSp mod">
        <pc:chgData name="YANG Guomin" userId="dccf0981-1625-43db-a7d9-40d73e3f3472" providerId="ADAL" clId="{78C773FA-E1C1-8747-AB87-5D3D030EE7D3}" dt="2023-03-16T02:24:53.575" v="4" actId="478"/>
        <pc:sldMkLst>
          <pc:docMk/>
          <pc:sldMk cId="2420985206" sldId="834"/>
        </pc:sldMkLst>
      </pc:sldChg>
    </pc:docChg>
  </pc:docChgLst>
  <pc:docChgLst>
    <pc:chgData name="YANG Guomin" userId="dccf0981-1625-43db-a7d9-40d73e3f3472" providerId="ADAL" clId="{4AD48C1F-B2BA-4E6A-AC9C-E04262E6F917}"/>
    <pc:docChg chg="addSld delSld modSld">
      <pc:chgData name="YANG Guomin" userId="dccf0981-1625-43db-a7d9-40d73e3f3472" providerId="ADAL" clId="{4AD48C1F-B2BA-4E6A-AC9C-E04262E6F917}" dt="2023-10-23T02:16:32.761" v="1" actId="47"/>
      <pc:docMkLst>
        <pc:docMk/>
      </pc:docMkLst>
      <pc:sldChg chg="add">
        <pc:chgData name="YANG Guomin" userId="dccf0981-1625-43db-a7d9-40d73e3f3472" providerId="ADAL" clId="{4AD48C1F-B2BA-4E6A-AC9C-E04262E6F917}" dt="2023-10-23T02:16:29.400" v="0"/>
        <pc:sldMkLst>
          <pc:docMk/>
          <pc:sldMk cId="374303444" sldId="893"/>
        </pc:sldMkLst>
      </pc:sldChg>
      <pc:sldChg chg="del">
        <pc:chgData name="YANG Guomin" userId="dccf0981-1625-43db-a7d9-40d73e3f3472" providerId="ADAL" clId="{4AD48C1F-B2BA-4E6A-AC9C-E04262E6F917}" dt="2023-10-23T02:16:32.761" v="1" actId="47"/>
        <pc:sldMkLst>
          <pc:docMk/>
          <pc:sldMk cId="612190748" sldId="901"/>
        </pc:sldMkLst>
      </pc:sldChg>
    </pc:docChg>
  </pc:docChgLst>
  <pc:docChgLst>
    <pc:chgData name="YANG Guomin" userId="dccf0981-1625-43db-a7d9-40d73e3f3472" providerId="ADAL" clId="{E01682CD-4045-4869-9EEB-4ACD81BC3EB4}"/>
    <pc:docChg chg="modSld">
      <pc:chgData name="YANG Guomin" userId="dccf0981-1625-43db-a7d9-40d73e3f3472" providerId="ADAL" clId="{E01682CD-4045-4869-9EEB-4ACD81BC3EB4}" dt="2025-10-23T02:54:53.651" v="16" actId="20577"/>
      <pc:docMkLst>
        <pc:docMk/>
      </pc:docMkLst>
      <pc:sldChg chg="modSp mod">
        <pc:chgData name="YANG Guomin" userId="dccf0981-1625-43db-a7d9-40d73e3f3472" providerId="ADAL" clId="{E01682CD-4045-4869-9EEB-4ACD81BC3EB4}" dt="2025-10-23T02:54:53.651" v="16" actId="20577"/>
        <pc:sldMkLst>
          <pc:docMk/>
          <pc:sldMk cId="3610430795" sldId="593"/>
        </pc:sldMkLst>
        <pc:spChg chg="mod">
          <ac:chgData name="YANG Guomin" userId="dccf0981-1625-43db-a7d9-40d73e3f3472" providerId="ADAL" clId="{E01682CD-4045-4869-9EEB-4ACD81BC3EB4}" dt="2025-10-23T02:54:53.651" v="16" actId="20577"/>
          <ac:spMkLst>
            <pc:docMk/>
            <pc:sldMk cId="3610430795" sldId="593"/>
            <ac:spMk id="4" creationId="{4110D6FF-8BD9-1445-8E1C-84320A57499A}"/>
          </ac:spMkLst>
        </pc:spChg>
      </pc:sldChg>
      <pc:sldChg chg="modSp mod">
        <pc:chgData name="YANG Guomin" userId="dccf0981-1625-43db-a7d9-40d73e3f3472" providerId="ADAL" clId="{E01682CD-4045-4869-9EEB-4ACD81BC3EB4}" dt="2025-10-23T02:54:31.648" v="15" actId="20577"/>
        <pc:sldMkLst>
          <pc:docMk/>
          <pc:sldMk cId="1080801124" sldId="889"/>
        </pc:sldMkLst>
        <pc:spChg chg="mod">
          <ac:chgData name="YANG Guomin" userId="dccf0981-1625-43db-a7d9-40d73e3f3472" providerId="ADAL" clId="{E01682CD-4045-4869-9EEB-4ACD81BC3EB4}" dt="2025-10-23T02:54:31.648" v="15" actId="20577"/>
          <ac:spMkLst>
            <pc:docMk/>
            <pc:sldMk cId="1080801124" sldId="889"/>
            <ac:spMk id="6" creationId="{35933750-C0CF-AC49-AF64-1EE787DB8C3D}"/>
          </ac:spMkLst>
        </pc:spChg>
      </pc:sldChg>
    </pc:docChg>
  </pc:docChgLst>
  <pc:docChgLst>
    <pc:chgData name="YANG Guomin" userId="dccf0981-1625-43db-a7d9-40d73e3f3472" providerId="ADAL" clId="{6F5A01A0-3B41-4E6A-91B3-189DA8807844}"/>
    <pc:docChg chg="undo custSel addSld delSld modSld">
      <pc:chgData name="YANG Guomin" userId="dccf0981-1625-43db-a7d9-40d73e3f3472" providerId="ADAL" clId="{6F5A01A0-3B41-4E6A-91B3-189DA8807844}" dt="2023-10-18T07:59:28.583" v="140" actId="27636"/>
      <pc:docMkLst>
        <pc:docMk/>
      </pc:docMkLst>
      <pc:sldChg chg="delSp modSp mod">
        <pc:chgData name="YANG Guomin" userId="dccf0981-1625-43db-a7d9-40d73e3f3472" providerId="ADAL" clId="{6F5A01A0-3B41-4E6A-91B3-189DA8807844}" dt="2023-10-18T06:23:27.860" v="28" actId="20577"/>
        <pc:sldMkLst>
          <pc:docMk/>
          <pc:sldMk cId="426125738" sldId="827"/>
        </pc:sldMkLst>
      </pc:sldChg>
      <pc:sldChg chg="modSp mod">
        <pc:chgData name="YANG Guomin" userId="dccf0981-1625-43db-a7d9-40d73e3f3472" providerId="ADAL" clId="{6F5A01A0-3B41-4E6A-91B3-189DA8807844}" dt="2023-10-18T06:20:56.420" v="24" actId="20577"/>
        <pc:sldMkLst>
          <pc:docMk/>
          <pc:sldMk cId="1022096137" sldId="828"/>
        </pc:sldMkLst>
      </pc:sldChg>
      <pc:sldChg chg="modSp mod">
        <pc:chgData name="YANG Guomin" userId="dccf0981-1625-43db-a7d9-40d73e3f3472" providerId="ADAL" clId="{6F5A01A0-3B41-4E6A-91B3-189DA8807844}" dt="2023-10-18T07:59:28.583" v="140" actId="27636"/>
        <pc:sldMkLst>
          <pc:docMk/>
          <pc:sldMk cId="3143550947" sldId="830"/>
        </pc:sldMkLst>
      </pc:sldChg>
      <pc:sldChg chg="modSp mod">
        <pc:chgData name="YANG Guomin" userId="dccf0981-1625-43db-a7d9-40d73e3f3472" providerId="ADAL" clId="{6F5A01A0-3B41-4E6A-91B3-189DA8807844}" dt="2023-10-18T06:25:47.887" v="29" actId="122"/>
        <pc:sldMkLst>
          <pc:docMk/>
          <pc:sldMk cId="3195862742" sldId="839"/>
        </pc:sldMkLst>
      </pc:sldChg>
      <pc:sldChg chg="addSp delSp modSp mod">
        <pc:chgData name="YANG Guomin" userId="dccf0981-1625-43db-a7d9-40d73e3f3472" providerId="ADAL" clId="{6F5A01A0-3B41-4E6A-91B3-189DA8807844}" dt="2023-10-18T07:45:07.580" v="123" actId="1076"/>
        <pc:sldMkLst>
          <pc:docMk/>
          <pc:sldMk cId="558055030" sldId="845"/>
        </pc:sldMkLst>
      </pc:sldChg>
      <pc:sldChg chg="modSp mod">
        <pc:chgData name="YANG Guomin" userId="dccf0981-1625-43db-a7d9-40d73e3f3472" providerId="ADAL" clId="{6F5A01A0-3B41-4E6A-91B3-189DA8807844}" dt="2023-10-18T06:48:14.932" v="111" actId="20577"/>
        <pc:sldMkLst>
          <pc:docMk/>
          <pc:sldMk cId="2110261037" sldId="852"/>
        </pc:sldMkLst>
      </pc:sldChg>
      <pc:sldChg chg="del">
        <pc:chgData name="YANG Guomin" userId="dccf0981-1625-43db-a7d9-40d73e3f3472" providerId="ADAL" clId="{6F5A01A0-3B41-4E6A-91B3-189DA8807844}" dt="2023-10-18T06:15:00.640" v="18" actId="47"/>
        <pc:sldMkLst>
          <pc:docMk/>
          <pc:sldMk cId="1425281084" sldId="888"/>
        </pc:sldMkLst>
      </pc:sldChg>
      <pc:sldChg chg="modSp mod">
        <pc:chgData name="YANG Guomin" userId="dccf0981-1625-43db-a7d9-40d73e3f3472" providerId="ADAL" clId="{6F5A01A0-3B41-4E6A-91B3-189DA8807844}" dt="2023-10-18T06:05:56.425" v="17" actId="20577"/>
        <pc:sldMkLst>
          <pc:docMk/>
          <pc:sldMk cId="2196721018" sldId="890"/>
        </pc:sldMkLst>
      </pc:sldChg>
      <pc:sldChg chg="modSp mod">
        <pc:chgData name="YANG Guomin" userId="dccf0981-1625-43db-a7d9-40d73e3f3472" providerId="ADAL" clId="{6F5A01A0-3B41-4E6A-91B3-189DA8807844}" dt="2023-10-18T06:26:55.853" v="34" actId="20577"/>
        <pc:sldMkLst>
          <pc:docMk/>
          <pc:sldMk cId="4208906003" sldId="899"/>
        </pc:sldMkLst>
      </pc:sldChg>
      <pc:sldChg chg="add">
        <pc:chgData name="YANG Guomin" userId="dccf0981-1625-43db-a7d9-40d73e3f3472" providerId="ADAL" clId="{6F5A01A0-3B41-4E6A-91B3-189DA8807844}" dt="2023-10-18T06:57:12.937" v="112"/>
        <pc:sldMkLst>
          <pc:docMk/>
          <pc:sldMk cId="474124185" sldId="900"/>
        </pc:sldMkLst>
      </pc:sldChg>
      <pc:sldChg chg="add">
        <pc:chgData name="YANG Guomin" userId="dccf0981-1625-43db-a7d9-40d73e3f3472" providerId="ADAL" clId="{6F5A01A0-3B41-4E6A-91B3-189DA8807844}" dt="2023-10-18T06:58:44.908" v="113"/>
        <pc:sldMkLst>
          <pc:docMk/>
          <pc:sldMk cId="612190748" sldId="901"/>
        </pc:sldMkLst>
      </pc:sldChg>
      <pc:sldChg chg="addSp delSp modSp new mod">
        <pc:chgData name="YANG Guomin" userId="dccf0981-1625-43db-a7d9-40d73e3f3472" providerId="ADAL" clId="{6F5A01A0-3B41-4E6A-91B3-189DA8807844}" dt="2023-10-18T07:53:41.407" v="132" actId="1076"/>
        <pc:sldMkLst>
          <pc:docMk/>
          <pc:sldMk cId="429939887" sldId="902"/>
        </pc:sldMkLst>
      </pc:sldChg>
    </pc:docChg>
  </pc:docChgLst>
  <pc:docChgLst>
    <pc:chgData name="YANG Guomin" userId="dccf0981-1625-43db-a7d9-40d73e3f3472" providerId="ADAL" clId="{72517598-0297-47E6-94A8-97AD8E5E9E1A}"/>
    <pc:docChg chg="undo custSel addSld delSld modSld sldOrd">
      <pc:chgData name="YANG Guomin" userId="dccf0981-1625-43db-a7d9-40d73e3f3472" providerId="ADAL" clId="{72517598-0297-47E6-94A8-97AD8E5E9E1A}" dt="2023-03-20T13:56:30.004" v="695"/>
      <pc:docMkLst>
        <pc:docMk/>
      </pc:docMkLst>
      <pc:sldChg chg="modSp mod">
        <pc:chgData name="YANG Guomin" userId="dccf0981-1625-43db-a7d9-40d73e3f3472" providerId="ADAL" clId="{72517598-0297-47E6-94A8-97AD8E5E9E1A}" dt="2023-03-15T15:19:22.938" v="72"/>
        <pc:sldMkLst>
          <pc:docMk/>
          <pc:sldMk cId="3610430795" sldId="593"/>
        </pc:sldMkLst>
      </pc:sldChg>
      <pc:sldChg chg="delSp mod">
        <pc:chgData name="YANG Guomin" userId="dccf0981-1625-43db-a7d9-40d73e3f3472" providerId="ADAL" clId="{72517598-0297-47E6-94A8-97AD8E5E9E1A}" dt="2023-03-15T13:35:22.072" v="19" actId="478"/>
        <pc:sldMkLst>
          <pc:docMk/>
          <pc:sldMk cId="4185133344" sldId="664"/>
        </pc:sldMkLst>
      </pc:sldChg>
      <pc:sldChg chg="modSp mod">
        <pc:chgData name="YANG Guomin" userId="dccf0981-1625-43db-a7d9-40d73e3f3472" providerId="ADAL" clId="{72517598-0297-47E6-94A8-97AD8E5E9E1A}" dt="2023-03-14T13:07:37.128" v="16" actId="20577"/>
        <pc:sldMkLst>
          <pc:docMk/>
          <pc:sldMk cId="331048407" sldId="723"/>
        </pc:sldMkLst>
      </pc:sldChg>
      <pc:sldChg chg="modSp mod">
        <pc:chgData name="YANG Guomin" userId="dccf0981-1625-43db-a7d9-40d73e3f3472" providerId="ADAL" clId="{72517598-0297-47E6-94A8-97AD8E5E9E1A}" dt="2023-03-14T13:07:23.525" v="13" actId="14100"/>
        <pc:sldMkLst>
          <pc:docMk/>
          <pc:sldMk cId="4273688490" sldId="724"/>
        </pc:sldMkLst>
      </pc:sldChg>
      <pc:sldChg chg="modSp mod">
        <pc:chgData name="YANG Guomin" userId="dccf0981-1625-43db-a7d9-40d73e3f3472" providerId="ADAL" clId="{72517598-0297-47E6-94A8-97AD8E5E9E1A}" dt="2023-03-14T13:15:13.837" v="17" actId="1076"/>
        <pc:sldMkLst>
          <pc:docMk/>
          <pc:sldMk cId="426125738" sldId="827"/>
        </pc:sldMkLst>
      </pc:sldChg>
      <pc:sldChg chg="modSp mod">
        <pc:chgData name="YANG Guomin" userId="dccf0981-1625-43db-a7d9-40d73e3f3472" providerId="ADAL" clId="{72517598-0297-47E6-94A8-97AD8E5E9E1A}" dt="2023-03-15T15:35:38.413" v="74" actId="27636"/>
        <pc:sldMkLst>
          <pc:docMk/>
          <pc:sldMk cId="3143550947" sldId="830"/>
        </pc:sldMkLst>
      </pc:sldChg>
      <pc:sldChg chg="add">
        <pc:chgData name="YANG Guomin" userId="dccf0981-1625-43db-a7d9-40d73e3f3472" providerId="ADAL" clId="{72517598-0297-47E6-94A8-97AD8E5E9E1A}" dt="2023-03-15T15:14:51.870" v="33"/>
        <pc:sldMkLst>
          <pc:docMk/>
          <pc:sldMk cId="2420985206" sldId="834"/>
        </pc:sldMkLst>
      </pc:sldChg>
      <pc:sldChg chg="addSp delSp modSp add mod">
        <pc:chgData name="YANG Guomin" userId="dccf0981-1625-43db-a7d9-40d73e3f3472" providerId="ADAL" clId="{72517598-0297-47E6-94A8-97AD8E5E9E1A}" dt="2023-03-17T10:15:26.448" v="686" actId="1076"/>
        <pc:sldMkLst>
          <pc:docMk/>
          <pc:sldMk cId="1207437140" sldId="835"/>
        </pc:sldMkLst>
      </pc:sldChg>
      <pc:sldChg chg="addSp delSp modSp add mod">
        <pc:chgData name="YANG Guomin" userId="dccf0981-1625-43db-a7d9-40d73e3f3472" providerId="ADAL" clId="{72517598-0297-47E6-94A8-97AD8E5E9E1A}" dt="2023-03-17T10:15:56.243" v="691" actId="1076"/>
        <pc:sldMkLst>
          <pc:docMk/>
          <pc:sldMk cId="292900904" sldId="836"/>
        </pc:sldMkLst>
      </pc:sldChg>
      <pc:sldChg chg="add">
        <pc:chgData name="YANG Guomin" userId="dccf0981-1625-43db-a7d9-40d73e3f3472" providerId="ADAL" clId="{72517598-0297-47E6-94A8-97AD8E5E9E1A}" dt="2023-03-15T15:14:51.870" v="33"/>
        <pc:sldMkLst>
          <pc:docMk/>
          <pc:sldMk cId="3797737670" sldId="837"/>
        </pc:sldMkLst>
      </pc:sldChg>
      <pc:sldChg chg="add">
        <pc:chgData name="YANG Guomin" userId="dccf0981-1625-43db-a7d9-40d73e3f3472" providerId="ADAL" clId="{72517598-0297-47E6-94A8-97AD8E5E9E1A}" dt="2023-03-15T15:14:51.870" v="33"/>
        <pc:sldMkLst>
          <pc:docMk/>
          <pc:sldMk cId="3020021006" sldId="838"/>
        </pc:sldMkLst>
      </pc:sldChg>
      <pc:sldChg chg="modSp mod modAnim">
        <pc:chgData name="YANG Guomin" userId="dccf0981-1625-43db-a7d9-40d73e3f3472" providerId="ADAL" clId="{72517598-0297-47E6-94A8-97AD8E5E9E1A}" dt="2023-03-20T13:56:30.004" v="695"/>
        <pc:sldMkLst>
          <pc:docMk/>
          <pc:sldMk cId="3195862742" sldId="839"/>
        </pc:sldMkLst>
      </pc:sldChg>
      <pc:sldChg chg="add">
        <pc:chgData name="YANG Guomin" userId="dccf0981-1625-43db-a7d9-40d73e3f3472" providerId="ADAL" clId="{72517598-0297-47E6-94A8-97AD8E5E9E1A}" dt="2023-03-15T15:14:51.870" v="33"/>
        <pc:sldMkLst>
          <pc:docMk/>
          <pc:sldMk cId="4224740478" sldId="840"/>
        </pc:sldMkLst>
      </pc:sldChg>
      <pc:sldChg chg="add">
        <pc:chgData name="YANG Guomin" userId="dccf0981-1625-43db-a7d9-40d73e3f3472" providerId="ADAL" clId="{72517598-0297-47E6-94A8-97AD8E5E9E1A}" dt="2023-03-15T15:14:51.870" v="33"/>
        <pc:sldMkLst>
          <pc:docMk/>
          <pc:sldMk cId="3296828468" sldId="841"/>
        </pc:sldMkLst>
      </pc:sldChg>
      <pc:sldChg chg="add">
        <pc:chgData name="YANG Guomin" userId="dccf0981-1625-43db-a7d9-40d73e3f3472" providerId="ADAL" clId="{72517598-0297-47E6-94A8-97AD8E5E9E1A}" dt="2023-03-15T15:14:51.870" v="33"/>
        <pc:sldMkLst>
          <pc:docMk/>
          <pc:sldMk cId="2985700775" sldId="842"/>
        </pc:sldMkLst>
      </pc:sldChg>
      <pc:sldChg chg="add">
        <pc:chgData name="YANG Guomin" userId="dccf0981-1625-43db-a7d9-40d73e3f3472" providerId="ADAL" clId="{72517598-0297-47E6-94A8-97AD8E5E9E1A}" dt="2023-03-15T15:14:51.870" v="33"/>
        <pc:sldMkLst>
          <pc:docMk/>
          <pc:sldMk cId="1975396746" sldId="844"/>
        </pc:sldMkLst>
      </pc:sldChg>
      <pc:sldChg chg="add">
        <pc:chgData name="YANG Guomin" userId="dccf0981-1625-43db-a7d9-40d73e3f3472" providerId="ADAL" clId="{72517598-0297-47E6-94A8-97AD8E5E9E1A}" dt="2023-03-15T15:14:51.870" v="33"/>
        <pc:sldMkLst>
          <pc:docMk/>
          <pc:sldMk cId="558055030" sldId="845"/>
        </pc:sldMkLst>
      </pc:sldChg>
      <pc:sldChg chg="add">
        <pc:chgData name="YANG Guomin" userId="dccf0981-1625-43db-a7d9-40d73e3f3472" providerId="ADAL" clId="{72517598-0297-47E6-94A8-97AD8E5E9E1A}" dt="2023-03-15T15:14:51.870" v="33"/>
        <pc:sldMkLst>
          <pc:docMk/>
          <pc:sldMk cId="3221578219" sldId="853"/>
        </pc:sldMkLst>
      </pc:sldChg>
      <pc:sldChg chg="add">
        <pc:chgData name="YANG Guomin" userId="dccf0981-1625-43db-a7d9-40d73e3f3472" providerId="ADAL" clId="{72517598-0297-47E6-94A8-97AD8E5E9E1A}" dt="2023-03-15T15:14:51.870" v="33"/>
        <pc:sldMkLst>
          <pc:docMk/>
          <pc:sldMk cId="1946665126" sldId="855"/>
        </pc:sldMkLst>
      </pc:sldChg>
      <pc:sldChg chg="add">
        <pc:chgData name="YANG Guomin" userId="dccf0981-1625-43db-a7d9-40d73e3f3472" providerId="ADAL" clId="{72517598-0297-47E6-94A8-97AD8E5E9E1A}" dt="2023-03-15T15:14:51.870" v="33"/>
        <pc:sldMkLst>
          <pc:docMk/>
          <pc:sldMk cId="53599694" sldId="856"/>
        </pc:sldMkLst>
      </pc:sldChg>
      <pc:sldChg chg="add">
        <pc:chgData name="YANG Guomin" userId="dccf0981-1625-43db-a7d9-40d73e3f3472" providerId="ADAL" clId="{72517598-0297-47E6-94A8-97AD8E5E9E1A}" dt="2023-03-15T15:14:51.870" v="33"/>
        <pc:sldMkLst>
          <pc:docMk/>
          <pc:sldMk cId="2860110250" sldId="857"/>
        </pc:sldMkLst>
      </pc:sldChg>
      <pc:sldChg chg="delSp modSp del mod delAnim">
        <pc:chgData name="YANG Guomin" userId="dccf0981-1625-43db-a7d9-40d73e3f3472" providerId="ADAL" clId="{72517598-0297-47E6-94A8-97AD8E5E9E1A}" dt="2023-03-17T09:55:58.010" v="676" actId="47"/>
        <pc:sldMkLst>
          <pc:docMk/>
          <pc:sldMk cId="1130284253" sldId="887"/>
        </pc:sldMkLst>
      </pc:sldChg>
      <pc:sldChg chg="add ord">
        <pc:chgData name="YANG Guomin" userId="dccf0981-1625-43db-a7d9-40d73e3f3472" providerId="ADAL" clId="{72517598-0297-47E6-94A8-97AD8E5E9E1A}" dt="2023-03-15T15:15:14.411" v="35"/>
        <pc:sldMkLst>
          <pc:docMk/>
          <pc:sldMk cId="3683062192" sldId="895"/>
        </pc:sldMkLst>
      </pc:sldChg>
      <pc:sldChg chg="add">
        <pc:chgData name="YANG Guomin" userId="dccf0981-1625-43db-a7d9-40d73e3f3472" providerId="ADAL" clId="{72517598-0297-47E6-94A8-97AD8E5E9E1A}" dt="2023-03-15T15:14:51.870" v="33"/>
        <pc:sldMkLst>
          <pc:docMk/>
          <pc:sldMk cId="2910896899" sldId="896"/>
        </pc:sldMkLst>
      </pc:sldChg>
      <pc:sldChg chg="add">
        <pc:chgData name="YANG Guomin" userId="dccf0981-1625-43db-a7d9-40d73e3f3472" providerId="ADAL" clId="{72517598-0297-47E6-94A8-97AD8E5E9E1A}" dt="2023-03-15T15:14:51.870" v="33"/>
        <pc:sldMkLst>
          <pc:docMk/>
          <pc:sldMk cId="3831120349" sldId="897"/>
        </pc:sldMkLst>
      </pc:sldChg>
      <pc:sldChg chg="add">
        <pc:chgData name="YANG Guomin" userId="dccf0981-1625-43db-a7d9-40d73e3f3472" providerId="ADAL" clId="{72517598-0297-47E6-94A8-97AD8E5E9E1A}" dt="2023-03-15T15:14:51.870" v="33"/>
        <pc:sldMkLst>
          <pc:docMk/>
          <pc:sldMk cId="2298241229" sldId="898"/>
        </pc:sldMkLst>
      </pc:sldChg>
      <pc:sldChg chg="modSp add mod">
        <pc:chgData name="YANG Guomin" userId="dccf0981-1625-43db-a7d9-40d73e3f3472" providerId="ADAL" clId="{72517598-0297-47E6-94A8-97AD8E5E9E1A}" dt="2023-03-17T09:54:35.659" v="645" actId="20577"/>
        <pc:sldMkLst>
          <pc:docMk/>
          <pc:sldMk cId="4208906003" sldId="899"/>
        </pc:sldMkLst>
      </pc:sldChg>
    </pc:docChg>
  </pc:docChgLst>
  <pc:docChgLst>
    <pc:chgData name="YANG Guomin" userId="dccf0981-1625-43db-a7d9-40d73e3f3472" providerId="ADAL" clId="{0BE82B38-0FDF-450F-A38A-A4B29C409D6D}"/>
    <pc:docChg chg="undo custSel delSld modSld sldOrd">
      <pc:chgData name="YANG Guomin" userId="dccf0981-1625-43db-a7d9-40d73e3f3472" providerId="ADAL" clId="{0BE82B38-0FDF-450F-A38A-A4B29C409D6D}" dt="2024-10-23T09:27:12.934" v="64" actId="20577"/>
      <pc:docMkLst>
        <pc:docMk/>
      </pc:docMkLst>
      <pc:sldChg chg="modSp mod">
        <pc:chgData name="YANG Guomin" userId="dccf0981-1625-43db-a7d9-40d73e3f3472" providerId="ADAL" clId="{0BE82B38-0FDF-450F-A38A-A4B29C409D6D}" dt="2024-10-23T09:06:50.953" v="19" actId="20577"/>
        <pc:sldMkLst>
          <pc:docMk/>
          <pc:sldMk cId="2950931957" sldId="722"/>
        </pc:sldMkLst>
      </pc:sldChg>
      <pc:sldChg chg="modSp mod">
        <pc:chgData name="YANG Guomin" userId="dccf0981-1625-43db-a7d9-40d73e3f3472" providerId="ADAL" clId="{0BE82B38-0FDF-450F-A38A-A4B29C409D6D}" dt="2024-10-23T09:18:40.147" v="32" actId="20577"/>
        <pc:sldMkLst>
          <pc:docMk/>
          <pc:sldMk cId="2078467690" sldId="829"/>
        </pc:sldMkLst>
      </pc:sldChg>
      <pc:sldChg chg="modSp mod ord">
        <pc:chgData name="YANG Guomin" userId="dccf0981-1625-43db-a7d9-40d73e3f3472" providerId="ADAL" clId="{0BE82B38-0FDF-450F-A38A-A4B29C409D6D}" dt="2024-10-23T09:18:51.522" v="34"/>
        <pc:sldMkLst>
          <pc:docMk/>
          <pc:sldMk cId="3195862742" sldId="839"/>
        </pc:sldMkLst>
      </pc:sldChg>
      <pc:sldChg chg="delSp modSp mod">
        <pc:chgData name="YANG Guomin" userId="dccf0981-1625-43db-a7d9-40d73e3f3472" providerId="ADAL" clId="{0BE82B38-0FDF-450F-A38A-A4B29C409D6D}" dt="2024-10-23T09:27:12.934" v="64" actId="20577"/>
        <pc:sldMkLst>
          <pc:docMk/>
          <pc:sldMk cId="558055030" sldId="845"/>
        </pc:sldMkLst>
      </pc:sldChg>
      <pc:sldChg chg="del">
        <pc:chgData name="YANG Guomin" userId="dccf0981-1625-43db-a7d9-40d73e3f3472" providerId="ADAL" clId="{0BE82B38-0FDF-450F-A38A-A4B29C409D6D}" dt="2024-10-23T09:19:43.545" v="35" actId="47"/>
        <pc:sldMkLst>
          <pc:docMk/>
          <pc:sldMk cId="3810088319" sldId="849"/>
        </pc:sldMkLst>
      </pc:sldChg>
      <pc:sldChg chg="modSp mod">
        <pc:chgData name="YANG Guomin" userId="dccf0981-1625-43db-a7d9-40d73e3f3472" providerId="ADAL" clId="{0BE82B38-0FDF-450F-A38A-A4B29C409D6D}" dt="2024-10-23T09:05:02.567" v="18" actId="20577"/>
        <pc:sldMkLst>
          <pc:docMk/>
          <pc:sldMk cId="1080801124" sldId="88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2610B3-7AD2-443D-9EED-D272A55646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26924C13-04C5-44FB-B034-640B84AC7A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FD5BE7-7004-4067-ADFA-7CFE35CEFC19}" type="datetimeFigureOut">
              <a:rPr lang="en-SG" smtClean="0"/>
              <a:t>23/10/2025</a:t>
            </a:fld>
            <a:endParaRPr lang="en-SG"/>
          </a:p>
        </p:txBody>
      </p:sp>
      <p:sp>
        <p:nvSpPr>
          <p:cNvPr id="4" name="Footer Placeholder 3">
            <a:extLst>
              <a:ext uri="{FF2B5EF4-FFF2-40B4-BE49-F238E27FC236}">
                <a16:creationId xmlns:a16="http://schemas.microsoft.com/office/drawing/2014/main" id="{881BDE46-AEBF-4095-B341-E86B41267A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802A93F1-2B31-47D7-9523-E01662595A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CB8634-C501-4364-B041-147E7E897803}" type="slidenum">
              <a:rPr lang="en-SG" smtClean="0"/>
              <a:t>‹#›</a:t>
            </a:fld>
            <a:endParaRPr lang="en-SG"/>
          </a:p>
        </p:txBody>
      </p:sp>
    </p:spTree>
    <p:extLst>
      <p:ext uri="{BB962C8B-B14F-4D97-AF65-F5344CB8AC3E}">
        <p14:creationId xmlns:p14="http://schemas.microsoft.com/office/powerpoint/2010/main" val="1539267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B1A6E-CF2A-4D43-97E3-58FD378C223B}" type="datetimeFigureOut">
              <a:rPr lang="en-US" smtClean="0"/>
              <a:t>10/23/2025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FD4FAC-B258-624A-81B3-9D14B0086038}" type="slidenum">
              <a:rPr lang="en-US" smtClean="0"/>
              <a:t>‹#›</a:t>
            </a:fld>
            <a:endParaRPr lang="en-US"/>
          </a:p>
        </p:txBody>
      </p:sp>
    </p:spTree>
    <p:extLst>
      <p:ext uri="{BB962C8B-B14F-4D97-AF65-F5344CB8AC3E}">
        <p14:creationId xmlns:p14="http://schemas.microsoft.com/office/powerpoint/2010/main" val="690505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93ECA0E8-87E9-094D-949B-A7A19A5029AB}"/>
              </a:ext>
            </a:extLst>
          </p:cNvPr>
          <p:cNvSpPr>
            <a:spLocks noGrp="1" noRot="1" noChangeAspect="1" noChangeArrowheads="1" noTextEdit="1"/>
          </p:cNvSpPr>
          <p:nvPr>
            <p:ph type="sldImg"/>
          </p:nvPr>
        </p:nvSpPr>
        <p:spPr>
          <a:ln/>
        </p:spPr>
      </p:sp>
      <p:sp>
        <p:nvSpPr>
          <p:cNvPr id="20482" name="Notes Placeholder 2">
            <a:extLst>
              <a:ext uri="{FF2B5EF4-FFF2-40B4-BE49-F238E27FC236}">
                <a16:creationId xmlns:a16="http://schemas.microsoft.com/office/drawing/2014/main" id="{1CB62B72-84D6-1B44-B628-BD7DBDF1AA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US" altLang="en-US" dirty="0">
              <a:latin typeface="Arial" panose="020B0604020202020204" pitchFamily="34" charset="0"/>
              <a:ea typeface="ＭＳ Ｐゴシック" panose="020B0600070205080204" pitchFamily="34" charset="-128"/>
            </a:endParaRPr>
          </a:p>
          <a:p>
            <a:pPr marL="171450" indent="-171450">
              <a:buFontTx/>
              <a:buChar char="-"/>
            </a:pPr>
            <a:endParaRPr lang="en-SG" altLang="en-US" dirty="0">
              <a:latin typeface="Arial" panose="020B0604020202020204" pitchFamily="34" charset="0"/>
              <a:ea typeface="ＭＳ Ｐゴシック" panose="020B0600070205080204" pitchFamily="34" charset="-128"/>
            </a:endParaRPr>
          </a:p>
        </p:txBody>
      </p:sp>
      <p:sp>
        <p:nvSpPr>
          <p:cNvPr id="20483" name="Slide Number Placeholder 3">
            <a:extLst>
              <a:ext uri="{FF2B5EF4-FFF2-40B4-BE49-F238E27FC236}">
                <a16:creationId xmlns:a16="http://schemas.microsoft.com/office/drawing/2014/main" id="{CD336D3E-122C-CE49-AD72-10749F6CE25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1FC3A706-2BAE-F044-8C0E-53DB9F98C666}" type="slidenum">
              <a:rPr lang="en-US" altLang="en-US" sz="1200" baseline="0" smtClean="0"/>
              <a:pPr/>
              <a:t>4</a:t>
            </a:fld>
            <a:endParaRPr lang="en-US" altLang="en-US" sz="1200" baseline="0"/>
          </a:p>
        </p:txBody>
      </p:sp>
    </p:spTree>
    <p:extLst>
      <p:ext uri="{BB962C8B-B14F-4D97-AF65-F5344CB8AC3E}">
        <p14:creationId xmlns:p14="http://schemas.microsoft.com/office/powerpoint/2010/main" val="712520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ABE8CAEF-0B1F-FA41-A7BD-F98A653B5A58}"/>
              </a:ext>
            </a:extLst>
          </p:cNvPr>
          <p:cNvSpPr>
            <a:spLocks noGrp="1" noRot="1" noChangeAspect="1" noChangeArrowheads="1" noTextEdit="1"/>
          </p:cNvSpPr>
          <p:nvPr>
            <p:ph type="sldImg"/>
          </p:nvPr>
        </p:nvSpPr>
        <p:spPr>
          <a:ln/>
        </p:spPr>
      </p:sp>
      <p:sp>
        <p:nvSpPr>
          <p:cNvPr id="24578" name="Notes Placeholder 2">
            <a:extLst>
              <a:ext uri="{FF2B5EF4-FFF2-40B4-BE49-F238E27FC236}">
                <a16:creationId xmlns:a16="http://schemas.microsoft.com/office/drawing/2014/main" id="{108F6FDB-E9BD-CF49-B8F5-7A1AEB49927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SG" altLang="en-US" dirty="0">
              <a:latin typeface="Arial" panose="020B0604020202020204" pitchFamily="34" charset="0"/>
              <a:ea typeface="ＭＳ Ｐゴシック" panose="020B0600070205080204" pitchFamily="34" charset="-128"/>
            </a:endParaRPr>
          </a:p>
        </p:txBody>
      </p:sp>
      <p:sp>
        <p:nvSpPr>
          <p:cNvPr id="24579" name="Slide Number Placeholder 3">
            <a:extLst>
              <a:ext uri="{FF2B5EF4-FFF2-40B4-BE49-F238E27FC236}">
                <a16:creationId xmlns:a16="http://schemas.microsoft.com/office/drawing/2014/main" id="{467F9FCB-558B-974D-BFA5-1C418A1E2A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B033A74C-C168-BA43-96D4-2C37AAF9E25A}" type="slidenum">
              <a:rPr lang="en-US" altLang="en-US" sz="1200" baseline="0" smtClean="0"/>
              <a:pPr/>
              <a:t>5</a:t>
            </a:fld>
            <a:endParaRPr lang="en-US" altLang="en-US" sz="1200" baseline="0"/>
          </a:p>
        </p:txBody>
      </p:sp>
    </p:spTree>
    <p:extLst>
      <p:ext uri="{BB962C8B-B14F-4D97-AF65-F5344CB8AC3E}">
        <p14:creationId xmlns:p14="http://schemas.microsoft.com/office/powerpoint/2010/main" val="3591664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5137A20C-5208-AB45-B1A6-50BD82B44BB3}"/>
              </a:ext>
            </a:extLst>
          </p:cNvPr>
          <p:cNvSpPr>
            <a:spLocks noGrp="1" noRot="1" noChangeAspect="1" noChangeArrowheads="1" noTextEdit="1"/>
          </p:cNvSpPr>
          <p:nvPr>
            <p:ph type="sldImg"/>
          </p:nvPr>
        </p:nvSpPr>
        <p:spPr>
          <a:ln/>
        </p:spPr>
      </p:sp>
      <p:sp>
        <p:nvSpPr>
          <p:cNvPr id="26626" name="Notes Placeholder 2">
            <a:extLst>
              <a:ext uri="{FF2B5EF4-FFF2-40B4-BE49-F238E27FC236}">
                <a16:creationId xmlns:a16="http://schemas.microsoft.com/office/drawing/2014/main" id="{B9746254-606F-BA48-A5A4-6AC140100AE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Tx/>
              <a:buChar char="-"/>
            </a:pPr>
            <a:endParaRPr lang="en-SG" altLang="en-US" dirty="0">
              <a:latin typeface="Arial" panose="020B0604020202020204" pitchFamily="34" charset="0"/>
              <a:ea typeface="ＭＳ Ｐゴシック" panose="020B0600070205080204" pitchFamily="34" charset="-128"/>
            </a:endParaRPr>
          </a:p>
        </p:txBody>
      </p:sp>
      <p:sp>
        <p:nvSpPr>
          <p:cNvPr id="26627" name="Slide Number Placeholder 3">
            <a:extLst>
              <a:ext uri="{FF2B5EF4-FFF2-40B4-BE49-F238E27FC236}">
                <a16:creationId xmlns:a16="http://schemas.microsoft.com/office/drawing/2014/main" id="{5B353890-4709-5640-B4FB-3C3FFD4617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77D7FCF4-BDAD-094B-9810-338AD5552BB8}" type="slidenum">
              <a:rPr lang="en-US" altLang="en-US" sz="1200" baseline="0" smtClean="0"/>
              <a:pPr/>
              <a:t>7</a:t>
            </a:fld>
            <a:endParaRPr lang="en-US" altLang="en-US" sz="1200" baseline="0"/>
          </a:p>
        </p:txBody>
      </p:sp>
    </p:spTree>
    <p:extLst>
      <p:ext uri="{BB962C8B-B14F-4D97-AF65-F5344CB8AC3E}">
        <p14:creationId xmlns:p14="http://schemas.microsoft.com/office/powerpoint/2010/main" val="4183425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897CE830-A376-5042-84A9-560B8486134F}"/>
              </a:ext>
            </a:extLst>
          </p:cNvPr>
          <p:cNvSpPr>
            <a:spLocks noGrp="1" noRot="1" noChangeAspect="1" noChangeArrowheads="1" noTextEdit="1"/>
          </p:cNvSpPr>
          <p:nvPr>
            <p:ph type="sldImg"/>
          </p:nvPr>
        </p:nvSpPr>
        <p:spPr>
          <a:ln/>
        </p:spPr>
      </p:sp>
      <p:sp>
        <p:nvSpPr>
          <p:cNvPr id="28674" name="Notes Placeholder 2">
            <a:extLst>
              <a:ext uri="{FF2B5EF4-FFF2-40B4-BE49-F238E27FC236}">
                <a16:creationId xmlns:a16="http://schemas.microsoft.com/office/drawing/2014/main" id="{E6D7A7C8-60D7-8A4D-ABAE-3B7A979D5B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SG" altLang="en-US" dirty="0">
              <a:latin typeface="Arial" panose="020B0604020202020204" pitchFamily="34" charset="0"/>
              <a:ea typeface="ＭＳ Ｐゴシック" panose="020B0600070205080204" pitchFamily="34" charset="-128"/>
            </a:endParaRPr>
          </a:p>
        </p:txBody>
      </p:sp>
      <p:sp>
        <p:nvSpPr>
          <p:cNvPr id="28675" name="Slide Number Placeholder 3">
            <a:extLst>
              <a:ext uri="{FF2B5EF4-FFF2-40B4-BE49-F238E27FC236}">
                <a16:creationId xmlns:a16="http://schemas.microsoft.com/office/drawing/2014/main" id="{8A433564-53ED-2841-9F71-1FBD17584C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aseline="-25000">
                <a:solidFill>
                  <a:schemeClr val="tx1"/>
                </a:solidFill>
                <a:latin typeface="Arial" panose="020B0604020202020204" pitchFamily="34" charset="0"/>
                <a:ea typeface="ＭＳ Ｐゴシック" panose="020B0600070205080204" pitchFamily="34" charset="-128"/>
              </a:defRPr>
            </a:lvl1pPr>
            <a:lvl2pPr marL="742950" indent="-285750">
              <a:defRPr sz="2400" baseline="-25000">
                <a:solidFill>
                  <a:schemeClr val="tx1"/>
                </a:solidFill>
                <a:latin typeface="Arial" panose="020B0604020202020204" pitchFamily="34" charset="0"/>
                <a:ea typeface="ＭＳ Ｐゴシック" panose="020B0600070205080204" pitchFamily="34" charset="-128"/>
              </a:defRPr>
            </a:lvl2pPr>
            <a:lvl3pPr marL="1143000" indent="-228600">
              <a:defRPr sz="2400" baseline="-25000">
                <a:solidFill>
                  <a:schemeClr val="tx1"/>
                </a:solidFill>
                <a:latin typeface="Arial" panose="020B0604020202020204" pitchFamily="34" charset="0"/>
                <a:ea typeface="ＭＳ Ｐゴシック" panose="020B0600070205080204" pitchFamily="34" charset="-128"/>
              </a:defRPr>
            </a:lvl3pPr>
            <a:lvl4pPr marL="1600200" indent="-228600">
              <a:defRPr sz="2400" baseline="-25000">
                <a:solidFill>
                  <a:schemeClr val="tx1"/>
                </a:solidFill>
                <a:latin typeface="Arial" panose="020B0604020202020204" pitchFamily="34" charset="0"/>
                <a:ea typeface="ＭＳ Ｐゴシック" panose="020B0600070205080204" pitchFamily="34" charset="-128"/>
              </a:defRPr>
            </a:lvl4pPr>
            <a:lvl5pPr marL="2057400" indent="-228600">
              <a:defRPr sz="2400" baseline="-25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baseline="-25000">
                <a:solidFill>
                  <a:schemeClr val="tx1"/>
                </a:solidFill>
                <a:latin typeface="Arial" panose="020B0604020202020204" pitchFamily="34" charset="0"/>
                <a:ea typeface="ＭＳ Ｐゴシック" panose="020B0600070205080204" pitchFamily="34" charset="-128"/>
              </a:defRPr>
            </a:lvl9pPr>
          </a:lstStyle>
          <a:p>
            <a:fld id="{56D5A239-6A24-504B-9606-DBE2670ECD54}" type="slidenum">
              <a:rPr lang="en-US" altLang="en-US" sz="1200" baseline="0" smtClean="0"/>
              <a:pPr/>
              <a:t>8</a:t>
            </a:fld>
            <a:endParaRPr lang="en-US" altLang="en-US" sz="1200" baseline="0"/>
          </a:p>
        </p:txBody>
      </p:sp>
    </p:spTree>
    <p:extLst>
      <p:ext uri="{BB962C8B-B14F-4D97-AF65-F5344CB8AC3E}">
        <p14:creationId xmlns:p14="http://schemas.microsoft.com/office/powerpoint/2010/main" val="1525570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41135BA2-8F3D-7242-A57A-13452525A4F0}"/>
              </a:ext>
            </a:extLst>
          </p:cNvPr>
          <p:cNvSpPr>
            <a:spLocks noGrp="1" noRot="1" noChangeAspect="1" noChangeArrowheads="1" noTextEdit="1"/>
          </p:cNvSpPr>
          <p:nvPr>
            <p:ph type="sldImg"/>
          </p:nvPr>
        </p:nvSpPr>
        <p:spPr>
          <a:ln/>
        </p:spPr>
      </p:sp>
      <p:sp>
        <p:nvSpPr>
          <p:cNvPr id="30722" name="Notes Placeholder 2">
            <a:extLst>
              <a:ext uri="{FF2B5EF4-FFF2-40B4-BE49-F238E27FC236}">
                <a16:creationId xmlns:a16="http://schemas.microsoft.com/office/drawing/2014/main" id="{659EAE5E-03D0-D24F-A898-774F1156799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ＭＳ Ｐゴシック" panose="020B0600070205080204" pitchFamily="34" charset="-128"/>
            </a:endParaRPr>
          </a:p>
        </p:txBody>
      </p:sp>
      <p:sp>
        <p:nvSpPr>
          <p:cNvPr id="30723" name="Slide Number Placeholder 3">
            <a:extLst>
              <a:ext uri="{FF2B5EF4-FFF2-40B4-BE49-F238E27FC236}">
                <a16:creationId xmlns:a16="http://schemas.microsoft.com/office/drawing/2014/main" id="{C404FC91-1379-0E4C-991D-7875407CD11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A1EDF5F9-1059-694F-A493-8512D23F1658}" type="slidenum">
              <a:rPr lang="en-US" altLang="en-US" smtClean="0">
                <a:latin typeface="Arial" panose="020B0604020202020204" pitchFamily="34" charset="0"/>
              </a:rPr>
              <a:pPr fontAlgn="base">
                <a:spcBef>
                  <a:spcPct val="0"/>
                </a:spcBef>
                <a:spcAft>
                  <a:spcPct val="0"/>
                </a:spcAft>
              </a:pPr>
              <a:t>10</a:t>
            </a:fld>
            <a:endParaRPr lang="en-US" altLang="en-US">
              <a:latin typeface="Arial" panose="020B0604020202020204" pitchFamily="34" charset="0"/>
            </a:endParaRPr>
          </a:p>
        </p:txBody>
      </p:sp>
    </p:spTree>
    <p:extLst>
      <p:ext uri="{BB962C8B-B14F-4D97-AF65-F5344CB8AC3E}">
        <p14:creationId xmlns:p14="http://schemas.microsoft.com/office/powerpoint/2010/main" val="2559242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17780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79164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36</a:t>
            </a:fld>
            <a:endParaRPr lang="en-US"/>
          </a:p>
        </p:txBody>
      </p:sp>
    </p:spTree>
    <p:extLst>
      <p:ext uri="{BB962C8B-B14F-4D97-AF65-F5344CB8AC3E}">
        <p14:creationId xmlns:p14="http://schemas.microsoft.com/office/powerpoint/2010/main" val="2700029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38</a:t>
            </a:fld>
            <a:endParaRPr lang="en-US"/>
          </a:p>
        </p:txBody>
      </p:sp>
    </p:spTree>
    <p:extLst>
      <p:ext uri="{BB962C8B-B14F-4D97-AF65-F5344CB8AC3E}">
        <p14:creationId xmlns:p14="http://schemas.microsoft.com/office/powerpoint/2010/main" val="595276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41</a:t>
            </a:fld>
            <a:endParaRPr lang="en-US"/>
          </a:p>
        </p:txBody>
      </p:sp>
    </p:spTree>
    <p:extLst>
      <p:ext uri="{BB962C8B-B14F-4D97-AF65-F5344CB8AC3E}">
        <p14:creationId xmlns:p14="http://schemas.microsoft.com/office/powerpoint/2010/main" val="5323065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4.svg"/><Relationship Id="rId5" Type="http://schemas.openxmlformats.org/officeDocument/2006/relationships/image" Target="../media/image8.sv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No presented by)">
    <p:bg>
      <p:bgPr>
        <a:solidFill>
          <a:schemeClr val="bg1">
            <a:alpha val="58824"/>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3C88D0-2E08-4670-9044-5186D448CA04}"/>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Graphic 3">
            <a:extLst>
              <a:ext uri="{FF2B5EF4-FFF2-40B4-BE49-F238E27FC236}">
                <a16:creationId xmlns:a16="http://schemas.microsoft.com/office/drawing/2014/main" id="{2E584884-844F-4B21-AC76-5ED86C2636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724" y="1051033"/>
            <a:ext cx="4750676" cy="4742829"/>
          </a:xfrm>
          <a:prstGeom prst="rect">
            <a:avLst/>
          </a:prstGeom>
        </p:spPr>
      </p:pic>
      <p:sp>
        <p:nvSpPr>
          <p:cNvPr id="5" name="Shape 220">
            <a:extLst>
              <a:ext uri="{FF2B5EF4-FFF2-40B4-BE49-F238E27FC236}">
                <a16:creationId xmlns:a16="http://schemas.microsoft.com/office/drawing/2014/main" id="{35520701-497D-44D0-A84B-8664C301EC62}"/>
              </a:ext>
            </a:extLst>
          </p:cNvPr>
          <p:cNvSpPr txBox="1">
            <a:spLocks/>
          </p:cNvSpPr>
          <p:nvPr userDrawn="1"/>
        </p:nvSpPr>
        <p:spPr>
          <a:xfrm>
            <a:off x="3041" y="2478949"/>
            <a:ext cx="12188959" cy="460767"/>
          </a:xfrm>
          <a:prstGeom prst="rect">
            <a:avLst/>
          </a:prstGeom>
          <a:noFill/>
          <a:ln>
            <a:noFill/>
          </a:ln>
        </p:spPr>
        <p:txBody>
          <a:bodyPr vert="horz" wrap="square" lIns="68569" tIns="34275" rIns="68569" bIns="34275" rtlCol="0" anchor="ctr" anchorCtr="0">
            <a:noAutofit/>
          </a:bodyPr>
          <a:lstStyle>
            <a:lvl1pPr algn="l" defTabSz="685800" rtl="0" eaLnBrk="1" latinLnBrk="0" hangingPunct="1">
              <a:lnSpc>
                <a:spcPct val="90000"/>
              </a:lnSpc>
              <a:spcBef>
                <a:spcPct val="0"/>
              </a:spcBef>
              <a:buNone/>
              <a:defRPr sz="2700" b="1" i="0" kern="120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pPr algn="r"/>
            <a:r>
              <a:rPr lang="en-US" altLang="en-US" sz="3400" spc="-150" dirty="0">
                <a:latin typeface="Arial Nova" panose="020B0504020202020204" pitchFamily="34" charset="0"/>
                <a:ea typeface="Roboto" panose="020B0604020202020204" pitchFamily="2" charset="0"/>
              </a:rPr>
              <a:t>CS440</a:t>
            </a:r>
            <a:endParaRPr lang="en-US" sz="3400" spc="-150" dirty="0">
              <a:solidFill>
                <a:schemeClr val="accent2"/>
              </a:solidFill>
              <a:latin typeface="Arial Nova" panose="020B0504020202020204" pitchFamily="34" charset="0"/>
              <a:ea typeface="Roboto" panose="020B0604020202020204" pitchFamily="2" charset="0"/>
              <a:cs typeface="Tahoma"/>
              <a:sym typeface="Tahoma"/>
            </a:endParaRPr>
          </a:p>
        </p:txBody>
      </p:sp>
      <p:sp>
        <p:nvSpPr>
          <p:cNvPr id="7" name="TextBox 6">
            <a:extLst>
              <a:ext uri="{FF2B5EF4-FFF2-40B4-BE49-F238E27FC236}">
                <a16:creationId xmlns:a16="http://schemas.microsoft.com/office/drawing/2014/main" id="{D71D5293-5E45-4ED0-8ABB-404EA0C787DB}"/>
              </a:ext>
            </a:extLst>
          </p:cNvPr>
          <p:cNvSpPr txBox="1"/>
          <p:nvPr userDrawn="1"/>
        </p:nvSpPr>
        <p:spPr>
          <a:xfrm>
            <a:off x="0" y="2813447"/>
            <a:ext cx="12188959" cy="615553"/>
          </a:xfrm>
          <a:prstGeom prst="rect">
            <a:avLst/>
          </a:prstGeom>
          <a:noFill/>
        </p:spPr>
        <p:txBody>
          <a:bodyPr wrap="square">
            <a:spAutoFit/>
          </a:bodyPr>
          <a:lstStyle/>
          <a:p>
            <a:pPr algn="r"/>
            <a:r>
              <a:rPr lang="en-US" altLang="en-US" sz="3400" b="1" spc="-150" dirty="0">
                <a:latin typeface="Arial Nova" panose="020B0504020202020204" pitchFamily="34" charset="0"/>
                <a:ea typeface="Roboto" panose="020B0604020202020204" pitchFamily="2" charset="0"/>
              </a:rPr>
              <a:t>Foundations of Cybersecurity</a:t>
            </a:r>
            <a:endParaRPr lang="en-SG" sz="3400" b="1" spc="-150" dirty="0">
              <a:latin typeface="Arial Nova" panose="020B0504020202020204" pitchFamily="34" charset="0"/>
            </a:endParaRPr>
          </a:p>
        </p:txBody>
      </p:sp>
      <p:pic>
        <p:nvPicPr>
          <p:cNvPr id="8" name="Graphic 7">
            <a:extLst>
              <a:ext uri="{FF2B5EF4-FFF2-40B4-BE49-F238E27FC236}">
                <a16:creationId xmlns:a16="http://schemas.microsoft.com/office/drawing/2014/main" id="{8DDB0E61-499E-455F-A5D3-6261FA854D0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6669" y="1354341"/>
            <a:ext cx="4157604" cy="4157604"/>
          </a:xfrm>
          <a:prstGeom prst="rect">
            <a:avLst/>
          </a:prstGeom>
        </p:spPr>
      </p:pic>
      <p:pic>
        <p:nvPicPr>
          <p:cNvPr id="9" name="Graphic 8">
            <a:extLst>
              <a:ext uri="{FF2B5EF4-FFF2-40B4-BE49-F238E27FC236}">
                <a16:creationId xmlns:a16="http://schemas.microsoft.com/office/drawing/2014/main" id="{6E362F9D-8518-4A7E-9743-E5EAF1DFFD0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50207"/>
          <a:stretch/>
        </p:blipFill>
        <p:spPr>
          <a:xfrm>
            <a:off x="1027242" y="3433142"/>
            <a:ext cx="4157604" cy="2070185"/>
          </a:xfrm>
          <a:prstGeom prst="rect">
            <a:avLst/>
          </a:prstGeom>
        </p:spPr>
      </p:pic>
      <p:sp>
        <p:nvSpPr>
          <p:cNvPr id="15" name="Text Placeholder 2">
            <a:extLst>
              <a:ext uri="{FF2B5EF4-FFF2-40B4-BE49-F238E27FC236}">
                <a16:creationId xmlns:a16="http://schemas.microsoft.com/office/drawing/2014/main" id="{EE169A0C-E452-4AAB-92DC-2B26D2D761D6}"/>
              </a:ext>
            </a:extLst>
          </p:cNvPr>
          <p:cNvSpPr>
            <a:spLocks noGrp="1"/>
          </p:cNvSpPr>
          <p:nvPr>
            <p:ph type="body" idx="10" hasCustomPrompt="1"/>
          </p:nvPr>
        </p:nvSpPr>
        <p:spPr>
          <a:xfrm>
            <a:off x="5495218" y="3437315"/>
            <a:ext cx="6693741" cy="1241217"/>
          </a:xfrm>
        </p:spPr>
        <p:txBody>
          <a:bodyPr anchor="t">
            <a:noAutofit/>
          </a:bodyPr>
          <a:lstStyle>
            <a:lvl1pPr marL="0" indent="0" algn="r">
              <a:buNone/>
              <a:defRPr sz="24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Title Here</a:t>
            </a:r>
            <a:br>
              <a:rPr lang="en-GB" dirty="0"/>
            </a:br>
            <a:endParaRPr lang="en-GB" dirty="0"/>
          </a:p>
        </p:txBody>
      </p:sp>
      <p:grpSp>
        <p:nvGrpSpPr>
          <p:cNvPr id="17" name="Group 16">
            <a:extLst>
              <a:ext uri="{FF2B5EF4-FFF2-40B4-BE49-F238E27FC236}">
                <a16:creationId xmlns:a16="http://schemas.microsoft.com/office/drawing/2014/main" id="{F87F7D5D-9E6A-4F19-BC0E-EEA8CF4CCCFB}"/>
              </a:ext>
            </a:extLst>
          </p:cNvPr>
          <p:cNvGrpSpPr/>
          <p:nvPr userDrawn="1"/>
        </p:nvGrpSpPr>
        <p:grpSpPr>
          <a:xfrm>
            <a:off x="219412" y="142004"/>
            <a:ext cx="3078914" cy="546273"/>
            <a:chOff x="798998" y="4391812"/>
            <a:chExt cx="3252915" cy="577145"/>
          </a:xfrm>
        </p:grpSpPr>
        <p:pic>
          <p:nvPicPr>
            <p:cNvPr id="18" name="Graphic 17">
              <a:extLst>
                <a:ext uri="{FF2B5EF4-FFF2-40B4-BE49-F238E27FC236}">
                  <a16:creationId xmlns:a16="http://schemas.microsoft.com/office/drawing/2014/main" id="{EF83F0FF-C3A1-4B8A-901B-5D525AE8051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416662" y="4391812"/>
              <a:ext cx="1635251" cy="577145"/>
            </a:xfrm>
            <a:prstGeom prst="rect">
              <a:avLst/>
            </a:prstGeom>
          </p:spPr>
        </p:pic>
        <p:pic>
          <p:nvPicPr>
            <p:cNvPr id="19" name="Graphic 18">
              <a:extLst>
                <a:ext uri="{FF2B5EF4-FFF2-40B4-BE49-F238E27FC236}">
                  <a16:creationId xmlns:a16="http://schemas.microsoft.com/office/drawing/2014/main" id="{32BA6559-BBDA-45C5-9199-66F8C4F0449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834320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O/Content Slide">
    <p:bg>
      <p:bgPr>
        <a:solidFill>
          <a:schemeClr val="bg1">
            <a:alpha val="58824"/>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
        <p:nvSpPr>
          <p:cNvPr id="13" name="TextBox 12">
            <a:extLst>
              <a:ext uri="{FF2B5EF4-FFF2-40B4-BE49-F238E27FC236}">
                <a16:creationId xmlns:a16="http://schemas.microsoft.com/office/drawing/2014/main" id="{9A117E2B-B80D-4096-90C9-CAFA0DFAC6A8}"/>
              </a:ext>
            </a:extLst>
          </p:cNvPr>
          <p:cNvSpPr txBox="1"/>
          <p:nvPr userDrawn="1"/>
        </p:nvSpPr>
        <p:spPr>
          <a:xfrm>
            <a:off x="1106815" y="420052"/>
            <a:ext cx="4269605" cy="584775"/>
          </a:xfrm>
          <a:prstGeom prst="rect">
            <a:avLst/>
          </a:prstGeom>
          <a:noFill/>
        </p:spPr>
        <p:txBody>
          <a:bodyPr wrap="square" lIns="360000" rIns="360000">
            <a:spAutoFit/>
          </a:bodyPr>
          <a:lstStyle/>
          <a:p>
            <a:pPr algn="ctr"/>
            <a:r>
              <a:rPr lang="en-US" altLang="en-US" sz="3200" b="1" spc="-150" dirty="0">
                <a:latin typeface="Arial Nova" panose="020B0504020202020204" pitchFamily="34" charset="0"/>
                <a:ea typeface="Roboto" panose="020B0604020202020204" pitchFamily="2" charset="0"/>
              </a:rPr>
              <a:t>Content</a:t>
            </a:r>
            <a:endParaRPr lang="en-SG" sz="3200" b="1" spc="-150" dirty="0">
              <a:latin typeface="Arial Nova" panose="020B0504020202020204" pitchFamily="34" charset="0"/>
            </a:endParaRPr>
          </a:p>
        </p:txBody>
      </p:sp>
      <p:cxnSp>
        <p:nvCxnSpPr>
          <p:cNvPr id="17" name="Straight Connector 16">
            <a:extLst>
              <a:ext uri="{FF2B5EF4-FFF2-40B4-BE49-F238E27FC236}">
                <a16:creationId xmlns:a16="http://schemas.microsoft.com/office/drawing/2014/main" id="{F8DD2921-8FDC-4B26-9FB6-69446F913D64}"/>
              </a:ext>
            </a:extLst>
          </p:cNvPr>
          <p:cNvCxnSpPr>
            <a:cxnSpLocks/>
          </p:cNvCxnSpPr>
          <p:nvPr userDrawn="1"/>
        </p:nvCxnSpPr>
        <p:spPr>
          <a:xfrm>
            <a:off x="6096000" y="759436"/>
            <a:ext cx="0" cy="4811226"/>
          </a:xfrm>
          <a:prstGeom prst="line">
            <a:avLst/>
          </a:prstGeom>
          <a:ln w="60325" cap="rnd"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31AD672-3531-4214-90F6-5BD894F15DA1}"/>
              </a:ext>
            </a:extLst>
          </p:cNvPr>
          <p:cNvSpPr txBox="1"/>
          <p:nvPr userDrawn="1"/>
        </p:nvSpPr>
        <p:spPr>
          <a:xfrm>
            <a:off x="6815580" y="420051"/>
            <a:ext cx="4352035" cy="584775"/>
          </a:xfrm>
          <a:prstGeom prst="rect">
            <a:avLst/>
          </a:prstGeom>
          <a:noFill/>
        </p:spPr>
        <p:txBody>
          <a:bodyPr wrap="square" lIns="360000" rIns="360000">
            <a:spAutoFit/>
          </a:bodyPr>
          <a:lstStyle/>
          <a:p>
            <a:pPr algn="ctr"/>
            <a:r>
              <a:rPr lang="en-US" altLang="en-US" sz="3200" b="1" spc="-150" dirty="0">
                <a:latin typeface="Arial Nova" panose="020B0504020202020204" pitchFamily="34" charset="0"/>
                <a:ea typeface="Roboto" panose="020B0604020202020204" pitchFamily="2" charset="0"/>
              </a:rPr>
              <a:t>Learning Objectives</a:t>
            </a:r>
            <a:endParaRPr lang="en-SG" sz="3200" b="1" spc="-150" dirty="0">
              <a:latin typeface="Arial Nova" panose="020B0504020202020204" pitchFamily="34" charset="0"/>
            </a:endParaRPr>
          </a:p>
        </p:txBody>
      </p:sp>
      <p:sp>
        <p:nvSpPr>
          <p:cNvPr id="25" name="Content Placeholder 2">
            <a:extLst>
              <a:ext uri="{FF2B5EF4-FFF2-40B4-BE49-F238E27FC236}">
                <a16:creationId xmlns:a16="http://schemas.microsoft.com/office/drawing/2014/main" id="{A849563C-90E4-4A69-BD87-8BC98FB6216B}"/>
              </a:ext>
            </a:extLst>
          </p:cNvPr>
          <p:cNvSpPr>
            <a:spLocks noGrp="1"/>
          </p:cNvSpPr>
          <p:nvPr>
            <p:ph sz="half" idx="1"/>
          </p:nvPr>
        </p:nvSpPr>
        <p:spPr>
          <a:xfrm>
            <a:off x="1024385" y="1253331"/>
            <a:ext cx="4352035" cy="4351338"/>
          </a:xfrm>
        </p:spPr>
        <p:txBody>
          <a:bodyPr/>
          <a:lstStyle>
            <a:lvl1pPr>
              <a:defRPr>
                <a:latin typeface="Arial Nova" panose="020B0504020202020204" pitchFamily="34" charset="0"/>
              </a:defRPr>
            </a:lvl1pPr>
            <a:lvl2pPr>
              <a:defRPr>
                <a:latin typeface="Arial Nova" panose="020B0504020202020204" pitchFamily="34" charset="0"/>
              </a:defRPr>
            </a:lvl2pPr>
            <a:lvl3pPr>
              <a:defRPr>
                <a:latin typeface="Arial Nova Light" panose="020B0304020202020204" pitchFamily="34" charset="0"/>
              </a:defRPr>
            </a:lvl3pPr>
            <a:lvl4pPr>
              <a:defRPr>
                <a:latin typeface="Arial Nova Light" panose="020B0304020202020204" pitchFamily="34" charset="0"/>
              </a:defRPr>
            </a:lvl4pPr>
            <a:lvl5pPr>
              <a:defRPr>
                <a:latin typeface="Arial Nova Light" panose="020B03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26" name="Content Placeholder 2">
            <a:extLst>
              <a:ext uri="{FF2B5EF4-FFF2-40B4-BE49-F238E27FC236}">
                <a16:creationId xmlns:a16="http://schemas.microsoft.com/office/drawing/2014/main" id="{C98B1011-7E80-4030-A729-05B3DD2CFCFA}"/>
              </a:ext>
            </a:extLst>
          </p:cNvPr>
          <p:cNvSpPr>
            <a:spLocks noGrp="1"/>
          </p:cNvSpPr>
          <p:nvPr>
            <p:ph sz="half" idx="10"/>
          </p:nvPr>
        </p:nvSpPr>
        <p:spPr>
          <a:xfrm>
            <a:off x="6856797" y="1253331"/>
            <a:ext cx="4310820" cy="4351338"/>
          </a:xfrm>
        </p:spPr>
        <p:txBody>
          <a:bodyPr/>
          <a:lstStyle>
            <a:lvl1pPr>
              <a:defRPr>
                <a:latin typeface="Arial Nova" panose="020B0504020202020204" pitchFamily="34" charset="0"/>
              </a:defRPr>
            </a:lvl1pPr>
            <a:lvl2pPr>
              <a:defRPr>
                <a:latin typeface="Arial Nova" panose="020B0504020202020204" pitchFamily="34" charset="0"/>
              </a:defRPr>
            </a:lvl2pPr>
            <a:lvl3pPr>
              <a:defRPr>
                <a:latin typeface="Arial Nova Light" panose="020B0304020202020204" pitchFamily="34" charset="0"/>
              </a:defRPr>
            </a:lvl3pPr>
            <a:lvl4pPr>
              <a:defRPr>
                <a:latin typeface="Arial Nova Light" panose="020B0304020202020204" pitchFamily="34" charset="0"/>
              </a:defRPr>
            </a:lvl4pPr>
            <a:lvl5pPr>
              <a:defRPr>
                <a:latin typeface="Arial Nova Light" panose="020B03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Tree>
    <p:extLst>
      <p:ext uri="{BB962C8B-B14F-4D97-AF65-F5344CB8AC3E}">
        <p14:creationId xmlns:p14="http://schemas.microsoft.com/office/powerpoint/2010/main" val="2433955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verview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A31952-8378-46DA-9488-641778451731}"/>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SG" dirty="0"/>
          </a:p>
        </p:txBody>
      </p:sp>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0" y="2851952"/>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Autofit/>
          </a:bodyPr>
          <a:lstStyle>
            <a:lvl1pPr algn="l">
              <a:defRPr sz="4000">
                <a:latin typeface="Arial Nova" panose="020B0504020202020204" pitchFamily="34" charset="0"/>
              </a:defRPr>
            </a:lvl1pPr>
          </a:lstStyle>
          <a:p>
            <a:r>
              <a:rPr lang="en-GB" dirty="0"/>
              <a:t>Header Here</a:t>
            </a:r>
            <a:endParaRPr lang="en-US" dirty="0"/>
          </a:p>
        </p:txBody>
      </p:sp>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
        <p:nvSpPr>
          <p:cNvPr id="11" name="Text Placeholder 2">
            <a:extLst>
              <a:ext uri="{FF2B5EF4-FFF2-40B4-BE49-F238E27FC236}">
                <a16:creationId xmlns:a16="http://schemas.microsoft.com/office/drawing/2014/main" id="{1A420E72-2781-4109-9E57-B95FAD77AD31}"/>
              </a:ext>
            </a:extLst>
          </p:cNvPr>
          <p:cNvSpPr>
            <a:spLocks noGrp="1"/>
          </p:cNvSpPr>
          <p:nvPr>
            <p:ph type="body" idx="10" hasCustomPrompt="1"/>
          </p:nvPr>
        </p:nvSpPr>
        <p:spPr>
          <a:xfrm>
            <a:off x="-3041" y="3437316"/>
            <a:ext cx="10843491" cy="363116"/>
          </a:xfrm>
        </p:spPr>
        <p:txBody>
          <a:bodyPr lIns="360000" rIns="360000" anchor="ctr">
            <a:normAutofit/>
          </a:bodyPr>
          <a:lstStyle>
            <a:lvl1pPr marL="0" indent="0" algn="l">
              <a:buNone/>
              <a:defRPr sz="16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Flavour Text Here</a:t>
            </a:r>
          </a:p>
        </p:txBody>
      </p:sp>
      <p:grpSp>
        <p:nvGrpSpPr>
          <p:cNvPr id="16" name="Group 15">
            <a:extLst>
              <a:ext uri="{FF2B5EF4-FFF2-40B4-BE49-F238E27FC236}">
                <a16:creationId xmlns:a16="http://schemas.microsoft.com/office/drawing/2014/main" id="{6E4BDADD-B6C7-4717-9148-0B325B4E0F79}"/>
              </a:ext>
            </a:extLst>
          </p:cNvPr>
          <p:cNvGrpSpPr/>
          <p:nvPr userDrawn="1"/>
        </p:nvGrpSpPr>
        <p:grpSpPr>
          <a:xfrm>
            <a:off x="219412" y="142004"/>
            <a:ext cx="3078914" cy="546273"/>
            <a:chOff x="798998" y="4391812"/>
            <a:chExt cx="3252915" cy="577145"/>
          </a:xfrm>
        </p:grpSpPr>
        <p:pic>
          <p:nvPicPr>
            <p:cNvPr id="17" name="Graphic 16">
              <a:extLst>
                <a:ext uri="{FF2B5EF4-FFF2-40B4-BE49-F238E27FC236}">
                  <a16:creationId xmlns:a16="http://schemas.microsoft.com/office/drawing/2014/main" id="{58586D31-15C5-425D-85E1-18733954454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16662" y="4391812"/>
              <a:ext cx="1635251" cy="577145"/>
            </a:xfrm>
            <a:prstGeom prst="rect">
              <a:avLst/>
            </a:prstGeom>
          </p:spPr>
        </p:pic>
        <p:pic>
          <p:nvPicPr>
            <p:cNvPr id="18" name="Graphic 17">
              <a:extLst>
                <a:ext uri="{FF2B5EF4-FFF2-40B4-BE49-F238E27FC236}">
                  <a16:creationId xmlns:a16="http://schemas.microsoft.com/office/drawing/2014/main" id="{D9C1CDC5-8FDA-44C4-ADA3-EC69A58B1F5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1380257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4" name="Straight Connector 3">
            <a:extLst>
              <a:ext uri="{FF2B5EF4-FFF2-40B4-BE49-F238E27FC236}">
                <a16:creationId xmlns:a16="http://schemas.microsoft.com/office/drawing/2014/main" id="{1B1108A6-71D4-4871-A524-4FC6C414A6F8}"/>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7" name="Text Placeholder 2">
            <a:extLst>
              <a:ext uri="{FF2B5EF4-FFF2-40B4-BE49-F238E27FC236}">
                <a16:creationId xmlns:a16="http://schemas.microsoft.com/office/drawing/2014/main" id="{C3ACFFB6-D74F-46F9-BA08-950DC89D9A9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40192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13" name="Text Placeholder 2">
            <a:extLst>
              <a:ext uri="{FF2B5EF4-FFF2-40B4-BE49-F238E27FC236}">
                <a16:creationId xmlns:a16="http://schemas.microsoft.com/office/drawing/2014/main" id="{7E09C187-E0E8-41A1-9532-51B50682CE85}"/>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44724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347C78BA-B57D-48AB-AA8E-4475D71AD05D}"/>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18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934004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AA6A8000-3EF0-4625-B4F1-196FAA8FE8E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722635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CADB5228-5FB9-49A9-9740-193C8967675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9679169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D014A74E-A0B9-4DD0-B456-BBC8F3A7322D}"/>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55157793"/>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7778D2C4-BF38-444F-8AF8-00E29162BF15}"/>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12245812"/>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246D950D-7856-44BE-8CE8-E5341DA7045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27320857"/>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Part Slide (4)">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7CE1B0DB-E15B-4C21-B367-461909D80891}"/>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1800"/>
            </a:lvl3pPr>
            <a:lvl4pPr>
              <a:defRPr sz="16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938000425"/>
      </p:ext>
    </p:extLst>
  </p:cSld>
  <p:clrMapOvr>
    <a:masterClrMapping/>
  </p:clrMapOvr>
  <p:extLst>
    <p:ext uri="{DCECCB84-F9BA-43D5-87BE-67443E8EF086}">
      <p15:sldGuideLst xmlns:p15="http://schemas.microsoft.com/office/powerpoint/2012/main">
        <p15:guide id="1" orient="horz" pos="2183" userDrawn="1">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06D5DC14-943D-4D41-8FE8-E992C268EC2B}"/>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500845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6BCC3EC9-5000-4F66-AF20-DE162BE3D134}"/>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9031567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ED23105A-C0A1-47BD-A54B-C83DE2C03B7F}"/>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2610773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 Part Slide (4)">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28AF55C2-70B9-4413-A945-B0FE7F8A8BD2}"/>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939887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alpha val="58824"/>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990704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Standard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4" name="Straight Connector 3">
            <a:extLst>
              <a:ext uri="{FF2B5EF4-FFF2-40B4-BE49-F238E27FC236}">
                <a16:creationId xmlns:a16="http://schemas.microsoft.com/office/drawing/2014/main" id="{1B1108A6-71D4-4871-A524-4FC6C414A6F8}"/>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CEB485F1-9C7A-4089-BC0C-E0EC4F8CDA6A}"/>
              </a:ext>
            </a:extLst>
          </p:cNvPr>
          <p:cNvSpPr>
            <a:spLocks noGrp="1"/>
          </p:cNvSpPr>
          <p:nvPr>
            <p:ph type="body" idx="11" hasCustomPrompt="1"/>
          </p:nvPr>
        </p:nvSpPr>
        <p:spPr>
          <a:xfrm>
            <a:off x="2831977" y="6347537"/>
            <a:ext cx="6604986" cy="510464"/>
          </a:xfrm>
        </p:spPr>
        <p:txBody>
          <a:bodyPr anchor="b">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7" name="Text Placeholder 2">
            <a:extLst>
              <a:ext uri="{FF2B5EF4-FFF2-40B4-BE49-F238E27FC236}">
                <a16:creationId xmlns:a16="http://schemas.microsoft.com/office/drawing/2014/main" id="{C3ACFFB6-D74F-46F9-BA08-950DC89D9A9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411118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4.sv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58824"/>
          </a:srgb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CB7AF6B-0044-4409-B454-9A80AC9E8B75}"/>
              </a:ext>
            </a:extLst>
          </p:cNvPr>
          <p:cNvSpPr/>
          <p:nvPr userDrawn="1"/>
        </p:nvSpPr>
        <p:spPr>
          <a:xfrm>
            <a:off x="0" y="6298033"/>
            <a:ext cx="12188959" cy="584828"/>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itle Placeholder 1"/>
          <p:cNvSpPr>
            <a:spLocks noGrp="1"/>
          </p:cNvSpPr>
          <p:nvPr>
            <p:ph type="title"/>
          </p:nvPr>
        </p:nvSpPr>
        <p:spPr>
          <a:xfrm>
            <a:off x="513349" y="30834"/>
            <a:ext cx="10840451"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513349" y="1465007"/>
            <a:ext cx="10840451" cy="472331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Box 12">
            <a:extLst>
              <a:ext uri="{FF2B5EF4-FFF2-40B4-BE49-F238E27FC236}">
                <a16:creationId xmlns:a16="http://schemas.microsoft.com/office/drawing/2014/main" id="{2E15DD7C-1B66-EA47-8011-6F2F923EA81F}"/>
              </a:ext>
            </a:extLst>
          </p:cNvPr>
          <p:cNvSpPr txBox="1"/>
          <p:nvPr userDrawn="1"/>
        </p:nvSpPr>
        <p:spPr>
          <a:xfrm>
            <a:off x="4739952" y="0"/>
            <a:ext cx="2712097" cy="246221"/>
          </a:xfrm>
          <a:prstGeom prst="rect">
            <a:avLst/>
          </a:prstGeom>
          <a:noFill/>
        </p:spPr>
        <p:txBody>
          <a:bodyPr wrap="square" rtlCol="0">
            <a:spAutoFit/>
          </a:bodyPr>
          <a:lstStyle/>
          <a:p>
            <a:pPr algn="ctr"/>
            <a:r>
              <a:rPr lang="en-US" sz="1000" dirty="0">
                <a:latin typeface="Arial Nova" panose="020B0504020202020204" pitchFamily="34" charset="0"/>
                <a:ea typeface="Helvetica Neue" panose="02000503000000020004" pitchFamily="2" charset="0"/>
                <a:cs typeface="Helvetica Neue" panose="02000503000000020004" pitchFamily="2" charset="0"/>
              </a:rPr>
              <a:t>SMU Classification: Restricted</a:t>
            </a:r>
          </a:p>
        </p:txBody>
      </p:sp>
      <p:sp>
        <p:nvSpPr>
          <p:cNvPr id="4" name="TextBox 3">
            <a:extLst>
              <a:ext uri="{FF2B5EF4-FFF2-40B4-BE49-F238E27FC236}">
                <a16:creationId xmlns:a16="http://schemas.microsoft.com/office/drawing/2014/main" id="{297ECBE6-2E2A-4698-82E4-D7E7B0744F06}"/>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grpSp>
        <p:nvGrpSpPr>
          <p:cNvPr id="34" name="Group 33">
            <a:extLst>
              <a:ext uri="{FF2B5EF4-FFF2-40B4-BE49-F238E27FC236}">
                <a16:creationId xmlns:a16="http://schemas.microsoft.com/office/drawing/2014/main" id="{EC7DA68C-E182-408B-8C2D-0709B36851EC}"/>
              </a:ext>
            </a:extLst>
          </p:cNvPr>
          <p:cNvGrpSpPr/>
          <p:nvPr userDrawn="1"/>
        </p:nvGrpSpPr>
        <p:grpSpPr>
          <a:xfrm>
            <a:off x="234855" y="6392470"/>
            <a:ext cx="2205449" cy="391250"/>
            <a:chOff x="798998" y="4391812"/>
            <a:chExt cx="3253331" cy="577145"/>
          </a:xfrm>
        </p:grpSpPr>
        <p:pic>
          <p:nvPicPr>
            <p:cNvPr id="35" name="Graphic 34">
              <a:extLst>
                <a:ext uri="{FF2B5EF4-FFF2-40B4-BE49-F238E27FC236}">
                  <a16:creationId xmlns:a16="http://schemas.microsoft.com/office/drawing/2014/main" id="{841ED958-BA93-481F-B5A4-8C585F19867F}"/>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2417079" y="4391812"/>
              <a:ext cx="1635250" cy="577145"/>
            </a:xfrm>
            <a:prstGeom prst="rect">
              <a:avLst/>
            </a:prstGeom>
          </p:spPr>
        </p:pic>
        <p:pic>
          <p:nvPicPr>
            <p:cNvPr id="36" name="Graphic 35">
              <a:extLst>
                <a:ext uri="{FF2B5EF4-FFF2-40B4-BE49-F238E27FC236}">
                  <a16:creationId xmlns:a16="http://schemas.microsoft.com/office/drawing/2014/main" id="{1DA310D7-2E97-4E16-B93B-5F9ABF7D93DC}"/>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3286693295"/>
      </p:ext>
    </p:extLst>
  </p:cSld>
  <p:clrMap bg1="lt1" tx1="dk1" bg2="lt2" tx2="dk2" accent1="accent1" accent2="accent2" accent3="accent3" accent4="accent4" accent5="accent5" accent6="accent6" hlink="hlink" folHlink="folHlink"/>
  <p:sldLayoutIdLst>
    <p:sldLayoutId id="2147483818" r:id="rId1"/>
    <p:sldLayoutId id="2147483805" r:id="rId2"/>
    <p:sldLayoutId id="2147483806" r:id="rId3"/>
    <p:sldLayoutId id="2147483804" r:id="rId4"/>
    <p:sldLayoutId id="2147483801" r:id="rId5"/>
    <p:sldLayoutId id="2147483795" r:id="rId6"/>
    <p:sldLayoutId id="2147483809" r:id="rId7"/>
    <p:sldLayoutId id="2147483810" r:id="rId8"/>
    <p:sldLayoutId id="2147483813" r:id="rId9"/>
    <p:sldLayoutId id="2147483812" r:id="rId10"/>
    <p:sldLayoutId id="2147483811" r:id="rId11"/>
    <p:sldLayoutId id="2147483802" r:id="rId12"/>
    <p:sldLayoutId id="2147483803" r:id="rId13"/>
    <p:sldLayoutId id="2147483814" r:id="rId14"/>
    <p:sldLayoutId id="2147483815" r:id="rId15"/>
    <p:sldLayoutId id="2147483816" r:id="rId16"/>
    <p:sldLayoutId id="2147483807" r:id="rId17"/>
    <p:sldLayoutId id="2147483819" r:id="rId18"/>
  </p:sldLayoutIdLst>
  <p:hf sldNum="0" hdr="0" ftr="0" dt="0"/>
  <p:txStyles>
    <p:titleStyle>
      <a:lvl1pPr algn="l" defTabSz="685800" rtl="0" eaLnBrk="1" latinLnBrk="0" hangingPunct="1">
        <a:lnSpc>
          <a:spcPct val="90000"/>
        </a:lnSpc>
        <a:spcBef>
          <a:spcPct val="0"/>
        </a:spcBef>
        <a:buNone/>
        <a:defRPr sz="3200" b="1"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p:titleStyle>
    <p:body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hyperlink" Target="https://cheatsheetseries.owasp.org/cheatsheets/Cross_Site_Scripting_Prevention_Cheat_Sheet.html" TargetMode="Externa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26.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hyperlink" Target="https://developer.mozilla.org/en-US/docs/Web/HTTP/CSP" TargetMode="Externa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D2BC39E-724B-114E-8ADC-AB7B58350CDD}"/>
              </a:ext>
            </a:extLst>
          </p:cNvPr>
          <p:cNvSpPr>
            <a:spLocks noGrp="1"/>
          </p:cNvSpPr>
          <p:nvPr>
            <p:ph type="body" idx="10"/>
          </p:nvPr>
        </p:nvSpPr>
        <p:spPr/>
        <p:txBody>
          <a:bodyPr/>
          <a:lstStyle/>
          <a:p>
            <a:r>
              <a:rPr lang="en-US" dirty="0"/>
              <a:t>Web Security – Part I</a:t>
            </a:r>
          </a:p>
        </p:txBody>
      </p:sp>
    </p:spTree>
    <p:extLst>
      <p:ext uri="{BB962C8B-B14F-4D97-AF65-F5344CB8AC3E}">
        <p14:creationId xmlns:p14="http://schemas.microsoft.com/office/powerpoint/2010/main" val="1225276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CEA22E-D0CF-9D47-A058-F1834A1173D7}"/>
              </a:ext>
            </a:extLst>
          </p:cNvPr>
          <p:cNvSpPr>
            <a:spLocks noGrp="1"/>
          </p:cNvSpPr>
          <p:nvPr>
            <p:ph type="title"/>
          </p:nvPr>
        </p:nvSpPr>
        <p:spPr/>
        <p:txBody>
          <a:bodyPr/>
          <a:lstStyle/>
          <a:p>
            <a:r>
              <a:rPr lang="en-GB" dirty="0"/>
              <a:t>Recap Week 10</a:t>
            </a:r>
          </a:p>
        </p:txBody>
      </p:sp>
      <p:sp>
        <p:nvSpPr>
          <p:cNvPr id="6" name="Content Placeholder 5">
            <a:extLst>
              <a:ext uri="{FF2B5EF4-FFF2-40B4-BE49-F238E27FC236}">
                <a16:creationId xmlns:a16="http://schemas.microsoft.com/office/drawing/2014/main" id="{35933750-C0CF-AC49-AF64-1EE787DB8C3D}"/>
              </a:ext>
            </a:extLst>
          </p:cNvPr>
          <p:cNvSpPr>
            <a:spLocks noGrp="1"/>
          </p:cNvSpPr>
          <p:nvPr>
            <p:ph idx="1"/>
          </p:nvPr>
        </p:nvSpPr>
        <p:spPr/>
        <p:txBody>
          <a:bodyPr/>
          <a:lstStyle/>
          <a:p>
            <a:r>
              <a:rPr lang="en-GB" dirty="0"/>
              <a:t>Vulnerability: command injection, buffer overflow</a:t>
            </a:r>
          </a:p>
          <a:p>
            <a:r>
              <a:rPr lang="en-GB" dirty="0"/>
              <a:t>Countermeasures: secure programming with good practice, three system supports (access control, ASLR, CFI), language support</a:t>
            </a:r>
          </a:p>
          <a:p>
            <a:r>
              <a:rPr lang="en-GB" dirty="0"/>
              <a:t>Malware classifications </a:t>
            </a:r>
          </a:p>
          <a:p>
            <a:r>
              <a:rPr lang="en-GB" dirty="0"/>
              <a:t>Malware analysis: static and dynamic</a:t>
            </a:r>
          </a:p>
        </p:txBody>
      </p:sp>
    </p:spTree>
    <p:extLst>
      <p:ext uri="{BB962C8B-B14F-4D97-AF65-F5344CB8AC3E}">
        <p14:creationId xmlns:p14="http://schemas.microsoft.com/office/powerpoint/2010/main" val="1080801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endParaRPr lang="en-SG" dirty="0"/>
          </a:p>
        </p:txBody>
      </p:sp>
      <p:sp>
        <p:nvSpPr>
          <p:cNvPr id="4" name="Content Placeholder 3">
            <a:extLst>
              <a:ext uri="{FF2B5EF4-FFF2-40B4-BE49-F238E27FC236}">
                <a16:creationId xmlns:a16="http://schemas.microsoft.com/office/drawing/2014/main" id="{4110D6FF-8BD9-1445-8E1C-84320A57499A}"/>
              </a:ext>
            </a:extLst>
          </p:cNvPr>
          <p:cNvSpPr>
            <a:spLocks noGrp="1"/>
          </p:cNvSpPr>
          <p:nvPr>
            <p:ph idx="1"/>
          </p:nvPr>
        </p:nvSpPr>
        <p:spPr>
          <a:xfrm>
            <a:off x="513349" y="1066800"/>
            <a:ext cx="10840451" cy="4924761"/>
          </a:xfrm>
        </p:spPr>
        <p:txBody>
          <a:bodyPr>
            <a:noAutofit/>
          </a:bodyPr>
          <a:lstStyle/>
          <a:p>
            <a:pPr marL="522900" indent="-342900">
              <a:spcBef>
                <a:spcPts val="600"/>
              </a:spcBef>
            </a:pPr>
            <a:r>
              <a:rPr lang="en-US" sz="2000" dirty="0"/>
              <a:t>Content</a:t>
            </a:r>
          </a:p>
          <a:p>
            <a:pPr marL="922950" lvl="1" indent="-342900">
              <a:spcBef>
                <a:spcPts val="600"/>
              </a:spcBef>
            </a:pPr>
            <a:r>
              <a:rPr lang="en-US" sz="2000" dirty="0"/>
              <a:t>Web architecture</a:t>
            </a:r>
          </a:p>
          <a:p>
            <a:pPr marL="922950" lvl="1" indent="-342900">
              <a:spcBef>
                <a:spcPts val="600"/>
              </a:spcBef>
            </a:pPr>
            <a:r>
              <a:rPr lang="en-US" sz="2000" dirty="0"/>
              <a:t>Sessions</a:t>
            </a:r>
          </a:p>
          <a:p>
            <a:pPr marL="922950" lvl="1" indent="-342900">
              <a:spcBef>
                <a:spcPts val="600"/>
              </a:spcBef>
            </a:pPr>
            <a:r>
              <a:rPr lang="en-US" sz="2000" dirty="0"/>
              <a:t>Session Attacks</a:t>
            </a:r>
          </a:p>
          <a:p>
            <a:pPr marL="922950" lvl="1" indent="-342900">
              <a:spcBef>
                <a:spcPts val="600"/>
              </a:spcBef>
            </a:pPr>
            <a:r>
              <a:rPr lang="en-US" sz="2000" dirty="0"/>
              <a:t>Same origin policy</a:t>
            </a:r>
          </a:p>
          <a:p>
            <a:pPr marL="922950" lvl="1" indent="-342900">
              <a:spcBef>
                <a:spcPts val="600"/>
              </a:spcBef>
            </a:pPr>
            <a:r>
              <a:rPr lang="en-GB" altLang="de-DE" sz="2000" dirty="0"/>
              <a:t>Cross site scripting (XSS): Stored XSS, Reflected XSS &amp; Dom-based XSS</a:t>
            </a:r>
            <a:endParaRPr lang="en-US" sz="2000" dirty="0"/>
          </a:p>
          <a:p>
            <a:pPr marL="180000" indent="0">
              <a:spcBef>
                <a:spcPts val="600"/>
              </a:spcBef>
              <a:buNone/>
            </a:pPr>
            <a:endParaRPr lang="en-US" sz="2000" dirty="0"/>
          </a:p>
          <a:p>
            <a:pPr marL="522900" indent="-342900">
              <a:spcBef>
                <a:spcPts val="600"/>
              </a:spcBef>
            </a:pPr>
            <a:r>
              <a:rPr lang="en-US" sz="2000" dirty="0"/>
              <a:t>After this module, you should be able to</a:t>
            </a:r>
          </a:p>
          <a:p>
            <a:pPr marL="865800" lvl="2" indent="-285750">
              <a:spcBef>
                <a:spcPts val="600"/>
              </a:spcBef>
            </a:pPr>
            <a:r>
              <a:rPr lang="en-US" dirty="0">
                <a:latin typeface="Arial Nova" panose="020B0504020202020204" pitchFamily="34" charset="0"/>
              </a:rPr>
              <a:t>understand sessions in the web</a:t>
            </a:r>
          </a:p>
          <a:p>
            <a:pPr marL="865800" lvl="2" indent="-285750">
              <a:spcBef>
                <a:spcPts val="600"/>
              </a:spcBef>
            </a:pPr>
            <a:r>
              <a:rPr lang="en-US" dirty="0">
                <a:latin typeface="Arial Nova" panose="020B0504020202020204" pitchFamily="34" charset="0"/>
              </a:rPr>
              <a:t>describe session attacks and how to prevent them</a:t>
            </a:r>
          </a:p>
          <a:p>
            <a:pPr marL="865800" lvl="2" indent="-285750">
              <a:spcBef>
                <a:spcPts val="600"/>
              </a:spcBef>
            </a:pPr>
            <a:r>
              <a:rPr lang="en-US" dirty="0">
                <a:latin typeface="Arial Nova" panose="020B0504020202020204" pitchFamily="34" charset="0"/>
              </a:rPr>
              <a:t>understand what is same origin policy and its use case</a:t>
            </a:r>
          </a:p>
          <a:p>
            <a:pPr marL="865800" lvl="2" indent="-285750">
              <a:spcBef>
                <a:spcPts val="600"/>
              </a:spcBef>
            </a:pPr>
            <a:r>
              <a:rPr lang="en-US" dirty="0">
                <a:latin typeface="Arial Nova" panose="020B0504020202020204" pitchFamily="34" charset="0"/>
              </a:rPr>
              <a:t>Understand what is XSS and how to prevent them</a:t>
            </a:r>
          </a:p>
        </p:txBody>
      </p:sp>
    </p:spTree>
    <p:extLst>
      <p:ext uri="{BB962C8B-B14F-4D97-AF65-F5344CB8AC3E}">
        <p14:creationId xmlns:p14="http://schemas.microsoft.com/office/powerpoint/2010/main" val="3610430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5238095B-6BAA-6348-ADD0-ED9D6134793D}"/>
              </a:ext>
            </a:extLst>
          </p:cNvPr>
          <p:cNvSpPr>
            <a:spLocks noGrp="1" noChangeArrowheads="1"/>
          </p:cNvSpPr>
          <p:nvPr>
            <p:ph type="title"/>
          </p:nvPr>
        </p:nvSpPr>
        <p:spPr/>
        <p:txBody>
          <a:bodyPr/>
          <a:lstStyle/>
          <a:p>
            <a:r>
              <a:rPr lang="en-GB" altLang="de-DE" dirty="0"/>
              <a:t>Web Architecture</a:t>
            </a:r>
            <a:endParaRPr lang="en-US" altLang="en-US" dirty="0"/>
          </a:p>
        </p:txBody>
      </p:sp>
      <p:sp>
        <p:nvSpPr>
          <p:cNvPr id="6152" name="Rectangle 5">
            <a:extLst>
              <a:ext uri="{FF2B5EF4-FFF2-40B4-BE49-F238E27FC236}">
                <a16:creationId xmlns:a16="http://schemas.microsoft.com/office/drawing/2014/main" id="{B1AFD496-18A3-FD4D-BBA9-9F0E736FCF5A}"/>
              </a:ext>
            </a:extLst>
          </p:cNvPr>
          <p:cNvSpPr>
            <a:spLocks noChangeArrowheads="1"/>
          </p:cNvSpPr>
          <p:nvPr/>
        </p:nvSpPr>
        <p:spPr bwMode="auto">
          <a:xfrm>
            <a:off x="8608143" y="1730708"/>
            <a:ext cx="1116013" cy="2297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grpSp>
        <p:nvGrpSpPr>
          <p:cNvPr id="5" name="Group 4">
            <a:extLst>
              <a:ext uri="{FF2B5EF4-FFF2-40B4-BE49-F238E27FC236}">
                <a16:creationId xmlns:a16="http://schemas.microsoft.com/office/drawing/2014/main" id="{A4111072-9F44-B64A-9DA6-906ABBC30F5F}"/>
              </a:ext>
            </a:extLst>
          </p:cNvPr>
          <p:cNvGrpSpPr/>
          <p:nvPr/>
        </p:nvGrpSpPr>
        <p:grpSpPr>
          <a:xfrm>
            <a:off x="2340694" y="2120219"/>
            <a:ext cx="1381124" cy="1557337"/>
            <a:chOff x="2348631" y="1883108"/>
            <a:chExt cx="1381124" cy="1557337"/>
          </a:xfrm>
        </p:grpSpPr>
        <p:sp>
          <p:nvSpPr>
            <p:cNvPr id="6153" name="Rectangle 6">
              <a:extLst>
                <a:ext uri="{FF2B5EF4-FFF2-40B4-BE49-F238E27FC236}">
                  <a16:creationId xmlns:a16="http://schemas.microsoft.com/office/drawing/2014/main" id="{C8F08FB9-C570-7B42-8F19-E0310A77D6ED}"/>
                </a:ext>
              </a:extLst>
            </p:cNvPr>
            <p:cNvSpPr>
              <a:spLocks noChangeArrowheads="1"/>
            </p:cNvSpPr>
            <p:nvPr/>
          </p:nvSpPr>
          <p:spPr bwMode="auto">
            <a:xfrm>
              <a:off x="2348631" y="1883108"/>
              <a:ext cx="1201737" cy="1346200"/>
            </a:xfrm>
            <a:prstGeom prst="rect">
              <a:avLst/>
            </a:prstGeom>
            <a:solidFill>
              <a:schemeClr val="bg1">
                <a:lumMod val="85000"/>
              </a:schemeClr>
            </a:solidFill>
            <a:ln w="9525">
              <a:solidFill>
                <a:schemeClr val="tx1"/>
              </a:solidFill>
              <a:prstDash val="dash"/>
              <a:miter lim="800000"/>
              <a:headEnd/>
              <a:tailEnd/>
            </a:ln>
            <a:effec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sp>
          <p:nvSpPr>
            <p:cNvPr id="6154" name="Rectangle 7">
              <a:extLst>
                <a:ext uri="{FF2B5EF4-FFF2-40B4-BE49-F238E27FC236}">
                  <a16:creationId xmlns:a16="http://schemas.microsoft.com/office/drawing/2014/main" id="{6954CCF5-EDCD-8145-9651-6FBA2FC0CC26}"/>
                </a:ext>
              </a:extLst>
            </p:cNvPr>
            <p:cNvSpPr>
              <a:spLocks noChangeArrowheads="1"/>
            </p:cNvSpPr>
            <p:nvPr/>
          </p:nvSpPr>
          <p:spPr bwMode="auto">
            <a:xfrm>
              <a:off x="2442292" y="1984708"/>
              <a:ext cx="1201738" cy="1346200"/>
            </a:xfrm>
            <a:prstGeom prst="rect">
              <a:avLst/>
            </a:prstGeom>
            <a:solidFill>
              <a:schemeClr val="bg1">
                <a:lumMod val="85000"/>
              </a:schemeClr>
            </a:solidFill>
            <a:ln w="9525">
              <a:solidFill>
                <a:schemeClr val="tx1"/>
              </a:solidFill>
              <a:prstDash val="dash"/>
              <a:miter lim="800000"/>
              <a:headEnd/>
              <a:tailEnd/>
            </a:ln>
            <a:effec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sp>
          <p:nvSpPr>
            <p:cNvPr id="6155" name="Rectangle 8">
              <a:extLst>
                <a:ext uri="{FF2B5EF4-FFF2-40B4-BE49-F238E27FC236}">
                  <a16:creationId xmlns:a16="http://schemas.microsoft.com/office/drawing/2014/main" id="{4BAD1028-39C5-CF4A-BABE-B3CB7F466180}"/>
                </a:ext>
              </a:extLst>
            </p:cNvPr>
            <p:cNvSpPr>
              <a:spLocks noChangeArrowheads="1"/>
            </p:cNvSpPr>
            <p:nvPr/>
          </p:nvSpPr>
          <p:spPr bwMode="auto">
            <a:xfrm>
              <a:off x="2528017" y="2094245"/>
              <a:ext cx="1201738" cy="1346200"/>
            </a:xfrm>
            <a:prstGeom prst="rect">
              <a:avLst/>
            </a:prstGeom>
            <a:solidFill>
              <a:schemeClr val="bg1">
                <a:lumMod val="85000"/>
              </a:schemeClr>
            </a:solidFill>
            <a:ln w="9525">
              <a:solidFill>
                <a:schemeClr val="tx1"/>
              </a:solidFill>
              <a:prstDash val="dash"/>
              <a:miter lim="800000"/>
              <a:headEnd/>
              <a:tailEnd/>
            </a:ln>
            <a:effec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2000" dirty="0">
                  <a:latin typeface="Arial" charset="0"/>
                </a:rPr>
                <a:t>web page</a:t>
              </a:r>
            </a:p>
            <a:p>
              <a:pPr>
                <a:spcBef>
                  <a:spcPct val="0"/>
                </a:spcBef>
                <a:buFontTx/>
                <a:buNone/>
                <a:defRPr/>
              </a:pPr>
              <a:endParaRPr lang="en-GB" altLang="de-DE" sz="2000" dirty="0">
                <a:latin typeface="Arial" charset="0"/>
              </a:endParaRPr>
            </a:p>
            <a:p>
              <a:pPr>
                <a:spcBef>
                  <a:spcPct val="0"/>
                </a:spcBef>
                <a:buFontTx/>
                <a:buNone/>
                <a:defRPr/>
              </a:pPr>
              <a:endParaRPr lang="en-GB" altLang="de-DE" sz="2000" dirty="0">
                <a:latin typeface="Arial" charset="0"/>
              </a:endParaRPr>
            </a:p>
            <a:p>
              <a:pPr>
                <a:spcBef>
                  <a:spcPct val="0"/>
                </a:spcBef>
                <a:buFontTx/>
                <a:buNone/>
                <a:defRPr/>
              </a:pPr>
              <a:endParaRPr lang="en-GB" altLang="de-DE" sz="2000" dirty="0">
                <a:latin typeface="Arial" charset="0"/>
              </a:endParaRPr>
            </a:p>
          </p:txBody>
        </p:sp>
        <p:grpSp>
          <p:nvGrpSpPr>
            <p:cNvPr id="19467" name="Group 9">
              <a:extLst>
                <a:ext uri="{FF2B5EF4-FFF2-40B4-BE49-F238E27FC236}">
                  <a16:creationId xmlns:a16="http://schemas.microsoft.com/office/drawing/2014/main" id="{3DEAC25A-4316-3E4C-976E-8780FF14F412}"/>
                </a:ext>
              </a:extLst>
            </p:cNvPr>
            <p:cNvGrpSpPr>
              <a:grpSpLocks/>
            </p:cNvGrpSpPr>
            <p:nvPr/>
          </p:nvGrpSpPr>
          <p:grpSpPr bwMode="auto">
            <a:xfrm>
              <a:off x="2558183" y="2499065"/>
              <a:ext cx="1150940" cy="935040"/>
              <a:chOff x="948" y="1780"/>
              <a:chExt cx="725" cy="589"/>
            </a:xfrm>
          </p:grpSpPr>
          <p:sp>
            <p:nvSpPr>
              <p:cNvPr id="6205" name="Oval 10">
                <a:extLst>
                  <a:ext uri="{FF2B5EF4-FFF2-40B4-BE49-F238E27FC236}">
                    <a16:creationId xmlns:a16="http://schemas.microsoft.com/office/drawing/2014/main" id="{990F83FA-AC49-E045-BBC7-DA6008F87BE9}"/>
                  </a:ext>
                </a:extLst>
              </p:cNvPr>
              <p:cNvSpPr>
                <a:spLocks noChangeArrowheads="1"/>
              </p:cNvSpPr>
              <p:nvPr/>
            </p:nvSpPr>
            <p:spPr bwMode="auto">
              <a:xfrm>
                <a:off x="1310" y="2006"/>
                <a:ext cx="363" cy="363"/>
              </a:xfrm>
              <a:prstGeom prst="ellipse">
                <a:avLst/>
              </a:prstGeom>
              <a:solidFill>
                <a:srgbClr val="D60093"/>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1600" dirty="0">
                    <a:solidFill>
                      <a:schemeClr val="bg1"/>
                    </a:solidFill>
                    <a:latin typeface="Arial" charset="0"/>
                  </a:rPr>
                  <a:t>JS</a:t>
                </a:r>
              </a:p>
            </p:txBody>
          </p:sp>
          <p:sp>
            <p:nvSpPr>
              <p:cNvPr id="6206" name="Oval 11">
                <a:extLst>
                  <a:ext uri="{FF2B5EF4-FFF2-40B4-BE49-F238E27FC236}">
                    <a16:creationId xmlns:a16="http://schemas.microsoft.com/office/drawing/2014/main" id="{915BB0E6-4DB2-F446-B44D-3A6B11F70A8E}"/>
                  </a:ext>
                </a:extLst>
              </p:cNvPr>
              <p:cNvSpPr>
                <a:spLocks noChangeArrowheads="1"/>
              </p:cNvSpPr>
              <p:nvPr/>
            </p:nvSpPr>
            <p:spPr bwMode="auto">
              <a:xfrm>
                <a:off x="948" y="1780"/>
                <a:ext cx="519" cy="363"/>
              </a:xfrm>
              <a:prstGeom prst="ellipse">
                <a:avLst/>
              </a:prstGeom>
              <a:solidFill>
                <a:srgbClr val="D60093"/>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1600" dirty="0">
                    <a:solidFill>
                      <a:schemeClr val="bg1"/>
                    </a:solidFill>
                    <a:latin typeface="Arial" charset="0"/>
                  </a:rPr>
                  <a:t>HTML</a:t>
                </a:r>
              </a:p>
            </p:txBody>
          </p:sp>
        </p:grpSp>
      </p:grpSp>
      <p:sp>
        <p:nvSpPr>
          <p:cNvPr id="6162" name="Text Box 18">
            <a:extLst>
              <a:ext uri="{FF2B5EF4-FFF2-40B4-BE49-F238E27FC236}">
                <a16:creationId xmlns:a16="http://schemas.microsoft.com/office/drawing/2014/main" id="{F897A058-6F18-044C-835C-EEC44C1A2A96}"/>
              </a:ext>
            </a:extLst>
          </p:cNvPr>
          <p:cNvSpPr txBox="1">
            <a:spLocks noChangeArrowheads="1"/>
          </p:cNvSpPr>
          <p:nvPr/>
        </p:nvSpPr>
        <p:spPr bwMode="auto">
          <a:xfrm>
            <a:off x="4175842" y="3086433"/>
            <a:ext cx="197643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de-DE" altLang="de-DE" sz="2000" dirty="0">
                <a:latin typeface="Arial" charset="0"/>
              </a:rPr>
              <a:t>HTTP response</a:t>
            </a:r>
          </a:p>
        </p:txBody>
      </p:sp>
      <p:sp>
        <p:nvSpPr>
          <p:cNvPr id="6163" name="Text Box 19">
            <a:extLst>
              <a:ext uri="{FF2B5EF4-FFF2-40B4-BE49-F238E27FC236}">
                <a16:creationId xmlns:a16="http://schemas.microsoft.com/office/drawing/2014/main" id="{420A7070-53A1-CE46-970E-652449D0512B}"/>
              </a:ext>
            </a:extLst>
          </p:cNvPr>
          <p:cNvSpPr txBox="1">
            <a:spLocks noChangeArrowheads="1"/>
          </p:cNvSpPr>
          <p:nvPr/>
        </p:nvSpPr>
        <p:spPr bwMode="auto">
          <a:xfrm>
            <a:off x="4299668" y="2181558"/>
            <a:ext cx="17764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de-DE" altLang="de-DE" sz="2000" dirty="0">
                <a:latin typeface="Arial" charset="0"/>
              </a:rPr>
              <a:t>HTTP request</a:t>
            </a:r>
          </a:p>
        </p:txBody>
      </p:sp>
      <p:sp>
        <p:nvSpPr>
          <p:cNvPr id="6166" name="Text Box 22">
            <a:extLst>
              <a:ext uri="{FF2B5EF4-FFF2-40B4-BE49-F238E27FC236}">
                <a16:creationId xmlns:a16="http://schemas.microsoft.com/office/drawing/2014/main" id="{52E105D5-7E4B-C248-A172-9833C4CED50E}"/>
              </a:ext>
            </a:extLst>
          </p:cNvPr>
          <p:cNvSpPr txBox="1">
            <a:spLocks noChangeArrowheads="1"/>
          </p:cNvSpPr>
          <p:nvPr/>
        </p:nvSpPr>
        <p:spPr bwMode="auto">
          <a:xfrm>
            <a:off x="8606555" y="3629358"/>
            <a:ext cx="11557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2000">
                <a:latin typeface="Arial" charset="0"/>
              </a:rPr>
              <a:t>backend</a:t>
            </a:r>
          </a:p>
        </p:txBody>
      </p:sp>
      <p:cxnSp>
        <p:nvCxnSpPr>
          <p:cNvPr id="6167" name="AutoShape 23">
            <a:extLst>
              <a:ext uri="{FF2B5EF4-FFF2-40B4-BE49-F238E27FC236}">
                <a16:creationId xmlns:a16="http://schemas.microsoft.com/office/drawing/2014/main" id="{E36B2846-53FB-4B4F-8533-91AF012D9F2A}"/>
              </a:ext>
            </a:extLst>
          </p:cNvPr>
          <p:cNvCxnSpPr>
            <a:cxnSpLocks noChangeShapeType="1"/>
          </p:cNvCxnSpPr>
          <p:nvPr/>
        </p:nvCxnSpPr>
        <p:spPr bwMode="auto">
          <a:xfrm>
            <a:off x="3823418" y="2611770"/>
            <a:ext cx="2574925" cy="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cxnSp>
      <p:cxnSp>
        <p:nvCxnSpPr>
          <p:cNvPr id="6168" name="AutoShape 24">
            <a:extLst>
              <a:ext uri="{FF2B5EF4-FFF2-40B4-BE49-F238E27FC236}">
                <a16:creationId xmlns:a16="http://schemas.microsoft.com/office/drawing/2014/main" id="{DCB44BBB-D1DB-6E4D-BB1F-FBA7C87D1322}"/>
              </a:ext>
            </a:extLst>
          </p:cNvPr>
          <p:cNvCxnSpPr>
            <a:cxnSpLocks noChangeShapeType="1"/>
          </p:cNvCxnSpPr>
          <p:nvPr/>
        </p:nvCxnSpPr>
        <p:spPr bwMode="auto">
          <a:xfrm>
            <a:off x="8074742" y="2675270"/>
            <a:ext cx="533400" cy="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cxnSp>
      <p:cxnSp>
        <p:nvCxnSpPr>
          <p:cNvPr id="6169" name="AutoShape 25">
            <a:extLst>
              <a:ext uri="{FF2B5EF4-FFF2-40B4-BE49-F238E27FC236}">
                <a16:creationId xmlns:a16="http://schemas.microsoft.com/office/drawing/2014/main" id="{E3092F48-A903-CC41-B25E-C4133EF6E581}"/>
              </a:ext>
            </a:extLst>
          </p:cNvPr>
          <p:cNvCxnSpPr>
            <a:cxnSpLocks noChangeShapeType="1"/>
          </p:cNvCxnSpPr>
          <p:nvPr/>
        </p:nvCxnSpPr>
        <p:spPr bwMode="auto">
          <a:xfrm flipH="1">
            <a:off x="3823418" y="3043570"/>
            <a:ext cx="2574925" cy="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cxnSp>
      <p:cxnSp>
        <p:nvCxnSpPr>
          <p:cNvPr id="6170" name="AutoShape 26">
            <a:extLst>
              <a:ext uri="{FF2B5EF4-FFF2-40B4-BE49-F238E27FC236}">
                <a16:creationId xmlns:a16="http://schemas.microsoft.com/office/drawing/2014/main" id="{5BB166C4-EAB2-2F4F-9DE2-35145AA5A833}"/>
              </a:ext>
            </a:extLst>
          </p:cNvPr>
          <p:cNvCxnSpPr>
            <a:cxnSpLocks noChangeShapeType="1"/>
          </p:cNvCxnSpPr>
          <p:nvPr/>
        </p:nvCxnSpPr>
        <p:spPr bwMode="auto">
          <a:xfrm flipH="1">
            <a:off x="8055692" y="3030870"/>
            <a:ext cx="533400" cy="0"/>
          </a:xfrm>
          <a:prstGeom prst="straightConnector1">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cxnSp>
      <p:grpSp>
        <p:nvGrpSpPr>
          <p:cNvPr id="9" name="Group 8">
            <a:extLst>
              <a:ext uri="{FF2B5EF4-FFF2-40B4-BE49-F238E27FC236}">
                <a16:creationId xmlns:a16="http://schemas.microsoft.com/office/drawing/2014/main" id="{89BC05E9-822E-F346-A356-85AEA35E23D5}"/>
              </a:ext>
            </a:extLst>
          </p:cNvPr>
          <p:cNvGrpSpPr/>
          <p:nvPr/>
        </p:nvGrpSpPr>
        <p:grpSpPr>
          <a:xfrm>
            <a:off x="6398342" y="1730709"/>
            <a:ext cx="1676400" cy="2314574"/>
            <a:chOff x="6398342" y="1730709"/>
            <a:chExt cx="1676400" cy="2314574"/>
          </a:xfrm>
        </p:grpSpPr>
        <p:sp>
          <p:nvSpPr>
            <p:cNvPr id="6151" name="Rectangle 4">
              <a:extLst>
                <a:ext uri="{FF2B5EF4-FFF2-40B4-BE49-F238E27FC236}">
                  <a16:creationId xmlns:a16="http://schemas.microsoft.com/office/drawing/2014/main" id="{D7808BE5-03D6-694D-9E24-BE505AA6C4D6}"/>
                </a:ext>
              </a:extLst>
            </p:cNvPr>
            <p:cNvSpPr>
              <a:spLocks noChangeArrowheads="1"/>
            </p:cNvSpPr>
            <p:nvPr/>
          </p:nvSpPr>
          <p:spPr bwMode="auto">
            <a:xfrm>
              <a:off x="6398342" y="1730709"/>
              <a:ext cx="1676400" cy="22891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sp>
          <p:nvSpPr>
            <p:cNvPr id="6157" name="Rectangle 12">
              <a:extLst>
                <a:ext uri="{FF2B5EF4-FFF2-40B4-BE49-F238E27FC236}">
                  <a16:creationId xmlns:a16="http://schemas.microsoft.com/office/drawing/2014/main" id="{7E28A180-9CB1-EF40-8EA7-C80156E92C03}"/>
                </a:ext>
              </a:extLst>
            </p:cNvPr>
            <p:cNvSpPr>
              <a:spLocks noChangeArrowheads="1"/>
            </p:cNvSpPr>
            <p:nvPr/>
          </p:nvSpPr>
          <p:spPr bwMode="auto">
            <a:xfrm>
              <a:off x="6474542" y="1925970"/>
              <a:ext cx="1201738" cy="1346200"/>
            </a:xfrm>
            <a:prstGeom prst="rect">
              <a:avLst/>
            </a:prstGeom>
            <a:solidFill>
              <a:srgbClr val="FFFF99"/>
            </a:solidFill>
            <a:ln w="9525">
              <a:solidFill>
                <a:schemeClr val="tx1"/>
              </a:solidFill>
              <a:prstDash val="dash"/>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sp>
          <p:nvSpPr>
            <p:cNvPr id="6158" name="Rectangle 13">
              <a:extLst>
                <a:ext uri="{FF2B5EF4-FFF2-40B4-BE49-F238E27FC236}">
                  <a16:creationId xmlns:a16="http://schemas.microsoft.com/office/drawing/2014/main" id="{A2EFCAE0-6D1E-744F-9893-17CF694EB5F4}"/>
                </a:ext>
              </a:extLst>
            </p:cNvPr>
            <p:cNvSpPr>
              <a:spLocks noChangeArrowheads="1"/>
            </p:cNvSpPr>
            <p:nvPr/>
          </p:nvSpPr>
          <p:spPr bwMode="auto">
            <a:xfrm>
              <a:off x="6626942" y="2027570"/>
              <a:ext cx="1201738" cy="1346200"/>
            </a:xfrm>
            <a:prstGeom prst="rect">
              <a:avLst/>
            </a:prstGeom>
            <a:solidFill>
              <a:srgbClr val="FFFF99"/>
            </a:solidFill>
            <a:ln w="9525">
              <a:solidFill>
                <a:schemeClr val="tx1"/>
              </a:solidFill>
              <a:prstDash val="dash"/>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sp>
          <p:nvSpPr>
            <p:cNvPr id="6159" name="Rectangle 14">
              <a:extLst>
                <a:ext uri="{FF2B5EF4-FFF2-40B4-BE49-F238E27FC236}">
                  <a16:creationId xmlns:a16="http://schemas.microsoft.com/office/drawing/2014/main" id="{C0DF09A5-C4EA-6D4A-9934-7BD9FA53632A}"/>
                </a:ext>
              </a:extLst>
            </p:cNvPr>
            <p:cNvSpPr>
              <a:spLocks noChangeArrowheads="1"/>
            </p:cNvSpPr>
            <p:nvPr/>
          </p:nvSpPr>
          <p:spPr bwMode="auto">
            <a:xfrm>
              <a:off x="6758706" y="2137108"/>
              <a:ext cx="1201737" cy="1346200"/>
            </a:xfrm>
            <a:prstGeom prst="rect">
              <a:avLst/>
            </a:prstGeom>
            <a:solidFill>
              <a:srgbClr val="FFFF99"/>
            </a:solidFill>
            <a:ln w="9525">
              <a:solidFill>
                <a:schemeClr val="tx1"/>
              </a:solidFill>
              <a:prstDash val="dash"/>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2000" dirty="0">
                  <a:latin typeface="Arial" charset="0"/>
                </a:rPr>
                <a:t>web page</a:t>
              </a:r>
            </a:p>
            <a:p>
              <a:pPr>
                <a:spcBef>
                  <a:spcPct val="0"/>
                </a:spcBef>
                <a:buFontTx/>
                <a:buNone/>
                <a:defRPr/>
              </a:pPr>
              <a:endParaRPr lang="en-GB" altLang="de-DE" sz="2000" dirty="0">
                <a:latin typeface="Arial" charset="0"/>
              </a:endParaRPr>
            </a:p>
            <a:p>
              <a:pPr>
                <a:spcBef>
                  <a:spcPct val="0"/>
                </a:spcBef>
                <a:buFontTx/>
                <a:buNone/>
                <a:defRPr/>
              </a:pPr>
              <a:endParaRPr lang="en-GB" altLang="de-DE" sz="2000" dirty="0">
                <a:latin typeface="Arial" charset="0"/>
              </a:endParaRPr>
            </a:p>
            <a:p>
              <a:pPr>
                <a:spcBef>
                  <a:spcPct val="0"/>
                </a:spcBef>
                <a:buFontTx/>
                <a:buNone/>
                <a:defRPr/>
              </a:pPr>
              <a:endParaRPr lang="en-GB" altLang="de-DE" sz="2000" dirty="0">
                <a:latin typeface="Arial" charset="0"/>
              </a:endParaRPr>
            </a:p>
          </p:txBody>
        </p:sp>
        <p:sp>
          <p:nvSpPr>
            <p:cNvPr id="6160" name="Oval 16">
              <a:extLst>
                <a:ext uri="{FF2B5EF4-FFF2-40B4-BE49-F238E27FC236}">
                  <a16:creationId xmlns:a16="http://schemas.microsoft.com/office/drawing/2014/main" id="{CD738F2C-95D0-B040-8CD7-C7CA2230D1C3}"/>
                </a:ext>
              </a:extLst>
            </p:cNvPr>
            <p:cNvSpPr>
              <a:spLocks noChangeArrowheads="1"/>
            </p:cNvSpPr>
            <p:nvPr/>
          </p:nvSpPr>
          <p:spPr bwMode="auto">
            <a:xfrm>
              <a:off x="7396880" y="2857833"/>
              <a:ext cx="576262" cy="576262"/>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en-GB" altLang="de-DE" sz="1200">
                <a:solidFill>
                  <a:schemeClr val="bg1"/>
                </a:solidFill>
                <a:latin typeface="Arial" charset="0"/>
              </a:endParaRPr>
            </a:p>
          </p:txBody>
        </p:sp>
        <p:sp>
          <p:nvSpPr>
            <p:cNvPr id="6161" name="Oval 17">
              <a:extLst>
                <a:ext uri="{FF2B5EF4-FFF2-40B4-BE49-F238E27FC236}">
                  <a16:creationId xmlns:a16="http://schemas.microsoft.com/office/drawing/2014/main" id="{4C4F7CAC-8A1D-C349-BAF4-21295574DC35}"/>
                </a:ext>
              </a:extLst>
            </p:cNvPr>
            <p:cNvSpPr>
              <a:spLocks noChangeArrowheads="1"/>
            </p:cNvSpPr>
            <p:nvPr/>
          </p:nvSpPr>
          <p:spPr bwMode="auto">
            <a:xfrm>
              <a:off x="6860305" y="2570496"/>
              <a:ext cx="576262" cy="576263"/>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en-GB" altLang="de-DE" sz="1200">
                <a:solidFill>
                  <a:schemeClr val="bg1"/>
                </a:solidFill>
                <a:latin typeface="Arial" charset="0"/>
              </a:endParaRPr>
            </a:p>
          </p:txBody>
        </p:sp>
        <p:sp>
          <p:nvSpPr>
            <p:cNvPr id="6165" name="Text Box 21">
              <a:extLst>
                <a:ext uri="{FF2B5EF4-FFF2-40B4-BE49-F238E27FC236}">
                  <a16:creationId xmlns:a16="http://schemas.microsoft.com/office/drawing/2014/main" id="{752983A0-C8EA-864F-A6CF-A81FF60A2C1B}"/>
                </a:ext>
              </a:extLst>
            </p:cNvPr>
            <p:cNvSpPr txBox="1">
              <a:spLocks noChangeArrowheads="1"/>
            </p:cNvSpPr>
            <p:nvPr/>
          </p:nvSpPr>
          <p:spPr bwMode="auto">
            <a:xfrm>
              <a:off x="6523756" y="3645233"/>
              <a:ext cx="14382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2000" dirty="0">
                  <a:latin typeface="Arial" charset="0"/>
                </a:rPr>
                <a:t>web server</a:t>
              </a:r>
            </a:p>
          </p:txBody>
        </p:sp>
        <p:sp>
          <p:nvSpPr>
            <p:cNvPr id="19482" name="TextBox 62">
              <a:extLst>
                <a:ext uri="{FF2B5EF4-FFF2-40B4-BE49-F238E27FC236}">
                  <a16:creationId xmlns:a16="http://schemas.microsoft.com/office/drawing/2014/main" id="{249FB851-52CC-3949-97A5-D3D39B7F215F}"/>
                </a:ext>
              </a:extLst>
            </p:cNvPr>
            <p:cNvSpPr txBox="1">
              <a:spLocks noChangeArrowheads="1"/>
            </p:cNvSpPr>
            <p:nvPr/>
          </p:nvSpPr>
          <p:spPr bwMode="auto">
            <a:xfrm>
              <a:off x="6819030" y="2673684"/>
              <a:ext cx="6588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spcBef>
                  <a:spcPct val="0"/>
                </a:spcBef>
                <a:buFontTx/>
                <a:buNone/>
              </a:pPr>
              <a:r>
                <a:rPr lang="en-US" altLang="en-US" sz="1800" dirty="0">
                  <a:solidFill>
                    <a:schemeClr val="bg1"/>
                  </a:solidFill>
                  <a:latin typeface="Arial" panose="020B0604020202020204" pitchFamily="34" charset="0"/>
                </a:rPr>
                <a:t>PHP</a:t>
              </a:r>
            </a:p>
          </p:txBody>
        </p:sp>
        <p:sp>
          <p:nvSpPr>
            <p:cNvPr id="19483" name="TextBox 63">
              <a:extLst>
                <a:ext uri="{FF2B5EF4-FFF2-40B4-BE49-F238E27FC236}">
                  <a16:creationId xmlns:a16="http://schemas.microsoft.com/office/drawing/2014/main" id="{DEC0AC62-A765-6144-B47F-3A3003721D65}"/>
                </a:ext>
              </a:extLst>
            </p:cNvPr>
            <p:cNvSpPr txBox="1">
              <a:spLocks noChangeArrowheads="1"/>
            </p:cNvSpPr>
            <p:nvPr/>
          </p:nvSpPr>
          <p:spPr bwMode="auto">
            <a:xfrm>
              <a:off x="7354017" y="2961020"/>
              <a:ext cx="66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Helvetica Neue Light" panose="02000403000000020004" pitchFamily="2" charset="0"/>
                  <a:ea typeface="ＭＳ Ｐゴシック" panose="020B0600070205080204" pitchFamily="34" charset="-128"/>
                </a:defRPr>
              </a:lvl1pPr>
              <a:lvl2pPr marL="742950" indent="-285750">
                <a:spcBef>
                  <a:spcPct val="20000"/>
                </a:spcBef>
                <a:buChar char="–"/>
                <a:defRPr sz="2800">
                  <a:solidFill>
                    <a:schemeClr val="tx1"/>
                  </a:solidFill>
                  <a:latin typeface="Helvetica Neue Light" panose="02000403000000020004" pitchFamily="2" charset="0"/>
                  <a:ea typeface="ＭＳ Ｐゴシック" panose="020B0600070205080204" pitchFamily="34" charset="-128"/>
                </a:defRPr>
              </a:lvl2pPr>
              <a:lvl3pPr marL="1143000" indent="-228600">
                <a:spcBef>
                  <a:spcPct val="20000"/>
                </a:spcBef>
                <a:buChar char="•"/>
                <a:defRPr sz="2400">
                  <a:solidFill>
                    <a:schemeClr val="tx1"/>
                  </a:solidFill>
                  <a:latin typeface="Helvetica Neue Light" panose="02000403000000020004" pitchFamily="2" charset="0"/>
                  <a:ea typeface="ＭＳ Ｐゴシック" panose="020B0600070205080204" pitchFamily="34" charset="-128"/>
                </a:defRPr>
              </a:lvl3pPr>
              <a:lvl4pPr marL="16002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4pPr>
              <a:lvl5pPr marL="2057400" indent="-228600">
                <a:spcBef>
                  <a:spcPct val="20000"/>
                </a:spcBef>
                <a:buChar char="»"/>
                <a:defRPr sz="2000">
                  <a:solidFill>
                    <a:schemeClr val="tx1"/>
                  </a:solidFill>
                  <a:latin typeface="Helvetica Neue Light" panose="02000403000000020004"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Helvetica Neue Light" panose="02000403000000020004" pitchFamily="2" charset="0"/>
                  <a:ea typeface="ＭＳ Ｐゴシック" panose="020B0600070205080204" pitchFamily="34" charset="-128"/>
                </a:defRPr>
              </a:lvl9pPr>
            </a:lstStyle>
            <a:p>
              <a:pPr>
                <a:spcBef>
                  <a:spcPct val="0"/>
                </a:spcBef>
                <a:buFontTx/>
                <a:buNone/>
              </a:pPr>
              <a:r>
                <a:rPr lang="en-US" altLang="en-US" sz="1800" dirty="0">
                  <a:solidFill>
                    <a:schemeClr val="bg1"/>
                  </a:solidFill>
                  <a:latin typeface="Arial" panose="020B0604020202020204" pitchFamily="34" charset="0"/>
                </a:rPr>
                <a:t>PHP</a:t>
              </a:r>
            </a:p>
          </p:txBody>
        </p:sp>
      </p:grpSp>
      <p:sp>
        <p:nvSpPr>
          <p:cNvPr id="28" name="Oval 16">
            <a:extLst>
              <a:ext uri="{FF2B5EF4-FFF2-40B4-BE49-F238E27FC236}">
                <a16:creationId xmlns:a16="http://schemas.microsoft.com/office/drawing/2014/main" id="{353535DF-C2EE-F84C-9EC9-404B37A4BA64}"/>
              </a:ext>
            </a:extLst>
          </p:cNvPr>
          <p:cNvSpPr>
            <a:spLocks noChangeArrowheads="1"/>
          </p:cNvSpPr>
          <p:nvPr/>
        </p:nvSpPr>
        <p:spPr bwMode="auto">
          <a:xfrm>
            <a:off x="8834361" y="2638071"/>
            <a:ext cx="758031" cy="576262"/>
          </a:xfrm>
          <a:prstGeom prst="ellipse">
            <a:avLst/>
          </a:prstGeom>
          <a:solidFill>
            <a:schemeClr val="bg1">
              <a:lumMod val="75000"/>
            </a:schemeClr>
          </a:solidFill>
          <a:ln w="9525">
            <a:solidFill>
              <a:schemeClr val="tx1"/>
            </a:solidFill>
            <a:round/>
            <a:headEnd/>
            <a:tailEnd/>
          </a:ln>
          <a:effec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1200" dirty="0">
                <a:solidFill>
                  <a:schemeClr val="bg1"/>
                </a:solidFill>
                <a:latin typeface="Arial" charset="0"/>
              </a:rPr>
              <a:t>MySQL</a:t>
            </a:r>
          </a:p>
        </p:txBody>
      </p:sp>
      <p:sp>
        <p:nvSpPr>
          <p:cNvPr id="4" name="TextBox 3">
            <a:extLst>
              <a:ext uri="{FF2B5EF4-FFF2-40B4-BE49-F238E27FC236}">
                <a16:creationId xmlns:a16="http://schemas.microsoft.com/office/drawing/2014/main" id="{69D39864-DFAF-C747-AF69-578B22C8A83D}"/>
              </a:ext>
            </a:extLst>
          </p:cNvPr>
          <p:cNvSpPr txBox="1"/>
          <p:nvPr/>
        </p:nvSpPr>
        <p:spPr>
          <a:xfrm>
            <a:off x="1054316" y="4281133"/>
            <a:ext cx="10299484" cy="2062103"/>
          </a:xfrm>
          <a:prstGeom prst="rect">
            <a:avLst/>
          </a:prstGeom>
          <a:noFill/>
        </p:spPr>
        <p:txBody>
          <a:bodyPr wrap="square" rtlCol="0">
            <a:spAutoFit/>
          </a:bodyPr>
          <a:lstStyle/>
          <a:p>
            <a:r>
              <a:rPr lang="en-US" altLang="en-US" sz="1600" dirty="0">
                <a:latin typeface="Comic Sans MS" panose="030F0902030302020204" pitchFamily="66" charset="0"/>
                <a:ea typeface="Helvetica Neue" panose="02000503000000020004" pitchFamily="2" charset="0"/>
                <a:cs typeface="Helvetica Neue" panose="02000503000000020004" pitchFamily="2" charset="0"/>
              </a:rPr>
              <a:t>HTTP: Application layer request-response protocol for distributed, collaborative, and hypermedia information systems</a:t>
            </a:r>
          </a:p>
          <a:p>
            <a:pPr marL="742950" lvl="1" indent="-285750">
              <a:buFont typeface="Arial" panose="020B0604020202020204" pitchFamily="34" charset="0"/>
              <a:buChar char="•"/>
            </a:pPr>
            <a:r>
              <a:rPr lang="en-US" altLang="en-US" sz="1600" dirty="0">
                <a:latin typeface="Comic Sans MS" panose="030F0902030302020204" pitchFamily="66" charset="0"/>
                <a:ea typeface="Helvetica Neue" panose="02000503000000020004" pitchFamily="2" charset="0"/>
                <a:cs typeface="Helvetica Neue" panose="02000503000000020004" pitchFamily="2" charset="0"/>
              </a:rPr>
              <a:t>Widely used</a:t>
            </a:r>
          </a:p>
          <a:p>
            <a:pPr marL="742950" lvl="1" indent="-285750">
              <a:buFont typeface="Arial" panose="020B0604020202020204" pitchFamily="34" charset="0"/>
              <a:buChar char="•"/>
            </a:pPr>
            <a:r>
              <a:rPr lang="en-US" altLang="en-US" sz="1600" dirty="0">
                <a:latin typeface="Comic Sans MS" panose="030F0902030302020204" pitchFamily="66" charset="0"/>
                <a:ea typeface="Helvetica Neue" panose="02000503000000020004" pitchFamily="2" charset="0"/>
                <a:cs typeface="Helvetica Neue" panose="02000503000000020004" pitchFamily="2" charset="0"/>
              </a:rPr>
              <a:t>Simple</a:t>
            </a:r>
          </a:p>
          <a:p>
            <a:pPr marL="742950" lvl="1" indent="-285750">
              <a:buFont typeface="Arial" panose="020B0604020202020204" pitchFamily="34" charset="0"/>
              <a:buChar char="•"/>
            </a:pPr>
            <a:r>
              <a:rPr lang="en-US" altLang="en-US" sz="1600" dirty="0">
                <a:latin typeface="Comic Sans MS" panose="030F0902030302020204" pitchFamily="66" charset="0"/>
                <a:ea typeface="Helvetica Neue" panose="02000503000000020004" pitchFamily="2" charset="0"/>
                <a:cs typeface="Helvetica Neue" panose="02000503000000020004" pitchFamily="2" charset="0"/>
              </a:rPr>
              <a:t>Stateless</a:t>
            </a:r>
          </a:p>
          <a:p>
            <a:pPr marL="742950" lvl="1" indent="-285750">
              <a:buFont typeface="Arial" panose="020B0604020202020204" pitchFamily="34" charset="0"/>
              <a:buChar char="•"/>
            </a:pPr>
            <a:r>
              <a:rPr lang="en-US" altLang="en-US" sz="1600" dirty="0">
                <a:latin typeface="Comic Sans MS" panose="030F0902030302020204" pitchFamily="66" charset="0"/>
                <a:ea typeface="Helvetica Neue" panose="02000503000000020004" pitchFamily="2" charset="0"/>
                <a:cs typeface="Helvetica Neue" panose="02000503000000020004" pitchFamily="2" charset="0"/>
              </a:rPr>
              <a:t>Unencrypted</a:t>
            </a:r>
          </a:p>
          <a:p>
            <a:pPr marL="742950" lvl="1" indent="-285750">
              <a:buFont typeface="Arial" panose="020B0604020202020204" pitchFamily="34" charset="0"/>
              <a:buChar char="•"/>
            </a:pPr>
            <a:endParaRPr lang="en-US" altLang="en-US" sz="1600" dirty="0">
              <a:latin typeface="Comic Sans MS" panose="030F0902030302020204" pitchFamily="66" charset="0"/>
              <a:ea typeface="Helvetica Neue" panose="02000503000000020004" pitchFamily="2" charset="0"/>
              <a:cs typeface="Helvetica Neue" panose="02000503000000020004" pitchFamily="2" charset="0"/>
            </a:endParaRPr>
          </a:p>
          <a:p>
            <a:r>
              <a:rPr lang="en-US" altLang="en-US" sz="1600" dirty="0">
                <a:latin typeface="Comic Sans MS" panose="030F0902030302020204" pitchFamily="66" charset="0"/>
                <a:ea typeface="Helvetica Neue" panose="02000503000000020004" pitchFamily="2" charset="0"/>
                <a:cs typeface="Helvetica Neue" panose="02000503000000020004" pitchFamily="2" charset="0"/>
              </a:rPr>
              <a:t>HTTPS Protocol: HTTP protocol with security extension, relying on SSL/TLS protocol in transport layer</a:t>
            </a:r>
          </a:p>
        </p:txBody>
      </p:sp>
      <p:sp>
        <p:nvSpPr>
          <p:cNvPr id="32" name="TextBox 31">
            <a:extLst>
              <a:ext uri="{FF2B5EF4-FFF2-40B4-BE49-F238E27FC236}">
                <a16:creationId xmlns:a16="http://schemas.microsoft.com/office/drawing/2014/main" id="{951F66F3-7583-324E-A233-F51ABFE6464D}"/>
              </a:ext>
            </a:extLst>
          </p:cNvPr>
          <p:cNvSpPr txBox="1"/>
          <p:nvPr/>
        </p:nvSpPr>
        <p:spPr>
          <a:xfrm>
            <a:off x="1784554" y="1039030"/>
            <a:ext cx="7323028" cy="338554"/>
          </a:xfrm>
          <a:prstGeom prst="rect">
            <a:avLst/>
          </a:prstGeom>
          <a:noFill/>
        </p:spPr>
        <p:txBody>
          <a:bodyPr wrap="square" rtlCol="0">
            <a:spAutoFit/>
          </a:bodyPr>
          <a:lstStyle/>
          <a:p>
            <a:r>
              <a:rPr lang="en-US" altLang="en-US" sz="1600" dirty="0">
                <a:latin typeface="Comic Sans MS" panose="030F0902030302020204" pitchFamily="66" charset="0"/>
              </a:rPr>
              <a:t>URL: Global Identifier (address) of a resource on the internet</a:t>
            </a:r>
          </a:p>
        </p:txBody>
      </p:sp>
      <p:sp>
        <p:nvSpPr>
          <p:cNvPr id="34" name="Rectangle 3">
            <a:extLst>
              <a:ext uri="{FF2B5EF4-FFF2-40B4-BE49-F238E27FC236}">
                <a16:creationId xmlns:a16="http://schemas.microsoft.com/office/drawing/2014/main" id="{2B1A6DF4-C1A4-B24E-A748-A1FEE98E6A0C}"/>
              </a:ext>
            </a:extLst>
          </p:cNvPr>
          <p:cNvSpPr>
            <a:spLocks noChangeArrowheads="1"/>
          </p:cNvSpPr>
          <p:nvPr/>
        </p:nvSpPr>
        <p:spPr bwMode="auto">
          <a:xfrm>
            <a:off x="2196540" y="1725129"/>
            <a:ext cx="1616075" cy="31112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de-DE" altLang="en-US" sz="1200" dirty="0" err="1">
                <a:latin typeface="Comic Sans MS" panose="030F0902030302020204" pitchFamily="66" charset="0"/>
              </a:rPr>
              <a:t>abc.com</a:t>
            </a:r>
            <a:r>
              <a:rPr lang="de-DE" altLang="en-US" sz="1200" dirty="0">
                <a:latin typeface="Comic Sans MS" panose="030F0902030302020204" pitchFamily="66" charset="0"/>
              </a:rPr>
              <a:t>/</a:t>
            </a:r>
            <a:r>
              <a:rPr lang="de-DE" altLang="en-US" sz="1200" dirty="0" err="1">
                <a:latin typeface="Comic Sans MS" panose="030F0902030302020204" pitchFamily="66" charset="0"/>
              </a:rPr>
              <a:t>x.php?q</a:t>
            </a:r>
            <a:r>
              <a:rPr lang="de-DE" altLang="en-US" sz="1200" dirty="0">
                <a:latin typeface="Comic Sans MS" panose="030F0902030302020204" pitchFamily="66" charset="0"/>
              </a:rPr>
              <a:t>=s</a:t>
            </a:r>
          </a:p>
        </p:txBody>
      </p:sp>
      <p:grpSp>
        <p:nvGrpSpPr>
          <p:cNvPr id="8" name="Group 7">
            <a:extLst>
              <a:ext uri="{FF2B5EF4-FFF2-40B4-BE49-F238E27FC236}">
                <a16:creationId xmlns:a16="http://schemas.microsoft.com/office/drawing/2014/main" id="{BB8BE5DE-F7F3-D342-A312-9E7588E0D733}"/>
              </a:ext>
            </a:extLst>
          </p:cNvPr>
          <p:cNvGrpSpPr/>
          <p:nvPr/>
        </p:nvGrpSpPr>
        <p:grpSpPr>
          <a:xfrm>
            <a:off x="2207343" y="1730709"/>
            <a:ext cx="1616075" cy="2314574"/>
            <a:chOff x="2207343" y="1730709"/>
            <a:chExt cx="1616075" cy="2314574"/>
          </a:xfrm>
        </p:grpSpPr>
        <p:sp>
          <p:nvSpPr>
            <p:cNvPr id="6150" name="Rectangle 3">
              <a:extLst>
                <a:ext uri="{FF2B5EF4-FFF2-40B4-BE49-F238E27FC236}">
                  <a16:creationId xmlns:a16="http://schemas.microsoft.com/office/drawing/2014/main" id="{E0821865-6C23-1A4C-9F47-B61068023B82}"/>
                </a:ext>
              </a:extLst>
            </p:cNvPr>
            <p:cNvSpPr>
              <a:spLocks noChangeArrowheads="1"/>
            </p:cNvSpPr>
            <p:nvPr/>
          </p:nvSpPr>
          <p:spPr bwMode="auto">
            <a:xfrm>
              <a:off x="2207343" y="1730709"/>
              <a:ext cx="1616075" cy="22891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endParaRPr lang="de-DE" altLang="en-US" sz="2400">
                <a:latin typeface="Arial" charset="0"/>
              </a:endParaRPr>
            </a:p>
          </p:txBody>
        </p:sp>
        <p:sp>
          <p:nvSpPr>
            <p:cNvPr id="6164" name="Text Box 20">
              <a:extLst>
                <a:ext uri="{FF2B5EF4-FFF2-40B4-BE49-F238E27FC236}">
                  <a16:creationId xmlns:a16="http://schemas.microsoft.com/office/drawing/2014/main" id="{41C049BD-3375-3041-8F3B-9956ECED55E5}"/>
                </a:ext>
              </a:extLst>
            </p:cNvPr>
            <p:cNvSpPr txBox="1">
              <a:spLocks noChangeArrowheads="1"/>
            </p:cNvSpPr>
            <p:nvPr/>
          </p:nvSpPr>
          <p:spPr bwMode="auto">
            <a:xfrm>
              <a:off x="2467693" y="3645233"/>
              <a:ext cx="10953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spAutoFit/>
            </a:bodyPr>
            <a:lstStyle>
              <a:lvl1pPr>
                <a:spcBef>
                  <a:spcPct val="20000"/>
                </a:spcBef>
                <a:buChar char="•"/>
                <a:defRPr sz="3200">
                  <a:solidFill>
                    <a:schemeClr val="tx1"/>
                  </a:solidFill>
                  <a:latin typeface="Helvetica Neue Light" charset="0"/>
                  <a:ea typeface="ＭＳ Ｐゴシック" charset="-128"/>
                </a:defRPr>
              </a:lvl1pPr>
              <a:lvl2pPr marL="742950" indent="-285750">
                <a:spcBef>
                  <a:spcPct val="20000"/>
                </a:spcBef>
                <a:buChar char="–"/>
                <a:defRPr sz="2800">
                  <a:solidFill>
                    <a:schemeClr val="tx1"/>
                  </a:solidFill>
                  <a:latin typeface="Helvetica Neue Light" charset="0"/>
                  <a:ea typeface="ＭＳ Ｐゴシック" charset="-128"/>
                </a:defRPr>
              </a:lvl2pPr>
              <a:lvl3pPr marL="1143000" indent="-228600">
                <a:spcBef>
                  <a:spcPct val="20000"/>
                </a:spcBef>
                <a:buChar char="•"/>
                <a:defRPr sz="2400">
                  <a:solidFill>
                    <a:schemeClr val="tx1"/>
                  </a:solidFill>
                  <a:latin typeface="Helvetica Neue Light" charset="0"/>
                  <a:ea typeface="ＭＳ Ｐゴシック" charset="-128"/>
                </a:defRPr>
              </a:lvl3pPr>
              <a:lvl4pPr marL="1600200" indent="-228600">
                <a:spcBef>
                  <a:spcPct val="20000"/>
                </a:spcBef>
                <a:buChar char="–"/>
                <a:defRPr sz="2000">
                  <a:solidFill>
                    <a:schemeClr val="tx1"/>
                  </a:solidFill>
                  <a:latin typeface="Helvetica Neue Light" charset="0"/>
                  <a:ea typeface="ＭＳ Ｐゴシック" charset="-128"/>
                </a:defRPr>
              </a:lvl4pPr>
              <a:lvl5pPr marL="2057400" indent="-228600">
                <a:spcBef>
                  <a:spcPct val="20000"/>
                </a:spcBef>
                <a:buChar char="»"/>
                <a:defRPr sz="2000">
                  <a:solidFill>
                    <a:schemeClr val="tx1"/>
                  </a:solidFill>
                  <a:latin typeface="Helvetica Neue Light" charset="0"/>
                  <a:ea typeface="ＭＳ Ｐゴシック" charset="-128"/>
                </a:defRPr>
              </a:lvl5pPr>
              <a:lvl6pPr marL="25146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6pPr>
              <a:lvl7pPr marL="29718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7pPr>
              <a:lvl8pPr marL="34290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8pPr>
              <a:lvl9pPr marL="3886200" indent="-228600" eaLnBrk="0" fontAlgn="base" hangingPunct="0">
                <a:spcBef>
                  <a:spcPct val="20000"/>
                </a:spcBef>
                <a:spcAft>
                  <a:spcPct val="0"/>
                </a:spcAft>
                <a:buChar char="»"/>
                <a:defRPr sz="2000">
                  <a:solidFill>
                    <a:schemeClr val="tx1"/>
                  </a:solidFill>
                  <a:latin typeface="Helvetica Neue Light" charset="0"/>
                  <a:ea typeface="ＭＳ Ｐゴシック" charset="-128"/>
                </a:defRPr>
              </a:lvl9pPr>
            </a:lstStyle>
            <a:p>
              <a:pPr>
                <a:spcBef>
                  <a:spcPct val="0"/>
                </a:spcBef>
                <a:buFontTx/>
                <a:buNone/>
                <a:defRPr/>
              </a:pPr>
              <a:r>
                <a:rPr lang="en-GB" altLang="de-DE" sz="2000" dirty="0">
                  <a:latin typeface="Arial" charset="0"/>
                </a:rPr>
                <a:t>browser</a:t>
              </a:r>
            </a:p>
          </p:txBody>
        </p:sp>
        <p:cxnSp>
          <p:nvCxnSpPr>
            <p:cNvPr id="7" name="Straight Connector 6">
              <a:extLst>
                <a:ext uri="{FF2B5EF4-FFF2-40B4-BE49-F238E27FC236}">
                  <a16:creationId xmlns:a16="http://schemas.microsoft.com/office/drawing/2014/main" id="{4F3B4AE4-E96A-A94F-9B80-22070D9A9A74}"/>
                </a:ext>
              </a:extLst>
            </p:cNvPr>
            <p:cNvCxnSpPr/>
            <p:nvPr/>
          </p:nvCxnSpPr>
          <p:spPr>
            <a:xfrm>
              <a:off x="2207343" y="2027570"/>
              <a:ext cx="1616075" cy="8680"/>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9263204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6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6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15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6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16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17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16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16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 grpId="0" animBg="1"/>
      <p:bldP spid="6162" grpId="0"/>
      <p:bldP spid="6163" grpId="0"/>
      <p:bldP spid="6166" grpId="0"/>
      <p:bldP spid="28" grpId="0" animBg="1"/>
      <p:bldP spid="4" grpId="0"/>
      <p:bldP spid="32" grpId="0"/>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08109C6B-F2AB-664E-8FDB-4C615D0BD674}"/>
              </a:ext>
            </a:extLst>
          </p:cNvPr>
          <p:cNvSpPr>
            <a:spLocks noGrp="1" noChangeArrowheads="1"/>
          </p:cNvSpPr>
          <p:nvPr>
            <p:ph type="title"/>
          </p:nvPr>
        </p:nvSpPr>
        <p:spPr/>
        <p:txBody>
          <a:bodyPr/>
          <a:lstStyle/>
          <a:p>
            <a:r>
              <a:rPr lang="en-US" altLang="en-US"/>
              <a:t>URL</a:t>
            </a:r>
          </a:p>
        </p:txBody>
      </p:sp>
      <p:sp>
        <p:nvSpPr>
          <p:cNvPr id="23554" name="Content Placeholder 2">
            <a:extLst>
              <a:ext uri="{FF2B5EF4-FFF2-40B4-BE49-F238E27FC236}">
                <a16:creationId xmlns:a16="http://schemas.microsoft.com/office/drawing/2014/main" id="{4041576D-418A-6443-A776-469CE4CBDDE2}"/>
              </a:ext>
            </a:extLst>
          </p:cNvPr>
          <p:cNvSpPr>
            <a:spLocks noGrp="1" noChangeArrowheads="1"/>
          </p:cNvSpPr>
          <p:nvPr>
            <p:ph idx="1"/>
          </p:nvPr>
        </p:nvSpPr>
        <p:spPr/>
        <p:txBody>
          <a:bodyPr>
            <a:normAutofit/>
          </a:bodyPr>
          <a:lstStyle/>
          <a:p>
            <a:r>
              <a:rPr lang="en-US" altLang="en-US" sz="2400" dirty="0"/>
              <a:t>Global Identifier (address) of a resource on the internet </a:t>
            </a:r>
          </a:p>
          <a:p>
            <a:r>
              <a:rPr lang="en-US" altLang="en-US" sz="2400" dirty="0"/>
              <a:t>Example: </a:t>
            </a:r>
            <a:r>
              <a:rPr lang="en-US" altLang="en-US" sz="2000" dirty="0">
                <a:latin typeface="Consolas" panose="020B0609020204030204" pitchFamily="49" charset="0"/>
              </a:rPr>
              <a:t>https://</a:t>
            </a:r>
            <a:r>
              <a:rPr lang="en-US" altLang="en-US" sz="2000" dirty="0" err="1">
                <a:latin typeface="Consolas" panose="020B0609020204030204" pitchFamily="49" charset="0"/>
              </a:rPr>
              <a:t>smu.edu.sg</a:t>
            </a:r>
            <a:r>
              <a:rPr lang="en-US" altLang="en-US" sz="2000" dirty="0">
                <a:latin typeface="Consolas" panose="020B0609020204030204" pitchFamily="49" charset="0"/>
              </a:rPr>
              <a:t>/staff/</a:t>
            </a:r>
            <a:r>
              <a:rPr lang="en-US" altLang="en-US" sz="2000" dirty="0" err="1">
                <a:latin typeface="Consolas" panose="020B0609020204030204" pitchFamily="49" charset="0"/>
              </a:rPr>
              <a:t>faculty.php?user</a:t>
            </a:r>
            <a:r>
              <a:rPr lang="en-US" altLang="en-US" sz="2000" dirty="0">
                <a:latin typeface="Consolas" panose="020B0609020204030204" pitchFamily="49" charset="0"/>
              </a:rPr>
              <a:t>=lk%20shar#Faculty </a:t>
            </a:r>
          </a:p>
          <a:p>
            <a:pPr lvl="1"/>
            <a:r>
              <a:rPr lang="en-US" altLang="en-US" sz="2200" dirty="0">
                <a:solidFill>
                  <a:srgbClr val="262626"/>
                </a:solidFill>
              </a:rPr>
              <a:t>Protocol (scheme): https</a:t>
            </a:r>
          </a:p>
          <a:p>
            <a:pPr lvl="1"/>
            <a:r>
              <a:rPr lang="en-US" altLang="en-US" sz="2200" dirty="0">
                <a:solidFill>
                  <a:srgbClr val="262626"/>
                </a:solidFill>
              </a:rPr>
              <a:t>Host: </a:t>
            </a:r>
            <a:r>
              <a:rPr lang="en-US" altLang="en-US" sz="2200" dirty="0" err="1">
                <a:solidFill>
                  <a:srgbClr val="262626"/>
                </a:solidFill>
              </a:rPr>
              <a:t>smu.edu.sg</a:t>
            </a:r>
            <a:endParaRPr lang="en-US" altLang="en-US" sz="2200" dirty="0">
              <a:solidFill>
                <a:srgbClr val="262626"/>
              </a:solidFill>
            </a:endParaRPr>
          </a:p>
          <a:p>
            <a:pPr lvl="1"/>
            <a:r>
              <a:rPr lang="en-US" altLang="en-US" sz="2200" dirty="0">
                <a:solidFill>
                  <a:srgbClr val="262626"/>
                </a:solidFill>
              </a:rPr>
              <a:t>Path: </a:t>
            </a:r>
            <a:r>
              <a:rPr lang="en-US" altLang="en-US" dirty="0">
                <a:solidFill>
                  <a:srgbClr val="262626"/>
                </a:solidFill>
              </a:rPr>
              <a:t>staff</a:t>
            </a:r>
            <a:r>
              <a:rPr lang="en-US" altLang="en-US" sz="2200" dirty="0">
                <a:solidFill>
                  <a:srgbClr val="262626"/>
                </a:solidFill>
              </a:rPr>
              <a:t>/</a:t>
            </a:r>
            <a:r>
              <a:rPr lang="en-US" altLang="en-US" sz="2200" dirty="0" err="1">
                <a:solidFill>
                  <a:srgbClr val="262626"/>
                </a:solidFill>
              </a:rPr>
              <a:t>faculty.php</a:t>
            </a:r>
            <a:endParaRPr lang="en-US" altLang="en-US" sz="2200" dirty="0">
              <a:solidFill>
                <a:srgbClr val="262626"/>
              </a:solidFill>
            </a:endParaRPr>
          </a:p>
          <a:p>
            <a:pPr lvl="1"/>
            <a:r>
              <a:rPr lang="en-US" altLang="en-US" sz="2200" dirty="0">
                <a:solidFill>
                  <a:srgbClr val="262626"/>
                </a:solidFill>
              </a:rPr>
              <a:t>Query: user=</a:t>
            </a:r>
            <a:r>
              <a:rPr lang="en-US" altLang="en-US" sz="2200" dirty="0" err="1">
                <a:solidFill>
                  <a:srgbClr val="262626"/>
                </a:solidFill>
              </a:rPr>
              <a:t>lk</a:t>
            </a:r>
            <a:r>
              <a:rPr lang="en-US" altLang="en-US" sz="2200" dirty="0">
                <a:solidFill>
                  <a:srgbClr val="262626"/>
                </a:solidFill>
              </a:rPr>
              <a:t> shar, Fragment: Faculty</a:t>
            </a:r>
            <a:endParaRPr lang="en-US" altLang="en-US" sz="2200" dirty="0"/>
          </a:p>
          <a:p>
            <a:r>
              <a:rPr lang="en-US" altLang="en-US" sz="2400" dirty="0"/>
              <a:t>Special characters are encoded (URL encoding) as hex:</a:t>
            </a:r>
          </a:p>
          <a:p>
            <a:pPr lvl="1"/>
            <a:r>
              <a:rPr lang="en-US" altLang="en-US" sz="2200" dirty="0"/>
              <a:t>Newline as %0A</a:t>
            </a:r>
          </a:p>
          <a:p>
            <a:pPr lvl="1"/>
            <a:r>
              <a:rPr lang="en-US" altLang="en-US" sz="2200" dirty="0"/>
              <a:t>Space as %20 or +</a:t>
            </a:r>
          </a:p>
          <a:p>
            <a:endParaRPr lang="en-US" altLang="en-US" dirty="0"/>
          </a:p>
        </p:txBody>
      </p:sp>
    </p:spTree>
    <p:extLst>
      <p:ext uri="{BB962C8B-B14F-4D97-AF65-F5344CB8AC3E}">
        <p14:creationId xmlns:p14="http://schemas.microsoft.com/office/powerpoint/2010/main" val="2950931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C66B9-BFEE-6E4B-9B0F-0C55ECBD7F55}"/>
              </a:ext>
            </a:extLst>
          </p:cNvPr>
          <p:cNvSpPr>
            <a:spLocks noGrp="1"/>
          </p:cNvSpPr>
          <p:nvPr>
            <p:ph type="title"/>
          </p:nvPr>
        </p:nvSpPr>
        <p:spPr/>
        <p:txBody>
          <a:bodyPr/>
          <a:lstStyle/>
          <a:p>
            <a:r>
              <a:rPr lang="en-GB" dirty="0"/>
              <a:t>HTTP</a:t>
            </a:r>
          </a:p>
        </p:txBody>
      </p:sp>
      <p:sp>
        <p:nvSpPr>
          <p:cNvPr id="3" name="Content Placeholder 2">
            <a:extLst>
              <a:ext uri="{FF2B5EF4-FFF2-40B4-BE49-F238E27FC236}">
                <a16:creationId xmlns:a16="http://schemas.microsoft.com/office/drawing/2014/main" id="{45387F04-A2E6-FA48-A19B-558B6C314DF9}"/>
              </a:ext>
            </a:extLst>
          </p:cNvPr>
          <p:cNvSpPr>
            <a:spLocks noGrp="1"/>
          </p:cNvSpPr>
          <p:nvPr>
            <p:ph idx="1"/>
          </p:nvPr>
        </p:nvSpPr>
        <p:spPr/>
        <p:txBody>
          <a:bodyPr/>
          <a:lstStyle/>
          <a:p>
            <a:r>
              <a:rPr lang="en-GB" b="1" dirty="0"/>
              <a:t>HTTP</a:t>
            </a:r>
            <a:r>
              <a:rPr lang="en-GB" dirty="0"/>
              <a:t>: Hypertext Transfer Protocol</a:t>
            </a:r>
          </a:p>
          <a:p>
            <a:pPr lvl="1"/>
            <a:r>
              <a:rPr lang="en-GB" dirty="0"/>
              <a:t>on top of TCP protocol, default port number: 80, text based</a:t>
            </a:r>
          </a:p>
          <a:p>
            <a:r>
              <a:rPr lang="en-GB" b="1" dirty="0"/>
              <a:t>Three Basic Features</a:t>
            </a:r>
            <a:endParaRPr lang="en-GB" dirty="0">
              <a:solidFill>
                <a:srgbClr val="FF0000"/>
              </a:solidFill>
            </a:endParaRPr>
          </a:p>
          <a:p>
            <a:pPr lvl="1"/>
            <a:r>
              <a:rPr lang="en-GB" b="1" dirty="0">
                <a:solidFill>
                  <a:srgbClr val="102B72"/>
                </a:solidFill>
              </a:rPr>
              <a:t>connectionless</a:t>
            </a:r>
            <a:r>
              <a:rPr lang="en-GB" dirty="0"/>
              <a:t>: the connection is closed if no response or request. </a:t>
            </a:r>
          </a:p>
          <a:p>
            <a:pPr lvl="1"/>
            <a:r>
              <a:rPr lang="en-GB" b="1" dirty="0">
                <a:solidFill>
                  <a:srgbClr val="102B72"/>
                </a:solidFill>
              </a:rPr>
              <a:t>media independent</a:t>
            </a:r>
            <a:r>
              <a:rPr lang="en-GB" dirty="0"/>
              <a:t>: any media can be sent as long as client and server know how to handle.</a:t>
            </a:r>
          </a:p>
          <a:p>
            <a:pPr lvl="1"/>
            <a:r>
              <a:rPr lang="en-GB" b="1" dirty="0">
                <a:solidFill>
                  <a:srgbClr val="102B72"/>
                </a:solidFill>
              </a:rPr>
              <a:t>stateless</a:t>
            </a:r>
            <a:r>
              <a:rPr lang="en-GB" dirty="0"/>
              <a:t>: server and client are only aware of each other during the current request.</a:t>
            </a:r>
          </a:p>
        </p:txBody>
      </p:sp>
      <p:sp>
        <p:nvSpPr>
          <p:cNvPr id="4" name="TextBox 3">
            <a:extLst>
              <a:ext uri="{FF2B5EF4-FFF2-40B4-BE49-F238E27FC236}">
                <a16:creationId xmlns:a16="http://schemas.microsoft.com/office/drawing/2014/main" id="{3586BDF8-21BD-FF49-9311-93DA4075184E}"/>
              </a:ext>
            </a:extLst>
          </p:cNvPr>
          <p:cNvSpPr txBox="1"/>
          <p:nvPr/>
        </p:nvSpPr>
        <p:spPr>
          <a:xfrm>
            <a:off x="3817427" y="6547281"/>
            <a:ext cx="4557145" cy="307777"/>
          </a:xfrm>
          <a:prstGeom prst="rect">
            <a:avLst/>
          </a:prstGeom>
          <a:noFill/>
        </p:spPr>
        <p:txBody>
          <a:bodyPr wrap="none" rtlCol="0">
            <a:spAutoFit/>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https://</a:t>
            </a:r>
            <a:r>
              <a:rPr lang="en-GB" sz="1400" dirty="0" err="1">
                <a:latin typeface="Helvetica Neue" panose="02000503000000020004" pitchFamily="2" charset="0"/>
                <a:ea typeface="Helvetica Neue" panose="02000503000000020004" pitchFamily="2" charset="0"/>
                <a:cs typeface="Helvetica Neue" panose="02000503000000020004" pitchFamily="2" charset="0"/>
              </a:rPr>
              <a:t>www.tutorialspoint.com</a:t>
            </a:r>
            <a:r>
              <a:rPr lang="en-GB" sz="1400" dirty="0">
                <a:latin typeface="Helvetica Neue" panose="02000503000000020004" pitchFamily="2" charset="0"/>
                <a:ea typeface="Helvetica Neue" panose="02000503000000020004" pitchFamily="2" charset="0"/>
                <a:cs typeface="Helvetica Neue" panose="02000503000000020004" pitchFamily="2" charset="0"/>
              </a:rPr>
              <a:t>/http/</a:t>
            </a:r>
            <a:r>
              <a:rPr lang="en-GB" sz="1400" dirty="0" err="1">
                <a:latin typeface="Helvetica Neue" panose="02000503000000020004" pitchFamily="2" charset="0"/>
                <a:ea typeface="Helvetica Neue" panose="02000503000000020004" pitchFamily="2" charset="0"/>
                <a:cs typeface="Helvetica Neue" panose="02000503000000020004" pitchFamily="2" charset="0"/>
              </a:rPr>
              <a:t>http_overview.htm</a:t>
            </a:r>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196721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BEA9FABC-3F28-D643-9991-840A129B8833}"/>
              </a:ext>
            </a:extLst>
          </p:cNvPr>
          <p:cNvSpPr>
            <a:spLocks noGrp="1" noChangeArrowheads="1"/>
          </p:cNvSpPr>
          <p:nvPr>
            <p:ph type="title"/>
          </p:nvPr>
        </p:nvSpPr>
        <p:spPr/>
        <p:txBody>
          <a:bodyPr/>
          <a:lstStyle/>
          <a:p>
            <a:r>
              <a:rPr lang="en-US" altLang="en-US" dirty="0"/>
              <a:t>HTTP Request</a:t>
            </a:r>
          </a:p>
        </p:txBody>
      </p:sp>
      <p:sp>
        <p:nvSpPr>
          <p:cNvPr id="6" name="Text Placeholder 5">
            <a:extLst>
              <a:ext uri="{FF2B5EF4-FFF2-40B4-BE49-F238E27FC236}">
                <a16:creationId xmlns:a16="http://schemas.microsoft.com/office/drawing/2014/main" id="{C70F2F44-F186-F649-A71F-3C7F829DD667}"/>
              </a:ext>
            </a:extLst>
          </p:cNvPr>
          <p:cNvSpPr>
            <a:spLocks noGrp="1"/>
          </p:cNvSpPr>
          <p:nvPr>
            <p:ph type="body" idx="4294967295"/>
          </p:nvPr>
        </p:nvSpPr>
        <p:spPr>
          <a:xfrm>
            <a:off x="2396344" y="6547281"/>
            <a:ext cx="7870367" cy="311100"/>
          </a:xfrm>
        </p:spPr>
        <p:txBody>
          <a:bodyPr>
            <a:normAutofit/>
          </a:bodyPr>
          <a:lstStyle/>
          <a:p>
            <a:pPr marL="0" indent="0" algn="ctr">
              <a:buNone/>
            </a:pPr>
            <a:r>
              <a:rPr lang="en-US" sz="1400" dirty="0"/>
              <a:t>https://</a:t>
            </a:r>
            <a:r>
              <a:rPr lang="en-US" sz="1400" dirty="0" err="1"/>
              <a:t>www.tutorialspoint.com</a:t>
            </a:r>
            <a:r>
              <a:rPr lang="en-US" sz="1400" dirty="0"/>
              <a:t>/http/</a:t>
            </a:r>
            <a:r>
              <a:rPr lang="en-US" sz="1400" dirty="0" err="1"/>
              <a:t>http_requests.htm</a:t>
            </a:r>
            <a:r>
              <a:rPr lang="en-US" sz="1400" dirty="0"/>
              <a:t> </a:t>
            </a:r>
            <a:endParaRPr lang="en-SG" sz="1400" dirty="0"/>
          </a:p>
        </p:txBody>
      </p:sp>
      <p:sp>
        <p:nvSpPr>
          <p:cNvPr id="4" name="Content Placeholder 3">
            <a:extLst>
              <a:ext uri="{FF2B5EF4-FFF2-40B4-BE49-F238E27FC236}">
                <a16:creationId xmlns:a16="http://schemas.microsoft.com/office/drawing/2014/main" id="{ECDDE50A-92C5-1142-B63B-7114EF295BC3}"/>
              </a:ext>
            </a:extLst>
          </p:cNvPr>
          <p:cNvSpPr>
            <a:spLocks noGrp="1"/>
          </p:cNvSpPr>
          <p:nvPr>
            <p:ph idx="1"/>
          </p:nvPr>
        </p:nvSpPr>
        <p:spPr>
          <a:xfrm>
            <a:off x="513350" y="1260073"/>
            <a:ext cx="5768533" cy="4723318"/>
          </a:xfrm>
        </p:spPr>
        <p:txBody>
          <a:bodyPr/>
          <a:lstStyle/>
          <a:p>
            <a:pPr marL="342900" indent="-342900">
              <a:defRPr/>
            </a:pPr>
            <a:r>
              <a:rPr lang="en-US" sz="2400" dirty="0"/>
              <a:t>Request line (method, </a:t>
            </a:r>
          </a:p>
          <a:p>
            <a:pPr marL="0" indent="0">
              <a:buNone/>
              <a:defRPr/>
            </a:pPr>
            <a:r>
              <a:rPr lang="en-US" dirty="0"/>
              <a:t>	</a:t>
            </a:r>
            <a:r>
              <a:rPr lang="en-US" sz="2400" dirty="0"/>
              <a:t>URI, protocol version)</a:t>
            </a:r>
          </a:p>
          <a:p>
            <a:pPr marL="342900" indent="-342900">
              <a:defRPr/>
            </a:pPr>
            <a:r>
              <a:rPr lang="en-US" sz="2400" dirty="0"/>
              <a:t>Zero or more header</a:t>
            </a:r>
          </a:p>
          <a:p>
            <a:pPr marL="342900" indent="-342900">
              <a:defRPr/>
            </a:pPr>
            <a:r>
              <a:rPr lang="en-US" sz="2400" dirty="0"/>
              <a:t>Empty line</a:t>
            </a:r>
          </a:p>
          <a:p>
            <a:pPr marL="342900" indent="-342900">
              <a:defRPr/>
            </a:pPr>
            <a:r>
              <a:rPr lang="en-US" sz="2400" dirty="0"/>
              <a:t>Message body (optional)</a:t>
            </a:r>
            <a:endParaRPr lang="en-SG" sz="2400" dirty="0"/>
          </a:p>
          <a:p>
            <a:endParaRPr lang="en-US" dirty="0"/>
          </a:p>
        </p:txBody>
      </p:sp>
      <p:pic>
        <p:nvPicPr>
          <p:cNvPr id="25607" name="Picture 2">
            <a:extLst>
              <a:ext uri="{FF2B5EF4-FFF2-40B4-BE49-F238E27FC236}">
                <a16:creationId xmlns:a16="http://schemas.microsoft.com/office/drawing/2014/main" id="{320B7E66-411E-2145-B861-527D938F22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1528" y="962123"/>
            <a:ext cx="47879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8" name="Picture 7">
            <a:extLst>
              <a:ext uri="{FF2B5EF4-FFF2-40B4-BE49-F238E27FC236}">
                <a16:creationId xmlns:a16="http://schemas.microsoft.com/office/drawing/2014/main" id="{92721596-4935-2541-AB64-7D6910F23A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1883" y="3463637"/>
            <a:ext cx="4851400"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048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0A4F81B8-C88E-344D-A9D9-84C6C43FCAE8}"/>
              </a:ext>
            </a:extLst>
          </p:cNvPr>
          <p:cNvSpPr>
            <a:spLocks noGrp="1" noChangeArrowheads="1"/>
          </p:cNvSpPr>
          <p:nvPr>
            <p:ph type="title"/>
          </p:nvPr>
        </p:nvSpPr>
        <p:spPr/>
        <p:txBody>
          <a:bodyPr/>
          <a:lstStyle/>
          <a:p>
            <a:r>
              <a:rPr lang="en-US" altLang="en-US" dirty="0"/>
              <a:t>HTTP Response</a:t>
            </a:r>
          </a:p>
        </p:txBody>
      </p:sp>
      <p:sp>
        <p:nvSpPr>
          <p:cNvPr id="4" name="Text Placeholder 3">
            <a:extLst>
              <a:ext uri="{FF2B5EF4-FFF2-40B4-BE49-F238E27FC236}">
                <a16:creationId xmlns:a16="http://schemas.microsoft.com/office/drawing/2014/main" id="{4DDA8B63-ADC8-5F42-9E0C-D2894364786B}"/>
              </a:ext>
            </a:extLst>
          </p:cNvPr>
          <p:cNvSpPr>
            <a:spLocks noGrp="1"/>
          </p:cNvSpPr>
          <p:nvPr>
            <p:ph type="body" idx="4294967295"/>
          </p:nvPr>
        </p:nvSpPr>
        <p:spPr>
          <a:xfrm>
            <a:off x="2831977" y="6547281"/>
            <a:ext cx="6604986" cy="310720"/>
          </a:xfrm>
        </p:spPr>
        <p:txBody>
          <a:bodyPr>
            <a:normAutofit/>
          </a:bodyPr>
          <a:lstStyle/>
          <a:p>
            <a:pPr marL="0" indent="0" algn="ctr">
              <a:buNone/>
            </a:pPr>
            <a:r>
              <a:rPr lang="en-US" sz="1400" dirty="0"/>
              <a:t>https://</a:t>
            </a:r>
            <a:r>
              <a:rPr lang="en-US" sz="1400" dirty="0" err="1"/>
              <a:t>www.tutorialspoint.com</a:t>
            </a:r>
            <a:r>
              <a:rPr lang="en-US" sz="1400" dirty="0"/>
              <a:t>/http/</a:t>
            </a:r>
            <a:r>
              <a:rPr lang="en-US" sz="1400" dirty="0" err="1"/>
              <a:t>http_responses.htm</a:t>
            </a:r>
            <a:endParaRPr lang="en-SG" sz="1400" dirty="0"/>
          </a:p>
        </p:txBody>
      </p:sp>
      <p:sp>
        <p:nvSpPr>
          <p:cNvPr id="3" name="Content Placeholder 2">
            <a:extLst>
              <a:ext uri="{FF2B5EF4-FFF2-40B4-BE49-F238E27FC236}">
                <a16:creationId xmlns:a16="http://schemas.microsoft.com/office/drawing/2014/main" id="{BE20E1FD-0B0C-A24F-9748-C969873CD9AE}"/>
              </a:ext>
            </a:extLst>
          </p:cNvPr>
          <p:cNvSpPr>
            <a:spLocks noGrp="1"/>
          </p:cNvSpPr>
          <p:nvPr>
            <p:ph idx="1"/>
          </p:nvPr>
        </p:nvSpPr>
        <p:spPr>
          <a:xfrm>
            <a:off x="587252" y="1182874"/>
            <a:ext cx="4489450" cy="2516289"/>
          </a:xfrm>
        </p:spPr>
        <p:txBody>
          <a:bodyPr>
            <a:noAutofit/>
          </a:bodyPr>
          <a:lstStyle/>
          <a:p>
            <a:pPr marL="342900" indent="-342900">
              <a:defRPr/>
            </a:pPr>
            <a:r>
              <a:rPr lang="en-US" sz="2400" dirty="0"/>
              <a:t>Status line (version, status code)</a:t>
            </a:r>
          </a:p>
          <a:p>
            <a:pPr marL="342900" indent="-342900">
              <a:defRPr/>
            </a:pPr>
            <a:r>
              <a:rPr lang="en-US" sz="2400" dirty="0"/>
              <a:t>Zero or more header</a:t>
            </a:r>
          </a:p>
          <a:p>
            <a:pPr marL="342900" indent="-342900">
              <a:defRPr/>
            </a:pPr>
            <a:r>
              <a:rPr lang="en-US" sz="2400" dirty="0"/>
              <a:t>Empty line</a:t>
            </a:r>
          </a:p>
          <a:p>
            <a:pPr marL="342900" indent="-342900">
              <a:defRPr/>
            </a:pPr>
            <a:r>
              <a:rPr lang="en-US" sz="2400" dirty="0"/>
              <a:t>Message body (optional)</a:t>
            </a:r>
            <a:endParaRPr lang="en-SG" sz="2400" dirty="0"/>
          </a:p>
        </p:txBody>
      </p:sp>
      <p:sp>
        <p:nvSpPr>
          <p:cNvPr id="8" name="TextBox 7">
            <a:extLst>
              <a:ext uri="{FF2B5EF4-FFF2-40B4-BE49-F238E27FC236}">
                <a16:creationId xmlns:a16="http://schemas.microsoft.com/office/drawing/2014/main" id="{7E250100-C28E-E245-A83A-FE63B5B33487}"/>
              </a:ext>
            </a:extLst>
          </p:cNvPr>
          <p:cNvSpPr txBox="1"/>
          <p:nvPr/>
        </p:nvSpPr>
        <p:spPr>
          <a:xfrm>
            <a:off x="587252" y="3955938"/>
            <a:ext cx="4319588" cy="2000548"/>
          </a:xfrm>
          <a:prstGeom prst="rect">
            <a:avLst/>
          </a:prstGeom>
          <a:noFill/>
        </p:spPr>
        <p:txBody>
          <a:bodyPr>
            <a:spAutoFit/>
          </a:bodyPr>
          <a:lstStyle/>
          <a:p>
            <a:pPr marL="342900" indent="-342900">
              <a:buFont typeface="Arial" panose="020B0604020202020204" pitchFamily="34" charset="0"/>
              <a:buChar char="•"/>
              <a:defRPr/>
            </a:pPr>
            <a:r>
              <a:rPr lang="en-US" sz="2400" dirty="0">
                <a:latin typeface="Arial Nova" panose="020B0504020202020204" pitchFamily="34" charset="0"/>
              </a:rPr>
              <a:t>Status code:</a:t>
            </a:r>
          </a:p>
          <a:p>
            <a:pPr lvl="1">
              <a:defRPr/>
            </a:pPr>
            <a:r>
              <a:rPr lang="en-US" sz="2000" dirty="0">
                <a:latin typeface="Arial Nova" panose="020B0504020202020204" pitchFamily="34" charset="0"/>
              </a:rPr>
              <a:t>1xx: Informational</a:t>
            </a:r>
          </a:p>
          <a:p>
            <a:pPr lvl="1">
              <a:defRPr/>
            </a:pPr>
            <a:r>
              <a:rPr lang="en-US" sz="2000" dirty="0">
                <a:latin typeface="Arial Nova" panose="020B0504020202020204" pitchFamily="34" charset="0"/>
              </a:rPr>
              <a:t>2xx: Success</a:t>
            </a:r>
          </a:p>
          <a:p>
            <a:pPr lvl="1">
              <a:defRPr/>
            </a:pPr>
            <a:r>
              <a:rPr lang="en-US" sz="2000" dirty="0">
                <a:latin typeface="Arial Nova" panose="020B0504020202020204" pitchFamily="34" charset="0"/>
              </a:rPr>
              <a:t>3xx: Redirection</a:t>
            </a:r>
          </a:p>
          <a:p>
            <a:pPr lvl="1">
              <a:defRPr/>
            </a:pPr>
            <a:r>
              <a:rPr lang="en-US" sz="2000" dirty="0">
                <a:latin typeface="Arial Nova" panose="020B0504020202020204" pitchFamily="34" charset="0"/>
              </a:rPr>
              <a:t>4xx: Client error</a:t>
            </a:r>
          </a:p>
          <a:p>
            <a:pPr lvl="1">
              <a:defRPr/>
            </a:pPr>
            <a:r>
              <a:rPr lang="en-US" sz="2000" dirty="0">
                <a:latin typeface="Arial Nova" panose="020B0504020202020204" pitchFamily="34" charset="0"/>
              </a:rPr>
              <a:t>5xx: Server error</a:t>
            </a:r>
            <a:endParaRPr lang="en-SG" sz="2000" dirty="0">
              <a:latin typeface="Arial Nova" panose="020B0504020202020204" pitchFamily="34" charset="0"/>
            </a:endParaRPr>
          </a:p>
        </p:txBody>
      </p:sp>
      <p:pic>
        <p:nvPicPr>
          <p:cNvPr id="27656" name="Picture 4">
            <a:extLst>
              <a:ext uri="{FF2B5EF4-FFF2-40B4-BE49-F238E27FC236}">
                <a16:creationId xmlns:a16="http://schemas.microsoft.com/office/drawing/2014/main" id="{0995952D-26B3-F447-964C-E10C88404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6097" y="1514450"/>
            <a:ext cx="4489450"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3688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65EA264-8141-334A-BE4E-706F7ADD05DB}"/>
              </a:ext>
            </a:extLst>
          </p:cNvPr>
          <p:cNvSpPr>
            <a:spLocks noGrp="1"/>
          </p:cNvSpPr>
          <p:nvPr>
            <p:ph type="title"/>
          </p:nvPr>
        </p:nvSpPr>
        <p:spPr/>
        <p:txBody>
          <a:bodyPr/>
          <a:lstStyle/>
          <a:p>
            <a:r>
              <a:rPr lang="en-US" dirty="0"/>
              <a:t>Sessions</a:t>
            </a:r>
          </a:p>
        </p:txBody>
      </p:sp>
      <p:sp>
        <p:nvSpPr>
          <p:cNvPr id="6" name="Text Placeholder 5">
            <a:extLst>
              <a:ext uri="{FF2B5EF4-FFF2-40B4-BE49-F238E27FC236}">
                <a16:creationId xmlns:a16="http://schemas.microsoft.com/office/drawing/2014/main" id="{E7CB5125-BF1F-C143-ACE6-4F556EC38BC2}"/>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309420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801FD0D6-98C2-4D43-BDDC-19341C502205}"/>
              </a:ext>
            </a:extLst>
          </p:cNvPr>
          <p:cNvSpPr>
            <a:spLocks noGrp="1" noChangeArrowheads="1"/>
          </p:cNvSpPr>
          <p:nvPr>
            <p:ph type="title"/>
          </p:nvPr>
        </p:nvSpPr>
        <p:spPr/>
        <p:txBody>
          <a:bodyPr/>
          <a:lstStyle/>
          <a:p>
            <a:r>
              <a:rPr lang="en-US" altLang="en-US" dirty="0"/>
              <a:t>Sessions</a:t>
            </a:r>
          </a:p>
        </p:txBody>
      </p:sp>
      <p:sp>
        <p:nvSpPr>
          <p:cNvPr id="29698" name="Content Placeholder 2">
            <a:extLst>
              <a:ext uri="{FF2B5EF4-FFF2-40B4-BE49-F238E27FC236}">
                <a16:creationId xmlns:a16="http://schemas.microsoft.com/office/drawing/2014/main" id="{DC244C77-E8E5-A846-A5BF-4879148F808F}"/>
              </a:ext>
            </a:extLst>
          </p:cNvPr>
          <p:cNvSpPr>
            <a:spLocks noGrp="1" noChangeArrowheads="1"/>
          </p:cNvSpPr>
          <p:nvPr>
            <p:ph idx="1"/>
          </p:nvPr>
        </p:nvSpPr>
        <p:spPr bwMode="auto">
          <a:xfrm>
            <a:off x="513349" y="1260073"/>
            <a:ext cx="10840451" cy="3239738"/>
          </a:xfrm>
        </p:spPr>
        <p:txBody>
          <a:bodyPr wrap="square" numCol="1" anchor="t" anchorCtr="0" compatLnSpc="1">
            <a:prstTxWarp prst="textNoShape">
              <a:avLst/>
            </a:prstTxWarp>
            <a:normAutofit fontScale="92500" lnSpcReduction="10000"/>
          </a:bodyPr>
          <a:lstStyle/>
          <a:p>
            <a:pPr>
              <a:spcBef>
                <a:spcPts val="600"/>
              </a:spcBef>
            </a:pPr>
            <a:r>
              <a:rPr lang="en-GB" altLang="de-DE" sz="2400" dirty="0"/>
              <a:t>Stateless HTTP is not fit for modern Web applications, since users view the entire browsing as ONE continuous and consistent process.</a:t>
            </a:r>
          </a:p>
          <a:p>
            <a:pPr>
              <a:spcBef>
                <a:spcPts val="600"/>
              </a:spcBef>
            </a:pPr>
            <a:r>
              <a:rPr lang="en-GB" altLang="de-DE" sz="2400" dirty="0"/>
              <a:t>For various business needs, web applications tend to maintain states by establishing sessions.</a:t>
            </a:r>
            <a:endParaRPr lang="en-GB" altLang="de-DE" dirty="0"/>
          </a:p>
          <a:p>
            <a:pPr>
              <a:spcBef>
                <a:spcPts val="600"/>
              </a:spcBef>
            </a:pPr>
            <a:r>
              <a:rPr lang="en-GB" altLang="de-DE" sz="2400" dirty="0"/>
              <a:t>Web applications can establish sessions (shared state) between client and server, and refer to this common state when authorising requests.</a:t>
            </a:r>
          </a:p>
          <a:p>
            <a:pPr>
              <a:spcBef>
                <a:spcPts val="600"/>
              </a:spcBef>
            </a:pPr>
            <a:r>
              <a:rPr lang="en-GB" altLang="de-DE" sz="2400" dirty="0"/>
              <a:t>Sessions between client and server are established through </a:t>
            </a:r>
            <a:r>
              <a:rPr lang="en-GB" altLang="de-DE" sz="2400" dirty="0">
                <a:solidFill>
                  <a:srgbClr val="C00000"/>
                </a:solidFill>
              </a:rPr>
              <a:t>session identifiers</a:t>
            </a:r>
          </a:p>
          <a:p>
            <a:pPr lvl="1">
              <a:spcBef>
                <a:spcPts val="600"/>
              </a:spcBef>
            </a:pPr>
            <a:r>
              <a:rPr lang="en-GB" altLang="de-DE" dirty="0"/>
              <a:t>Two ways of transferring session identifiers</a:t>
            </a:r>
          </a:p>
          <a:p>
            <a:endParaRPr lang="en-US" altLang="en-US" dirty="0"/>
          </a:p>
        </p:txBody>
      </p:sp>
    </p:spTree>
    <p:extLst>
      <p:ext uri="{BB962C8B-B14F-4D97-AF65-F5344CB8AC3E}">
        <p14:creationId xmlns:p14="http://schemas.microsoft.com/office/powerpoint/2010/main" val="4185133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29EB9-5998-CD48-96A2-3A5B681B915C}"/>
              </a:ext>
            </a:extLst>
          </p:cNvPr>
          <p:cNvSpPr>
            <a:spLocks noGrp="1"/>
          </p:cNvSpPr>
          <p:nvPr>
            <p:ph type="title"/>
          </p:nvPr>
        </p:nvSpPr>
        <p:spPr/>
        <p:txBody>
          <a:bodyPr/>
          <a:lstStyle/>
          <a:p>
            <a:r>
              <a:rPr lang="en-US" dirty="0"/>
              <a:t>Transferring Session Identifiers </a:t>
            </a:r>
          </a:p>
        </p:txBody>
      </p:sp>
      <p:sp>
        <p:nvSpPr>
          <p:cNvPr id="4" name="Content Placeholder 3">
            <a:extLst>
              <a:ext uri="{FF2B5EF4-FFF2-40B4-BE49-F238E27FC236}">
                <a16:creationId xmlns:a16="http://schemas.microsoft.com/office/drawing/2014/main" id="{190D7F53-D0F4-4A41-B7C4-068F1DEE2392}"/>
              </a:ext>
            </a:extLst>
          </p:cNvPr>
          <p:cNvSpPr>
            <a:spLocks noGrp="1"/>
          </p:cNvSpPr>
          <p:nvPr>
            <p:ph idx="1"/>
          </p:nvPr>
        </p:nvSpPr>
        <p:spPr/>
        <p:txBody>
          <a:bodyPr>
            <a:normAutofit/>
          </a:bodyPr>
          <a:lstStyle/>
          <a:p>
            <a:r>
              <a:rPr lang="en-US" dirty="0">
                <a:solidFill>
                  <a:srgbClr val="C00000"/>
                </a:solidFill>
              </a:rPr>
              <a:t>Cookie</a:t>
            </a:r>
          </a:p>
          <a:p>
            <a:pPr lvl="1"/>
            <a:r>
              <a:rPr lang="en-US" dirty="0"/>
              <a:t>Session Identifier (SID) created and sent by server in a Set-Cookie header field in the HTTP response </a:t>
            </a:r>
          </a:p>
          <a:p>
            <a:pPr lvl="1"/>
            <a:r>
              <a:rPr lang="en-US" dirty="0"/>
              <a:t>browser stores cookie in </a:t>
            </a:r>
            <a:r>
              <a:rPr lang="en-US" dirty="0" err="1">
                <a:latin typeface="Courier New" panose="02070309020205020404" pitchFamily="49" charset="0"/>
                <a:cs typeface="Courier New" panose="02070309020205020404" pitchFamily="49" charset="0"/>
              </a:rPr>
              <a:t>document.cookie</a:t>
            </a:r>
            <a:r>
              <a:rPr lang="en-US" dirty="0">
                <a:latin typeface="Courier New" panose="02070309020205020404" pitchFamily="49" charset="0"/>
                <a:cs typeface="Courier New" panose="02070309020205020404" pitchFamily="49" charset="0"/>
              </a:rPr>
              <a:t> </a:t>
            </a:r>
            <a:endParaRPr lang="en-US" dirty="0">
              <a:cs typeface="Courier New" panose="02070309020205020404" pitchFamily="49" charset="0"/>
            </a:endParaRPr>
          </a:p>
          <a:p>
            <a:pPr lvl="1"/>
            <a:r>
              <a:rPr lang="en-US" dirty="0">
                <a:cs typeface="Courier New" panose="02070309020205020404" pitchFamily="49" charset="0"/>
              </a:rPr>
              <a:t>browser </a:t>
            </a:r>
            <a:r>
              <a:rPr lang="en-US" dirty="0"/>
              <a:t>includes it in requests with a domain matching the cookie’s origin </a:t>
            </a:r>
          </a:p>
          <a:p>
            <a:endParaRPr lang="en-US" dirty="0"/>
          </a:p>
          <a:p>
            <a:r>
              <a:rPr lang="en-US" dirty="0">
                <a:solidFill>
                  <a:srgbClr val="C00000"/>
                </a:solidFill>
              </a:rPr>
              <a:t>Hidden form field</a:t>
            </a:r>
            <a:endParaRPr lang="en-US" dirty="0"/>
          </a:p>
          <a:p>
            <a:pPr lvl="1"/>
            <a:r>
              <a:rPr lang="en-US" dirty="0"/>
              <a:t>Server creates and includes SID in a hidden field of an HTML form in various web pages </a:t>
            </a:r>
          </a:p>
          <a:p>
            <a:pPr lvl="1"/>
            <a:r>
              <a:rPr lang="en-US" dirty="0"/>
              <a:t>e.g. &lt;input type=‘hidden’ name=‘</a:t>
            </a:r>
            <a:r>
              <a:rPr lang="en-US" dirty="0" err="1"/>
              <a:t>sid</a:t>
            </a:r>
            <a:r>
              <a:rPr lang="en-US" dirty="0"/>
              <a:t>’ value=‘&lt;SID_VALUE&gt;’&gt;</a:t>
            </a:r>
          </a:p>
          <a:p>
            <a:pPr lvl="1"/>
            <a:endParaRPr lang="en-US" dirty="0"/>
          </a:p>
        </p:txBody>
      </p:sp>
    </p:spTree>
    <p:extLst>
      <p:ext uri="{BB962C8B-B14F-4D97-AF65-F5344CB8AC3E}">
        <p14:creationId xmlns:p14="http://schemas.microsoft.com/office/powerpoint/2010/main" val="1022096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359EE-D713-6F45-82D2-87F7D66B17C5}"/>
              </a:ext>
            </a:extLst>
          </p:cNvPr>
          <p:cNvSpPr>
            <a:spLocks noGrp="1"/>
          </p:cNvSpPr>
          <p:nvPr>
            <p:ph type="title" idx="4294967295"/>
          </p:nvPr>
        </p:nvSpPr>
        <p:spPr>
          <a:xfrm>
            <a:off x="1274618" y="311150"/>
            <a:ext cx="9566420" cy="584200"/>
          </a:xfrm>
        </p:spPr>
        <p:txBody>
          <a:bodyPr>
            <a:normAutofit/>
          </a:bodyPr>
          <a:lstStyle/>
          <a:p>
            <a:r>
              <a:rPr lang="en-US" dirty="0"/>
              <a:t>Establishing Session with Cookie</a:t>
            </a:r>
          </a:p>
        </p:txBody>
      </p:sp>
      <p:sp>
        <p:nvSpPr>
          <p:cNvPr id="3" name="Content Placeholder 2">
            <a:extLst>
              <a:ext uri="{FF2B5EF4-FFF2-40B4-BE49-F238E27FC236}">
                <a16:creationId xmlns:a16="http://schemas.microsoft.com/office/drawing/2014/main" id="{7B24AC42-1E04-7B4E-82CA-F967CAA2B1AC}"/>
              </a:ext>
            </a:extLst>
          </p:cNvPr>
          <p:cNvSpPr>
            <a:spLocks noGrp="1"/>
          </p:cNvSpPr>
          <p:nvPr>
            <p:ph idx="4294967295"/>
          </p:nvPr>
        </p:nvSpPr>
        <p:spPr>
          <a:xfrm>
            <a:off x="577964" y="1039145"/>
            <a:ext cx="10841038" cy="828675"/>
          </a:xfrm>
        </p:spPr>
        <p:txBody>
          <a:bodyPr/>
          <a:lstStyle/>
          <a:p>
            <a:r>
              <a:rPr lang="en-US" dirty="0"/>
              <a:t>Cookie is fetched </a:t>
            </a:r>
            <a:r>
              <a:rPr lang="en-US" b="1" dirty="0"/>
              <a:t>by the browser</a:t>
            </a:r>
            <a:r>
              <a:rPr lang="en-US" dirty="0"/>
              <a:t> and submitted to server.</a:t>
            </a:r>
          </a:p>
        </p:txBody>
      </p:sp>
      <p:sp>
        <p:nvSpPr>
          <p:cNvPr id="5" name="Down Arrow 4">
            <a:extLst>
              <a:ext uri="{FF2B5EF4-FFF2-40B4-BE49-F238E27FC236}">
                <a16:creationId xmlns:a16="http://schemas.microsoft.com/office/drawing/2014/main" id="{826F64C2-EE2D-7247-AA74-DF2A2CD6213B}"/>
              </a:ext>
            </a:extLst>
          </p:cNvPr>
          <p:cNvSpPr/>
          <p:nvPr/>
        </p:nvSpPr>
        <p:spPr>
          <a:xfrm>
            <a:off x="3403088" y="2014604"/>
            <a:ext cx="528637" cy="2569984"/>
          </a:xfrm>
          <a:prstGeom prst="downArrow">
            <a:avLst/>
          </a:prstGeom>
          <a:solidFill>
            <a:srgbClr val="DD97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Down Arrow 5">
            <a:extLst>
              <a:ext uri="{FF2B5EF4-FFF2-40B4-BE49-F238E27FC236}">
                <a16:creationId xmlns:a16="http://schemas.microsoft.com/office/drawing/2014/main" id="{2FDDA337-DEA1-D94F-B289-2B7543FFBB82}"/>
              </a:ext>
            </a:extLst>
          </p:cNvPr>
          <p:cNvSpPr/>
          <p:nvPr/>
        </p:nvSpPr>
        <p:spPr>
          <a:xfrm>
            <a:off x="7493804" y="1905990"/>
            <a:ext cx="528637" cy="2699461"/>
          </a:xfrm>
          <a:prstGeom prst="downArrow">
            <a:avLst/>
          </a:prstGeom>
          <a:solidFill>
            <a:srgbClr val="DD97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F8619346-7648-BB43-87E4-8C1898B49901}"/>
              </a:ext>
            </a:extLst>
          </p:cNvPr>
          <p:cNvCxnSpPr>
            <a:cxnSpLocks/>
          </p:cNvCxnSpPr>
          <p:nvPr/>
        </p:nvCxnSpPr>
        <p:spPr>
          <a:xfrm>
            <a:off x="3808960" y="2291752"/>
            <a:ext cx="3778378" cy="1428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10">
            <a:extLst>
              <a:ext uri="{FF2B5EF4-FFF2-40B4-BE49-F238E27FC236}">
                <a16:creationId xmlns:a16="http://schemas.microsoft.com/office/drawing/2014/main" id="{6CCE0E1E-6C34-9246-9A5B-B13FDDEF884A}"/>
              </a:ext>
            </a:extLst>
          </p:cNvPr>
          <p:cNvSpPr/>
          <p:nvPr/>
        </p:nvSpPr>
        <p:spPr>
          <a:xfrm>
            <a:off x="7736690" y="2271909"/>
            <a:ext cx="2395548" cy="1325563"/>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latin typeface="Helvetica Neue" panose="02000503000000020004" pitchFamily="2" charset="0"/>
                <a:ea typeface="Helvetica Neue" panose="02000503000000020004" pitchFamily="2" charset="0"/>
                <a:cs typeface="Helvetica Neue" panose="02000503000000020004" pitchFamily="2" charset="0"/>
              </a:rPr>
              <a:t>Login successful?</a:t>
            </a:r>
          </a:p>
          <a:p>
            <a:pPr marL="342900" indent="-342900">
              <a:buAutoNum type="arabicPeriod"/>
            </a:pPr>
            <a:r>
              <a:rPr lang="en-US" sz="1200" dirty="0">
                <a:latin typeface="Helvetica Neue" panose="02000503000000020004" pitchFamily="2" charset="0"/>
                <a:ea typeface="Helvetica Neue" panose="02000503000000020004" pitchFamily="2" charset="0"/>
                <a:cs typeface="Helvetica Neue" panose="02000503000000020004" pitchFamily="2" charset="0"/>
              </a:rPr>
              <a:t>Create SID and store in database</a:t>
            </a:r>
          </a:p>
          <a:p>
            <a:pPr marL="342900" indent="-342900">
              <a:buAutoNum type="arabicPeriod"/>
            </a:pPr>
            <a:r>
              <a:rPr lang="en-US" sz="1200" dirty="0">
                <a:latin typeface="Helvetica Neue" panose="02000503000000020004" pitchFamily="2" charset="0"/>
                <a:ea typeface="Helvetica Neue" panose="02000503000000020004" pitchFamily="2" charset="0"/>
                <a:cs typeface="Helvetica Neue" panose="02000503000000020004" pitchFamily="2" charset="0"/>
              </a:rPr>
              <a:t>Set SID and expiration time in Cookie</a:t>
            </a:r>
          </a:p>
          <a:p>
            <a:pPr marL="342900" indent="-342900">
              <a:buAutoNum type="arabicPeriod"/>
            </a:pPr>
            <a:r>
              <a:rPr lang="en-US" sz="1200" dirty="0">
                <a:latin typeface="Helvetica Neue" panose="02000503000000020004" pitchFamily="2" charset="0"/>
                <a:ea typeface="Helvetica Neue" panose="02000503000000020004" pitchFamily="2" charset="0"/>
                <a:cs typeface="Helvetica Neue" panose="02000503000000020004" pitchFamily="2" charset="0"/>
              </a:rPr>
              <a:t>Send Cookie to client</a:t>
            </a:r>
          </a:p>
        </p:txBody>
      </p:sp>
      <p:cxnSp>
        <p:nvCxnSpPr>
          <p:cNvPr id="14" name="Straight Arrow Connector 13">
            <a:extLst>
              <a:ext uri="{FF2B5EF4-FFF2-40B4-BE49-F238E27FC236}">
                <a16:creationId xmlns:a16="http://schemas.microsoft.com/office/drawing/2014/main" id="{B8B2062B-4F56-CA46-BA2D-F0A609BEED58}"/>
              </a:ext>
            </a:extLst>
          </p:cNvPr>
          <p:cNvCxnSpPr>
            <a:cxnSpLocks/>
            <a:stCxn id="11" idx="3"/>
            <a:endCxn id="12" idx="1"/>
          </p:cNvCxnSpPr>
          <p:nvPr/>
        </p:nvCxnSpPr>
        <p:spPr>
          <a:xfrm>
            <a:off x="10132238" y="2934690"/>
            <a:ext cx="488818" cy="8286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650ADD7-4FB2-B144-BA7D-58B057657712}"/>
              </a:ext>
            </a:extLst>
          </p:cNvPr>
          <p:cNvCxnSpPr>
            <a:cxnSpLocks/>
          </p:cNvCxnSpPr>
          <p:nvPr/>
        </p:nvCxnSpPr>
        <p:spPr>
          <a:xfrm flipH="1">
            <a:off x="3808960" y="3420467"/>
            <a:ext cx="3778378" cy="1770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C7FBDDF0-6A91-484F-BED5-2AB787C8A511}"/>
              </a:ext>
            </a:extLst>
          </p:cNvPr>
          <p:cNvGrpSpPr/>
          <p:nvPr/>
        </p:nvGrpSpPr>
        <p:grpSpPr>
          <a:xfrm>
            <a:off x="10175101" y="3763362"/>
            <a:ext cx="1133067" cy="1338443"/>
            <a:chOff x="10175101" y="3763362"/>
            <a:chExt cx="1133067" cy="1338443"/>
          </a:xfrm>
        </p:grpSpPr>
        <p:sp>
          <p:nvSpPr>
            <p:cNvPr id="12" name="Can 11">
              <a:extLst>
                <a:ext uri="{FF2B5EF4-FFF2-40B4-BE49-F238E27FC236}">
                  <a16:creationId xmlns:a16="http://schemas.microsoft.com/office/drawing/2014/main" id="{20405164-F252-2844-AD48-B19F27EE6052}"/>
                </a:ext>
              </a:extLst>
            </p:cNvPr>
            <p:cNvSpPr/>
            <p:nvPr/>
          </p:nvSpPr>
          <p:spPr>
            <a:xfrm>
              <a:off x="10175101" y="3763362"/>
              <a:ext cx="891910" cy="1049590"/>
            </a:xfrm>
            <a:prstGeom prst="can">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356666F-1A9E-EF4C-BAF8-7A7926F8C764}"/>
                </a:ext>
              </a:extLst>
            </p:cNvPr>
            <p:cNvSpPr txBox="1"/>
            <p:nvPr/>
          </p:nvSpPr>
          <p:spPr>
            <a:xfrm>
              <a:off x="10187658" y="4785351"/>
              <a:ext cx="1120510" cy="316454"/>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Database</a:t>
              </a:r>
            </a:p>
          </p:txBody>
        </p:sp>
      </p:grpSp>
      <p:sp>
        <p:nvSpPr>
          <p:cNvPr id="21" name="TextBox 20">
            <a:extLst>
              <a:ext uri="{FF2B5EF4-FFF2-40B4-BE49-F238E27FC236}">
                <a16:creationId xmlns:a16="http://schemas.microsoft.com/office/drawing/2014/main" id="{A04E894D-9BB6-B542-9B5F-F1E404EBCF78}"/>
              </a:ext>
            </a:extLst>
          </p:cNvPr>
          <p:cNvSpPr txBox="1"/>
          <p:nvPr/>
        </p:nvSpPr>
        <p:spPr>
          <a:xfrm>
            <a:off x="7292067" y="1485616"/>
            <a:ext cx="1120510" cy="316454"/>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Web Server</a:t>
            </a:r>
          </a:p>
        </p:txBody>
      </p:sp>
      <p:sp>
        <p:nvSpPr>
          <p:cNvPr id="22" name="TextBox 21">
            <a:extLst>
              <a:ext uri="{FF2B5EF4-FFF2-40B4-BE49-F238E27FC236}">
                <a16:creationId xmlns:a16="http://schemas.microsoft.com/office/drawing/2014/main" id="{61E022F3-C4F0-0149-8005-40B9141C2949}"/>
              </a:ext>
            </a:extLst>
          </p:cNvPr>
          <p:cNvSpPr txBox="1"/>
          <p:nvPr/>
        </p:nvSpPr>
        <p:spPr>
          <a:xfrm>
            <a:off x="3248705" y="1572230"/>
            <a:ext cx="1120510" cy="316454"/>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Client</a:t>
            </a:r>
          </a:p>
        </p:txBody>
      </p:sp>
      <p:sp>
        <p:nvSpPr>
          <p:cNvPr id="25" name="TextBox 24">
            <a:extLst>
              <a:ext uri="{FF2B5EF4-FFF2-40B4-BE49-F238E27FC236}">
                <a16:creationId xmlns:a16="http://schemas.microsoft.com/office/drawing/2014/main" id="{61E531A2-1E75-1946-BAAD-CBF49F850AC4}"/>
              </a:ext>
            </a:extLst>
          </p:cNvPr>
          <p:cNvSpPr txBox="1"/>
          <p:nvPr/>
        </p:nvSpPr>
        <p:spPr>
          <a:xfrm rot="21394112">
            <a:off x="5198687" y="3127566"/>
            <a:ext cx="2284729" cy="307777"/>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Cookie = SID</a:t>
            </a:r>
          </a:p>
        </p:txBody>
      </p:sp>
      <p:sp>
        <p:nvSpPr>
          <p:cNvPr id="26" name="TextBox 25">
            <a:extLst>
              <a:ext uri="{FF2B5EF4-FFF2-40B4-BE49-F238E27FC236}">
                <a16:creationId xmlns:a16="http://schemas.microsoft.com/office/drawing/2014/main" id="{3DA89E3E-A7A9-5444-AE52-2DB193F97775}"/>
              </a:ext>
            </a:extLst>
          </p:cNvPr>
          <p:cNvSpPr txBox="1"/>
          <p:nvPr/>
        </p:nvSpPr>
        <p:spPr>
          <a:xfrm rot="171274">
            <a:off x="4792133" y="1642283"/>
            <a:ext cx="2174102" cy="738664"/>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Login</a:t>
            </a:r>
          </a:p>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Username: Jack</a:t>
            </a:r>
          </a:p>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Password: Apple </a:t>
            </a:r>
          </a:p>
        </p:txBody>
      </p:sp>
      <p:grpSp>
        <p:nvGrpSpPr>
          <p:cNvPr id="13" name="Group 12">
            <a:extLst>
              <a:ext uri="{FF2B5EF4-FFF2-40B4-BE49-F238E27FC236}">
                <a16:creationId xmlns:a16="http://schemas.microsoft.com/office/drawing/2014/main" id="{FE0F9803-D2DA-E544-B955-EEB7A83CFDEA}"/>
              </a:ext>
            </a:extLst>
          </p:cNvPr>
          <p:cNvGrpSpPr/>
          <p:nvPr/>
        </p:nvGrpSpPr>
        <p:grpSpPr>
          <a:xfrm>
            <a:off x="2587572" y="3249623"/>
            <a:ext cx="888942" cy="1209987"/>
            <a:chOff x="2587572" y="3249623"/>
            <a:chExt cx="888942" cy="1209987"/>
          </a:xfrm>
        </p:grpSpPr>
        <p:sp>
          <p:nvSpPr>
            <p:cNvPr id="27" name="Can 26">
              <a:extLst>
                <a:ext uri="{FF2B5EF4-FFF2-40B4-BE49-F238E27FC236}">
                  <a16:creationId xmlns:a16="http://schemas.microsoft.com/office/drawing/2014/main" id="{9D3B1550-CD70-784A-867B-B5CE2E94BF86}"/>
                </a:ext>
              </a:extLst>
            </p:cNvPr>
            <p:cNvSpPr/>
            <p:nvPr/>
          </p:nvSpPr>
          <p:spPr>
            <a:xfrm>
              <a:off x="2622300" y="3249623"/>
              <a:ext cx="669664" cy="695696"/>
            </a:xfrm>
            <a:prstGeom prst="can">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81A57E41-7515-5147-AC12-3F5E356C28AF}"/>
                </a:ext>
              </a:extLst>
            </p:cNvPr>
            <p:cNvSpPr txBox="1"/>
            <p:nvPr/>
          </p:nvSpPr>
          <p:spPr>
            <a:xfrm>
              <a:off x="2622301" y="3936390"/>
              <a:ext cx="854213" cy="523220"/>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Local Storage</a:t>
              </a:r>
            </a:p>
          </p:txBody>
        </p:sp>
        <p:sp>
          <p:nvSpPr>
            <p:cNvPr id="29" name="TextBox 28">
              <a:extLst>
                <a:ext uri="{FF2B5EF4-FFF2-40B4-BE49-F238E27FC236}">
                  <a16:creationId xmlns:a16="http://schemas.microsoft.com/office/drawing/2014/main" id="{2D4F596B-61B5-1C4C-9494-66CD1D9EE102}"/>
                </a:ext>
              </a:extLst>
            </p:cNvPr>
            <p:cNvSpPr txBox="1"/>
            <p:nvPr/>
          </p:nvSpPr>
          <p:spPr>
            <a:xfrm>
              <a:off x="2587572" y="3582122"/>
              <a:ext cx="854213" cy="307777"/>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Cookie</a:t>
              </a:r>
            </a:p>
          </p:txBody>
        </p:sp>
      </p:grpSp>
      <p:sp>
        <p:nvSpPr>
          <p:cNvPr id="30" name="TextBox 29">
            <a:extLst>
              <a:ext uri="{FF2B5EF4-FFF2-40B4-BE49-F238E27FC236}">
                <a16:creationId xmlns:a16="http://schemas.microsoft.com/office/drawing/2014/main" id="{E368CA0E-86D9-3A4E-92EA-ED624E2D6F45}"/>
              </a:ext>
            </a:extLst>
          </p:cNvPr>
          <p:cNvSpPr txBox="1"/>
          <p:nvPr/>
        </p:nvSpPr>
        <p:spPr>
          <a:xfrm>
            <a:off x="10570760" y="2722120"/>
            <a:ext cx="1363975" cy="954107"/>
          </a:xfrm>
          <a:prstGeom prst="rect">
            <a:avLst/>
          </a:prstGeom>
          <a:noFill/>
        </p:spPr>
        <p:txBody>
          <a:bodyPr wrap="square" rtlCol="0">
            <a:spAutoFit/>
          </a:bodyPr>
          <a:lstStyle/>
          <a:p>
            <a:pPr algn="l"/>
            <a:r>
              <a:rPr lang="en-US" sz="1400" dirty="0">
                <a:latin typeface="Helvetica Neue" panose="02000503000000020004" pitchFamily="2" charset="0"/>
                <a:ea typeface="Helvetica Neue" panose="02000503000000020004" pitchFamily="2" charset="0"/>
                <a:cs typeface="Helvetica Neue" panose="02000503000000020004" pitchFamily="2" charset="0"/>
              </a:rPr>
              <a:t>Session table</a:t>
            </a:r>
          </a:p>
          <a:p>
            <a:pPr marL="285750" indent="-285750" algn="l">
              <a:buFont typeface="Arial" panose="020B0604020202020204" pitchFamily="34" charset="0"/>
              <a:buChar char="•"/>
            </a:pPr>
            <a:r>
              <a:rPr lang="en-US" sz="1400" dirty="0" err="1">
                <a:latin typeface="Helvetica Neue" panose="02000503000000020004" pitchFamily="2" charset="0"/>
                <a:ea typeface="Helvetica Neue" panose="02000503000000020004" pitchFamily="2" charset="0"/>
                <a:cs typeface="Helvetica Neue" panose="02000503000000020004" pitchFamily="2" charset="0"/>
              </a:rPr>
              <a:t>session_id</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lgn="l">
              <a:buFont typeface="Arial" panose="020B0604020202020204" pitchFamily="34" charset="0"/>
              <a:buChar char="•"/>
            </a:pPr>
            <a:r>
              <a:rPr lang="en-US" sz="1400" dirty="0">
                <a:latin typeface="Helvetica Neue" panose="02000503000000020004" pitchFamily="2" charset="0"/>
                <a:ea typeface="Helvetica Neue" panose="02000503000000020004" pitchFamily="2" charset="0"/>
                <a:cs typeface="Helvetica Neue" panose="02000503000000020004" pitchFamily="2" charset="0"/>
              </a:rPr>
              <a:t>username</a:t>
            </a:r>
          </a:p>
          <a:p>
            <a:pPr marL="285750" indent="-285750" algn="l">
              <a:buFont typeface="Arial" panose="020B0604020202020204" pitchFamily="34" charset="0"/>
              <a:buChar char="•"/>
            </a:pPr>
            <a:r>
              <a:rPr lang="en-US" sz="1400" dirty="0" err="1">
                <a:latin typeface="Helvetica Neue" panose="02000503000000020004" pitchFamily="2" charset="0"/>
                <a:ea typeface="Helvetica Neue" panose="02000503000000020004" pitchFamily="2" charset="0"/>
                <a:cs typeface="Helvetica Neue" panose="02000503000000020004" pitchFamily="2" charset="0"/>
              </a:rPr>
              <a:t>user_state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31" name="Straight Arrow Connector 30">
            <a:extLst>
              <a:ext uri="{FF2B5EF4-FFF2-40B4-BE49-F238E27FC236}">
                <a16:creationId xmlns:a16="http://schemas.microsoft.com/office/drawing/2014/main" id="{F30D605C-85E3-CD43-B0A0-EFE052B66EC5}"/>
              </a:ext>
            </a:extLst>
          </p:cNvPr>
          <p:cNvCxnSpPr>
            <a:cxnSpLocks/>
          </p:cNvCxnSpPr>
          <p:nvPr/>
        </p:nvCxnSpPr>
        <p:spPr>
          <a:xfrm>
            <a:off x="3808960" y="5292926"/>
            <a:ext cx="3778378" cy="14287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ounded Rectangle 32">
            <a:extLst>
              <a:ext uri="{FF2B5EF4-FFF2-40B4-BE49-F238E27FC236}">
                <a16:creationId xmlns:a16="http://schemas.microsoft.com/office/drawing/2014/main" id="{DDEF7C6B-4732-C844-A89E-2F1577F48A23}"/>
              </a:ext>
            </a:extLst>
          </p:cNvPr>
          <p:cNvSpPr/>
          <p:nvPr/>
        </p:nvSpPr>
        <p:spPr>
          <a:xfrm>
            <a:off x="7889091" y="5292928"/>
            <a:ext cx="3363657" cy="1043772"/>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a:pPr>
            <a:r>
              <a:rPr lang="en-US" sz="1200" dirty="0">
                <a:latin typeface="Helvetica Neue" panose="02000503000000020004" pitchFamily="2" charset="0"/>
                <a:ea typeface="Helvetica Neue" panose="02000503000000020004" pitchFamily="2" charset="0"/>
                <a:cs typeface="Helvetica Neue" panose="02000503000000020004" pitchFamily="2" charset="0"/>
              </a:rPr>
              <a:t>Is Cookie still valid (i.e. not expired yet)?</a:t>
            </a:r>
          </a:p>
          <a:p>
            <a:pPr marL="342900" indent="-342900">
              <a:buFont typeface="+mj-lt"/>
              <a:buAutoNum type="arabicPeriod"/>
            </a:pPr>
            <a:r>
              <a:rPr lang="en-US" sz="1200" dirty="0">
                <a:latin typeface="Helvetica Neue" panose="02000503000000020004" pitchFamily="2" charset="0"/>
                <a:ea typeface="Helvetica Neue" panose="02000503000000020004" pitchFamily="2" charset="0"/>
                <a:cs typeface="Helvetica Neue" panose="02000503000000020004" pitchFamily="2" charset="0"/>
              </a:rPr>
              <a:t>Does session id match the one stored in database?</a:t>
            </a:r>
          </a:p>
          <a:p>
            <a:pPr marL="342900" indent="-342900">
              <a:buFont typeface="+mj-lt"/>
              <a:buAutoNum type="arabicPeriod"/>
            </a:pPr>
            <a:r>
              <a:rPr lang="en-US" sz="1200" dirty="0">
                <a:latin typeface="Helvetica Neue" panose="02000503000000020004" pitchFamily="2" charset="0"/>
                <a:ea typeface="Helvetica Neue" panose="02000503000000020004" pitchFamily="2" charset="0"/>
                <a:cs typeface="Helvetica Neue" panose="02000503000000020004" pitchFamily="2" charset="0"/>
              </a:rPr>
              <a:t>If both are yes, continue session</a:t>
            </a:r>
          </a:p>
        </p:txBody>
      </p:sp>
      <p:sp>
        <p:nvSpPr>
          <p:cNvPr id="24" name="TextBox 23">
            <a:extLst>
              <a:ext uri="{FF2B5EF4-FFF2-40B4-BE49-F238E27FC236}">
                <a16:creationId xmlns:a16="http://schemas.microsoft.com/office/drawing/2014/main" id="{13ADB133-6EDB-DE47-8955-0C9F7E37A27A}"/>
              </a:ext>
            </a:extLst>
          </p:cNvPr>
          <p:cNvSpPr txBox="1"/>
          <p:nvPr/>
        </p:nvSpPr>
        <p:spPr>
          <a:xfrm rot="241147">
            <a:off x="4992053" y="5092497"/>
            <a:ext cx="2423047" cy="307777"/>
          </a:xfrm>
          <a:prstGeom prst="rect">
            <a:avLst/>
          </a:prstGeom>
          <a:noFill/>
        </p:spPr>
        <p:txBody>
          <a:bodyPr wrap="square" rtlCol="0">
            <a:spAutoFit/>
          </a:bodyPr>
          <a:lstStyle/>
          <a:p>
            <a:pPr algn="l"/>
            <a:r>
              <a:rPr lang="en-US" sz="1400" b="1" dirty="0">
                <a:latin typeface="Helvetica Neue" panose="02000503000000020004" pitchFamily="2" charset="0"/>
                <a:ea typeface="Helvetica Neue" panose="02000503000000020004" pitchFamily="2" charset="0"/>
                <a:cs typeface="Helvetica Neue" panose="02000503000000020004" pitchFamily="2" charset="0"/>
              </a:rPr>
              <a:t>Cookie = SID’</a:t>
            </a:r>
          </a:p>
        </p:txBody>
      </p:sp>
      <p:pic>
        <p:nvPicPr>
          <p:cNvPr id="8" name="Picture 7" descr="Diagram&#10;&#10;Description automatically generated">
            <a:extLst>
              <a:ext uri="{FF2B5EF4-FFF2-40B4-BE49-F238E27FC236}">
                <a16:creationId xmlns:a16="http://schemas.microsoft.com/office/drawing/2014/main" id="{106D800C-B45C-944D-9243-35C31CD3C197}"/>
              </a:ext>
            </a:extLst>
          </p:cNvPr>
          <p:cNvPicPr>
            <a:picLocks noChangeAspect="1"/>
          </p:cNvPicPr>
          <p:nvPr/>
        </p:nvPicPr>
        <p:blipFill>
          <a:blip r:embed="rId2"/>
          <a:stretch>
            <a:fillRect/>
          </a:stretch>
        </p:blipFill>
        <p:spPr>
          <a:xfrm>
            <a:off x="9234453" y="184845"/>
            <a:ext cx="2773205" cy="945952"/>
          </a:xfrm>
          <a:prstGeom prst="rect">
            <a:avLst/>
          </a:prstGeom>
        </p:spPr>
      </p:pic>
      <p:sp>
        <p:nvSpPr>
          <p:cNvPr id="4" name="TextBox 3">
            <a:extLst>
              <a:ext uri="{FF2B5EF4-FFF2-40B4-BE49-F238E27FC236}">
                <a16:creationId xmlns:a16="http://schemas.microsoft.com/office/drawing/2014/main" id="{663B0137-3670-C74F-9095-75CB7D82164B}"/>
              </a:ext>
            </a:extLst>
          </p:cNvPr>
          <p:cNvSpPr txBox="1"/>
          <p:nvPr/>
        </p:nvSpPr>
        <p:spPr>
          <a:xfrm>
            <a:off x="273534" y="4877427"/>
            <a:ext cx="2314037" cy="830997"/>
          </a:xfrm>
          <a:prstGeom prst="rect">
            <a:avLst/>
          </a:prstGeom>
          <a:solidFill>
            <a:srgbClr val="FFFF00"/>
          </a:solidFill>
        </p:spPr>
        <p:txBody>
          <a:bodyPr wrap="square" rtlCol="0">
            <a:spAutoFit/>
          </a:bodyPr>
          <a:lstStyle/>
          <a:p>
            <a:pPr algn="l"/>
            <a:r>
              <a:rPr lang="en-US" sz="1600" dirty="0">
                <a:latin typeface="Helvetica Neue" panose="02000503000000020004" pitchFamily="2" charset="0"/>
                <a:ea typeface="Helvetica Neue" panose="02000503000000020004" pitchFamily="2" charset="0"/>
                <a:cs typeface="Helvetica Neue" panose="02000503000000020004" pitchFamily="2" charset="0"/>
              </a:rPr>
              <a:t>A new HTTP transaction using a new connection starts</a:t>
            </a:r>
          </a:p>
        </p:txBody>
      </p:sp>
      <p:sp>
        <p:nvSpPr>
          <p:cNvPr id="15" name="TextBox 14">
            <a:extLst>
              <a:ext uri="{FF2B5EF4-FFF2-40B4-BE49-F238E27FC236}">
                <a16:creationId xmlns:a16="http://schemas.microsoft.com/office/drawing/2014/main" id="{116E8F8B-6899-DD4D-8861-DF8E28374785}"/>
              </a:ext>
            </a:extLst>
          </p:cNvPr>
          <p:cNvSpPr txBox="1"/>
          <p:nvPr/>
        </p:nvSpPr>
        <p:spPr>
          <a:xfrm>
            <a:off x="247797" y="4166280"/>
            <a:ext cx="2318941" cy="584775"/>
          </a:xfrm>
          <a:prstGeom prst="rect">
            <a:avLst/>
          </a:prstGeom>
          <a:solidFill>
            <a:srgbClr val="FFFF00"/>
          </a:solidFill>
        </p:spPr>
        <p:txBody>
          <a:bodyPr wrap="square" rtlCol="0">
            <a:spAutoFit/>
          </a:bodyPr>
          <a:lstStyle/>
          <a:p>
            <a:pPr algn="l"/>
            <a:r>
              <a:rPr lang="en-US" sz="1600" dirty="0">
                <a:latin typeface="Helvetica Neue" panose="02000503000000020004" pitchFamily="2" charset="0"/>
                <a:ea typeface="Helvetica Neue" panose="02000503000000020004" pitchFamily="2" charset="0"/>
                <a:cs typeface="Helvetica Neue" panose="02000503000000020004" pitchFamily="2" charset="0"/>
              </a:rPr>
              <a:t>Current connection closes</a:t>
            </a:r>
          </a:p>
        </p:txBody>
      </p:sp>
      <p:cxnSp>
        <p:nvCxnSpPr>
          <p:cNvPr id="18" name="Straight Arrow Connector 17">
            <a:extLst>
              <a:ext uri="{FF2B5EF4-FFF2-40B4-BE49-F238E27FC236}">
                <a16:creationId xmlns:a16="http://schemas.microsoft.com/office/drawing/2014/main" id="{9D98594D-2DBE-8440-AF16-87B82A72C569}"/>
              </a:ext>
            </a:extLst>
          </p:cNvPr>
          <p:cNvCxnSpPr>
            <a:cxnSpLocks/>
          </p:cNvCxnSpPr>
          <p:nvPr/>
        </p:nvCxnSpPr>
        <p:spPr>
          <a:xfrm>
            <a:off x="2622300" y="4605451"/>
            <a:ext cx="6178056"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4" name="Rectangular Callout 33">
            <a:extLst>
              <a:ext uri="{FF2B5EF4-FFF2-40B4-BE49-F238E27FC236}">
                <a16:creationId xmlns:a16="http://schemas.microsoft.com/office/drawing/2014/main" id="{8213D8C3-83B4-8A4F-91CC-739413733C67}"/>
              </a:ext>
            </a:extLst>
          </p:cNvPr>
          <p:cNvSpPr/>
          <p:nvPr/>
        </p:nvSpPr>
        <p:spPr>
          <a:xfrm>
            <a:off x="3999125" y="3972888"/>
            <a:ext cx="1384882" cy="485780"/>
          </a:xfrm>
          <a:prstGeom prst="wedgeRectCallout">
            <a:avLst>
              <a:gd name="adj1" fmla="val -74170"/>
              <a:gd name="adj2" fmla="val 51406"/>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See you later!</a:t>
            </a:r>
          </a:p>
        </p:txBody>
      </p:sp>
      <p:sp>
        <p:nvSpPr>
          <p:cNvPr id="35" name="Rectangular Callout 34">
            <a:extLst>
              <a:ext uri="{FF2B5EF4-FFF2-40B4-BE49-F238E27FC236}">
                <a16:creationId xmlns:a16="http://schemas.microsoft.com/office/drawing/2014/main" id="{C1B2970F-B73E-AD48-BD73-F074BB57EA37}"/>
              </a:ext>
            </a:extLst>
          </p:cNvPr>
          <p:cNvSpPr/>
          <p:nvPr/>
        </p:nvSpPr>
        <p:spPr>
          <a:xfrm>
            <a:off x="6184379" y="3920627"/>
            <a:ext cx="1352288" cy="485780"/>
          </a:xfrm>
          <a:prstGeom prst="wedgeRectCallout">
            <a:avLst>
              <a:gd name="adj1" fmla="val 52193"/>
              <a:gd name="adj2" fmla="val 64388"/>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See you later!</a:t>
            </a:r>
          </a:p>
        </p:txBody>
      </p:sp>
      <p:cxnSp>
        <p:nvCxnSpPr>
          <p:cNvPr id="39" name="Straight Arrow Connector 38">
            <a:extLst>
              <a:ext uri="{FF2B5EF4-FFF2-40B4-BE49-F238E27FC236}">
                <a16:creationId xmlns:a16="http://schemas.microsoft.com/office/drawing/2014/main" id="{A6548C16-0EE8-1740-BACF-85ACA1D5EE36}"/>
              </a:ext>
            </a:extLst>
          </p:cNvPr>
          <p:cNvCxnSpPr>
            <a:cxnSpLocks/>
          </p:cNvCxnSpPr>
          <p:nvPr/>
        </p:nvCxnSpPr>
        <p:spPr>
          <a:xfrm>
            <a:off x="2622300" y="4930241"/>
            <a:ext cx="6178056"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0" name="Rectangular Callout 39">
            <a:extLst>
              <a:ext uri="{FF2B5EF4-FFF2-40B4-BE49-F238E27FC236}">
                <a16:creationId xmlns:a16="http://schemas.microsoft.com/office/drawing/2014/main" id="{EBF88A2C-75E6-834D-BCE0-1552416A9993}"/>
              </a:ext>
            </a:extLst>
          </p:cNvPr>
          <p:cNvSpPr/>
          <p:nvPr/>
        </p:nvSpPr>
        <p:spPr>
          <a:xfrm>
            <a:off x="4082647" y="4516902"/>
            <a:ext cx="1384882" cy="485780"/>
          </a:xfrm>
          <a:prstGeom prst="wedgeRectCallout">
            <a:avLst>
              <a:gd name="adj1" fmla="val -74170"/>
              <a:gd name="adj2" fmla="val 51406"/>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It’s me again</a:t>
            </a:r>
          </a:p>
        </p:txBody>
      </p:sp>
      <p:sp>
        <p:nvSpPr>
          <p:cNvPr id="41" name="Rectangular Callout 40">
            <a:extLst>
              <a:ext uri="{FF2B5EF4-FFF2-40B4-BE49-F238E27FC236}">
                <a16:creationId xmlns:a16="http://schemas.microsoft.com/office/drawing/2014/main" id="{BCF7C28C-81F8-E84C-81B4-6C3692EA63E7}"/>
              </a:ext>
            </a:extLst>
          </p:cNvPr>
          <p:cNvSpPr/>
          <p:nvPr/>
        </p:nvSpPr>
        <p:spPr>
          <a:xfrm>
            <a:off x="6211231" y="4547855"/>
            <a:ext cx="1352288" cy="485780"/>
          </a:xfrm>
          <a:prstGeom prst="wedgeRectCallout">
            <a:avLst>
              <a:gd name="adj1" fmla="val 52193"/>
              <a:gd name="adj2" fmla="val 64388"/>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Sorry, do I know u?</a:t>
            </a:r>
          </a:p>
        </p:txBody>
      </p:sp>
      <p:sp>
        <p:nvSpPr>
          <p:cNvPr id="42" name="Rectangular Callout 41">
            <a:extLst>
              <a:ext uri="{FF2B5EF4-FFF2-40B4-BE49-F238E27FC236}">
                <a16:creationId xmlns:a16="http://schemas.microsoft.com/office/drawing/2014/main" id="{E9AE66C4-40DE-EE4B-9A62-0E712487ADFC}"/>
              </a:ext>
            </a:extLst>
          </p:cNvPr>
          <p:cNvSpPr/>
          <p:nvPr/>
        </p:nvSpPr>
        <p:spPr>
          <a:xfrm>
            <a:off x="6158049" y="5487306"/>
            <a:ext cx="1352288" cy="485780"/>
          </a:xfrm>
          <a:prstGeom prst="wedgeRectCallout">
            <a:avLst>
              <a:gd name="adj1" fmla="val 58022"/>
              <a:gd name="adj2" fmla="val -42710"/>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Yeah, you are ...</a:t>
            </a:r>
          </a:p>
        </p:txBody>
      </p:sp>
      <p:sp>
        <p:nvSpPr>
          <p:cNvPr id="43" name="Down Arrow 42">
            <a:extLst>
              <a:ext uri="{FF2B5EF4-FFF2-40B4-BE49-F238E27FC236}">
                <a16:creationId xmlns:a16="http://schemas.microsoft.com/office/drawing/2014/main" id="{11064398-9B12-114C-9864-EC6304ACF349}"/>
              </a:ext>
            </a:extLst>
          </p:cNvPr>
          <p:cNvSpPr/>
          <p:nvPr/>
        </p:nvSpPr>
        <p:spPr>
          <a:xfrm>
            <a:off x="3413594" y="4989043"/>
            <a:ext cx="528637" cy="1288983"/>
          </a:xfrm>
          <a:prstGeom prst="downArrow">
            <a:avLst/>
          </a:prstGeom>
          <a:solidFill>
            <a:srgbClr val="DD97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Down Arrow 43">
            <a:extLst>
              <a:ext uri="{FF2B5EF4-FFF2-40B4-BE49-F238E27FC236}">
                <a16:creationId xmlns:a16="http://schemas.microsoft.com/office/drawing/2014/main" id="{D6FF6813-B597-3743-A8ED-B631E900743E}"/>
              </a:ext>
            </a:extLst>
          </p:cNvPr>
          <p:cNvSpPr/>
          <p:nvPr/>
        </p:nvSpPr>
        <p:spPr>
          <a:xfrm>
            <a:off x="7520076" y="4959249"/>
            <a:ext cx="528637" cy="1345920"/>
          </a:xfrm>
          <a:prstGeom prst="downArrow">
            <a:avLst/>
          </a:prstGeom>
          <a:solidFill>
            <a:srgbClr val="DD97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8403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1" end="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
                                            <p:txEl>
                                              <p:pRg st="3" end="3"/>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4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1"/>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1"/>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33"/>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11" grpId="0" animBg="1"/>
      <p:bldP spid="21" grpId="0"/>
      <p:bldP spid="22" grpId="0"/>
      <p:bldP spid="25" grpId="0"/>
      <p:bldP spid="26" grpId="0"/>
      <p:bldP spid="30" grpId="0"/>
      <p:bldP spid="33" grpId="0" animBg="1"/>
      <p:bldP spid="24" grpId="0"/>
      <p:bldP spid="4" grpId="0" animBg="1"/>
      <p:bldP spid="15" grpId="0" animBg="1"/>
      <p:bldP spid="34" grpId="0" animBg="1"/>
      <p:bldP spid="35" grpId="0" animBg="1"/>
      <p:bldP spid="40" grpId="0" animBg="1"/>
      <p:bldP spid="41" grpId="0" animBg="1"/>
      <p:bldP spid="42" grpId="0" animBg="1"/>
      <p:bldP spid="43" grpId="0" animBg="1"/>
      <p:bldP spid="4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4ED59-7777-274E-90D7-BEA58185C8F4}"/>
              </a:ext>
            </a:extLst>
          </p:cNvPr>
          <p:cNvSpPr>
            <a:spLocks noGrp="1"/>
          </p:cNvSpPr>
          <p:nvPr>
            <p:ph type="title"/>
          </p:nvPr>
        </p:nvSpPr>
        <p:spPr/>
        <p:txBody>
          <a:bodyPr/>
          <a:lstStyle/>
          <a:p>
            <a:r>
              <a:rPr lang="en-US" dirty="0"/>
              <a:t>Session Identification </a:t>
            </a:r>
            <a:r>
              <a:rPr lang="en-US" dirty="0" err="1"/>
              <a:t>v.s</a:t>
            </a:r>
            <a:r>
              <a:rPr lang="en-US" dirty="0"/>
              <a:t> User Authentication</a:t>
            </a:r>
          </a:p>
        </p:txBody>
      </p:sp>
      <p:sp>
        <p:nvSpPr>
          <p:cNvPr id="4" name="Content Placeholder 3">
            <a:extLst>
              <a:ext uri="{FF2B5EF4-FFF2-40B4-BE49-F238E27FC236}">
                <a16:creationId xmlns:a16="http://schemas.microsoft.com/office/drawing/2014/main" id="{6F5F247C-2356-FA48-94A1-95226F83E247}"/>
              </a:ext>
            </a:extLst>
          </p:cNvPr>
          <p:cNvSpPr>
            <a:spLocks noGrp="1"/>
          </p:cNvSpPr>
          <p:nvPr>
            <p:ph idx="1"/>
          </p:nvPr>
        </p:nvSpPr>
        <p:spPr>
          <a:xfrm>
            <a:off x="261256" y="1185116"/>
            <a:ext cx="9507185" cy="4808180"/>
          </a:xfrm>
        </p:spPr>
        <p:txBody>
          <a:bodyPr>
            <a:normAutofit/>
          </a:bodyPr>
          <a:lstStyle/>
          <a:p>
            <a:r>
              <a:rPr lang="en-US" dirty="0"/>
              <a:t>Session identification and user-authentication are </a:t>
            </a:r>
            <a:r>
              <a:rPr lang="en-US" b="1" dirty="0"/>
              <a:t>NOT</a:t>
            </a:r>
            <a:r>
              <a:rPr lang="en-US" dirty="0"/>
              <a:t> the same.</a:t>
            </a:r>
          </a:p>
          <a:p>
            <a:pPr lvl="1"/>
            <a:r>
              <a:rPr lang="en-US" sz="2000" dirty="0"/>
              <a:t>Session identification is basically for the functionality (i.e., state maintenance) </a:t>
            </a:r>
          </a:p>
          <a:p>
            <a:pPr lvl="1"/>
            <a:r>
              <a:rPr lang="en-US" sz="2000" dirty="0"/>
              <a:t>User authentication is for security.</a:t>
            </a:r>
          </a:p>
          <a:p>
            <a:pPr lvl="1"/>
            <a:r>
              <a:rPr lang="en-US" sz="2000" dirty="0"/>
              <a:t>But functionality is a bigger scope encompassing security. Whether a user is authenticated is part of the session state.</a:t>
            </a:r>
            <a:endParaRPr lang="en-US" sz="2400" dirty="0"/>
          </a:p>
          <a:p>
            <a:r>
              <a:rPr lang="en-US" dirty="0"/>
              <a:t>Server may issue SID </a:t>
            </a:r>
            <a:r>
              <a:rPr lang="en-US" b="1" dirty="0"/>
              <a:t>with or without</a:t>
            </a:r>
            <a:r>
              <a:rPr lang="en-US" dirty="0"/>
              <a:t> prior user authentication. </a:t>
            </a:r>
          </a:p>
          <a:p>
            <a:pPr lvl="1"/>
            <a:r>
              <a:rPr lang="en-US" sz="2000" dirty="0"/>
              <a:t>Server may authenticate a user before the SID is issued and encode this fact in the SID. </a:t>
            </a:r>
          </a:p>
          <a:p>
            <a:pPr lvl="1"/>
            <a:r>
              <a:rPr lang="en-US" sz="2000" dirty="0"/>
              <a:t>SID is then used save future authentications in the same session.</a:t>
            </a:r>
          </a:p>
        </p:txBody>
      </p:sp>
      <p:sp>
        <p:nvSpPr>
          <p:cNvPr id="3" name="Oval 2">
            <a:extLst>
              <a:ext uri="{FF2B5EF4-FFF2-40B4-BE49-F238E27FC236}">
                <a16:creationId xmlns:a16="http://schemas.microsoft.com/office/drawing/2014/main" id="{8242C99E-7D6E-074D-AC7C-300747462BF2}"/>
              </a:ext>
            </a:extLst>
          </p:cNvPr>
          <p:cNvSpPr/>
          <p:nvPr/>
        </p:nvSpPr>
        <p:spPr>
          <a:xfrm>
            <a:off x="10056914" y="1962675"/>
            <a:ext cx="2086099" cy="203068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Oval 6">
            <a:extLst>
              <a:ext uri="{FF2B5EF4-FFF2-40B4-BE49-F238E27FC236}">
                <a16:creationId xmlns:a16="http://schemas.microsoft.com/office/drawing/2014/main" id="{975CA302-3643-D44C-B57D-A3283BF2D123}"/>
              </a:ext>
            </a:extLst>
          </p:cNvPr>
          <p:cNvSpPr/>
          <p:nvPr/>
        </p:nvSpPr>
        <p:spPr>
          <a:xfrm>
            <a:off x="10664906" y="3013047"/>
            <a:ext cx="902771" cy="831906"/>
          </a:xfrm>
          <a:prstGeom prst="ellipse">
            <a:avLst/>
          </a:prstGeom>
          <a:solidFill>
            <a:srgbClr val="92D050"/>
          </a:soli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TextBox 4">
            <a:extLst>
              <a:ext uri="{FF2B5EF4-FFF2-40B4-BE49-F238E27FC236}">
                <a16:creationId xmlns:a16="http://schemas.microsoft.com/office/drawing/2014/main" id="{DD89CB2A-97BA-0F40-9660-C416C4F44445}"/>
              </a:ext>
            </a:extLst>
          </p:cNvPr>
          <p:cNvSpPr txBox="1"/>
          <p:nvPr/>
        </p:nvSpPr>
        <p:spPr>
          <a:xfrm>
            <a:off x="10202385" y="2279428"/>
            <a:ext cx="1728358" cy="400110"/>
          </a:xfrm>
          <a:prstGeom prst="rect">
            <a:avLst/>
          </a:prstGeom>
          <a:noFill/>
        </p:spPr>
        <p:txBody>
          <a:bodyPr wrap="none" rtlCol="0">
            <a:spAutoFit/>
          </a:bodyPr>
          <a:lstStyle/>
          <a:p>
            <a:pPr algn="l"/>
            <a:r>
              <a:rPr lang="en-GB" sz="2000" dirty="0">
                <a:latin typeface="Helvetica Neue" panose="02000503000000020004" pitchFamily="2" charset="0"/>
                <a:ea typeface="Helvetica Neue" panose="02000503000000020004" pitchFamily="2" charset="0"/>
                <a:cs typeface="Helvetica Neue" panose="02000503000000020004" pitchFamily="2" charset="0"/>
              </a:rPr>
              <a:t>Session state</a:t>
            </a:r>
          </a:p>
        </p:txBody>
      </p:sp>
      <p:sp>
        <p:nvSpPr>
          <p:cNvPr id="8" name="TextBox 7">
            <a:extLst>
              <a:ext uri="{FF2B5EF4-FFF2-40B4-BE49-F238E27FC236}">
                <a16:creationId xmlns:a16="http://schemas.microsoft.com/office/drawing/2014/main" id="{5D6A8F4E-7146-AA40-9878-BE595C84AFBE}"/>
              </a:ext>
            </a:extLst>
          </p:cNvPr>
          <p:cNvSpPr txBox="1"/>
          <p:nvPr/>
        </p:nvSpPr>
        <p:spPr>
          <a:xfrm>
            <a:off x="10470078" y="4414152"/>
            <a:ext cx="1668977" cy="646331"/>
          </a:xfrm>
          <a:prstGeom prst="rect">
            <a:avLst/>
          </a:prstGeom>
          <a:noFill/>
        </p:spPr>
        <p:txBody>
          <a:bodyPr wrap="square" rtlCol="0">
            <a:spAutoFit/>
          </a:bodyPr>
          <a:lstStyle/>
          <a:p>
            <a:pPr algn="l"/>
            <a:r>
              <a:rPr lang="en-GB" dirty="0">
                <a:latin typeface="Helvetica Neue" panose="02000503000000020004" pitchFamily="2" charset="0"/>
                <a:ea typeface="Helvetica Neue" panose="02000503000000020004" pitchFamily="2" charset="0"/>
                <a:cs typeface="Helvetica Neue" panose="02000503000000020004" pitchFamily="2" charset="0"/>
              </a:rPr>
              <a:t>authentication status</a:t>
            </a:r>
          </a:p>
        </p:txBody>
      </p:sp>
      <p:cxnSp>
        <p:nvCxnSpPr>
          <p:cNvPr id="10" name="Straight Arrow Connector 9">
            <a:extLst>
              <a:ext uri="{FF2B5EF4-FFF2-40B4-BE49-F238E27FC236}">
                <a16:creationId xmlns:a16="http://schemas.microsoft.com/office/drawing/2014/main" id="{051AF501-FBC8-FC4E-921F-51ED5609ACAA}"/>
              </a:ext>
            </a:extLst>
          </p:cNvPr>
          <p:cNvCxnSpPr/>
          <p:nvPr/>
        </p:nvCxnSpPr>
        <p:spPr>
          <a:xfrm flipH="1" flipV="1">
            <a:off x="11304566" y="3674205"/>
            <a:ext cx="404504" cy="739947"/>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125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37170-B530-E142-935F-6A640190F31B}"/>
              </a:ext>
            </a:extLst>
          </p:cNvPr>
          <p:cNvSpPr>
            <a:spLocks noGrp="1"/>
          </p:cNvSpPr>
          <p:nvPr>
            <p:ph type="title"/>
          </p:nvPr>
        </p:nvSpPr>
        <p:spPr/>
        <p:txBody>
          <a:bodyPr/>
          <a:lstStyle/>
          <a:p>
            <a:r>
              <a:rPr lang="en-US" dirty="0"/>
              <a:t>Session Persistence</a:t>
            </a:r>
          </a:p>
        </p:txBody>
      </p:sp>
      <p:sp>
        <p:nvSpPr>
          <p:cNvPr id="4" name="Content Placeholder 3">
            <a:extLst>
              <a:ext uri="{FF2B5EF4-FFF2-40B4-BE49-F238E27FC236}">
                <a16:creationId xmlns:a16="http://schemas.microsoft.com/office/drawing/2014/main" id="{3D920193-8C26-5D4F-8CDE-A4BEA1704C4D}"/>
              </a:ext>
            </a:extLst>
          </p:cNvPr>
          <p:cNvSpPr>
            <a:spLocks noGrp="1"/>
          </p:cNvSpPr>
          <p:nvPr>
            <p:ph idx="1"/>
          </p:nvPr>
        </p:nvSpPr>
        <p:spPr/>
        <p:txBody>
          <a:bodyPr/>
          <a:lstStyle/>
          <a:p>
            <a:r>
              <a:rPr lang="en-US" dirty="0"/>
              <a:t>Determined by the server</a:t>
            </a:r>
          </a:p>
          <a:p>
            <a:r>
              <a:rPr lang="en-US" dirty="0"/>
              <a:t>Sessions can persist between login and logout </a:t>
            </a:r>
          </a:p>
          <a:p>
            <a:pPr lvl="1"/>
            <a:r>
              <a:rPr lang="en-US" dirty="0"/>
              <a:t>Closing a window does not necessarily close a session to that web site; you usually have to log out explicitly </a:t>
            </a:r>
          </a:p>
          <a:p>
            <a:pPr lvl="1"/>
            <a:endParaRPr lang="en-US" dirty="0"/>
          </a:p>
          <a:p>
            <a:r>
              <a:rPr lang="en-US" dirty="0"/>
              <a:t>Sessions can persist for the duration of a business transaction </a:t>
            </a:r>
          </a:p>
          <a:p>
            <a:endParaRPr lang="en-US" dirty="0"/>
          </a:p>
          <a:p>
            <a:r>
              <a:rPr lang="en-US" dirty="0"/>
              <a:t>Sessions can persist indefinitely</a:t>
            </a:r>
          </a:p>
          <a:p>
            <a:pPr lvl="1"/>
            <a:r>
              <a:rPr lang="en-US" dirty="0"/>
              <a:t>Raises privacy issues when user’s surfing behavior can be tracked over an extended period </a:t>
            </a:r>
          </a:p>
          <a:p>
            <a:endParaRPr lang="en-US" dirty="0"/>
          </a:p>
          <a:p>
            <a:endParaRPr lang="en-US" dirty="0"/>
          </a:p>
          <a:p>
            <a:endParaRPr lang="en-US" dirty="0"/>
          </a:p>
        </p:txBody>
      </p:sp>
    </p:spTree>
    <p:extLst>
      <p:ext uri="{BB962C8B-B14F-4D97-AF65-F5344CB8AC3E}">
        <p14:creationId xmlns:p14="http://schemas.microsoft.com/office/powerpoint/2010/main" val="849974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81642-CCAE-2845-95D0-29BF8D8F98FB}"/>
              </a:ext>
            </a:extLst>
          </p:cNvPr>
          <p:cNvSpPr>
            <a:spLocks noGrp="1"/>
          </p:cNvSpPr>
          <p:nvPr>
            <p:ph type="title"/>
          </p:nvPr>
        </p:nvSpPr>
        <p:spPr/>
        <p:txBody>
          <a:bodyPr/>
          <a:lstStyle/>
          <a:p>
            <a:r>
              <a:rPr lang="en-US" dirty="0"/>
              <a:t>Session Attacks</a:t>
            </a:r>
          </a:p>
        </p:txBody>
      </p:sp>
      <p:sp>
        <p:nvSpPr>
          <p:cNvPr id="3" name="Text Placeholder 2">
            <a:extLst>
              <a:ext uri="{FF2B5EF4-FFF2-40B4-BE49-F238E27FC236}">
                <a16:creationId xmlns:a16="http://schemas.microsoft.com/office/drawing/2014/main" id="{8F7BAF5E-30DC-B442-85E1-71F1A1DAC02E}"/>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4180672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6B228-E5A9-E44A-AEB7-D3F90E283B69}"/>
              </a:ext>
            </a:extLst>
          </p:cNvPr>
          <p:cNvSpPr>
            <a:spLocks noGrp="1"/>
          </p:cNvSpPr>
          <p:nvPr>
            <p:ph type="title"/>
          </p:nvPr>
        </p:nvSpPr>
        <p:spPr/>
        <p:txBody>
          <a:bodyPr/>
          <a:lstStyle/>
          <a:p>
            <a:r>
              <a:rPr lang="en-US" dirty="0"/>
              <a:t>Session Related Attacks </a:t>
            </a:r>
          </a:p>
        </p:txBody>
      </p:sp>
      <p:sp>
        <p:nvSpPr>
          <p:cNvPr id="4" name="Content Placeholder 3">
            <a:extLst>
              <a:ext uri="{FF2B5EF4-FFF2-40B4-BE49-F238E27FC236}">
                <a16:creationId xmlns:a16="http://schemas.microsoft.com/office/drawing/2014/main" id="{059FD6AE-FFDB-0E47-9D02-FF9DCEDCD06D}"/>
              </a:ext>
            </a:extLst>
          </p:cNvPr>
          <p:cNvSpPr>
            <a:spLocks noGrp="1"/>
          </p:cNvSpPr>
          <p:nvPr>
            <p:ph idx="1"/>
          </p:nvPr>
        </p:nvSpPr>
        <p:spPr/>
        <p:txBody>
          <a:bodyPr/>
          <a:lstStyle/>
          <a:p>
            <a:r>
              <a:rPr lang="en-US" dirty="0"/>
              <a:t>When sessions entail privileges, e.g., because a ‘trusted’ user has been authenticated, those privileges may be gained by </a:t>
            </a:r>
            <a:r>
              <a:rPr lang="en-US" b="1" dirty="0"/>
              <a:t>session hijacking</a:t>
            </a:r>
            <a:r>
              <a:rPr lang="en-US" dirty="0"/>
              <a:t>. </a:t>
            </a:r>
            <a:endParaRPr lang="en-US" dirty="0">
              <a:solidFill>
                <a:srgbClr val="C00000"/>
              </a:solidFill>
            </a:endParaRPr>
          </a:p>
          <a:p>
            <a:pPr lvl="1"/>
            <a:endParaRPr lang="en-US" dirty="0"/>
          </a:p>
          <a:p>
            <a:r>
              <a:rPr lang="en-US" b="1" dirty="0"/>
              <a:t>Denial-of-Service</a:t>
            </a:r>
            <a:r>
              <a:rPr lang="en-US" dirty="0"/>
              <a:t>: flooding attacks send many requests for session establishment, exhausting resources at the receiver.</a:t>
            </a:r>
          </a:p>
        </p:txBody>
      </p:sp>
    </p:spTree>
    <p:extLst>
      <p:ext uri="{BB962C8B-B14F-4D97-AF65-F5344CB8AC3E}">
        <p14:creationId xmlns:p14="http://schemas.microsoft.com/office/powerpoint/2010/main" val="2524869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31FAA-2533-D346-9A74-F60C0D84B1B3}"/>
              </a:ext>
            </a:extLst>
          </p:cNvPr>
          <p:cNvSpPr>
            <a:spLocks noGrp="1"/>
          </p:cNvSpPr>
          <p:nvPr>
            <p:ph type="title"/>
          </p:nvPr>
        </p:nvSpPr>
        <p:spPr/>
        <p:txBody>
          <a:bodyPr/>
          <a:lstStyle/>
          <a:p>
            <a:r>
              <a:rPr lang="en-US" dirty="0"/>
              <a:t>Example: Session Hijacking</a:t>
            </a:r>
          </a:p>
        </p:txBody>
      </p:sp>
      <p:sp>
        <p:nvSpPr>
          <p:cNvPr id="4" name="Content Placeholder 3">
            <a:extLst>
              <a:ext uri="{FF2B5EF4-FFF2-40B4-BE49-F238E27FC236}">
                <a16:creationId xmlns:a16="http://schemas.microsoft.com/office/drawing/2014/main" id="{716F4753-B5DD-DB4F-9C79-40D98B11C045}"/>
              </a:ext>
            </a:extLst>
          </p:cNvPr>
          <p:cNvSpPr>
            <a:spLocks noGrp="1"/>
          </p:cNvSpPr>
          <p:nvPr>
            <p:ph idx="1"/>
          </p:nvPr>
        </p:nvSpPr>
        <p:spPr>
          <a:xfrm>
            <a:off x="513350" y="1260073"/>
            <a:ext cx="4359440" cy="4723318"/>
          </a:xfrm>
        </p:spPr>
        <p:txBody>
          <a:bodyPr>
            <a:normAutofit fontScale="92500" lnSpcReduction="20000"/>
          </a:bodyPr>
          <a:lstStyle/>
          <a:p>
            <a:r>
              <a:rPr lang="en-US" dirty="0"/>
              <a:t>Attacker sends multiple requests to the target server</a:t>
            </a:r>
          </a:p>
          <a:p>
            <a:r>
              <a:rPr lang="en-US" dirty="0"/>
              <a:t>For each request, the server sends back a Session ID</a:t>
            </a:r>
          </a:p>
          <a:p>
            <a:pPr lvl="1"/>
            <a:r>
              <a:rPr lang="en-US" dirty="0"/>
              <a:t>The Session IDs are in sequence</a:t>
            </a:r>
          </a:p>
          <a:p>
            <a:r>
              <a:rPr lang="en-US" dirty="0"/>
              <a:t>A victim also connects to the server and receives a Session ID (the missing one in the list)</a:t>
            </a:r>
          </a:p>
          <a:p>
            <a:r>
              <a:rPr lang="en-US" dirty="0"/>
              <a:t>By checking the missing Session ID, attacker obtains the victim’s Session ID</a:t>
            </a:r>
          </a:p>
          <a:p>
            <a:r>
              <a:rPr lang="en-US" dirty="0"/>
              <a:t>Attacker then authenticates to the server as the client, hijacking the client’s session </a:t>
            </a:r>
          </a:p>
        </p:txBody>
      </p:sp>
      <p:pic>
        <p:nvPicPr>
          <p:cNvPr id="5" name="Picture 4">
            <a:extLst>
              <a:ext uri="{FF2B5EF4-FFF2-40B4-BE49-F238E27FC236}">
                <a16:creationId xmlns:a16="http://schemas.microsoft.com/office/drawing/2014/main" id="{2DB01F65-D262-F947-B39C-4FA94362E250}"/>
              </a:ext>
            </a:extLst>
          </p:cNvPr>
          <p:cNvPicPr>
            <a:picLocks noChangeAspect="1"/>
          </p:cNvPicPr>
          <p:nvPr/>
        </p:nvPicPr>
        <p:blipFill>
          <a:blip r:embed="rId2"/>
          <a:stretch>
            <a:fillRect/>
          </a:stretch>
        </p:blipFill>
        <p:spPr>
          <a:xfrm>
            <a:off x="5933574" y="915583"/>
            <a:ext cx="5980988" cy="5249881"/>
          </a:xfrm>
          <a:prstGeom prst="rect">
            <a:avLst/>
          </a:prstGeom>
        </p:spPr>
      </p:pic>
      <p:sp>
        <p:nvSpPr>
          <p:cNvPr id="7" name="Text Placeholder 6">
            <a:extLst>
              <a:ext uri="{FF2B5EF4-FFF2-40B4-BE49-F238E27FC236}">
                <a16:creationId xmlns:a16="http://schemas.microsoft.com/office/drawing/2014/main" id="{0A69BE51-9048-F848-BB50-4471B1E7AAB1}"/>
              </a:ext>
            </a:extLst>
          </p:cNvPr>
          <p:cNvSpPr>
            <a:spLocks noGrp="1"/>
          </p:cNvSpPr>
          <p:nvPr>
            <p:ph type="body" idx="4294967295"/>
          </p:nvPr>
        </p:nvSpPr>
        <p:spPr>
          <a:xfrm>
            <a:off x="2831976" y="6370068"/>
            <a:ext cx="8235091" cy="510464"/>
          </a:xfrm>
        </p:spPr>
        <p:txBody>
          <a:bodyPr>
            <a:normAutofit lnSpcReduction="10000"/>
          </a:bodyPr>
          <a:lstStyle/>
          <a:p>
            <a:pPr marL="0" indent="0" algn="ctr">
              <a:buNone/>
            </a:pPr>
            <a:r>
              <a:rPr lang="en-US" sz="1400" dirty="0"/>
              <a:t>A Shelly, et al. (2019). Using a Web Server Test Bed to Analyze the Limitations of Web Application Vulnerability Scanners. </a:t>
            </a:r>
          </a:p>
        </p:txBody>
      </p:sp>
    </p:spTree>
    <p:extLst>
      <p:ext uri="{BB962C8B-B14F-4D97-AF65-F5344CB8AC3E}">
        <p14:creationId xmlns:p14="http://schemas.microsoft.com/office/powerpoint/2010/main" val="3195862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6E536-411B-2E4B-9737-A99D3AE0C8E8}"/>
              </a:ext>
            </a:extLst>
          </p:cNvPr>
          <p:cNvSpPr>
            <a:spLocks noGrp="1"/>
          </p:cNvSpPr>
          <p:nvPr>
            <p:ph type="title"/>
          </p:nvPr>
        </p:nvSpPr>
        <p:spPr/>
        <p:txBody>
          <a:bodyPr>
            <a:normAutofit/>
          </a:bodyPr>
          <a:lstStyle/>
          <a:p>
            <a:r>
              <a:rPr lang="en-US" dirty="0"/>
              <a:t>Session Hijacking: Cookie Poisoning</a:t>
            </a:r>
          </a:p>
        </p:txBody>
      </p:sp>
      <p:sp>
        <p:nvSpPr>
          <p:cNvPr id="4" name="Content Placeholder 3">
            <a:extLst>
              <a:ext uri="{FF2B5EF4-FFF2-40B4-BE49-F238E27FC236}">
                <a16:creationId xmlns:a16="http://schemas.microsoft.com/office/drawing/2014/main" id="{BEEBD4CF-C0B4-FC45-B697-FD766839F6C0}"/>
              </a:ext>
            </a:extLst>
          </p:cNvPr>
          <p:cNvSpPr>
            <a:spLocks noGrp="1"/>
          </p:cNvSpPr>
          <p:nvPr>
            <p:ph idx="1"/>
          </p:nvPr>
        </p:nvSpPr>
        <p:spPr>
          <a:xfrm>
            <a:off x="513348" y="1067341"/>
            <a:ext cx="10840451" cy="4723318"/>
          </a:xfrm>
        </p:spPr>
        <p:txBody>
          <a:bodyPr/>
          <a:lstStyle/>
          <a:p>
            <a:r>
              <a:rPr lang="en-US" sz="2000" dirty="0"/>
              <a:t>Malicious client or outside attacker may </a:t>
            </a:r>
            <a:r>
              <a:rPr lang="en-US" sz="2000" b="1" dirty="0"/>
              <a:t>use others’</a:t>
            </a:r>
            <a:r>
              <a:rPr lang="en-US" sz="2000" dirty="0"/>
              <a:t> SID (by guessing or stealing) to elevate their permissions when SIDs are used for access control </a:t>
            </a:r>
            <a:endParaRPr lang="en-US" sz="2000" dirty="0">
              <a:solidFill>
                <a:srgbClr val="C00000"/>
              </a:solidFill>
            </a:endParaRPr>
          </a:p>
          <a:p>
            <a:endParaRPr lang="en-US" sz="2000" dirty="0"/>
          </a:p>
          <a:p>
            <a:pPr marL="0" indent="0">
              <a:buNone/>
            </a:pPr>
            <a:endParaRPr lang="en-US" dirty="0"/>
          </a:p>
        </p:txBody>
      </p:sp>
      <p:pic>
        <p:nvPicPr>
          <p:cNvPr id="5" name="Picture 4">
            <a:extLst>
              <a:ext uri="{FF2B5EF4-FFF2-40B4-BE49-F238E27FC236}">
                <a16:creationId xmlns:a16="http://schemas.microsoft.com/office/drawing/2014/main" id="{15E7EF32-C7D1-604D-8352-FB1EAF2B2696}"/>
              </a:ext>
            </a:extLst>
          </p:cNvPr>
          <p:cNvPicPr>
            <a:picLocks noChangeAspect="1"/>
          </p:cNvPicPr>
          <p:nvPr/>
        </p:nvPicPr>
        <p:blipFill>
          <a:blip r:embed="rId2"/>
          <a:stretch>
            <a:fillRect/>
          </a:stretch>
        </p:blipFill>
        <p:spPr>
          <a:xfrm>
            <a:off x="607074" y="1983578"/>
            <a:ext cx="6708126" cy="2461698"/>
          </a:xfrm>
          <a:prstGeom prst="rect">
            <a:avLst/>
          </a:prstGeom>
        </p:spPr>
      </p:pic>
      <p:sp>
        <p:nvSpPr>
          <p:cNvPr id="3" name="TextBox 2">
            <a:extLst>
              <a:ext uri="{FF2B5EF4-FFF2-40B4-BE49-F238E27FC236}">
                <a16:creationId xmlns:a16="http://schemas.microsoft.com/office/drawing/2014/main" id="{6CC6ACD4-9ADB-CE4C-9859-DCEF4A146119}"/>
              </a:ext>
            </a:extLst>
          </p:cNvPr>
          <p:cNvSpPr txBox="1"/>
          <p:nvPr/>
        </p:nvSpPr>
        <p:spPr>
          <a:xfrm>
            <a:off x="1425040" y="4445276"/>
            <a:ext cx="4853445" cy="307777"/>
          </a:xfrm>
          <a:prstGeom prst="rect">
            <a:avLst/>
          </a:prstGeom>
          <a:noFill/>
        </p:spPr>
        <p:txBody>
          <a:bodyPr wrap="none" rtlCol="0">
            <a:spAutoFit/>
          </a:bodyPr>
          <a:lstStyle/>
          <a:p>
            <a:r>
              <a:rPr lang="en-US" sz="1400" dirty="0"/>
              <a:t>(source: https://</a:t>
            </a:r>
            <a:r>
              <a:rPr lang="en-US" sz="1400" dirty="0" err="1"/>
              <a:t>www.owasp.org</a:t>
            </a:r>
            <a:r>
              <a:rPr lang="en-US" sz="1400" dirty="0"/>
              <a:t>/</a:t>
            </a:r>
            <a:r>
              <a:rPr lang="en-US" sz="1400" dirty="0" err="1"/>
              <a:t>index.php</a:t>
            </a:r>
            <a:r>
              <a:rPr lang="en-US" sz="1400" dirty="0"/>
              <a:t>/</a:t>
            </a:r>
            <a:r>
              <a:rPr lang="en-US" sz="1400" dirty="0" err="1"/>
              <a:t>Session_Prediction</a:t>
            </a:r>
            <a:r>
              <a:rPr lang="en-US" sz="1400" dirty="0"/>
              <a:t>)</a:t>
            </a:r>
          </a:p>
        </p:txBody>
      </p:sp>
      <p:sp>
        <p:nvSpPr>
          <p:cNvPr id="7" name="TextBox 6">
            <a:extLst>
              <a:ext uri="{FF2B5EF4-FFF2-40B4-BE49-F238E27FC236}">
                <a16:creationId xmlns:a16="http://schemas.microsoft.com/office/drawing/2014/main" id="{70E96740-B38C-7247-AE4C-905176AC9874}"/>
              </a:ext>
            </a:extLst>
          </p:cNvPr>
          <p:cNvSpPr txBox="1"/>
          <p:nvPr/>
        </p:nvSpPr>
        <p:spPr>
          <a:xfrm>
            <a:off x="7712900" y="2113807"/>
            <a:ext cx="3872025" cy="646331"/>
          </a:xfrm>
          <a:prstGeom prst="rect">
            <a:avLst/>
          </a:prstGeom>
          <a:noFill/>
        </p:spPr>
        <p:txBody>
          <a:bodyPr wrap="square" rtlCol="0">
            <a:spAutoFit/>
          </a:bodyPr>
          <a:lstStyle/>
          <a:p>
            <a:pPr algn="l"/>
            <a:r>
              <a:rPr lang="en-GB" dirty="0">
                <a:latin typeface="Helvetica Neue" panose="02000503000000020004" pitchFamily="2" charset="0"/>
                <a:ea typeface="Helvetica Neue" panose="02000503000000020004" pitchFamily="2" charset="0"/>
                <a:cs typeface="Helvetica Neue" panose="02000503000000020004" pitchFamily="2" charset="0"/>
              </a:rPr>
              <a:t>A predictable session id can be easily faked by attackers</a:t>
            </a:r>
          </a:p>
        </p:txBody>
      </p:sp>
    </p:spTree>
    <p:extLst>
      <p:ext uri="{BB962C8B-B14F-4D97-AF65-F5344CB8AC3E}">
        <p14:creationId xmlns:p14="http://schemas.microsoft.com/office/powerpoint/2010/main" val="2078467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6B228-E5A9-E44A-AEB7-D3F90E283B69}"/>
              </a:ext>
            </a:extLst>
          </p:cNvPr>
          <p:cNvSpPr>
            <a:spLocks noGrp="1"/>
          </p:cNvSpPr>
          <p:nvPr>
            <p:ph type="title"/>
          </p:nvPr>
        </p:nvSpPr>
        <p:spPr/>
        <p:txBody>
          <a:bodyPr/>
          <a:lstStyle/>
          <a:p>
            <a:r>
              <a:rPr lang="en-US" dirty="0"/>
              <a:t>Session ID Protection</a:t>
            </a:r>
          </a:p>
        </p:txBody>
      </p:sp>
      <p:sp>
        <p:nvSpPr>
          <p:cNvPr id="4" name="Content Placeholder 3">
            <a:extLst>
              <a:ext uri="{FF2B5EF4-FFF2-40B4-BE49-F238E27FC236}">
                <a16:creationId xmlns:a16="http://schemas.microsoft.com/office/drawing/2014/main" id="{059FD6AE-FFDB-0E47-9D02-FF9DCEDCD06D}"/>
              </a:ext>
            </a:extLst>
          </p:cNvPr>
          <p:cNvSpPr>
            <a:spLocks noGrp="1"/>
          </p:cNvSpPr>
          <p:nvPr>
            <p:ph idx="1"/>
          </p:nvPr>
        </p:nvSpPr>
        <p:spPr/>
        <p:txBody>
          <a:bodyPr/>
          <a:lstStyle/>
          <a:p>
            <a:pPr marL="285750" indent="-285750">
              <a:buFont typeface="Arial" panose="020B0604020202020204" pitchFamily="34" charset="0"/>
              <a:buChar char="•"/>
            </a:pPr>
            <a:r>
              <a:rPr lang="en-US" sz="2400" dirty="0">
                <a:solidFill>
                  <a:schemeClr val="tx1">
                    <a:lumMod val="95000"/>
                    <a:lumOff val="5000"/>
                  </a:schemeClr>
                </a:solidFill>
              </a:rPr>
              <a:t>Use a large </a:t>
            </a:r>
            <a:r>
              <a:rPr lang="en-US" sz="2400" b="1" dirty="0">
                <a:solidFill>
                  <a:schemeClr val="tx1">
                    <a:lumMod val="95000"/>
                    <a:lumOff val="5000"/>
                  </a:schemeClr>
                </a:solidFill>
              </a:rPr>
              <a:t>random</a:t>
            </a:r>
            <a:r>
              <a:rPr lang="en-US" sz="2400" dirty="0">
                <a:solidFill>
                  <a:schemeClr val="tx1">
                    <a:lumMod val="95000"/>
                    <a:lumOff val="5000"/>
                  </a:schemeClr>
                </a:solidFill>
              </a:rPr>
              <a:t> SID (e.g., 20 bytes) instead of a predictable or sequential SID</a:t>
            </a:r>
          </a:p>
          <a:p>
            <a:pPr marL="285750" indent="-285750"/>
            <a:r>
              <a:rPr lang="en-US" dirty="0"/>
              <a:t>Stored in a safe place in both client side and server side</a:t>
            </a:r>
          </a:p>
          <a:p>
            <a:r>
              <a:rPr lang="en-US" dirty="0"/>
              <a:t> Deliver SID through an SSL/TLS connection</a:t>
            </a:r>
          </a:p>
        </p:txBody>
      </p:sp>
    </p:spTree>
    <p:extLst>
      <p:ext uri="{BB962C8B-B14F-4D97-AF65-F5344CB8AC3E}">
        <p14:creationId xmlns:p14="http://schemas.microsoft.com/office/powerpoint/2010/main" val="4208906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A775D91-F09E-3A40-9989-95213A130B1A}"/>
              </a:ext>
            </a:extLst>
          </p:cNvPr>
          <p:cNvSpPr>
            <a:spLocks noGrp="1"/>
          </p:cNvSpPr>
          <p:nvPr>
            <p:ph type="title"/>
          </p:nvPr>
        </p:nvSpPr>
        <p:spPr/>
        <p:txBody>
          <a:bodyPr/>
          <a:lstStyle/>
          <a:p>
            <a:r>
              <a:rPr lang="en-US" dirty="0"/>
              <a:t>Same Origin Policy</a:t>
            </a:r>
          </a:p>
        </p:txBody>
      </p:sp>
      <p:sp>
        <p:nvSpPr>
          <p:cNvPr id="6" name="Text Placeholder 5">
            <a:extLst>
              <a:ext uri="{FF2B5EF4-FFF2-40B4-BE49-F238E27FC236}">
                <a16:creationId xmlns:a16="http://schemas.microsoft.com/office/drawing/2014/main" id="{8F21A650-F49C-F04A-A6E8-5F8432366F68}"/>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14278076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B9B1-5AAB-9748-BAB9-AE4403F0638A}"/>
              </a:ext>
            </a:extLst>
          </p:cNvPr>
          <p:cNvSpPr>
            <a:spLocks noGrp="1"/>
          </p:cNvSpPr>
          <p:nvPr>
            <p:ph type="title"/>
          </p:nvPr>
        </p:nvSpPr>
        <p:spPr/>
        <p:txBody>
          <a:bodyPr/>
          <a:lstStyle/>
          <a:p>
            <a:r>
              <a:rPr lang="en-US" dirty="0"/>
              <a:t>JavaScript &amp; DOM</a:t>
            </a:r>
          </a:p>
        </p:txBody>
      </p:sp>
      <p:sp>
        <p:nvSpPr>
          <p:cNvPr id="3" name="Content Placeholder 2">
            <a:extLst>
              <a:ext uri="{FF2B5EF4-FFF2-40B4-BE49-F238E27FC236}">
                <a16:creationId xmlns:a16="http://schemas.microsoft.com/office/drawing/2014/main" id="{FBAD67D9-695A-134F-80FE-0F828CEA8EA4}"/>
              </a:ext>
            </a:extLst>
          </p:cNvPr>
          <p:cNvSpPr>
            <a:spLocks noGrp="1"/>
          </p:cNvSpPr>
          <p:nvPr>
            <p:ph idx="1"/>
          </p:nvPr>
        </p:nvSpPr>
        <p:spPr/>
        <p:txBody>
          <a:bodyPr/>
          <a:lstStyle/>
          <a:p>
            <a:r>
              <a:rPr lang="en-SG" dirty="0"/>
              <a:t>Document Object Model (DOM):</a:t>
            </a:r>
          </a:p>
          <a:p>
            <a:pPr lvl="1"/>
            <a:r>
              <a:rPr lang="en-SG" dirty="0"/>
              <a:t>DOM is the hierarchical representation of data, used to manage state in modern web browsers. </a:t>
            </a:r>
          </a:p>
          <a:p>
            <a:pPr lvl="1"/>
            <a:endParaRPr lang="en-SG" dirty="0"/>
          </a:p>
          <a:p>
            <a:r>
              <a:rPr lang="en-SG" dirty="0"/>
              <a:t>JavaScript: programming language for client-side scripting in web browsers.</a:t>
            </a:r>
          </a:p>
          <a:p>
            <a:pPr lvl="1"/>
            <a:r>
              <a:rPr lang="en-SG" dirty="0"/>
              <a:t>A script may read/write DOM objects, request for network connection, read cookies, access files, etc. It can do (almost) anything!</a:t>
            </a:r>
          </a:p>
          <a:p>
            <a:pPr lvl="1"/>
            <a:r>
              <a:rPr lang="en-SG" dirty="0"/>
              <a:t>A script can be executed upon loading or events.</a:t>
            </a:r>
          </a:p>
          <a:p>
            <a:pPr lvl="1"/>
            <a:endParaRPr lang="en-SG" dirty="0"/>
          </a:p>
        </p:txBody>
      </p:sp>
      <p:sp>
        <p:nvSpPr>
          <p:cNvPr id="10" name="Rectangle 9">
            <a:extLst>
              <a:ext uri="{FF2B5EF4-FFF2-40B4-BE49-F238E27FC236}">
                <a16:creationId xmlns:a16="http://schemas.microsoft.com/office/drawing/2014/main" id="{FEEC891F-F507-6849-B7EF-FE674647C960}"/>
              </a:ext>
            </a:extLst>
          </p:cNvPr>
          <p:cNvSpPr/>
          <p:nvPr/>
        </p:nvSpPr>
        <p:spPr>
          <a:xfrm>
            <a:off x="2135560" y="5056357"/>
            <a:ext cx="7416824" cy="1066800"/>
          </a:xfrm>
          <a:prstGeom prst="rect">
            <a:avLst/>
          </a:prstGeom>
          <a:solidFill>
            <a:srgbClr val="FFFF00"/>
          </a:solidFill>
          <a:ln w="25400" cap="flat" cmpd="sng" algn="ctr">
            <a:solidFill>
              <a:srgbClr val="000000"/>
            </a:solidFill>
            <a:prstDash val="solid"/>
          </a:ln>
          <a:effectLst>
            <a:outerShdw blurRad="50800" dist="635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ea typeface="+mn-ea"/>
                <a:cs typeface="+mn-cs"/>
              </a:rPr>
              <a:t>for the sake of security, the browser must restrict JS execution with access control. </a:t>
            </a:r>
          </a:p>
        </p:txBody>
      </p:sp>
    </p:spTree>
    <p:extLst>
      <p:ext uri="{BB962C8B-B14F-4D97-AF65-F5344CB8AC3E}">
        <p14:creationId xmlns:p14="http://schemas.microsoft.com/office/powerpoint/2010/main" val="1463628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F43A8-2BB5-9D4A-8921-90A400421478}"/>
              </a:ext>
            </a:extLst>
          </p:cNvPr>
          <p:cNvSpPr>
            <a:spLocks noGrp="1"/>
          </p:cNvSpPr>
          <p:nvPr>
            <p:ph type="title"/>
          </p:nvPr>
        </p:nvSpPr>
        <p:spPr/>
        <p:txBody>
          <a:bodyPr/>
          <a:lstStyle/>
          <a:p>
            <a:r>
              <a:rPr lang="en-US" dirty="0"/>
              <a:t>Origin</a:t>
            </a:r>
          </a:p>
        </p:txBody>
      </p:sp>
      <p:sp>
        <p:nvSpPr>
          <p:cNvPr id="3" name="Content Placeholder 2">
            <a:extLst>
              <a:ext uri="{FF2B5EF4-FFF2-40B4-BE49-F238E27FC236}">
                <a16:creationId xmlns:a16="http://schemas.microsoft.com/office/drawing/2014/main" id="{37B6F6D0-5131-3742-9A29-CC41766C5FDE}"/>
              </a:ext>
            </a:extLst>
          </p:cNvPr>
          <p:cNvSpPr>
            <a:spLocks noGrp="1"/>
          </p:cNvSpPr>
          <p:nvPr>
            <p:ph idx="1"/>
          </p:nvPr>
        </p:nvSpPr>
        <p:spPr/>
        <p:txBody>
          <a:bodyPr>
            <a:normAutofit/>
          </a:bodyPr>
          <a:lstStyle/>
          <a:p>
            <a:r>
              <a:rPr lang="en-US" b="1" dirty="0"/>
              <a:t>Definition of same-origin</a:t>
            </a:r>
            <a:r>
              <a:rPr lang="en-US" dirty="0"/>
              <a:t>: two URLs have the same origin if the protocol, port (if specified) and host are the same for both.</a:t>
            </a:r>
          </a:p>
          <a:p>
            <a:pPr lvl="1"/>
            <a:r>
              <a:rPr lang="en-US" dirty="0"/>
              <a:t>it is referenced as the protocol/host/port tuple.</a:t>
            </a:r>
          </a:p>
        </p:txBody>
      </p:sp>
      <p:sp>
        <p:nvSpPr>
          <p:cNvPr id="6" name="TextBox 5">
            <a:extLst>
              <a:ext uri="{FF2B5EF4-FFF2-40B4-BE49-F238E27FC236}">
                <a16:creationId xmlns:a16="http://schemas.microsoft.com/office/drawing/2014/main" id="{7AE898DF-58BB-9844-B420-BF5DB209F4E1}"/>
              </a:ext>
            </a:extLst>
          </p:cNvPr>
          <p:cNvSpPr txBox="1"/>
          <p:nvPr/>
        </p:nvSpPr>
        <p:spPr>
          <a:xfrm>
            <a:off x="911424" y="2745061"/>
            <a:ext cx="8920647" cy="461665"/>
          </a:xfrm>
          <a:prstGeom prst="rect">
            <a:avLst/>
          </a:prstGeom>
          <a:noFill/>
        </p:spPr>
        <p:txBody>
          <a:bodyPr wrap="none" rtlCol="0">
            <a:spAutoFit/>
          </a:bodyPr>
          <a:lstStyle/>
          <a:p>
            <a:r>
              <a:rPr lang="en-SG" dirty="0">
                <a:latin typeface="+mn-lt"/>
              </a:rPr>
              <a:t>Example: with respect to </a:t>
            </a:r>
            <a:r>
              <a:rPr lang="en-SG" dirty="0">
                <a:solidFill>
                  <a:srgbClr val="00B050"/>
                </a:solidFill>
                <a:latin typeface="+mn-lt"/>
              </a:rPr>
              <a:t>http://</a:t>
            </a:r>
            <a:r>
              <a:rPr lang="en-SG" dirty="0" err="1">
                <a:solidFill>
                  <a:srgbClr val="00B050"/>
                </a:solidFill>
                <a:latin typeface="+mn-lt"/>
              </a:rPr>
              <a:t>store.company.com</a:t>
            </a:r>
            <a:r>
              <a:rPr lang="en-SG" dirty="0">
                <a:solidFill>
                  <a:srgbClr val="00B050"/>
                </a:solidFill>
                <a:latin typeface="+mn-lt"/>
              </a:rPr>
              <a:t>/</a:t>
            </a:r>
            <a:r>
              <a:rPr lang="en-SG" dirty="0" err="1">
                <a:solidFill>
                  <a:srgbClr val="00B050"/>
                </a:solidFill>
                <a:latin typeface="+mn-lt"/>
              </a:rPr>
              <a:t>dir</a:t>
            </a:r>
            <a:r>
              <a:rPr lang="en-SG" dirty="0">
                <a:solidFill>
                  <a:srgbClr val="00B050"/>
                </a:solidFill>
                <a:latin typeface="+mn-lt"/>
              </a:rPr>
              <a:t>/</a:t>
            </a:r>
            <a:r>
              <a:rPr lang="en-SG" dirty="0" err="1">
                <a:solidFill>
                  <a:srgbClr val="00B050"/>
                </a:solidFill>
                <a:latin typeface="+mn-lt"/>
              </a:rPr>
              <a:t>page.html</a:t>
            </a:r>
            <a:endParaRPr lang="en-US" dirty="0">
              <a:solidFill>
                <a:srgbClr val="00B050"/>
              </a:solidFill>
              <a:latin typeface="+mn-lt"/>
            </a:endParaRPr>
          </a:p>
        </p:txBody>
      </p:sp>
      <p:graphicFrame>
        <p:nvGraphicFramePr>
          <p:cNvPr id="11" name="Table 10">
            <a:extLst>
              <a:ext uri="{FF2B5EF4-FFF2-40B4-BE49-F238E27FC236}">
                <a16:creationId xmlns:a16="http://schemas.microsoft.com/office/drawing/2014/main" id="{86B891C9-41C7-CF44-B6BC-2D008ED31666}"/>
              </a:ext>
            </a:extLst>
          </p:cNvPr>
          <p:cNvGraphicFramePr>
            <a:graphicFrameLocks noGrp="1"/>
          </p:cNvGraphicFramePr>
          <p:nvPr>
            <p:extLst>
              <p:ext uri="{D42A27DB-BD31-4B8C-83A1-F6EECF244321}">
                <p14:modId xmlns:p14="http://schemas.microsoft.com/office/powerpoint/2010/main" val="2243709569"/>
              </p:ext>
            </p:extLst>
          </p:nvPr>
        </p:nvGraphicFramePr>
        <p:xfrm>
          <a:off x="1055440" y="3359492"/>
          <a:ext cx="9793088" cy="2841666"/>
        </p:xfrm>
        <a:graphic>
          <a:graphicData uri="http://schemas.openxmlformats.org/drawingml/2006/table">
            <a:tbl>
              <a:tblPr firstRow="1"/>
              <a:tblGrid>
                <a:gridCol w="4877783">
                  <a:extLst>
                    <a:ext uri="{9D8B030D-6E8A-4147-A177-3AD203B41FA5}">
                      <a16:colId xmlns:a16="http://schemas.microsoft.com/office/drawing/2014/main" val="1535265948"/>
                    </a:ext>
                  </a:extLst>
                </a:gridCol>
                <a:gridCol w="2326327">
                  <a:extLst>
                    <a:ext uri="{9D8B030D-6E8A-4147-A177-3AD203B41FA5}">
                      <a16:colId xmlns:a16="http://schemas.microsoft.com/office/drawing/2014/main" val="301158691"/>
                    </a:ext>
                  </a:extLst>
                </a:gridCol>
                <a:gridCol w="2588978">
                  <a:extLst>
                    <a:ext uri="{9D8B030D-6E8A-4147-A177-3AD203B41FA5}">
                      <a16:colId xmlns:a16="http://schemas.microsoft.com/office/drawing/2014/main" val="3256741288"/>
                    </a:ext>
                  </a:extLst>
                </a:gridCol>
              </a:tblGrid>
              <a:tr h="294564">
                <a:tc>
                  <a:txBody>
                    <a:bodyPr/>
                    <a:lstStyle>
                      <a:lvl1pPr marL="0" algn="l" defTabSz="685800" rtl="0" eaLnBrk="1" latinLnBrk="0" hangingPunct="1">
                        <a:defRPr sz="1350" b="1" kern="1200">
                          <a:solidFill>
                            <a:schemeClr val="bg1"/>
                          </a:solidFill>
                          <a:latin typeface="Arial"/>
                        </a:defRPr>
                      </a:lvl1pPr>
                      <a:lvl2pPr marL="342900" algn="l" defTabSz="685800" rtl="0" eaLnBrk="1" latinLnBrk="0" hangingPunct="1">
                        <a:defRPr sz="1350" b="1" kern="1200">
                          <a:solidFill>
                            <a:schemeClr val="bg1"/>
                          </a:solidFill>
                          <a:latin typeface="Arial"/>
                        </a:defRPr>
                      </a:lvl2pPr>
                      <a:lvl3pPr marL="685800" algn="l" defTabSz="685800" rtl="0" eaLnBrk="1" latinLnBrk="0" hangingPunct="1">
                        <a:defRPr sz="1350" b="1" kern="1200">
                          <a:solidFill>
                            <a:schemeClr val="bg1"/>
                          </a:solidFill>
                          <a:latin typeface="Arial"/>
                        </a:defRPr>
                      </a:lvl3pPr>
                      <a:lvl4pPr marL="1028700" algn="l" defTabSz="685800" rtl="0" eaLnBrk="1" latinLnBrk="0" hangingPunct="1">
                        <a:defRPr sz="1350" b="1" kern="1200">
                          <a:solidFill>
                            <a:schemeClr val="bg1"/>
                          </a:solidFill>
                          <a:latin typeface="Arial"/>
                        </a:defRPr>
                      </a:lvl4pPr>
                      <a:lvl5pPr marL="1371600" algn="l" defTabSz="685800" rtl="0" eaLnBrk="1" latinLnBrk="0" hangingPunct="1">
                        <a:defRPr sz="1350" b="1" kern="1200">
                          <a:solidFill>
                            <a:schemeClr val="bg1"/>
                          </a:solidFill>
                          <a:latin typeface="Arial"/>
                        </a:defRPr>
                      </a:lvl5pPr>
                      <a:lvl6pPr marL="1714500" algn="l" defTabSz="685800" rtl="0" eaLnBrk="1" latinLnBrk="0" hangingPunct="1">
                        <a:defRPr sz="1350" b="1" kern="1200">
                          <a:solidFill>
                            <a:schemeClr val="bg1"/>
                          </a:solidFill>
                          <a:latin typeface="Arial"/>
                        </a:defRPr>
                      </a:lvl6pPr>
                      <a:lvl7pPr marL="2057400" algn="l" defTabSz="685800" rtl="0" eaLnBrk="1" latinLnBrk="0" hangingPunct="1">
                        <a:defRPr sz="1350" b="1" kern="1200">
                          <a:solidFill>
                            <a:schemeClr val="bg1"/>
                          </a:solidFill>
                          <a:latin typeface="Arial"/>
                        </a:defRPr>
                      </a:lvl7pPr>
                      <a:lvl8pPr marL="2400300" algn="l" defTabSz="685800" rtl="0" eaLnBrk="1" latinLnBrk="0" hangingPunct="1">
                        <a:defRPr sz="1350" b="1" kern="1200">
                          <a:solidFill>
                            <a:schemeClr val="bg1"/>
                          </a:solidFill>
                          <a:latin typeface="Arial"/>
                        </a:defRPr>
                      </a:lvl8pPr>
                      <a:lvl9pPr marL="2743200" algn="l" defTabSz="685800" rtl="0" eaLnBrk="1" latinLnBrk="0" hangingPunct="1">
                        <a:defRPr sz="1350" b="1" kern="1200">
                          <a:solidFill>
                            <a:schemeClr val="bg1"/>
                          </a:solidFill>
                          <a:latin typeface="Arial"/>
                        </a:defRPr>
                      </a:lvl9pPr>
                    </a:lstStyle>
                    <a:p>
                      <a:r>
                        <a:rPr lang="en-SG" sz="1200" dirty="0"/>
                        <a:t>URL</a:t>
                      </a:r>
                    </a:p>
                  </a:txBody>
                  <a:tcPr marL="58575" marR="58575" marT="29287" marB="29287" anchor="ctr">
                    <a:lnL w="9525" cap="flat" cmpd="sng" algn="ctr">
                      <a:solidFill>
                        <a:srgbClr val="333399">
                          <a:shade val="95000"/>
                          <a:satMod val="105000"/>
                        </a:srgbClr>
                      </a:solidFill>
                      <a:prstDash val="solid"/>
                    </a:lnL>
                    <a:lnR>
                      <a:noFill/>
                    </a:lnR>
                    <a:lnT w="9525" cap="flat" cmpd="sng" algn="ctr">
                      <a:solidFill>
                        <a:srgbClr val="333399">
                          <a:shade val="95000"/>
                          <a:satMod val="105000"/>
                        </a:srgbClr>
                      </a:solidFill>
                      <a:prstDash val="solid"/>
                    </a:lnT>
                    <a:lnB>
                      <a:noFill/>
                    </a:lnB>
                    <a:lnTlToBr w="12700" cmpd="sng">
                      <a:noFill/>
                      <a:prstDash val="solid"/>
                    </a:lnTlToBr>
                    <a:lnBlToTr w="12700" cmpd="sng">
                      <a:noFill/>
                      <a:prstDash val="solid"/>
                    </a:lnBlToTr>
                    <a:solidFill>
                      <a:srgbClr val="333399"/>
                    </a:solidFill>
                  </a:tcPr>
                </a:tc>
                <a:tc>
                  <a:txBody>
                    <a:bodyPr/>
                    <a:lstStyle>
                      <a:lvl1pPr marL="0" algn="l" defTabSz="685800" rtl="0" eaLnBrk="1" latinLnBrk="0" hangingPunct="1">
                        <a:defRPr sz="1350" b="1" kern="1200">
                          <a:solidFill>
                            <a:schemeClr val="bg1"/>
                          </a:solidFill>
                          <a:latin typeface="Arial"/>
                        </a:defRPr>
                      </a:lvl1pPr>
                      <a:lvl2pPr marL="342900" algn="l" defTabSz="685800" rtl="0" eaLnBrk="1" latinLnBrk="0" hangingPunct="1">
                        <a:defRPr sz="1350" b="1" kern="1200">
                          <a:solidFill>
                            <a:schemeClr val="bg1"/>
                          </a:solidFill>
                          <a:latin typeface="Arial"/>
                        </a:defRPr>
                      </a:lvl2pPr>
                      <a:lvl3pPr marL="685800" algn="l" defTabSz="685800" rtl="0" eaLnBrk="1" latinLnBrk="0" hangingPunct="1">
                        <a:defRPr sz="1350" b="1" kern="1200">
                          <a:solidFill>
                            <a:schemeClr val="bg1"/>
                          </a:solidFill>
                          <a:latin typeface="Arial"/>
                        </a:defRPr>
                      </a:lvl3pPr>
                      <a:lvl4pPr marL="1028700" algn="l" defTabSz="685800" rtl="0" eaLnBrk="1" latinLnBrk="0" hangingPunct="1">
                        <a:defRPr sz="1350" b="1" kern="1200">
                          <a:solidFill>
                            <a:schemeClr val="bg1"/>
                          </a:solidFill>
                          <a:latin typeface="Arial"/>
                        </a:defRPr>
                      </a:lvl4pPr>
                      <a:lvl5pPr marL="1371600" algn="l" defTabSz="685800" rtl="0" eaLnBrk="1" latinLnBrk="0" hangingPunct="1">
                        <a:defRPr sz="1350" b="1" kern="1200">
                          <a:solidFill>
                            <a:schemeClr val="bg1"/>
                          </a:solidFill>
                          <a:latin typeface="Arial"/>
                        </a:defRPr>
                      </a:lvl5pPr>
                      <a:lvl6pPr marL="1714500" algn="l" defTabSz="685800" rtl="0" eaLnBrk="1" latinLnBrk="0" hangingPunct="1">
                        <a:defRPr sz="1350" b="1" kern="1200">
                          <a:solidFill>
                            <a:schemeClr val="bg1"/>
                          </a:solidFill>
                          <a:latin typeface="Arial"/>
                        </a:defRPr>
                      </a:lvl6pPr>
                      <a:lvl7pPr marL="2057400" algn="l" defTabSz="685800" rtl="0" eaLnBrk="1" latinLnBrk="0" hangingPunct="1">
                        <a:defRPr sz="1350" b="1" kern="1200">
                          <a:solidFill>
                            <a:schemeClr val="bg1"/>
                          </a:solidFill>
                          <a:latin typeface="Arial"/>
                        </a:defRPr>
                      </a:lvl7pPr>
                      <a:lvl8pPr marL="2400300" algn="l" defTabSz="685800" rtl="0" eaLnBrk="1" latinLnBrk="0" hangingPunct="1">
                        <a:defRPr sz="1350" b="1" kern="1200">
                          <a:solidFill>
                            <a:schemeClr val="bg1"/>
                          </a:solidFill>
                          <a:latin typeface="Arial"/>
                        </a:defRPr>
                      </a:lvl8pPr>
                      <a:lvl9pPr marL="2743200" algn="l" defTabSz="685800" rtl="0" eaLnBrk="1" latinLnBrk="0" hangingPunct="1">
                        <a:defRPr sz="1350" b="1" kern="1200">
                          <a:solidFill>
                            <a:schemeClr val="bg1"/>
                          </a:solidFill>
                          <a:latin typeface="Arial"/>
                        </a:defRPr>
                      </a:lvl9pPr>
                    </a:lstStyle>
                    <a:p>
                      <a:r>
                        <a:rPr lang="en-SG" sz="1200"/>
                        <a:t>Outcome</a:t>
                      </a:r>
                    </a:p>
                  </a:txBody>
                  <a:tcPr marL="58575" marR="58575" marT="29287" marB="29287" anchor="ctr">
                    <a:lnL>
                      <a:noFill/>
                    </a:lnL>
                    <a:lnR>
                      <a:noFill/>
                    </a:lnR>
                    <a:lnT w="9525" cap="flat" cmpd="sng" algn="ctr">
                      <a:solidFill>
                        <a:srgbClr val="333399">
                          <a:shade val="95000"/>
                          <a:satMod val="105000"/>
                        </a:srgbClr>
                      </a:solidFill>
                      <a:prstDash val="solid"/>
                    </a:lnT>
                    <a:lnB>
                      <a:noFill/>
                    </a:lnB>
                    <a:lnTlToBr w="12700" cmpd="sng">
                      <a:noFill/>
                      <a:prstDash val="solid"/>
                    </a:lnTlToBr>
                    <a:lnBlToTr w="12700" cmpd="sng">
                      <a:noFill/>
                      <a:prstDash val="solid"/>
                    </a:lnBlToTr>
                    <a:solidFill>
                      <a:srgbClr val="333399"/>
                    </a:solidFill>
                  </a:tcPr>
                </a:tc>
                <a:tc>
                  <a:txBody>
                    <a:bodyPr/>
                    <a:lstStyle>
                      <a:lvl1pPr marL="0" algn="l" defTabSz="685800" rtl="0" eaLnBrk="1" latinLnBrk="0" hangingPunct="1">
                        <a:defRPr sz="1350" b="1" kern="1200">
                          <a:solidFill>
                            <a:schemeClr val="bg1"/>
                          </a:solidFill>
                          <a:latin typeface="Arial"/>
                        </a:defRPr>
                      </a:lvl1pPr>
                      <a:lvl2pPr marL="342900" algn="l" defTabSz="685800" rtl="0" eaLnBrk="1" latinLnBrk="0" hangingPunct="1">
                        <a:defRPr sz="1350" b="1" kern="1200">
                          <a:solidFill>
                            <a:schemeClr val="bg1"/>
                          </a:solidFill>
                          <a:latin typeface="Arial"/>
                        </a:defRPr>
                      </a:lvl2pPr>
                      <a:lvl3pPr marL="685800" algn="l" defTabSz="685800" rtl="0" eaLnBrk="1" latinLnBrk="0" hangingPunct="1">
                        <a:defRPr sz="1350" b="1" kern="1200">
                          <a:solidFill>
                            <a:schemeClr val="bg1"/>
                          </a:solidFill>
                          <a:latin typeface="Arial"/>
                        </a:defRPr>
                      </a:lvl3pPr>
                      <a:lvl4pPr marL="1028700" algn="l" defTabSz="685800" rtl="0" eaLnBrk="1" latinLnBrk="0" hangingPunct="1">
                        <a:defRPr sz="1350" b="1" kern="1200">
                          <a:solidFill>
                            <a:schemeClr val="bg1"/>
                          </a:solidFill>
                          <a:latin typeface="Arial"/>
                        </a:defRPr>
                      </a:lvl4pPr>
                      <a:lvl5pPr marL="1371600" algn="l" defTabSz="685800" rtl="0" eaLnBrk="1" latinLnBrk="0" hangingPunct="1">
                        <a:defRPr sz="1350" b="1" kern="1200">
                          <a:solidFill>
                            <a:schemeClr val="bg1"/>
                          </a:solidFill>
                          <a:latin typeface="Arial"/>
                        </a:defRPr>
                      </a:lvl5pPr>
                      <a:lvl6pPr marL="1714500" algn="l" defTabSz="685800" rtl="0" eaLnBrk="1" latinLnBrk="0" hangingPunct="1">
                        <a:defRPr sz="1350" b="1" kern="1200">
                          <a:solidFill>
                            <a:schemeClr val="bg1"/>
                          </a:solidFill>
                          <a:latin typeface="Arial"/>
                        </a:defRPr>
                      </a:lvl6pPr>
                      <a:lvl7pPr marL="2057400" algn="l" defTabSz="685800" rtl="0" eaLnBrk="1" latinLnBrk="0" hangingPunct="1">
                        <a:defRPr sz="1350" b="1" kern="1200">
                          <a:solidFill>
                            <a:schemeClr val="bg1"/>
                          </a:solidFill>
                          <a:latin typeface="Arial"/>
                        </a:defRPr>
                      </a:lvl7pPr>
                      <a:lvl8pPr marL="2400300" algn="l" defTabSz="685800" rtl="0" eaLnBrk="1" latinLnBrk="0" hangingPunct="1">
                        <a:defRPr sz="1350" b="1" kern="1200">
                          <a:solidFill>
                            <a:schemeClr val="bg1"/>
                          </a:solidFill>
                          <a:latin typeface="Arial"/>
                        </a:defRPr>
                      </a:lvl8pPr>
                      <a:lvl9pPr marL="2743200" algn="l" defTabSz="685800" rtl="0" eaLnBrk="1" latinLnBrk="0" hangingPunct="1">
                        <a:defRPr sz="1350" b="1" kern="1200">
                          <a:solidFill>
                            <a:schemeClr val="bg1"/>
                          </a:solidFill>
                          <a:latin typeface="Arial"/>
                        </a:defRPr>
                      </a:lvl9pPr>
                    </a:lstStyle>
                    <a:p>
                      <a:r>
                        <a:rPr lang="en-SG" sz="1200" dirty="0"/>
                        <a:t>Reason</a:t>
                      </a:r>
                    </a:p>
                  </a:txBody>
                  <a:tcPr marL="58575" marR="58575" marT="29287" marB="29287" anchor="ctr">
                    <a:lnL>
                      <a:noFill/>
                    </a:lnL>
                    <a:lnR w="9525" cap="flat" cmpd="sng" algn="ctr">
                      <a:solidFill>
                        <a:srgbClr val="333399">
                          <a:shade val="95000"/>
                          <a:satMod val="105000"/>
                        </a:srgbClr>
                      </a:solidFill>
                      <a:prstDash val="solid"/>
                    </a:lnR>
                    <a:lnT w="9525" cap="flat" cmpd="sng" algn="ctr">
                      <a:solidFill>
                        <a:srgbClr val="333399">
                          <a:shade val="95000"/>
                          <a:satMod val="105000"/>
                        </a:srgbClr>
                      </a:solidFill>
                      <a:prstDash val="solid"/>
                    </a:lnT>
                    <a:lnB>
                      <a:noFill/>
                    </a:lnB>
                    <a:lnTlToBr w="12700" cmpd="sng">
                      <a:noFill/>
                      <a:prstDash val="solid"/>
                    </a:lnTlToBr>
                    <a:lnBlToTr w="12700" cmpd="sng">
                      <a:noFill/>
                      <a:prstDash val="solid"/>
                    </a:lnBlToTr>
                    <a:solidFill>
                      <a:srgbClr val="333399"/>
                    </a:solidFill>
                  </a:tcPr>
                </a:tc>
                <a:extLst>
                  <a:ext uri="{0D108BD9-81ED-4DB2-BD59-A6C34878D82A}">
                    <a16:rowId xmlns:a16="http://schemas.microsoft.com/office/drawing/2014/main" val="812705868"/>
                  </a:ext>
                </a:extLst>
              </a:tr>
              <a:tr h="500212">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http://</a:t>
                      </a:r>
                      <a:r>
                        <a:rPr lang="en-SG" sz="1600" dirty="0" err="1"/>
                        <a:t>store.company.com</a:t>
                      </a:r>
                      <a:r>
                        <a:rPr lang="en-SG" sz="1600" dirty="0"/>
                        <a:t>/dir2/</a:t>
                      </a:r>
                      <a:r>
                        <a:rPr lang="en-SG" sz="1600" dirty="0" err="1"/>
                        <a:t>other.html</a:t>
                      </a:r>
                      <a:endParaRPr lang="en-SG" sz="1600" dirty="0"/>
                    </a:p>
                  </a:txBody>
                  <a:tcPr marL="58575" marR="58575" marT="29287" marB="29287" anchor="ctr">
                    <a:lnL w="9525" cap="flat" cmpd="sng" algn="ctr">
                      <a:solidFill>
                        <a:srgbClr val="333399">
                          <a:shade val="95000"/>
                          <a:satMod val="105000"/>
                        </a:srgbClr>
                      </a:solidFill>
                      <a:prstDash val="solid"/>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Same origin</a:t>
                      </a:r>
                    </a:p>
                  </a:txBody>
                  <a:tcPr marL="58575" marR="58575" marT="29287" marB="29287"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Only the path differs</a:t>
                      </a:r>
                    </a:p>
                  </a:txBody>
                  <a:tcPr marL="58575" marR="58575" marT="29287" marB="29287" anchor="ctr">
                    <a:lnL>
                      <a:noFill/>
                    </a:lnL>
                    <a:lnR w="9525" cap="flat" cmpd="sng" algn="ctr">
                      <a:solidFill>
                        <a:srgbClr val="333399">
                          <a:shade val="95000"/>
                          <a:satMod val="105000"/>
                        </a:srgbClr>
                      </a:solidFill>
                      <a:prstDash val="soli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688418288"/>
                  </a:ext>
                </a:extLst>
              </a:tr>
              <a:tr h="500212">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http://</a:t>
                      </a:r>
                      <a:r>
                        <a:rPr lang="en-SG" sz="1600" dirty="0" err="1"/>
                        <a:t>store.company.com</a:t>
                      </a:r>
                      <a:r>
                        <a:rPr lang="en-SG" sz="1600" dirty="0"/>
                        <a:t>/</a:t>
                      </a:r>
                      <a:r>
                        <a:rPr lang="en-SG" sz="1600" dirty="0" err="1"/>
                        <a:t>dir</a:t>
                      </a:r>
                      <a:r>
                        <a:rPr lang="en-SG" sz="1600" dirty="0"/>
                        <a:t>/inner/</a:t>
                      </a:r>
                      <a:r>
                        <a:rPr lang="en-SG" sz="1600" dirty="0" err="1"/>
                        <a:t>another.html</a:t>
                      </a:r>
                      <a:endParaRPr lang="en-SG" sz="1600" dirty="0"/>
                    </a:p>
                  </a:txBody>
                  <a:tcPr marL="58575" marR="58575" marT="29287" marB="29287" anchor="ctr">
                    <a:lnL w="9525" cap="flat" cmpd="sng" algn="ctr">
                      <a:solidFill>
                        <a:srgbClr val="333399">
                          <a:shade val="95000"/>
                          <a:satMod val="105000"/>
                        </a:srgbClr>
                      </a:solidFill>
                      <a:prstDash val="solid"/>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Same origin</a:t>
                      </a:r>
                    </a:p>
                  </a:txBody>
                  <a:tcPr marL="58575" marR="58575" marT="29287" marB="29287"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Only the path differs</a:t>
                      </a:r>
                    </a:p>
                  </a:txBody>
                  <a:tcPr marL="58575" marR="58575" marT="29287" marB="29287" anchor="ctr">
                    <a:lnL>
                      <a:noFill/>
                    </a:lnL>
                    <a:lnR w="9525" cap="flat" cmpd="sng" algn="ctr">
                      <a:solidFill>
                        <a:srgbClr val="333399">
                          <a:shade val="95000"/>
                          <a:satMod val="105000"/>
                        </a:srgbClr>
                      </a:solidFill>
                      <a:prstDash val="soli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859815544"/>
                  </a:ext>
                </a:extLst>
              </a:tr>
              <a:tr h="500212">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https://</a:t>
                      </a:r>
                      <a:r>
                        <a:rPr lang="en-SG" sz="1600" dirty="0" err="1"/>
                        <a:t>store.company.com</a:t>
                      </a:r>
                      <a:r>
                        <a:rPr lang="en-SG" sz="1600" dirty="0"/>
                        <a:t>/</a:t>
                      </a:r>
                      <a:r>
                        <a:rPr lang="en-SG" sz="1600" dirty="0" err="1"/>
                        <a:t>page.html</a:t>
                      </a:r>
                      <a:endParaRPr lang="en-SG" sz="1600" dirty="0"/>
                    </a:p>
                  </a:txBody>
                  <a:tcPr marL="58575" marR="58575" marT="29287" marB="29287" anchor="ctr">
                    <a:lnL w="9525" cap="flat" cmpd="sng" algn="ctr">
                      <a:solidFill>
                        <a:srgbClr val="333399">
                          <a:shade val="95000"/>
                          <a:satMod val="105000"/>
                        </a:srgbClr>
                      </a:solidFill>
                      <a:prstDash val="solid"/>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Failure</a:t>
                      </a:r>
                    </a:p>
                  </a:txBody>
                  <a:tcPr marL="58575" marR="58575" marT="29287" marB="29287"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Different protocol</a:t>
                      </a:r>
                    </a:p>
                  </a:txBody>
                  <a:tcPr marL="58575" marR="58575" marT="29287" marB="29287" anchor="ctr">
                    <a:lnL>
                      <a:noFill/>
                    </a:lnL>
                    <a:lnR w="9525" cap="flat" cmpd="sng" algn="ctr">
                      <a:solidFill>
                        <a:srgbClr val="333399">
                          <a:shade val="95000"/>
                          <a:satMod val="105000"/>
                        </a:srgbClr>
                      </a:solidFill>
                      <a:prstDash val="soli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90827539"/>
                  </a:ext>
                </a:extLst>
              </a:tr>
              <a:tr h="500212">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http://store.company.com:81/</a:t>
                      </a:r>
                      <a:r>
                        <a:rPr lang="en-SG" sz="1600" dirty="0" err="1"/>
                        <a:t>dir</a:t>
                      </a:r>
                      <a:r>
                        <a:rPr lang="en-SG" sz="1600" dirty="0"/>
                        <a:t>/</a:t>
                      </a:r>
                      <a:r>
                        <a:rPr lang="en-SG" sz="1600" dirty="0" err="1"/>
                        <a:t>page.html</a:t>
                      </a:r>
                      <a:endParaRPr lang="en-SG" sz="1600" dirty="0"/>
                    </a:p>
                  </a:txBody>
                  <a:tcPr marL="58575" marR="58575" marT="29287" marB="29287" anchor="ctr">
                    <a:lnL w="9525" cap="flat" cmpd="sng" algn="ctr">
                      <a:solidFill>
                        <a:srgbClr val="333399">
                          <a:shade val="95000"/>
                          <a:satMod val="105000"/>
                        </a:srgbClr>
                      </a:solidFill>
                      <a:prstDash val="solid"/>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Failure</a:t>
                      </a:r>
                    </a:p>
                  </a:txBody>
                  <a:tcPr marL="58575" marR="58575" marT="29287" marB="29287"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a:t>Different port (http:// is port 80 by default)</a:t>
                      </a:r>
                    </a:p>
                  </a:txBody>
                  <a:tcPr marL="58575" marR="58575" marT="29287" marB="29287" anchor="ctr">
                    <a:lnL>
                      <a:noFill/>
                    </a:lnL>
                    <a:lnR w="9525" cap="flat" cmpd="sng" algn="ctr">
                      <a:solidFill>
                        <a:srgbClr val="333399">
                          <a:shade val="95000"/>
                          <a:satMod val="105000"/>
                        </a:srgbClr>
                      </a:solidFill>
                      <a:prstDash val="soli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852479623"/>
                  </a:ext>
                </a:extLst>
              </a:tr>
              <a:tr h="500212">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http://</a:t>
                      </a:r>
                      <a:r>
                        <a:rPr lang="en-SG" sz="1600" dirty="0" err="1"/>
                        <a:t>news.company.com</a:t>
                      </a:r>
                      <a:r>
                        <a:rPr lang="en-SG" sz="1600" dirty="0"/>
                        <a:t>/</a:t>
                      </a:r>
                      <a:r>
                        <a:rPr lang="en-SG" sz="1600" dirty="0" err="1"/>
                        <a:t>dir</a:t>
                      </a:r>
                      <a:r>
                        <a:rPr lang="en-SG" sz="1600" dirty="0"/>
                        <a:t>/</a:t>
                      </a:r>
                      <a:r>
                        <a:rPr lang="en-SG" sz="1600" dirty="0" err="1"/>
                        <a:t>page.html</a:t>
                      </a:r>
                      <a:endParaRPr lang="en-SG" sz="1600" dirty="0"/>
                    </a:p>
                  </a:txBody>
                  <a:tcPr marL="58575" marR="58575" marT="29287" marB="29287" anchor="ctr">
                    <a:lnL w="9525" cap="flat" cmpd="sng" algn="ctr">
                      <a:solidFill>
                        <a:srgbClr val="333399">
                          <a:shade val="95000"/>
                          <a:satMod val="105000"/>
                        </a:srgbClr>
                      </a:solidFill>
                      <a:prstDash val="solid"/>
                    </a:lnL>
                    <a:lnR>
                      <a:noFill/>
                    </a:lnR>
                    <a:lnT>
                      <a:noFill/>
                    </a:lnT>
                    <a:lnB w="9525" cap="flat" cmpd="sng" algn="ctr">
                      <a:solidFill>
                        <a:srgbClr val="333399">
                          <a:shade val="95000"/>
                          <a:satMod val="105000"/>
                        </a:srgbClr>
                      </a:solidFill>
                      <a:prstDash val="soli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Failure</a:t>
                      </a:r>
                    </a:p>
                  </a:txBody>
                  <a:tcPr marL="58575" marR="58575" marT="29287" marB="29287" anchor="ctr">
                    <a:lnL>
                      <a:noFill/>
                    </a:lnL>
                    <a:lnR>
                      <a:noFill/>
                    </a:lnR>
                    <a:lnT>
                      <a:noFill/>
                    </a:lnT>
                    <a:lnB w="9525" cap="flat" cmpd="sng" algn="ctr">
                      <a:solidFill>
                        <a:srgbClr val="333399">
                          <a:shade val="95000"/>
                          <a:satMod val="105000"/>
                        </a:srgbClr>
                      </a:solidFill>
                      <a:prstDash val="soli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tx1"/>
                          </a:solidFill>
                          <a:latin typeface="Arial"/>
                        </a:defRPr>
                      </a:lvl1pPr>
                      <a:lvl2pPr marL="342900" algn="l" defTabSz="685800" rtl="0" eaLnBrk="1" latinLnBrk="0" hangingPunct="1">
                        <a:defRPr sz="1350" kern="1200">
                          <a:solidFill>
                            <a:schemeClr val="tx1"/>
                          </a:solidFill>
                          <a:latin typeface="Arial"/>
                        </a:defRPr>
                      </a:lvl2pPr>
                      <a:lvl3pPr marL="685800" algn="l" defTabSz="685800" rtl="0" eaLnBrk="1" latinLnBrk="0" hangingPunct="1">
                        <a:defRPr sz="1350" kern="1200">
                          <a:solidFill>
                            <a:schemeClr val="tx1"/>
                          </a:solidFill>
                          <a:latin typeface="Arial"/>
                        </a:defRPr>
                      </a:lvl3pPr>
                      <a:lvl4pPr marL="1028700" algn="l" defTabSz="685800" rtl="0" eaLnBrk="1" latinLnBrk="0" hangingPunct="1">
                        <a:defRPr sz="1350" kern="1200">
                          <a:solidFill>
                            <a:schemeClr val="tx1"/>
                          </a:solidFill>
                          <a:latin typeface="Arial"/>
                        </a:defRPr>
                      </a:lvl4pPr>
                      <a:lvl5pPr marL="1371600" algn="l" defTabSz="685800" rtl="0" eaLnBrk="1" latinLnBrk="0" hangingPunct="1">
                        <a:defRPr sz="1350" kern="1200">
                          <a:solidFill>
                            <a:schemeClr val="tx1"/>
                          </a:solidFill>
                          <a:latin typeface="Arial"/>
                        </a:defRPr>
                      </a:lvl5pPr>
                      <a:lvl6pPr marL="1714500" algn="l" defTabSz="685800" rtl="0" eaLnBrk="1" latinLnBrk="0" hangingPunct="1">
                        <a:defRPr sz="1350" kern="1200">
                          <a:solidFill>
                            <a:schemeClr val="tx1"/>
                          </a:solidFill>
                          <a:latin typeface="Arial"/>
                        </a:defRPr>
                      </a:lvl6pPr>
                      <a:lvl7pPr marL="2057400" algn="l" defTabSz="685800" rtl="0" eaLnBrk="1" latinLnBrk="0" hangingPunct="1">
                        <a:defRPr sz="1350" kern="1200">
                          <a:solidFill>
                            <a:schemeClr val="tx1"/>
                          </a:solidFill>
                          <a:latin typeface="Arial"/>
                        </a:defRPr>
                      </a:lvl7pPr>
                      <a:lvl8pPr marL="2400300" algn="l" defTabSz="685800" rtl="0" eaLnBrk="1" latinLnBrk="0" hangingPunct="1">
                        <a:defRPr sz="1350" kern="1200">
                          <a:solidFill>
                            <a:schemeClr val="tx1"/>
                          </a:solidFill>
                          <a:latin typeface="Arial"/>
                        </a:defRPr>
                      </a:lvl8pPr>
                      <a:lvl9pPr marL="2743200" algn="l" defTabSz="685800" rtl="0" eaLnBrk="1" latinLnBrk="0" hangingPunct="1">
                        <a:defRPr sz="1350" kern="1200">
                          <a:solidFill>
                            <a:schemeClr val="tx1"/>
                          </a:solidFill>
                          <a:latin typeface="Arial"/>
                        </a:defRPr>
                      </a:lvl9pPr>
                    </a:lstStyle>
                    <a:p>
                      <a:r>
                        <a:rPr lang="en-SG" sz="1600" dirty="0"/>
                        <a:t>Different host</a:t>
                      </a:r>
                    </a:p>
                  </a:txBody>
                  <a:tcPr marL="58575" marR="58575" marT="29287" marB="29287" anchor="ctr">
                    <a:lnL>
                      <a:noFill/>
                    </a:lnL>
                    <a:lnR w="9525" cap="flat" cmpd="sng" algn="ctr">
                      <a:solidFill>
                        <a:srgbClr val="333399">
                          <a:shade val="95000"/>
                          <a:satMod val="105000"/>
                        </a:srgbClr>
                      </a:solidFill>
                      <a:prstDash val="solid"/>
                    </a:lnR>
                    <a:lnT>
                      <a:noFill/>
                    </a:lnT>
                    <a:lnB w="9525" cap="flat" cmpd="sng" algn="ctr">
                      <a:solidFill>
                        <a:srgbClr val="333399">
                          <a:shade val="95000"/>
                          <a:satMod val="105000"/>
                        </a:srgb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225338757"/>
                  </a:ext>
                </a:extLst>
              </a:tr>
            </a:tbl>
          </a:graphicData>
        </a:graphic>
      </p:graphicFrame>
    </p:spTree>
    <p:extLst>
      <p:ext uri="{BB962C8B-B14F-4D97-AF65-F5344CB8AC3E}">
        <p14:creationId xmlns:p14="http://schemas.microsoft.com/office/powerpoint/2010/main" val="2072102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3D76B-7859-D744-A46C-12A84FDE8AA2}"/>
              </a:ext>
            </a:extLst>
          </p:cNvPr>
          <p:cNvSpPr>
            <a:spLocks noGrp="1"/>
          </p:cNvSpPr>
          <p:nvPr>
            <p:ph type="title"/>
          </p:nvPr>
        </p:nvSpPr>
        <p:spPr/>
        <p:txBody>
          <a:bodyPr/>
          <a:lstStyle/>
          <a:p>
            <a:r>
              <a:rPr lang="en-GB" dirty="0"/>
              <a:t>Same Origin Policy (SOP)</a:t>
            </a:r>
          </a:p>
        </p:txBody>
      </p:sp>
      <p:sp>
        <p:nvSpPr>
          <p:cNvPr id="3" name="Content Placeholder 2">
            <a:extLst>
              <a:ext uri="{FF2B5EF4-FFF2-40B4-BE49-F238E27FC236}">
                <a16:creationId xmlns:a16="http://schemas.microsoft.com/office/drawing/2014/main" id="{65C94CA5-1EA4-AE4B-9764-57087603A743}"/>
              </a:ext>
            </a:extLst>
          </p:cNvPr>
          <p:cNvSpPr>
            <a:spLocks noGrp="1"/>
          </p:cNvSpPr>
          <p:nvPr>
            <p:ph idx="1"/>
          </p:nvPr>
        </p:nvSpPr>
        <p:spPr>
          <a:xfrm>
            <a:off x="513349" y="1268243"/>
            <a:ext cx="6357661" cy="4723318"/>
          </a:xfrm>
        </p:spPr>
        <p:txBody>
          <a:bodyPr>
            <a:normAutofit fontScale="92500" lnSpcReduction="10000"/>
          </a:bodyPr>
          <a:lstStyle/>
          <a:p>
            <a:r>
              <a:rPr lang="en-US" dirty="0"/>
              <a:t>SOP is the basic security mechanism dictating that a document or script loaded from one origin cannot (directly) interact with a resource from another origin. </a:t>
            </a:r>
          </a:p>
          <a:p>
            <a:pPr lvl="1"/>
            <a:r>
              <a:rPr lang="en-SG" dirty="0"/>
              <a:t>It helps isolate potentially malicious documents, reducing possible attack vectors.</a:t>
            </a:r>
          </a:p>
          <a:p>
            <a:pPr lvl="1"/>
            <a:r>
              <a:rPr lang="en-SG" b="1" dirty="0"/>
              <a:t>Resources</a:t>
            </a:r>
            <a:r>
              <a:rPr lang="en-SG" dirty="0"/>
              <a:t>: HTML DOM objects, cookies, network requests, network replies</a:t>
            </a:r>
          </a:p>
          <a:p>
            <a:r>
              <a:rPr lang="en-SG" dirty="0"/>
              <a:t>SOP is enforced by all browsers.</a:t>
            </a:r>
          </a:p>
          <a:p>
            <a:r>
              <a:rPr lang="en-SG" dirty="0"/>
              <a:t>Cross-origin accesses undergo the browser’s permission checking.</a:t>
            </a:r>
          </a:p>
          <a:p>
            <a:pPr lvl="1"/>
            <a:r>
              <a:rPr lang="en-SG" dirty="0"/>
              <a:t>E.g., a site has enabled the Cross-origin Resource Sharing (CORS)</a:t>
            </a:r>
            <a:endParaRPr lang="en-US" dirty="0"/>
          </a:p>
        </p:txBody>
      </p:sp>
      <p:grpSp>
        <p:nvGrpSpPr>
          <p:cNvPr id="23" name="Group 22">
            <a:extLst>
              <a:ext uri="{FF2B5EF4-FFF2-40B4-BE49-F238E27FC236}">
                <a16:creationId xmlns:a16="http://schemas.microsoft.com/office/drawing/2014/main" id="{E15DAC34-17E5-6842-B35C-B35027D9142A}"/>
              </a:ext>
            </a:extLst>
          </p:cNvPr>
          <p:cNvGrpSpPr/>
          <p:nvPr/>
        </p:nvGrpSpPr>
        <p:grpSpPr>
          <a:xfrm>
            <a:off x="6883252" y="980728"/>
            <a:ext cx="4785023" cy="5648672"/>
            <a:chOff x="7220710" y="980728"/>
            <a:chExt cx="4785023" cy="5648672"/>
          </a:xfrm>
        </p:grpSpPr>
        <p:sp>
          <p:nvSpPr>
            <p:cNvPr id="54" name="Rectangle 53">
              <a:extLst>
                <a:ext uri="{FF2B5EF4-FFF2-40B4-BE49-F238E27FC236}">
                  <a16:creationId xmlns:a16="http://schemas.microsoft.com/office/drawing/2014/main" id="{AEC7D872-9AA9-3A4D-AD9B-B4275E60FCE5}"/>
                </a:ext>
              </a:extLst>
            </p:cNvPr>
            <p:cNvSpPr/>
            <p:nvPr/>
          </p:nvSpPr>
          <p:spPr>
            <a:xfrm>
              <a:off x="7220710" y="980728"/>
              <a:ext cx="4785023" cy="4248037"/>
            </a:xfrm>
            <a:prstGeom prst="rect">
              <a:avLst/>
            </a:prstGeom>
            <a:solidFill>
              <a:srgbClr val="FFFFFF"/>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55" name="Rectangle 54">
              <a:extLst>
                <a:ext uri="{FF2B5EF4-FFF2-40B4-BE49-F238E27FC236}">
                  <a16:creationId xmlns:a16="http://schemas.microsoft.com/office/drawing/2014/main" id="{48594B06-6223-A148-98B9-458A95D49D62}"/>
                </a:ext>
              </a:extLst>
            </p:cNvPr>
            <p:cNvSpPr/>
            <p:nvPr/>
          </p:nvSpPr>
          <p:spPr>
            <a:xfrm>
              <a:off x="7695903" y="2132636"/>
              <a:ext cx="1296144" cy="576064"/>
            </a:xfrm>
            <a:prstGeom prst="rect">
              <a:avLst/>
            </a:prstGeom>
            <a:solidFill>
              <a:srgbClr val="FFFF0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2400" b="0" i="0" u="none" strike="noStrike" kern="0" cap="none" spc="0" normalizeH="0" baseline="0" noProof="0" dirty="0">
                  <a:ln>
                    <a:noFill/>
                  </a:ln>
                  <a:solidFill>
                    <a:srgbClr val="000000"/>
                  </a:solidFill>
                  <a:effectLst/>
                  <a:uLnTx/>
                  <a:uFillTx/>
                  <a:latin typeface="Arial"/>
                  <a:ea typeface="+mn-ea"/>
                  <a:cs typeface="+mn-cs"/>
                </a:rPr>
                <a:t>script 1</a:t>
              </a:r>
            </a:p>
          </p:txBody>
        </p:sp>
        <p:sp>
          <p:nvSpPr>
            <p:cNvPr id="56" name="Rectangle 55">
              <a:extLst>
                <a:ext uri="{FF2B5EF4-FFF2-40B4-BE49-F238E27FC236}">
                  <a16:creationId xmlns:a16="http://schemas.microsoft.com/office/drawing/2014/main" id="{A279F57F-88D9-5F43-96B7-65B558D4FEB3}"/>
                </a:ext>
              </a:extLst>
            </p:cNvPr>
            <p:cNvSpPr/>
            <p:nvPr/>
          </p:nvSpPr>
          <p:spPr>
            <a:xfrm>
              <a:off x="10200456" y="2132636"/>
              <a:ext cx="1296144" cy="576064"/>
            </a:xfrm>
            <a:prstGeom prst="rect">
              <a:avLst/>
            </a:prstGeom>
            <a:solidFill>
              <a:srgbClr val="FFFF0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2400" b="0" i="0" u="none" strike="noStrike" kern="0" cap="none" spc="0" normalizeH="0" baseline="0" noProof="0" dirty="0">
                  <a:ln>
                    <a:noFill/>
                  </a:ln>
                  <a:solidFill>
                    <a:srgbClr val="000000"/>
                  </a:solidFill>
                  <a:effectLst/>
                  <a:uLnTx/>
                  <a:uFillTx/>
                  <a:latin typeface="Arial"/>
                  <a:ea typeface="+mn-ea"/>
                  <a:cs typeface="+mn-cs"/>
                </a:rPr>
                <a:t>script 2</a:t>
              </a:r>
            </a:p>
          </p:txBody>
        </p:sp>
        <p:sp>
          <p:nvSpPr>
            <p:cNvPr id="57" name="Rectangle 56">
              <a:extLst>
                <a:ext uri="{FF2B5EF4-FFF2-40B4-BE49-F238E27FC236}">
                  <a16:creationId xmlns:a16="http://schemas.microsoft.com/office/drawing/2014/main" id="{A45D9DF3-5A23-2144-85FD-6706F40B772B}"/>
                </a:ext>
              </a:extLst>
            </p:cNvPr>
            <p:cNvSpPr/>
            <p:nvPr/>
          </p:nvSpPr>
          <p:spPr>
            <a:xfrm>
              <a:off x="7700940" y="3284984"/>
              <a:ext cx="1296144" cy="648072"/>
            </a:xfrm>
            <a:prstGeom prst="rect">
              <a:avLst/>
            </a:prstGeom>
            <a:solidFill>
              <a:srgbClr val="FFFF0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2400" b="0" i="0" u="none" strike="noStrike" kern="0" cap="none" spc="0" normalizeH="0" baseline="0" noProof="0" dirty="0" err="1">
                  <a:ln>
                    <a:noFill/>
                  </a:ln>
                  <a:solidFill>
                    <a:srgbClr val="000000"/>
                  </a:solidFill>
                  <a:effectLst/>
                  <a:uLnTx/>
                  <a:uFillTx/>
                  <a:latin typeface="Arial"/>
                  <a:ea typeface="+mn-ea"/>
                  <a:cs typeface="+mn-cs"/>
                </a:rPr>
                <a:t>Obj</a:t>
              </a:r>
              <a:r>
                <a:rPr kumimoji="0" lang="en-GB" sz="2400" b="0" i="0" u="none" strike="noStrike" kern="0" cap="none" spc="0" normalizeH="0" baseline="0" noProof="0" dirty="0">
                  <a:ln>
                    <a:noFill/>
                  </a:ln>
                  <a:solidFill>
                    <a:srgbClr val="000000"/>
                  </a:solidFill>
                  <a:effectLst/>
                  <a:uLnTx/>
                  <a:uFillTx/>
                  <a:latin typeface="Arial"/>
                  <a:ea typeface="+mn-ea"/>
                  <a:cs typeface="+mn-cs"/>
                </a:rPr>
                <a:t> x </a:t>
              </a:r>
            </a:p>
          </p:txBody>
        </p:sp>
        <p:sp>
          <p:nvSpPr>
            <p:cNvPr id="58" name="Rectangle 57">
              <a:extLst>
                <a:ext uri="{FF2B5EF4-FFF2-40B4-BE49-F238E27FC236}">
                  <a16:creationId xmlns:a16="http://schemas.microsoft.com/office/drawing/2014/main" id="{AC6B1455-DAC3-3A49-9724-6F621DC3156A}"/>
                </a:ext>
              </a:extLst>
            </p:cNvPr>
            <p:cNvSpPr/>
            <p:nvPr/>
          </p:nvSpPr>
          <p:spPr>
            <a:xfrm>
              <a:off x="10626038" y="4388404"/>
              <a:ext cx="975909" cy="475778"/>
            </a:xfrm>
            <a:prstGeom prst="rect">
              <a:avLst/>
            </a:prstGeom>
            <a:solidFill>
              <a:srgbClr val="92D05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2400" b="0" i="0" u="none" strike="noStrike" kern="0" cap="none" spc="0" normalizeH="0" baseline="0" noProof="0" dirty="0" err="1">
                  <a:ln>
                    <a:noFill/>
                  </a:ln>
                  <a:solidFill>
                    <a:srgbClr val="000000"/>
                  </a:solidFill>
                  <a:effectLst/>
                  <a:uLnTx/>
                  <a:uFillTx/>
                  <a:latin typeface="Arial"/>
                  <a:ea typeface="+mn-ea"/>
                  <a:cs typeface="+mn-cs"/>
                </a:rPr>
                <a:t>Obj</a:t>
              </a:r>
              <a:r>
                <a:rPr kumimoji="0" lang="en-GB" sz="2400" b="0" i="0" u="none" strike="noStrike" kern="0" cap="none" spc="0" normalizeH="0" baseline="0" noProof="0" dirty="0">
                  <a:ln>
                    <a:noFill/>
                  </a:ln>
                  <a:solidFill>
                    <a:srgbClr val="000000"/>
                  </a:solidFill>
                  <a:effectLst/>
                  <a:uLnTx/>
                  <a:uFillTx/>
                  <a:latin typeface="Arial"/>
                  <a:ea typeface="+mn-ea"/>
                  <a:cs typeface="+mn-cs"/>
                </a:rPr>
                <a:t> b</a:t>
              </a:r>
            </a:p>
          </p:txBody>
        </p:sp>
        <p:sp>
          <p:nvSpPr>
            <p:cNvPr id="59" name="Rectangle 58">
              <a:extLst>
                <a:ext uri="{FF2B5EF4-FFF2-40B4-BE49-F238E27FC236}">
                  <a16:creationId xmlns:a16="http://schemas.microsoft.com/office/drawing/2014/main" id="{0B0E899B-C523-6741-9E87-FEECB6D7030B}"/>
                </a:ext>
              </a:extLst>
            </p:cNvPr>
            <p:cNvSpPr/>
            <p:nvPr/>
          </p:nvSpPr>
          <p:spPr>
            <a:xfrm>
              <a:off x="9249304" y="4406178"/>
              <a:ext cx="1162058" cy="438085"/>
            </a:xfrm>
            <a:prstGeom prst="rect">
              <a:avLst/>
            </a:prstGeom>
            <a:solidFill>
              <a:srgbClr val="92D05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sz="2400" b="0" i="0" u="none" strike="noStrike" kern="0" cap="none" spc="0" normalizeH="0" baseline="0" noProof="0" dirty="0" err="1">
                  <a:ln>
                    <a:noFill/>
                  </a:ln>
                  <a:solidFill>
                    <a:srgbClr val="000000"/>
                  </a:solidFill>
                  <a:effectLst/>
                  <a:uLnTx/>
                  <a:uFillTx/>
                  <a:latin typeface="Arial"/>
                  <a:ea typeface="+mn-ea"/>
                  <a:cs typeface="+mn-cs"/>
                </a:rPr>
                <a:t>Obj</a:t>
              </a:r>
              <a:r>
                <a:rPr kumimoji="0" lang="en-GB" sz="2400" b="0" i="0" u="none" strike="noStrike" kern="0" cap="none" spc="0" normalizeH="0" baseline="0" noProof="0" dirty="0">
                  <a:ln>
                    <a:noFill/>
                  </a:ln>
                  <a:solidFill>
                    <a:srgbClr val="000000"/>
                  </a:solidFill>
                  <a:effectLst/>
                  <a:uLnTx/>
                  <a:uFillTx/>
                  <a:latin typeface="Arial"/>
                  <a:ea typeface="+mn-ea"/>
                  <a:cs typeface="+mn-cs"/>
                </a:rPr>
                <a:t> a</a:t>
              </a:r>
            </a:p>
          </p:txBody>
        </p:sp>
        <p:sp>
          <p:nvSpPr>
            <p:cNvPr id="60" name="Rectangle 59">
              <a:extLst>
                <a:ext uri="{FF2B5EF4-FFF2-40B4-BE49-F238E27FC236}">
                  <a16:creationId xmlns:a16="http://schemas.microsoft.com/office/drawing/2014/main" id="{BD0CEDB7-6CF4-7C45-A6EA-13162EF72566}"/>
                </a:ext>
              </a:extLst>
            </p:cNvPr>
            <p:cNvSpPr/>
            <p:nvPr/>
          </p:nvSpPr>
          <p:spPr>
            <a:xfrm>
              <a:off x="8256240" y="5373216"/>
              <a:ext cx="648072" cy="504056"/>
            </a:xfrm>
            <a:prstGeom prst="rect">
              <a:avLst/>
            </a:prstGeom>
            <a:solidFill>
              <a:srgbClr val="FFFF0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61" name="Rectangle 60">
              <a:extLst>
                <a:ext uri="{FF2B5EF4-FFF2-40B4-BE49-F238E27FC236}">
                  <a16:creationId xmlns:a16="http://schemas.microsoft.com/office/drawing/2014/main" id="{6166EF28-CECD-E041-9774-99EA8550B60A}"/>
                </a:ext>
              </a:extLst>
            </p:cNvPr>
            <p:cNvSpPr/>
            <p:nvPr/>
          </p:nvSpPr>
          <p:spPr>
            <a:xfrm>
              <a:off x="8270811" y="6125344"/>
              <a:ext cx="648072" cy="504056"/>
            </a:xfrm>
            <a:prstGeom prst="rect">
              <a:avLst/>
            </a:prstGeom>
            <a:solidFill>
              <a:srgbClr val="92D05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62" name="TextBox 61">
              <a:extLst>
                <a:ext uri="{FF2B5EF4-FFF2-40B4-BE49-F238E27FC236}">
                  <a16:creationId xmlns:a16="http://schemas.microsoft.com/office/drawing/2014/main" id="{B06B26B7-A036-3D48-A14B-E2E00259561E}"/>
                </a:ext>
              </a:extLst>
            </p:cNvPr>
            <p:cNvSpPr txBox="1"/>
            <p:nvPr/>
          </p:nvSpPr>
          <p:spPr>
            <a:xfrm>
              <a:off x="7375066" y="1146532"/>
              <a:ext cx="1616981"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Web Page</a:t>
              </a:r>
            </a:p>
          </p:txBody>
        </p:sp>
        <p:sp>
          <p:nvSpPr>
            <p:cNvPr id="63" name="TextBox 62">
              <a:extLst>
                <a:ext uri="{FF2B5EF4-FFF2-40B4-BE49-F238E27FC236}">
                  <a16:creationId xmlns:a16="http://schemas.microsoft.com/office/drawing/2014/main" id="{08304DA4-492D-7E48-84F4-BFAFB36F11A5}"/>
                </a:ext>
              </a:extLst>
            </p:cNvPr>
            <p:cNvSpPr txBox="1"/>
            <p:nvPr/>
          </p:nvSpPr>
          <p:spPr>
            <a:xfrm>
              <a:off x="9408368" y="5457366"/>
              <a:ext cx="1896673"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from origin 1</a:t>
              </a:r>
            </a:p>
          </p:txBody>
        </p:sp>
        <p:sp>
          <p:nvSpPr>
            <p:cNvPr id="64" name="TextBox 63">
              <a:extLst>
                <a:ext uri="{FF2B5EF4-FFF2-40B4-BE49-F238E27FC236}">
                  <a16:creationId xmlns:a16="http://schemas.microsoft.com/office/drawing/2014/main" id="{94652F08-E1B5-334D-8FFE-724FE1CAD201}"/>
                </a:ext>
              </a:extLst>
            </p:cNvPr>
            <p:cNvSpPr txBox="1"/>
            <p:nvPr/>
          </p:nvSpPr>
          <p:spPr>
            <a:xfrm>
              <a:off x="9408368" y="6167735"/>
              <a:ext cx="1896673"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from origin 2</a:t>
              </a:r>
            </a:p>
          </p:txBody>
        </p:sp>
        <p:cxnSp>
          <p:nvCxnSpPr>
            <p:cNvPr id="65" name="Straight Arrow Connector 64">
              <a:extLst>
                <a:ext uri="{FF2B5EF4-FFF2-40B4-BE49-F238E27FC236}">
                  <a16:creationId xmlns:a16="http://schemas.microsoft.com/office/drawing/2014/main" id="{7454391B-03E4-734B-94E8-9773B6477D73}"/>
                </a:ext>
              </a:extLst>
            </p:cNvPr>
            <p:cNvCxnSpPr>
              <a:stCxn id="55" idx="3"/>
              <a:endCxn id="56" idx="1"/>
            </p:cNvCxnSpPr>
            <p:nvPr/>
          </p:nvCxnSpPr>
          <p:spPr>
            <a:xfrm>
              <a:off x="8992047" y="2420668"/>
              <a:ext cx="1208409" cy="0"/>
            </a:xfrm>
            <a:prstGeom prst="straightConnector1">
              <a:avLst/>
            </a:prstGeom>
            <a:noFill/>
            <a:ln w="25400" cap="flat" cmpd="sng" algn="ctr">
              <a:solidFill>
                <a:srgbClr val="000090"/>
              </a:solidFill>
              <a:prstDash val="solid"/>
              <a:tailEnd type="triangle"/>
            </a:ln>
            <a:effectLst>
              <a:outerShdw blurRad="40000" dist="20000" dir="5400000" rotWithShape="0">
                <a:srgbClr val="000000">
                  <a:alpha val="38000"/>
                </a:srgbClr>
              </a:outerShdw>
            </a:effectLst>
          </p:spPr>
        </p:cxnSp>
        <p:sp>
          <p:nvSpPr>
            <p:cNvPr id="66" name="TextBox 65">
              <a:extLst>
                <a:ext uri="{FF2B5EF4-FFF2-40B4-BE49-F238E27FC236}">
                  <a16:creationId xmlns:a16="http://schemas.microsoft.com/office/drawing/2014/main" id="{A5BF74CD-27F6-CC4F-92E2-62437CC1ECBC}"/>
                </a:ext>
              </a:extLst>
            </p:cNvPr>
            <p:cNvSpPr txBox="1"/>
            <p:nvPr/>
          </p:nvSpPr>
          <p:spPr>
            <a:xfrm>
              <a:off x="9208848" y="1973578"/>
              <a:ext cx="833883"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r/w/x</a:t>
              </a:r>
            </a:p>
          </p:txBody>
        </p:sp>
        <p:cxnSp>
          <p:nvCxnSpPr>
            <p:cNvPr id="67" name="Straight Arrow Connector 66">
              <a:extLst>
                <a:ext uri="{FF2B5EF4-FFF2-40B4-BE49-F238E27FC236}">
                  <a16:creationId xmlns:a16="http://schemas.microsoft.com/office/drawing/2014/main" id="{E852A976-25C0-C24A-BA2D-80814082764D}"/>
                </a:ext>
              </a:extLst>
            </p:cNvPr>
            <p:cNvCxnSpPr>
              <a:stCxn id="55" idx="2"/>
              <a:endCxn id="57" idx="0"/>
            </p:cNvCxnSpPr>
            <p:nvPr/>
          </p:nvCxnSpPr>
          <p:spPr>
            <a:xfrm>
              <a:off x="8343975" y="2708700"/>
              <a:ext cx="5037" cy="576284"/>
            </a:xfrm>
            <a:prstGeom prst="straightConnector1">
              <a:avLst/>
            </a:prstGeom>
            <a:noFill/>
            <a:ln w="25400" cap="flat" cmpd="sng" algn="ctr">
              <a:solidFill>
                <a:srgbClr val="000090"/>
              </a:solidFill>
              <a:prstDash val="solid"/>
              <a:tailEnd type="triangle"/>
            </a:ln>
            <a:effectLst>
              <a:outerShdw blurRad="40000" dist="20000" dir="5400000" rotWithShape="0">
                <a:srgbClr val="000000">
                  <a:alpha val="38000"/>
                </a:srgbClr>
              </a:outerShdw>
            </a:effectLst>
          </p:spPr>
        </p:cxnSp>
        <p:sp>
          <p:nvSpPr>
            <p:cNvPr id="68" name="TextBox 67">
              <a:extLst>
                <a:ext uri="{FF2B5EF4-FFF2-40B4-BE49-F238E27FC236}">
                  <a16:creationId xmlns:a16="http://schemas.microsoft.com/office/drawing/2014/main" id="{A672C303-512A-8540-8603-8F101683E302}"/>
                </a:ext>
              </a:extLst>
            </p:cNvPr>
            <p:cNvSpPr txBox="1"/>
            <p:nvPr/>
          </p:nvSpPr>
          <p:spPr>
            <a:xfrm>
              <a:off x="8374467" y="2708920"/>
              <a:ext cx="595035"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r/w</a:t>
              </a:r>
            </a:p>
          </p:txBody>
        </p:sp>
        <p:cxnSp>
          <p:nvCxnSpPr>
            <p:cNvPr id="69" name="Straight Arrow Connector 68">
              <a:extLst>
                <a:ext uri="{FF2B5EF4-FFF2-40B4-BE49-F238E27FC236}">
                  <a16:creationId xmlns:a16="http://schemas.microsoft.com/office/drawing/2014/main" id="{7BCFEB74-98EC-464B-B875-61B8FFAE59A1}"/>
                </a:ext>
              </a:extLst>
            </p:cNvPr>
            <p:cNvCxnSpPr>
              <a:cxnSpLocks/>
              <a:endCxn id="74" idx="1"/>
            </p:cNvCxnSpPr>
            <p:nvPr/>
          </p:nvCxnSpPr>
          <p:spPr>
            <a:xfrm>
              <a:off x="9067800" y="2738335"/>
              <a:ext cx="643562" cy="1271939"/>
            </a:xfrm>
            <a:prstGeom prst="straightConnector1">
              <a:avLst/>
            </a:prstGeom>
            <a:noFill/>
            <a:ln w="25400" cap="flat" cmpd="sng" algn="ctr">
              <a:solidFill>
                <a:srgbClr val="000090"/>
              </a:solidFill>
              <a:prstDash val="solid"/>
              <a:tailEnd type="triangle"/>
            </a:ln>
            <a:effectLst>
              <a:outerShdw blurRad="40000" dist="20000" dir="5400000" rotWithShape="0">
                <a:srgbClr val="000000">
                  <a:alpha val="38000"/>
                </a:srgbClr>
              </a:outerShdw>
            </a:effectLst>
          </p:spPr>
        </p:cxnSp>
        <p:sp>
          <p:nvSpPr>
            <p:cNvPr id="70" name="Rectangle 69">
              <a:extLst>
                <a:ext uri="{FF2B5EF4-FFF2-40B4-BE49-F238E27FC236}">
                  <a16:creationId xmlns:a16="http://schemas.microsoft.com/office/drawing/2014/main" id="{FF98E724-B12D-3243-83C8-D3E9090B3AC2}"/>
                </a:ext>
              </a:extLst>
            </p:cNvPr>
            <p:cNvSpPr/>
            <p:nvPr/>
          </p:nvSpPr>
          <p:spPr>
            <a:xfrm>
              <a:off x="7968208" y="4232320"/>
              <a:ext cx="3925775" cy="837575"/>
            </a:xfrm>
            <a:prstGeom prst="rect">
              <a:avLst/>
            </a:prstGeom>
            <a:no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71" name="Rectangle 70">
              <a:extLst>
                <a:ext uri="{FF2B5EF4-FFF2-40B4-BE49-F238E27FC236}">
                  <a16:creationId xmlns:a16="http://schemas.microsoft.com/office/drawing/2014/main" id="{706A530B-D7B4-454B-880C-F58F4DC21837}"/>
                </a:ext>
              </a:extLst>
            </p:cNvPr>
            <p:cNvSpPr/>
            <p:nvPr/>
          </p:nvSpPr>
          <p:spPr>
            <a:xfrm>
              <a:off x="7573503" y="1880262"/>
              <a:ext cx="4151353" cy="2148989"/>
            </a:xfrm>
            <a:prstGeom prst="rect">
              <a:avLst/>
            </a:prstGeom>
            <a:no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72" name="TextBox 71">
              <a:extLst>
                <a:ext uri="{FF2B5EF4-FFF2-40B4-BE49-F238E27FC236}">
                  <a16:creationId xmlns:a16="http://schemas.microsoft.com/office/drawing/2014/main" id="{660E2F05-9B9B-3646-B08F-9657EE3F8295}"/>
                </a:ext>
              </a:extLst>
            </p:cNvPr>
            <p:cNvSpPr txBox="1"/>
            <p:nvPr/>
          </p:nvSpPr>
          <p:spPr>
            <a:xfrm>
              <a:off x="10570502" y="3058529"/>
              <a:ext cx="1143262"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frame1</a:t>
              </a:r>
            </a:p>
          </p:txBody>
        </p:sp>
        <p:sp>
          <p:nvSpPr>
            <p:cNvPr id="73" name="TextBox 72">
              <a:extLst>
                <a:ext uri="{FF2B5EF4-FFF2-40B4-BE49-F238E27FC236}">
                  <a16:creationId xmlns:a16="http://schemas.microsoft.com/office/drawing/2014/main" id="{D9DC5990-F497-7F4B-9A55-F242B259494C}"/>
                </a:ext>
              </a:extLst>
            </p:cNvPr>
            <p:cNvSpPr txBox="1"/>
            <p:nvPr/>
          </p:nvSpPr>
          <p:spPr>
            <a:xfrm>
              <a:off x="7974100" y="4476341"/>
              <a:ext cx="1143262" cy="461665"/>
            </a:xfrm>
            <a:prstGeom prst="rect">
              <a:avLst/>
            </a:prstGeom>
            <a:noFill/>
          </p:spPr>
          <p:txBody>
            <a:bodyPr wrap="none" rtlCol="0">
              <a:spAutoFit/>
            </a:bodyPr>
            <a:lstStyle/>
            <a:p>
              <a:pPr defTabSz="914400" fontAlgn="base">
                <a:spcBef>
                  <a:spcPct val="0"/>
                </a:spcBef>
                <a:spcAft>
                  <a:spcPct val="0"/>
                </a:spcAft>
              </a:pPr>
              <a:r>
                <a:rPr lang="en-GB" sz="2400" dirty="0">
                  <a:solidFill>
                    <a:srgbClr val="000000"/>
                  </a:solidFill>
                  <a:latin typeface="Arial"/>
                </a:rPr>
                <a:t>frame2</a:t>
              </a:r>
            </a:p>
          </p:txBody>
        </p:sp>
        <p:sp>
          <p:nvSpPr>
            <p:cNvPr id="74" name="Summing Junction 73">
              <a:extLst>
                <a:ext uri="{FF2B5EF4-FFF2-40B4-BE49-F238E27FC236}">
                  <a16:creationId xmlns:a16="http://schemas.microsoft.com/office/drawing/2014/main" id="{0B777617-9949-1C43-8881-2F24C0C5A61D}"/>
                </a:ext>
              </a:extLst>
            </p:cNvPr>
            <p:cNvSpPr/>
            <p:nvPr/>
          </p:nvSpPr>
          <p:spPr>
            <a:xfrm>
              <a:off x="9654508" y="3955683"/>
              <a:ext cx="388223" cy="372769"/>
            </a:xfrm>
            <a:prstGeom prst="flowChartSummingJunction">
              <a:avLst/>
            </a:prstGeom>
            <a:solidFill>
              <a:srgbClr val="FF000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grpSp>
    </p:spTree>
    <p:extLst>
      <p:ext uri="{BB962C8B-B14F-4D97-AF65-F5344CB8AC3E}">
        <p14:creationId xmlns:p14="http://schemas.microsoft.com/office/powerpoint/2010/main" val="2110261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2A8B3-26CC-2244-99B9-36EC1B764328}"/>
              </a:ext>
            </a:extLst>
          </p:cNvPr>
          <p:cNvSpPr>
            <a:spLocks noGrp="1"/>
          </p:cNvSpPr>
          <p:nvPr>
            <p:ph type="title"/>
          </p:nvPr>
        </p:nvSpPr>
        <p:spPr/>
        <p:txBody>
          <a:bodyPr/>
          <a:lstStyle/>
          <a:p>
            <a:r>
              <a:rPr lang="en-US" dirty="0"/>
              <a:t>Site Isolation (Chrome)</a:t>
            </a:r>
          </a:p>
        </p:txBody>
      </p:sp>
      <p:sp>
        <p:nvSpPr>
          <p:cNvPr id="3" name="Content Placeholder 2">
            <a:extLst>
              <a:ext uri="{FF2B5EF4-FFF2-40B4-BE49-F238E27FC236}">
                <a16:creationId xmlns:a16="http://schemas.microsoft.com/office/drawing/2014/main" id="{078FC075-C189-8B4D-85B6-EE47F86CEB1F}"/>
              </a:ext>
            </a:extLst>
          </p:cNvPr>
          <p:cNvSpPr>
            <a:spLocks noGrp="1"/>
          </p:cNvSpPr>
          <p:nvPr>
            <p:ph idx="1"/>
          </p:nvPr>
        </p:nvSpPr>
        <p:spPr>
          <a:xfrm>
            <a:off x="513349" y="1268243"/>
            <a:ext cx="6507937" cy="4723318"/>
          </a:xfrm>
        </p:spPr>
        <p:txBody>
          <a:bodyPr>
            <a:normAutofit lnSpcReduction="10000"/>
          </a:bodyPr>
          <a:lstStyle/>
          <a:p>
            <a:r>
              <a:rPr lang="en-SG" dirty="0"/>
              <a:t>Site Isolation ensures that pages from different websites are always put into different processes, each running in a sandbox that limits what the process is allowed to do.  </a:t>
            </a:r>
          </a:p>
          <a:p>
            <a:pPr lvl="1"/>
            <a:r>
              <a:rPr lang="en-SG" dirty="0"/>
              <a:t>to leverage the underneath operating system to enforce process-based isolation.</a:t>
            </a:r>
          </a:p>
          <a:p>
            <a:r>
              <a:rPr lang="en-SG" dirty="0"/>
              <a:t>It also makes it possible to block the process from receiving certain types of sensitive data from other sites. </a:t>
            </a:r>
          </a:p>
          <a:p>
            <a:r>
              <a:rPr lang="en-SG" dirty="0"/>
              <a:t>As a result, a malicious website will find it much more difficult to steal data from other sites</a:t>
            </a:r>
          </a:p>
        </p:txBody>
      </p:sp>
      <p:pic>
        <p:nvPicPr>
          <p:cNvPr id="1026" name="Picture 2">
            <a:extLst>
              <a:ext uri="{FF2B5EF4-FFF2-40B4-BE49-F238E27FC236}">
                <a16:creationId xmlns:a16="http://schemas.microsoft.com/office/drawing/2014/main" id="{929690E2-EA54-7D4D-BD23-9F07143FC4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4424" y="2492896"/>
            <a:ext cx="5231904" cy="2466273"/>
          </a:xfrm>
          <a:prstGeom prst="rect">
            <a:avLst/>
          </a:prstGeom>
          <a:noFill/>
          <a:extLst>
            <a:ext uri="{909E8E84-426E-40DD-AFC4-6F175D3DCCD1}">
              <a14:hiddenFill xmlns:a14="http://schemas.microsoft.com/office/drawing/2010/main">
                <a:solidFill>
                  <a:srgbClr val="FFFFFF"/>
                </a:solidFill>
              </a14:hiddenFill>
            </a:ext>
          </a:extLst>
        </p:spPr>
      </p:pic>
      <p:sp>
        <p:nvSpPr>
          <p:cNvPr id="6" name="Left Brace 5">
            <a:extLst>
              <a:ext uri="{FF2B5EF4-FFF2-40B4-BE49-F238E27FC236}">
                <a16:creationId xmlns:a16="http://schemas.microsoft.com/office/drawing/2014/main" id="{CB83DE34-F7EC-724E-A2F2-43F10C879818}"/>
              </a:ext>
            </a:extLst>
          </p:cNvPr>
          <p:cNvSpPr/>
          <p:nvPr/>
        </p:nvSpPr>
        <p:spPr>
          <a:xfrm rot="5400000">
            <a:off x="9332977" y="613509"/>
            <a:ext cx="360040" cy="3398734"/>
          </a:xfrm>
          <a:prstGeom prst="leftBrace">
            <a:avLst>
              <a:gd name="adj1" fmla="val 70785"/>
              <a:gd name="adj2" fmla="val 49199"/>
            </a:avLst>
          </a:prstGeom>
          <a:ln>
            <a:solidFill>
              <a:srgbClr val="000090"/>
            </a:solidFill>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Left Brace 7">
            <a:extLst>
              <a:ext uri="{FF2B5EF4-FFF2-40B4-BE49-F238E27FC236}">
                <a16:creationId xmlns:a16="http://schemas.microsoft.com/office/drawing/2014/main" id="{AF3C3871-3DBE-9F44-991D-6D3430151A4C}"/>
              </a:ext>
            </a:extLst>
          </p:cNvPr>
          <p:cNvSpPr/>
          <p:nvPr/>
        </p:nvSpPr>
        <p:spPr>
          <a:xfrm rot="16200000">
            <a:off x="9357778" y="3362296"/>
            <a:ext cx="360040" cy="3398734"/>
          </a:xfrm>
          <a:prstGeom prst="leftBrace">
            <a:avLst>
              <a:gd name="adj1" fmla="val 70785"/>
              <a:gd name="adj2" fmla="val 49199"/>
            </a:avLst>
          </a:prstGeom>
          <a:ln>
            <a:solidFill>
              <a:srgbClr val="000090"/>
            </a:solidFill>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94BFFED6-E4EF-2145-8C54-07D41ADD3637}"/>
              </a:ext>
            </a:extLst>
          </p:cNvPr>
          <p:cNvSpPr txBox="1"/>
          <p:nvPr/>
        </p:nvSpPr>
        <p:spPr>
          <a:xfrm>
            <a:off x="7446502" y="1712711"/>
            <a:ext cx="4248473" cy="400110"/>
          </a:xfrm>
          <a:prstGeom prst="rect">
            <a:avLst/>
          </a:prstGeom>
          <a:noFill/>
        </p:spPr>
        <p:txBody>
          <a:bodyPr wrap="square" rtlCol="0">
            <a:spAutoFit/>
          </a:bodyPr>
          <a:lstStyle/>
          <a:p>
            <a:pPr algn="l"/>
            <a:r>
              <a:rPr lang="en-US" sz="2000" dirty="0">
                <a:latin typeface="+mn-lt"/>
              </a:rPr>
              <a:t>Cannot access cookies or network</a:t>
            </a:r>
          </a:p>
        </p:txBody>
      </p:sp>
      <p:sp>
        <p:nvSpPr>
          <p:cNvPr id="10" name="TextBox 9">
            <a:extLst>
              <a:ext uri="{FF2B5EF4-FFF2-40B4-BE49-F238E27FC236}">
                <a16:creationId xmlns:a16="http://schemas.microsoft.com/office/drawing/2014/main" id="{E331379F-2AD9-A348-AA68-6E4D678D18A0}"/>
              </a:ext>
            </a:extLst>
          </p:cNvPr>
          <p:cNvSpPr txBox="1"/>
          <p:nvPr/>
        </p:nvSpPr>
        <p:spPr>
          <a:xfrm>
            <a:off x="8005337" y="5319209"/>
            <a:ext cx="3231828" cy="400110"/>
          </a:xfrm>
          <a:prstGeom prst="rect">
            <a:avLst/>
          </a:prstGeom>
          <a:noFill/>
        </p:spPr>
        <p:txBody>
          <a:bodyPr wrap="square" rtlCol="0">
            <a:spAutoFit/>
          </a:bodyPr>
          <a:lstStyle/>
          <a:p>
            <a:pPr algn="l"/>
            <a:r>
              <a:rPr lang="en-US" sz="2000" dirty="0">
                <a:latin typeface="+mn-lt"/>
              </a:rPr>
              <a:t>access cookies or network</a:t>
            </a:r>
          </a:p>
        </p:txBody>
      </p:sp>
    </p:spTree>
    <p:extLst>
      <p:ext uri="{BB962C8B-B14F-4D97-AF65-F5344CB8AC3E}">
        <p14:creationId xmlns:p14="http://schemas.microsoft.com/office/powerpoint/2010/main" val="3192954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66994D-8103-6C45-A090-AB1573A7D5ED}"/>
              </a:ext>
            </a:extLst>
          </p:cNvPr>
          <p:cNvSpPr>
            <a:spLocks noGrp="1"/>
          </p:cNvSpPr>
          <p:nvPr>
            <p:ph type="title"/>
          </p:nvPr>
        </p:nvSpPr>
        <p:spPr/>
        <p:txBody>
          <a:bodyPr/>
          <a:lstStyle/>
          <a:p>
            <a:r>
              <a:rPr lang="en-GB" dirty="0"/>
              <a:t>Cross-Site Scripting (XSS)</a:t>
            </a:r>
            <a:endParaRPr lang="en-US" dirty="0"/>
          </a:p>
        </p:txBody>
      </p:sp>
      <p:sp>
        <p:nvSpPr>
          <p:cNvPr id="6" name="Text Placeholder 5">
            <a:extLst>
              <a:ext uri="{FF2B5EF4-FFF2-40B4-BE49-F238E27FC236}">
                <a16:creationId xmlns:a16="http://schemas.microsoft.com/office/drawing/2014/main" id="{ECB0B747-CD21-8F4E-B875-7E6FBACC8589}"/>
              </a:ext>
            </a:extLst>
          </p:cNvPr>
          <p:cNvSpPr>
            <a:spLocks noGrp="1"/>
          </p:cNvSpPr>
          <p:nvPr>
            <p:ph type="body" idx="10"/>
          </p:nvPr>
        </p:nvSpPr>
        <p:spPr/>
        <p:txBody>
          <a:bodyPr/>
          <a:lstStyle/>
          <a:p>
            <a:endParaRPr lang="en-US"/>
          </a:p>
        </p:txBody>
      </p:sp>
    </p:spTree>
    <p:extLst>
      <p:ext uri="{BB962C8B-B14F-4D97-AF65-F5344CB8AC3E}">
        <p14:creationId xmlns:p14="http://schemas.microsoft.com/office/powerpoint/2010/main" val="2910896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A62C6-9D4D-854B-9D65-67EF9588B29B}"/>
              </a:ext>
            </a:extLst>
          </p:cNvPr>
          <p:cNvSpPr>
            <a:spLocks noGrp="1"/>
          </p:cNvSpPr>
          <p:nvPr>
            <p:ph type="title"/>
          </p:nvPr>
        </p:nvSpPr>
        <p:spPr/>
        <p:txBody>
          <a:bodyPr/>
          <a:lstStyle/>
          <a:p>
            <a:r>
              <a:rPr lang="en" dirty="0"/>
              <a:t>Document Object Model (DOM)</a:t>
            </a:r>
            <a:endParaRPr lang="en-US" dirty="0"/>
          </a:p>
        </p:txBody>
      </p:sp>
      <p:sp>
        <p:nvSpPr>
          <p:cNvPr id="4" name="Content Placeholder 3">
            <a:extLst>
              <a:ext uri="{FF2B5EF4-FFF2-40B4-BE49-F238E27FC236}">
                <a16:creationId xmlns:a16="http://schemas.microsoft.com/office/drawing/2014/main" id="{3D75C098-869C-4E4F-A5BB-15E57D840A04}"/>
              </a:ext>
            </a:extLst>
          </p:cNvPr>
          <p:cNvSpPr>
            <a:spLocks noGrp="1"/>
          </p:cNvSpPr>
          <p:nvPr>
            <p:ph idx="1"/>
          </p:nvPr>
        </p:nvSpPr>
        <p:spPr>
          <a:xfrm>
            <a:off x="513349" y="1268243"/>
            <a:ext cx="10840451" cy="942522"/>
          </a:xfrm>
        </p:spPr>
        <p:txBody>
          <a:bodyPr/>
          <a:lstStyle/>
          <a:p>
            <a:r>
              <a:rPr lang="en-SG" dirty="0"/>
              <a:t>An HTML document can be viewed in the form of a tree. Building/modifying an HTML document is to grow/trim the tree. </a:t>
            </a:r>
          </a:p>
        </p:txBody>
      </p:sp>
      <p:sp>
        <p:nvSpPr>
          <p:cNvPr id="8" name="Google Shape;375;p42">
            <a:extLst>
              <a:ext uri="{FF2B5EF4-FFF2-40B4-BE49-F238E27FC236}">
                <a16:creationId xmlns:a16="http://schemas.microsoft.com/office/drawing/2014/main" id="{6A773D74-0E88-2D4C-A8D7-7C4D971C19E8}"/>
              </a:ext>
            </a:extLst>
          </p:cNvPr>
          <p:cNvSpPr txBox="1">
            <a:spLocks/>
          </p:cNvSpPr>
          <p:nvPr/>
        </p:nvSpPr>
        <p:spPr>
          <a:xfrm>
            <a:off x="838200" y="2210765"/>
            <a:ext cx="5333200" cy="3566400"/>
          </a:xfrm>
          <a:prstGeom prst="rect">
            <a:avLst/>
          </a:prstGeom>
          <a:noFill/>
          <a:ln>
            <a:noFill/>
          </a:ln>
        </p:spPr>
        <p:txBody>
          <a:bodyPr spcFirstLastPara="1" vert="horz" wrap="square" lIns="121900" tIns="121900" rIns="121900" bIns="121900" rtlCol="0" anchor="t" anchorCtr="0">
            <a:noAutofit/>
          </a:bodyPr>
          <a:lst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15000"/>
              </a:lnSpc>
              <a:spcBef>
                <a:spcPts val="0"/>
              </a:spcBef>
              <a:spcAft>
                <a:spcPts val="0"/>
              </a:spcAft>
              <a:buSzPts val="1800"/>
              <a:buFont typeface="Arial" panose="020B0604020202020204" pitchFamily="34" charset="0"/>
              <a:buNone/>
            </a:pPr>
            <a:r>
              <a:rPr lang="en-SG"/>
              <a:t>Text view</a:t>
            </a:r>
          </a:p>
          <a:p>
            <a:pPr marL="0" indent="0">
              <a:lnSpc>
                <a:spcPct val="115000"/>
              </a:lnSpc>
              <a:spcBef>
                <a:spcPts val="2133"/>
              </a:spcBef>
              <a:spcAft>
                <a:spcPts val="0"/>
              </a:spcAft>
              <a:buSzPts val="1800"/>
              <a:buFont typeface="Arial" panose="020B0604020202020204" pitchFamily="34" charset="0"/>
              <a:buNone/>
            </a:pPr>
            <a:r>
              <a:rPr lang="en-SG" sz="1600">
                <a:solidFill>
                  <a:srgbClr val="708090"/>
                </a:solidFill>
                <a:highlight>
                  <a:srgbClr val="F5F2F0"/>
                </a:highlight>
                <a:latin typeface="Arial"/>
                <a:ea typeface="Arial"/>
                <a:cs typeface="Arial"/>
                <a:sym typeface="Arial"/>
              </a:rPr>
              <a:t>&lt;!DOCTYPE HTML&gt;</a:t>
            </a:r>
            <a:endParaRPr lang="en-SG" sz="1600">
              <a:solidFill>
                <a:srgbClr val="333333"/>
              </a:solidFill>
              <a:highlight>
                <a:srgbClr val="F5F2F0"/>
              </a:highlight>
              <a:latin typeface="Arial"/>
              <a:ea typeface="Arial"/>
              <a:cs typeface="Arial"/>
              <a:sym typeface="Arial"/>
            </a:endParaRPr>
          </a:p>
          <a:p>
            <a:pPr marL="0" indent="0">
              <a:lnSpc>
                <a:spcPct val="115000"/>
              </a:lnSpc>
              <a:spcBef>
                <a:spcPts val="0"/>
              </a:spcBef>
              <a:spcAft>
                <a:spcPts val="0"/>
              </a:spcAft>
              <a:buSzPts val="1800"/>
              <a:buFont typeface="Arial" panose="020B0604020202020204" pitchFamily="34" charset="0"/>
              <a:buNone/>
            </a:pPr>
            <a:r>
              <a:rPr lang="en-SG" sz="1600">
                <a:solidFill>
                  <a:srgbClr val="999999"/>
                </a:solidFill>
                <a:highlight>
                  <a:srgbClr val="F5F2F0"/>
                </a:highlight>
                <a:latin typeface="Arial"/>
                <a:ea typeface="Arial"/>
                <a:cs typeface="Arial"/>
                <a:sym typeface="Arial"/>
              </a:rPr>
              <a:t>&lt;</a:t>
            </a:r>
            <a:r>
              <a:rPr lang="en-SG" sz="1600">
                <a:solidFill>
                  <a:srgbClr val="990055"/>
                </a:solidFill>
                <a:highlight>
                  <a:srgbClr val="F5F2F0"/>
                </a:highlight>
                <a:latin typeface="Arial"/>
                <a:ea typeface="Arial"/>
                <a:cs typeface="Arial"/>
                <a:sym typeface="Arial"/>
              </a:rPr>
              <a:t>html</a:t>
            </a:r>
            <a:r>
              <a:rPr lang="en-SG" sz="1600">
                <a:solidFill>
                  <a:srgbClr val="999999"/>
                </a:solidFill>
                <a:highlight>
                  <a:srgbClr val="F5F2F0"/>
                </a:highlight>
                <a:latin typeface="Arial"/>
                <a:ea typeface="Arial"/>
                <a:cs typeface="Arial"/>
                <a:sym typeface="Arial"/>
              </a:rPr>
              <a:t>&gt;</a:t>
            </a:r>
            <a:endParaRPr lang="en-SG" sz="1600">
              <a:solidFill>
                <a:srgbClr val="333333"/>
              </a:solidFill>
              <a:highlight>
                <a:srgbClr val="F5F2F0"/>
              </a:highlight>
              <a:latin typeface="Arial"/>
              <a:ea typeface="Arial"/>
              <a:cs typeface="Arial"/>
              <a:sym typeface="Arial"/>
            </a:endParaRPr>
          </a:p>
          <a:p>
            <a:pPr marL="0" indent="0">
              <a:lnSpc>
                <a:spcPct val="115000"/>
              </a:lnSpc>
              <a:spcBef>
                <a:spcPts val="0"/>
              </a:spcBef>
              <a:spcAft>
                <a:spcPts val="0"/>
              </a:spcAft>
              <a:buSzPts val="1800"/>
              <a:buFont typeface="Arial" panose="020B0604020202020204" pitchFamily="34" charset="0"/>
              <a:buNone/>
            </a:pPr>
            <a:r>
              <a:rPr lang="en-SG" sz="1600">
                <a:solidFill>
                  <a:srgbClr val="999999"/>
                </a:solidFill>
                <a:highlight>
                  <a:srgbClr val="F5F2F0"/>
                </a:highlight>
                <a:latin typeface="Arial"/>
                <a:ea typeface="Arial"/>
                <a:cs typeface="Arial"/>
                <a:sym typeface="Arial"/>
              </a:rPr>
              <a:t>&lt;</a:t>
            </a:r>
            <a:r>
              <a:rPr lang="en-SG" sz="1600">
                <a:solidFill>
                  <a:srgbClr val="990055"/>
                </a:solidFill>
                <a:highlight>
                  <a:srgbClr val="F5F2F0"/>
                </a:highlight>
                <a:latin typeface="Arial"/>
                <a:ea typeface="Arial"/>
                <a:cs typeface="Arial"/>
                <a:sym typeface="Arial"/>
              </a:rPr>
              <a:t>head</a:t>
            </a:r>
            <a:r>
              <a:rPr lang="en-SG" sz="1600">
                <a:solidFill>
                  <a:srgbClr val="999999"/>
                </a:solidFill>
                <a:highlight>
                  <a:srgbClr val="F5F2F0"/>
                </a:highlight>
                <a:latin typeface="Arial"/>
                <a:ea typeface="Arial"/>
                <a:cs typeface="Arial"/>
                <a:sym typeface="Arial"/>
              </a:rPr>
              <a:t>&gt;</a:t>
            </a:r>
            <a:endParaRPr lang="en-SG" sz="1600">
              <a:solidFill>
                <a:srgbClr val="333333"/>
              </a:solidFill>
              <a:highlight>
                <a:srgbClr val="F5F2F0"/>
              </a:highlight>
              <a:latin typeface="Arial"/>
              <a:ea typeface="Arial"/>
              <a:cs typeface="Arial"/>
              <a:sym typeface="Arial"/>
            </a:endParaRPr>
          </a:p>
          <a:p>
            <a:pPr marL="0" indent="0">
              <a:lnSpc>
                <a:spcPct val="115000"/>
              </a:lnSpc>
              <a:spcBef>
                <a:spcPts val="0"/>
              </a:spcBef>
              <a:spcAft>
                <a:spcPts val="0"/>
              </a:spcAft>
              <a:buSzPts val="1800"/>
              <a:buFont typeface="Arial" panose="020B0604020202020204" pitchFamily="34" charset="0"/>
              <a:buNone/>
            </a:pPr>
            <a:r>
              <a:rPr lang="en-SG" sz="1600">
                <a:solidFill>
                  <a:srgbClr val="333333"/>
                </a:solidFill>
                <a:highlight>
                  <a:srgbClr val="F5F2F0"/>
                </a:highlight>
                <a:latin typeface="Arial"/>
                <a:ea typeface="Arial"/>
                <a:cs typeface="Arial"/>
                <a:sym typeface="Arial"/>
              </a:rPr>
              <a:t>  </a:t>
            </a:r>
            <a:r>
              <a:rPr lang="en-SG" sz="1600">
                <a:solidFill>
                  <a:srgbClr val="999999"/>
                </a:solidFill>
                <a:highlight>
                  <a:srgbClr val="F5F2F0"/>
                </a:highlight>
                <a:latin typeface="Arial"/>
                <a:ea typeface="Arial"/>
                <a:cs typeface="Arial"/>
                <a:sym typeface="Arial"/>
              </a:rPr>
              <a:t>&lt;</a:t>
            </a:r>
            <a:r>
              <a:rPr lang="en-SG" sz="1600">
                <a:solidFill>
                  <a:srgbClr val="990055"/>
                </a:solidFill>
                <a:highlight>
                  <a:srgbClr val="F5F2F0"/>
                </a:highlight>
                <a:latin typeface="Arial"/>
                <a:ea typeface="Arial"/>
                <a:cs typeface="Arial"/>
                <a:sym typeface="Arial"/>
              </a:rPr>
              <a:t>title</a:t>
            </a:r>
            <a:r>
              <a:rPr lang="en-SG" sz="1600">
                <a:solidFill>
                  <a:srgbClr val="999999"/>
                </a:solidFill>
                <a:highlight>
                  <a:srgbClr val="F5F2F0"/>
                </a:highlight>
                <a:latin typeface="Arial"/>
                <a:ea typeface="Arial"/>
                <a:cs typeface="Arial"/>
                <a:sym typeface="Arial"/>
              </a:rPr>
              <a:t>&gt;</a:t>
            </a:r>
            <a:r>
              <a:rPr lang="en-SG" sz="1600">
                <a:solidFill>
                  <a:srgbClr val="333333"/>
                </a:solidFill>
                <a:highlight>
                  <a:srgbClr val="F5F2F0"/>
                </a:highlight>
                <a:latin typeface="Arial"/>
                <a:ea typeface="Arial"/>
                <a:cs typeface="Arial"/>
                <a:sym typeface="Arial"/>
              </a:rPr>
              <a:t>About elk</a:t>
            </a:r>
            <a:r>
              <a:rPr lang="en-SG" sz="1600">
                <a:solidFill>
                  <a:srgbClr val="999999"/>
                </a:solidFill>
                <a:highlight>
                  <a:srgbClr val="F5F2F0"/>
                </a:highlight>
                <a:latin typeface="Arial"/>
                <a:ea typeface="Arial"/>
                <a:cs typeface="Arial"/>
                <a:sym typeface="Arial"/>
              </a:rPr>
              <a:t>&lt;/</a:t>
            </a:r>
            <a:r>
              <a:rPr lang="en-SG" sz="1600">
                <a:solidFill>
                  <a:srgbClr val="990055"/>
                </a:solidFill>
                <a:highlight>
                  <a:srgbClr val="F5F2F0"/>
                </a:highlight>
                <a:latin typeface="Arial"/>
                <a:ea typeface="Arial"/>
                <a:cs typeface="Arial"/>
                <a:sym typeface="Arial"/>
              </a:rPr>
              <a:t>title</a:t>
            </a:r>
            <a:r>
              <a:rPr lang="en-SG" sz="1600">
                <a:solidFill>
                  <a:srgbClr val="999999"/>
                </a:solidFill>
                <a:highlight>
                  <a:srgbClr val="F5F2F0"/>
                </a:highlight>
                <a:latin typeface="Arial"/>
                <a:ea typeface="Arial"/>
                <a:cs typeface="Arial"/>
                <a:sym typeface="Arial"/>
              </a:rPr>
              <a:t>&gt;</a:t>
            </a:r>
            <a:endParaRPr lang="en-SG" sz="1600">
              <a:solidFill>
                <a:srgbClr val="333333"/>
              </a:solidFill>
              <a:highlight>
                <a:srgbClr val="F5F2F0"/>
              </a:highlight>
              <a:latin typeface="Arial"/>
              <a:ea typeface="Arial"/>
              <a:cs typeface="Arial"/>
              <a:sym typeface="Arial"/>
            </a:endParaRPr>
          </a:p>
          <a:p>
            <a:pPr marL="0" indent="0">
              <a:lnSpc>
                <a:spcPct val="115000"/>
              </a:lnSpc>
              <a:spcBef>
                <a:spcPts val="0"/>
              </a:spcBef>
              <a:spcAft>
                <a:spcPts val="0"/>
              </a:spcAft>
              <a:buSzPts val="1800"/>
              <a:buFont typeface="Arial" panose="020B0604020202020204" pitchFamily="34" charset="0"/>
              <a:buNone/>
            </a:pPr>
            <a:r>
              <a:rPr lang="en-SG" sz="1600">
                <a:solidFill>
                  <a:srgbClr val="999999"/>
                </a:solidFill>
                <a:highlight>
                  <a:srgbClr val="F5F2F0"/>
                </a:highlight>
                <a:latin typeface="Arial"/>
                <a:ea typeface="Arial"/>
                <a:cs typeface="Arial"/>
                <a:sym typeface="Arial"/>
              </a:rPr>
              <a:t>&lt;/</a:t>
            </a:r>
            <a:r>
              <a:rPr lang="en-SG" sz="1600">
                <a:solidFill>
                  <a:srgbClr val="990055"/>
                </a:solidFill>
                <a:highlight>
                  <a:srgbClr val="F5F2F0"/>
                </a:highlight>
                <a:latin typeface="Arial"/>
                <a:ea typeface="Arial"/>
                <a:cs typeface="Arial"/>
                <a:sym typeface="Arial"/>
              </a:rPr>
              <a:t>head</a:t>
            </a:r>
            <a:r>
              <a:rPr lang="en-SG" sz="1600">
                <a:solidFill>
                  <a:srgbClr val="999999"/>
                </a:solidFill>
                <a:highlight>
                  <a:srgbClr val="F5F2F0"/>
                </a:highlight>
                <a:latin typeface="Arial"/>
                <a:ea typeface="Arial"/>
                <a:cs typeface="Arial"/>
                <a:sym typeface="Arial"/>
              </a:rPr>
              <a:t>&gt;</a:t>
            </a:r>
            <a:endParaRPr lang="en-SG" sz="1600">
              <a:solidFill>
                <a:srgbClr val="333333"/>
              </a:solidFill>
              <a:highlight>
                <a:srgbClr val="F5F2F0"/>
              </a:highlight>
              <a:latin typeface="Arial"/>
              <a:ea typeface="Arial"/>
              <a:cs typeface="Arial"/>
              <a:sym typeface="Arial"/>
            </a:endParaRPr>
          </a:p>
          <a:p>
            <a:pPr marL="0" indent="0">
              <a:lnSpc>
                <a:spcPct val="115000"/>
              </a:lnSpc>
              <a:spcBef>
                <a:spcPts val="0"/>
              </a:spcBef>
              <a:spcAft>
                <a:spcPts val="0"/>
              </a:spcAft>
              <a:buSzPts val="1800"/>
              <a:buFont typeface="Arial" panose="020B0604020202020204" pitchFamily="34" charset="0"/>
              <a:buNone/>
            </a:pPr>
            <a:r>
              <a:rPr lang="en-SG" sz="1600">
                <a:solidFill>
                  <a:srgbClr val="999999"/>
                </a:solidFill>
                <a:highlight>
                  <a:srgbClr val="F5F2F0"/>
                </a:highlight>
                <a:latin typeface="Arial"/>
                <a:ea typeface="Arial"/>
                <a:cs typeface="Arial"/>
                <a:sym typeface="Arial"/>
              </a:rPr>
              <a:t>&lt;</a:t>
            </a:r>
            <a:r>
              <a:rPr lang="en-SG" sz="1600">
                <a:solidFill>
                  <a:srgbClr val="990055"/>
                </a:solidFill>
                <a:highlight>
                  <a:srgbClr val="F5F2F0"/>
                </a:highlight>
                <a:latin typeface="Arial"/>
                <a:ea typeface="Arial"/>
                <a:cs typeface="Arial"/>
                <a:sym typeface="Arial"/>
              </a:rPr>
              <a:t>body</a:t>
            </a:r>
            <a:r>
              <a:rPr lang="en-SG" sz="1600">
                <a:solidFill>
                  <a:srgbClr val="999999"/>
                </a:solidFill>
                <a:highlight>
                  <a:srgbClr val="F5F2F0"/>
                </a:highlight>
                <a:latin typeface="Arial"/>
                <a:ea typeface="Arial"/>
                <a:cs typeface="Arial"/>
                <a:sym typeface="Arial"/>
              </a:rPr>
              <a:t>&gt;</a:t>
            </a:r>
          </a:p>
          <a:p>
            <a:pPr marL="0" indent="0">
              <a:lnSpc>
                <a:spcPct val="115000"/>
              </a:lnSpc>
              <a:spcBef>
                <a:spcPts val="0"/>
              </a:spcBef>
              <a:spcAft>
                <a:spcPts val="0"/>
              </a:spcAft>
              <a:buSzPts val="1800"/>
              <a:buFont typeface="Arial" panose="020B0604020202020204" pitchFamily="34" charset="0"/>
              <a:buNone/>
            </a:pPr>
            <a:r>
              <a:rPr lang="en-SG" sz="1600">
                <a:solidFill>
                  <a:srgbClr val="999999"/>
                </a:solidFill>
                <a:highlight>
                  <a:srgbClr val="F5F2F0"/>
                </a:highlight>
              </a:rPr>
              <a:t>  &lt;div&gt;</a:t>
            </a:r>
            <a:r>
              <a:rPr lang="en-SG" sz="1600">
                <a:solidFill>
                  <a:srgbClr val="333333"/>
                </a:solidFill>
                <a:highlight>
                  <a:srgbClr val="F5F2F0"/>
                </a:highlight>
                <a:latin typeface="Arial"/>
                <a:ea typeface="Arial"/>
                <a:cs typeface="Arial"/>
                <a:sym typeface="Arial"/>
              </a:rPr>
              <a:t>The truth about elk</a:t>
            </a:r>
            <a:r>
              <a:rPr lang="en-SG" sz="1600">
                <a:solidFill>
                  <a:srgbClr val="333333"/>
                </a:solidFill>
                <a:highlight>
                  <a:srgbClr val="F5F2F0"/>
                </a:highlight>
              </a:rPr>
              <a:t>.</a:t>
            </a:r>
            <a:r>
              <a:rPr lang="en-SG" sz="1600">
                <a:solidFill>
                  <a:srgbClr val="333333"/>
                </a:solidFill>
                <a:highlight>
                  <a:srgbClr val="F5F2F0"/>
                </a:highlight>
                <a:latin typeface="Arial"/>
                <a:ea typeface="Arial"/>
                <a:cs typeface="Arial"/>
                <a:sym typeface="Arial"/>
              </a:rPr>
              <a:t>&lt;/div&gt;</a:t>
            </a:r>
          </a:p>
          <a:p>
            <a:pPr marL="0" indent="0">
              <a:lnSpc>
                <a:spcPct val="115000"/>
              </a:lnSpc>
              <a:spcBef>
                <a:spcPts val="0"/>
              </a:spcBef>
              <a:spcAft>
                <a:spcPts val="0"/>
              </a:spcAft>
              <a:buSzPts val="1800"/>
              <a:buFont typeface="Arial" panose="020B0604020202020204" pitchFamily="34" charset="0"/>
              <a:buNone/>
            </a:pPr>
            <a:r>
              <a:rPr lang="en-SG" sz="1600">
                <a:solidFill>
                  <a:srgbClr val="999999"/>
                </a:solidFill>
                <a:highlight>
                  <a:srgbClr val="F5F2F0"/>
                </a:highlight>
                <a:latin typeface="Arial"/>
                <a:ea typeface="Arial"/>
                <a:cs typeface="Arial"/>
                <a:sym typeface="Arial"/>
              </a:rPr>
              <a:t>&lt;/</a:t>
            </a:r>
            <a:r>
              <a:rPr lang="en-SG" sz="1600">
                <a:solidFill>
                  <a:srgbClr val="990055"/>
                </a:solidFill>
                <a:highlight>
                  <a:srgbClr val="F5F2F0"/>
                </a:highlight>
                <a:latin typeface="Arial"/>
                <a:ea typeface="Arial"/>
                <a:cs typeface="Arial"/>
                <a:sym typeface="Arial"/>
              </a:rPr>
              <a:t>body</a:t>
            </a:r>
            <a:r>
              <a:rPr lang="en-SG" sz="1600">
                <a:solidFill>
                  <a:srgbClr val="999999"/>
                </a:solidFill>
                <a:highlight>
                  <a:srgbClr val="F5F2F0"/>
                </a:highlight>
                <a:latin typeface="Arial"/>
                <a:ea typeface="Arial"/>
                <a:cs typeface="Arial"/>
                <a:sym typeface="Arial"/>
              </a:rPr>
              <a:t>&gt;</a:t>
            </a:r>
            <a:endParaRPr lang="en-SG" sz="1600">
              <a:solidFill>
                <a:srgbClr val="333333"/>
              </a:solidFill>
              <a:highlight>
                <a:srgbClr val="F5F2F0"/>
              </a:highlight>
              <a:latin typeface="Arial"/>
              <a:ea typeface="Arial"/>
              <a:cs typeface="Arial"/>
              <a:sym typeface="Arial"/>
            </a:endParaRPr>
          </a:p>
          <a:p>
            <a:pPr marL="0" indent="0">
              <a:lnSpc>
                <a:spcPct val="115000"/>
              </a:lnSpc>
              <a:spcBef>
                <a:spcPts val="0"/>
              </a:spcBef>
              <a:spcAft>
                <a:spcPts val="0"/>
              </a:spcAft>
              <a:buSzPts val="1800"/>
              <a:buFont typeface="Arial" panose="020B0604020202020204" pitchFamily="34" charset="0"/>
              <a:buNone/>
            </a:pPr>
            <a:r>
              <a:rPr lang="en-SG" sz="1600">
                <a:solidFill>
                  <a:srgbClr val="999999"/>
                </a:solidFill>
                <a:highlight>
                  <a:srgbClr val="F5F2F0"/>
                </a:highlight>
                <a:latin typeface="Arial"/>
                <a:ea typeface="Arial"/>
                <a:cs typeface="Arial"/>
                <a:sym typeface="Arial"/>
              </a:rPr>
              <a:t>&lt;/</a:t>
            </a:r>
            <a:r>
              <a:rPr lang="en-SG" sz="1600">
                <a:solidFill>
                  <a:srgbClr val="990055"/>
                </a:solidFill>
                <a:highlight>
                  <a:srgbClr val="F5F2F0"/>
                </a:highlight>
                <a:latin typeface="Arial"/>
                <a:ea typeface="Arial"/>
                <a:cs typeface="Arial"/>
                <a:sym typeface="Arial"/>
              </a:rPr>
              <a:t>html</a:t>
            </a:r>
            <a:r>
              <a:rPr lang="en-SG" sz="1600">
                <a:solidFill>
                  <a:srgbClr val="999999"/>
                </a:solidFill>
                <a:highlight>
                  <a:srgbClr val="F5F2F0"/>
                </a:highlight>
                <a:latin typeface="Arial"/>
                <a:ea typeface="Arial"/>
                <a:cs typeface="Arial"/>
                <a:sym typeface="Arial"/>
              </a:rPr>
              <a:t>&gt;</a:t>
            </a:r>
          </a:p>
          <a:p>
            <a:pPr marL="0" indent="0">
              <a:lnSpc>
                <a:spcPct val="115000"/>
              </a:lnSpc>
              <a:spcBef>
                <a:spcPts val="0"/>
              </a:spcBef>
              <a:spcAft>
                <a:spcPts val="0"/>
              </a:spcAft>
              <a:buSzPts val="1800"/>
              <a:buFont typeface="Arial" panose="020B0604020202020204" pitchFamily="34" charset="0"/>
              <a:buNone/>
            </a:pPr>
            <a:endParaRPr lang="en-SG" sz="1600" dirty="0">
              <a:solidFill>
                <a:srgbClr val="999999"/>
              </a:solidFill>
              <a:highlight>
                <a:srgbClr val="F5F2F0"/>
              </a:highlight>
              <a:latin typeface="Arial"/>
              <a:ea typeface="Arial"/>
              <a:cs typeface="Arial"/>
              <a:sym typeface="Arial"/>
            </a:endParaRPr>
          </a:p>
        </p:txBody>
      </p:sp>
      <p:sp>
        <p:nvSpPr>
          <p:cNvPr id="9" name="Google Shape;376;p42">
            <a:extLst>
              <a:ext uri="{FF2B5EF4-FFF2-40B4-BE49-F238E27FC236}">
                <a16:creationId xmlns:a16="http://schemas.microsoft.com/office/drawing/2014/main" id="{50FDD449-2AF5-8642-9F31-2186FF326EAD}"/>
              </a:ext>
            </a:extLst>
          </p:cNvPr>
          <p:cNvSpPr txBox="1">
            <a:spLocks/>
          </p:cNvSpPr>
          <p:nvPr/>
        </p:nvSpPr>
        <p:spPr>
          <a:xfrm>
            <a:off x="6776467" y="2210765"/>
            <a:ext cx="5333200" cy="3566400"/>
          </a:xfrm>
          <a:prstGeom prst="rect">
            <a:avLst/>
          </a:prstGeom>
          <a:noFill/>
          <a:ln>
            <a:noFill/>
          </a:ln>
        </p:spPr>
        <p:txBody>
          <a:bodyPr spcFirstLastPara="1" vert="horz" wrap="square" lIns="121900" tIns="121900" rIns="121900" bIns="121900" rtlCol="0" anchor="t" anchorCtr="0">
            <a:noAutofit/>
          </a:bodyPr>
          <a:lst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15000"/>
              </a:lnSpc>
              <a:spcBef>
                <a:spcPts val="0"/>
              </a:spcBef>
              <a:spcAft>
                <a:spcPts val="0"/>
              </a:spcAft>
              <a:buSzPts val="1800"/>
              <a:buFont typeface="Arial" panose="020B0604020202020204" pitchFamily="34" charset="0"/>
              <a:buNone/>
            </a:pPr>
            <a:r>
              <a:rPr lang="en-SG"/>
              <a:t>Tree view</a:t>
            </a:r>
          </a:p>
          <a:p>
            <a:pPr marL="0" indent="0">
              <a:lnSpc>
                <a:spcPct val="115000"/>
              </a:lnSpc>
              <a:spcBef>
                <a:spcPts val="2133"/>
              </a:spcBef>
              <a:spcAft>
                <a:spcPts val="0"/>
              </a:spcAft>
              <a:buSzPts val="1800"/>
              <a:buFont typeface="Arial" panose="020B0604020202020204" pitchFamily="34" charset="0"/>
              <a:buNone/>
            </a:pPr>
            <a:endParaRPr lang="en-SG" sz="1600">
              <a:solidFill>
                <a:srgbClr val="999999"/>
              </a:solidFill>
              <a:highlight>
                <a:srgbClr val="F5F2F0"/>
              </a:highlight>
              <a:latin typeface="Arial"/>
              <a:ea typeface="Arial"/>
              <a:cs typeface="Arial"/>
              <a:sym typeface="Arial"/>
            </a:endParaRPr>
          </a:p>
          <a:p>
            <a:pPr marL="0" indent="0">
              <a:lnSpc>
                <a:spcPct val="115000"/>
              </a:lnSpc>
              <a:spcBef>
                <a:spcPts val="0"/>
              </a:spcBef>
              <a:spcAft>
                <a:spcPts val="0"/>
              </a:spcAft>
              <a:buSzPts val="1800"/>
              <a:buFont typeface="Arial" panose="020B0604020202020204" pitchFamily="34" charset="0"/>
              <a:buNone/>
            </a:pPr>
            <a:endParaRPr lang="en-SG" sz="1600" dirty="0">
              <a:solidFill>
                <a:srgbClr val="999999"/>
              </a:solidFill>
              <a:highlight>
                <a:srgbClr val="F5F2F0"/>
              </a:highlight>
              <a:latin typeface="Arial"/>
              <a:ea typeface="Arial"/>
              <a:cs typeface="Arial"/>
              <a:sym typeface="Arial"/>
            </a:endParaRPr>
          </a:p>
        </p:txBody>
      </p:sp>
      <p:pic>
        <p:nvPicPr>
          <p:cNvPr id="10" name="Google Shape;377;p42">
            <a:extLst>
              <a:ext uri="{FF2B5EF4-FFF2-40B4-BE49-F238E27FC236}">
                <a16:creationId xmlns:a16="http://schemas.microsoft.com/office/drawing/2014/main" id="{9550EE88-5B02-A249-9133-08A66447980F}"/>
              </a:ext>
            </a:extLst>
          </p:cNvPr>
          <p:cNvPicPr preferRelativeResize="0"/>
          <p:nvPr/>
        </p:nvPicPr>
        <p:blipFill rotWithShape="1">
          <a:blip r:embed="rId2">
            <a:alphaModFix/>
          </a:blip>
          <a:srcRect/>
          <a:stretch/>
        </p:blipFill>
        <p:spPr>
          <a:xfrm>
            <a:off x="6834101" y="2803364"/>
            <a:ext cx="3915567" cy="2973800"/>
          </a:xfrm>
          <a:prstGeom prst="rect">
            <a:avLst/>
          </a:prstGeom>
          <a:noFill/>
          <a:ln>
            <a:noFill/>
          </a:ln>
        </p:spPr>
      </p:pic>
      <p:sp>
        <p:nvSpPr>
          <p:cNvPr id="5" name="TextBox 4">
            <a:extLst>
              <a:ext uri="{FF2B5EF4-FFF2-40B4-BE49-F238E27FC236}">
                <a16:creationId xmlns:a16="http://schemas.microsoft.com/office/drawing/2014/main" id="{CA166086-7CEA-CC48-B3B7-AA39F1529D57}"/>
              </a:ext>
            </a:extLst>
          </p:cNvPr>
          <p:cNvSpPr txBox="1"/>
          <p:nvPr/>
        </p:nvSpPr>
        <p:spPr>
          <a:xfrm>
            <a:off x="1320472" y="5777164"/>
            <a:ext cx="9226203" cy="954107"/>
          </a:xfrm>
          <a:prstGeom prst="rect">
            <a:avLst/>
          </a:prstGeom>
          <a:solidFill>
            <a:srgbClr val="FFFF00"/>
          </a:solidFill>
          <a:effectLst>
            <a:outerShdw blurRad="50800" dist="88900" dir="2700000" algn="tl" rotWithShape="0">
              <a:prstClr val="black">
                <a:alpha val="40000"/>
              </a:prstClr>
            </a:outerShdw>
          </a:effectLst>
        </p:spPr>
        <p:txBody>
          <a:bodyPr wrap="square" rtlCol="0">
            <a:spAutoFit/>
          </a:bodyPr>
          <a:lstStyle/>
          <a:p>
            <a:pPr algn="l"/>
            <a:r>
              <a:rPr lang="en-GB" sz="2800" dirty="0">
                <a:latin typeface="Helvetica Neue" panose="02000503000000020004" pitchFamily="2" charset="0"/>
                <a:ea typeface="Helvetica Neue" panose="02000503000000020004" pitchFamily="2" charset="0"/>
                <a:cs typeface="Helvetica Neue" panose="02000503000000020004" pitchFamily="2" charset="0"/>
              </a:rPr>
              <a:t>Whenever the browser's rendering encounters the script tag, &lt;script&gt;, it automatically executes it. </a:t>
            </a:r>
          </a:p>
        </p:txBody>
      </p:sp>
    </p:spTree>
    <p:extLst>
      <p:ext uri="{BB962C8B-B14F-4D97-AF65-F5344CB8AC3E}">
        <p14:creationId xmlns:p14="http://schemas.microsoft.com/office/powerpoint/2010/main" val="3683062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3024-4020-1C46-BD92-67763B1354A8}"/>
              </a:ext>
            </a:extLst>
          </p:cNvPr>
          <p:cNvSpPr>
            <a:spLocks noGrp="1"/>
          </p:cNvSpPr>
          <p:nvPr>
            <p:ph type="title"/>
          </p:nvPr>
        </p:nvSpPr>
        <p:spPr/>
        <p:txBody>
          <a:bodyPr/>
          <a:lstStyle/>
          <a:p>
            <a:r>
              <a:rPr lang="en-GB" dirty="0"/>
              <a:t>Cross-Site Scripting (XSS)</a:t>
            </a:r>
          </a:p>
        </p:txBody>
      </p:sp>
      <p:sp>
        <p:nvSpPr>
          <p:cNvPr id="3" name="Content Placeholder 2">
            <a:extLst>
              <a:ext uri="{FF2B5EF4-FFF2-40B4-BE49-F238E27FC236}">
                <a16:creationId xmlns:a16="http://schemas.microsoft.com/office/drawing/2014/main" id="{F68D0B17-3C24-1C43-8210-0E038F55FA7F}"/>
              </a:ext>
            </a:extLst>
          </p:cNvPr>
          <p:cNvSpPr>
            <a:spLocks noGrp="1"/>
          </p:cNvSpPr>
          <p:nvPr>
            <p:ph idx="1"/>
          </p:nvPr>
        </p:nvSpPr>
        <p:spPr>
          <a:xfrm>
            <a:off x="513349" y="1268243"/>
            <a:ext cx="10840451" cy="3881273"/>
          </a:xfrm>
        </p:spPr>
        <p:txBody>
          <a:bodyPr>
            <a:normAutofit lnSpcReduction="10000"/>
          </a:bodyPr>
          <a:lstStyle/>
          <a:p>
            <a:r>
              <a:rPr lang="en-GB" dirty="0"/>
              <a:t>XSS attacks run a script in the browser that was not written by the web application owner. </a:t>
            </a:r>
          </a:p>
          <a:p>
            <a:pPr lvl="1"/>
            <a:r>
              <a:rPr lang="en-GB" dirty="0"/>
              <a:t>The vulnerability is some of the most common vulnerabilities in the Internet.</a:t>
            </a:r>
          </a:p>
          <a:p>
            <a:pPr lvl="1"/>
            <a:r>
              <a:rPr lang="en-GB" dirty="0"/>
              <a:t>It is a special form of code injection!</a:t>
            </a:r>
          </a:p>
          <a:p>
            <a:pPr lvl="1"/>
            <a:endParaRPr lang="en-GB" dirty="0"/>
          </a:p>
          <a:p>
            <a:r>
              <a:rPr lang="en-GB" dirty="0"/>
              <a:t>In general, XSS can be classified into</a:t>
            </a:r>
          </a:p>
          <a:p>
            <a:pPr lvl="1"/>
            <a:r>
              <a:rPr lang="en-GB" dirty="0">
                <a:solidFill>
                  <a:srgbClr val="002060"/>
                </a:solidFill>
              </a:rPr>
              <a:t>Reflected XSS (Type-I)</a:t>
            </a:r>
          </a:p>
          <a:p>
            <a:pPr lvl="1"/>
            <a:r>
              <a:rPr lang="en-GB" dirty="0">
                <a:solidFill>
                  <a:srgbClr val="002060"/>
                </a:solidFill>
              </a:rPr>
              <a:t>Stored XSS (Type-II)</a:t>
            </a:r>
            <a:endParaRPr lang="en-GB" dirty="0"/>
          </a:p>
          <a:p>
            <a:pPr lvl="1"/>
            <a:r>
              <a:rPr lang="en-GB" dirty="0">
                <a:solidFill>
                  <a:srgbClr val="002060"/>
                </a:solidFill>
              </a:rPr>
              <a:t>DOM-based XSS (Type-0)</a:t>
            </a:r>
            <a:endParaRPr lang="en-GB" dirty="0"/>
          </a:p>
        </p:txBody>
      </p:sp>
      <p:sp>
        <p:nvSpPr>
          <p:cNvPr id="6" name="TextBox 5">
            <a:extLst>
              <a:ext uri="{FF2B5EF4-FFF2-40B4-BE49-F238E27FC236}">
                <a16:creationId xmlns:a16="http://schemas.microsoft.com/office/drawing/2014/main" id="{3BA047A3-50D1-314F-A2B4-2B6CFB2C6152}"/>
              </a:ext>
            </a:extLst>
          </p:cNvPr>
          <p:cNvSpPr txBox="1"/>
          <p:nvPr/>
        </p:nvSpPr>
        <p:spPr>
          <a:xfrm>
            <a:off x="3721446" y="6371936"/>
            <a:ext cx="5925788" cy="369332"/>
          </a:xfrm>
          <a:prstGeom prst="rect">
            <a:avLst/>
          </a:prstGeom>
          <a:noFill/>
        </p:spPr>
        <p:txBody>
          <a:bodyPr wrap="none" rtlCol="0">
            <a:spAutoFit/>
          </a:bodyPr>
          <a:lstStyle/>
          <a:p>
            <a:pPr algn="ctr"/>
            <a:r>
              <a:rPr lang="en-SG" dirty="0"/>
              <a:t>OWSAP: Cross Site Scripting Prevention Cheat Sheet at </a:t>
            </a:r>
            <a:r>
              <a:rPr lang="en-SG" dirty="0">
                <a:hlinkClick r:id="rId2"/>
              </a:rPr>
              <a:t>here</a:t>
            </a:r>
            <a:r>
              <a:rPr lang="en-SG" dirty="0"/>
              <a:t>.</a:t>
            </a:r>
          </a:p>
        </p:txBody>
      </p:sp>
    </p:spTree>
    <p:extLst>
      <p:ext uri="{BB962C8B-B14F-4D97-AF65-F5344CB8AC3E}">
        <p14:creationId xmlns:p14="http://schemas.microsoft.com/office/powerpoint/2010/main" val="24209852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A21D2-4CEC-1E40-B908-CD1FF45407B3}"/>
              </a:ext>
            </a:extLst>
          </p:cNvPr>
          <p:cNvSpPr>
            <a:spLocks noGrp="1"/>
          </p:cNvSpPr>
          <p:nvPr>
            <p:ph type="title"/>
          </p:nvPr>
        </p:nvSpPr>
        <p:spPr/>
        <p:txBody>
          <a:bodyPr/>
          <a:lstStyle/>
          <a:p>
            <a:r>
              <a:rPr lang="en-GB" dirty="0"/>
              <a:t>Stored XSS</a:t>
            </a:r>
          </a:p>
        </p:txBody>
      </p:sp>
      <p:sp>
        <p:nvSpPr>
          <p:cNvPr id="10" name="Text Placeholder 9">
            <a:extLst>
              <a:ext uri="{FF2B5EF4-FFF2-40B4-BE49-F238E27FC236}">
                <a16:creationId xmlns:a16="http://schemas.microsoft.com/office/drawing/2014/main" id="{F9E88392-6387-9242-B50F-DFB633FABCE1}"/>
              </a:ext>
            </a:extLst>
          </p:cNvPr>
          <p:cNvSpPr>
            <a:spLocks noGrp="1"/>
          </p:cNvSpPr>
          <p:nvPr>
            <p:ph type="body" idx="11"/>
          </p:nvPr>
        </p:nvSpPr>
        <p:spPr/>
        <p:txBody>
          <a:bodyPr>
            <a:normAutofit/>
          </a:bodyPr>
          <a:lstStyle/>
          <a:p>
            <a:r>
              <a:rPr lang="en-US" sz="1200" dirty="0"/>
              <a:t>https://</a:t>
            </a:r>
            <a:r>
              <a:rPr lang="en-US" sz="1200" dirty="0" err="1"/>
              <a:t>owasp.org</a:t>
            </a:r>
            <a:r>
              <a:rPr lang="en-US" sz="1200" dirty="0"/>
              <a:t>/www-community/</a:t>
            </a:r>
            <a:r>
              <a:rPr lang="en-US" sz="1200" dirty="0" err="1"/>
              <a:t>Types_of_Cross-Site_Scripting</a:t>
            </a:r>
            <a:endParaRPr lang="en-US" sz="1200" dirty="0"/>
          </a:p>
        </p:txBody>
      </p:sp>
      <p:sp>
        <p:nvSpPr>
          <p:cNvPr id="3" name="Content Placeholder 2">
            <a:extLst>
              <a:ext uri="{FF2B5EF4-FFF2-40B4-BE49-F238E27FC236}">
                <a16:creationId xmlns:a16="http://schemas.microsoft.com/office/drawing/2014/main" id="{2226DD2F-ED48-1945-86C4-CD24B396F4A1}"/>
              </a:ext>
            </a:extLst>
          </p:cNvPr>
          <p:cNvSpPr>
            <a:spLocks noGrp="1"/>
          </p:cNvSpPr>
          <p:nvPr>
            <p:ph idx="1"/>
          </p:nvPr>
        </p:nvSpPr>
        <p:spPr>
          <a:xfrm>
            <a:off x="513349" y="1268243"/>
            <a:ext cx="6758308" cy="4723318"/>
          </a:xfrm>
        </p:spPr>
        <p:txBody>
          <a:bodyPr>
            <a:normAutofit fontScale="92500"/>
          </a:bodyPr>
          <a:lstStyle/>
          <a:p>
            <a:r>
              <a:rPr lang="en-GB" dirty="0"/>
              <a:t>A.k.a. </a:t>
            </a:r>
            <a:r>
              <a:rPr lang="en-GB" b="1" dirty="0"/>
              <a:t>persistent XSS</a:t>
            </a:r>
            <a:r>
              <a:rPr lang="en-GB" dirty="0"/>
              <a:t>. It</a:t>
            </a:r>
            <a:r>
              <a:rPr lang="en-SG" dirty="0"/>
              <a:t> generally occurs when user input is stored on the target server, such as in a database, in a message forum, visitor log, comment field, etc. And then a victim is able to retrieve the stored data from the web application without that data being made safe to render in the browser.</a:t>
            </a:r>
            <a:endParaRPr lang="en-GB" dirty="0"/>
          </a:p>
          <a:p>
            <a:r>
              <a:rPr lang="en-GB" dirty="0"/>
              <a:t>The form submitted by the attacker has the &lt;script&gt; tag. The form is interpreted as text, and is deposited to the database </a:t>
            </a:r>
          </a:p>
          <a:p>
            <a:r>
              <a:rPr lang="en-GB" dirty="0"/>
              <a:t>However, the the victim user views the data retrieved from the database. Her browser treats the tagged text as JavaScript code and executes it.</a:t>
            </a:r>
          </a:p>
        </p:txBody>
      </p:sp>
      <p:pic>
        <p:nvPicPr>
          <p:cNvPr id="6" name="Picture 5" descr="Diagram&#10;&#10;Description automatically generated">
            <a:extLst>
              <a:ext uri="{FF2B5EF4-FFF2-40B4-BE49-F238E27FC236}">
                <a16:creationId xmlns:a16="http://schemas.microsoft.com/office/drawing/2014/main" id="{0AC4FE12-A2AC-5646-7FA4-C9084C906E8A}"/>
              </a:ext>
            </a:extLst>
          </p:cNvPr>
          <p:cNvPicPr>
            <a:picLocks noChangeAspect="1"/>
          </p:cNvPicPr>
          <p:nvPr/>
        </p:nvPicPr>
        <p:blipFill>
          <a:blip r:embed="rId2"/>
          <a:stretch>
            <a:fillRect/>
          </a:stretch>
        </p:blipFill>
        <p:spPr>
          <a:xfrm>
            <a:off x="7507051" y="802246"/>
            <a:ext cx="4638547" cy="5367303"/>
          </a:xfrm>
          <a:prstGeom prst="rect">
            <a:avLst/>
          </a:prstGeom>
        </p:spPr>
      </p:pic>
    </p:spTree>
    <p:extLst>
      <p:ext uri="{BB962C8B-B14F-4D97-AF65-F5344CB8AC3E}">
        <p14:creationId xmlns:p14="http://schemas.microsoft.com/office/powerpoint/2010/main" val="1207437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63827-5A46-584B-B356-43724A96A8DA}"/>
              </a:ext>
            </a:extLst>
          </p:cNvPr>
          <p:cNvSpPr>
            <a:spLocks noGrp="1"/>
          </p:cNvSpPr>
          <p:nvPr>
            <p:ph type="title" idx="4294967295"/>
          </p:nvPr>
        </p:nvSpPr>
        <p:spPr>
          <a:xfrm>
            <a:off x="709862" y="311150"/>
            <a:ext cx="10131175" cy="584200"/>
          </a:xfrm>
        </p:spPr>
        <p:txBody>
          <a:bodyPr>
            <a:normAutofit/>
          </a:bodyPr>
          <a:lstStyle/>
          <a:p>
            <a:r>
              <a:rPr lang="en-GB" dirty="0"/>
              <a:t>Example: Malicious Customer Feedback</a:t>
            </a:r>
          </a:p>
        </p:txBody>
      </p:sp>
      <p:sp>
        <p:nvSpPr>
          <p:cNvPr id="6" name="TextBox 5">
            <a:extLst>
              <a:ext uri="{FF2B5EF4-FFF2-40B4-BE49-F238E27FC236}">
                <a16:creationId xmlns:a16="http://schemas.microsoft.com/office/drawing/2014/main" id="{68B8BA52-D16C-2B4C-A179-F87064E94D14}"/>
              </a:ext>
            </a:extLst>
          </p:cNvPr>
          <p:cNvSpPr txBox="1"/>
          <p:nvPr/>
        </p:nvSpPr>
        <p:spPr>
          <a:xfrm>
            <a:off x="150642" y="1246152"/>
            <a:ext cx="11981198" cy="4247317"/>
          </a:xfrm>
          <a:prstGeom prst="rect">
            <a:avLst/>
          </a:prstGeom>
          <a:solidFill>
            <a:schemeClr val="bg1"/>
          </a:solidFill>
          <a:ln w="25400">
            <a:solidFill>
              <a:srgbClr val="92D050"/>
            </a:solidFill>
          </a:ln>
        </p:spPr>
        <p:txBody>
          <a:bodyPr wrap="square" rtlCol="0">
            <a:spAutoFit/>
          </a:bodyPr>
          <a:lstStyle/>
          <a:p>
            <a:r>
              <a:rPr lang="en-SG" dirty="0">
                <a:latin typeface="Arial Nova" panose="020B0504020202020204" pitchFamily="34" charset="0"/>
              </a:rPr>
              <a:t>I am not happy with the service provided by your bank.</a:t>
            </a:r>
            <a:br>
              <a:rPr lang="en-SG" dirty="0">
                <a:latin typeface="Arial Nova" panose="020B0504020202020204" pitchFamily="34" charset="0"/>
              </a:rPr>
            </a:br>
            <a:r>
              <a:rPr lang="en-SG" dirty="0">
                <a:latin typeface="Arial Nova" panose="020B0504020202020204" pitchFamily="34" charset="0"/>
              </a:rPr>
              <a:t>I have waited 12 hours for my deposit to show up in the web application. Please improve your web application.</a:t>
            </a:r>
            <a:br>
              <a:rPr lang="en-SG" dirty="0">
                <a:latin typeface="Arial Nova" panose="020B0504020202020204" pitchFamily="34" charset="0"/>
              </a:rPr>
            </a:br>
            <a:r>
              <a:rPr lang="en-SG" dirty="0">
                <a:latin typeface="Arial Nova" panose="020B0504020202020204" pitchFamily="34" charset="0"/>
              </a:rPr>
              <a:t>Other banks will show deposits instantly. </a:t>
            </a:r>
            <a:endParaRPr lang="en-SG" dirty="0">
              <a:solidFill>
                <a:srgbClr val="FF0000"/>
              </a:solidFill>
              <a:latin typeface="Arial Nova" panose="020B0504020202020204" pitchFamily="34" charset="0"/>
            </a:endParaRPr>
          </a:p>
          <a:p>
            <a:r>
              <a:rPr lang="en-SG" b="1" dirty="0">
                <a:solidFill>
                  <a:srgbClr val="FF0000"/>
                </a:solidFill>
                <a:latin typeface="Arial Nova" panose="020B0504020202020204" pitchFamily="34" charset="0"/>
              </a:rPr>
              <a:t>&lt;script&gt;</a:t>
            </a:r>
            <a:r>
              <a:rPr lang="en-SG" b="1" dirty="0">
                <a:latin typeface="Arial Nova" panose="020B0504020202020204" pitchFamily="34" charset="0"/>
              </a:rPr>
              <a:t> </a:t>
            </a:r>
            <a:endParaRPr lang="en-SG" dirty="0">
              <a:latin typeface="Arial Nova" panose="020B0504020202020204" pitchFamily="34" charset="0"/>
            </a:endParaRPr>
          </a:p>
          <a:p>
            <a:r>
              <a:rPr lang="en-SG" i="1" dirty="0">
                <a:latin typeface="Arial Nova" panose="020B0504020202020204" pitchFamily="34" charset="0"/>
              </a:rPr>
              <a:t>    </a:t>
            </a:r>
            <a:r>
              <a:rPr lang="en-SG" i="1" dirty="0">
                <a:solidFill>
                  <a:srgbClr val="0070C0"/>
                </a:solidFill>
                <a:latin typeface="Arial Nova" panose="020B0504020202020204" pitchFamily="34" charset="0"/>
              </a:rPr>
              <a:t>/* Get a list of all customers from the page.*/</a:t>
            </a:r>
            <a:br>
              <a:rPr lang="en-SG" i="1" dirty="0">
                <a:solidFill>
                  <a:srgbClr val="0070C0"/>
                </a:solidFill>
                <a:latin typeface="Arial Nova" panose="020B0504020202020204" pitchFamily="34" charset="0"/>
              </a:rPr>
            </a:br>
            <a:r>
              <a:rPr lang="en-SG" i="1" dirty="0">
                <a:latin typeface="Arial Nova" panose="020B0504020202020204" pitchFamily="34" charset="0"/>
              </a:rPr>
              <a:t>   </a:t>
            </a:r>
            <a:r>
              <a:rPr lang="en-SG" b="1" dirty="0" err="1">
                <a:solidFill>
                  <a:srgbClr val="FF0000"/>
                </a:solidFill>
                <a:latin typeface="Arial Nova" panose="020B0504020202020204" pitchFamily="34" charset="0"/>
              </a:rPr>
              <a:t>const</a:t>
            </a:r>
            <a:r>
              <a:rPr lang="en-SG" b="1" dirty="0">
                <a:solidFill>
                  <a:srgbClr val="FF0000"/>
                </a:solidFill>
                <a:latin typeface="Arial Nova" panose="020B0504020202020204" pitchFamily="34" charset="0"/>
              </a:rPr>
              <a:t> </a:t>
            </a:r>
            <a:r>
              <a:rPr lang="en-SG" dirty="0">
                <a:solidFill>
                  <a:srgbClr val="FF0000"/>
                </a:solidFill>
                <a:latin typeface="Arial Nova" panose="020B0504020202020204" pitchFamily="34" charset="0"/>
              </a:rPr>
              <a:t>customers = </a:t>
            </a:r>
            <a:r>
              <a:rPr lang="en-SG" dirty="0" err="1">
                <a:solidFill>
                  <a:srgbClr val="FF0000"/>
                </a:solidFill>
                <a:latin typeface="Arial Nova" panose="020B0504020202020204" pitchFamily="34" charset="0"/>
              </a:rPr>
              <a:t>document.querySelectorAll</a:t>
            </a:r>
            <a:r>
              <a:rPr lang="en-SG" dirty="0">
                <a:solidFill>
                  <a:srgbClr val="FF0000"/>
                </a:solidFill>
                <a:latin typeface="Arial Nova" panose="020B0504020202020204" pitchFamily="34" charset="0"/>
              </a:rPr>
              <a:t>('.</a:t>
            </a:r>
            <a:r>
              <a:rPr lang="en-SG" dirty="0" err="1">
                <a:solidFill>
                  <a:srgbClr val="FF0000"/>
                </a:solidFill>
                <a:latin typeface="Arial Nova" panose="020B0504020202020204" pitchFamily="34" charset="0"/>
              </a:rPr>
              <a:t>openCases</a:t>
            </a:r>
            <a:r>
              <a:rPr lang="en-SG" dirty="0">
                <a:solidFill>
                  <a:srgbClr val="FF0000"/>
                </a:solidFill>
                <a:latin typeface="Arial Nova" panose="020B0504020202020204" pitchFamily="34" charset="0"/>
              </a:rPr>
              <a:t>'); </a:t>
            </a:r>
            <a:br>
              <a:rPr lang="en-SG" i="1" dirty="0">
                <a:latin typeface="Arial Nova" panose="020B0504020202020204" pitchFamily="34" charset="0"/>
              </a:rPr>
            </a:br>
            <a:r>
              <a:rPr lang="en-SG" i="1" dirty="0">
                <a:latin typeface="Arial Nova" panose="020B0504020202020204" pitchFamily="34" charset="0"/>
              </a:rPr>
              <a:t>   </a:t>
            </a:r>
            <a:r>
              <a:rPr lang="en-SG" i="1" dirty="0">
                <a:solidFill>
                  <a:srgbClr val="0070C0"/>
                </a:solidFill>
                <a:latin typeface="Arial Nova" panose="020B0504020202020204" pitchFamily="34" charset="0"/>
              </a:rPr>
              <a:t>/* Iterate through each DOM element, collect privileged personal identifier information (PII) */</a:t>
            </a:r>
            <a:br>
              <a:rPr lang="en-SG" i="1" dirty="0">
                <a:latin typeface="Arial Nova" panose="020B0504020202020204" pitchFamily="34" charset="0"/>
              </a:rPr>
            </a:br>
            <a:r>
              <a:rPr lang="en-SG" i="1" dirty="0">
                <a:latin typeface="Arial Nova" panose="020B0504020202020204" pitchFamily="34" charset="0"/>
              </a:rPr>
              <a:t>   </a:t>
            </a:r>
            <a:r>
              <a:rPr lang="en-SG" b="1" dirty="0" err="1">
                <a:solidFill>
                  <a:srgbClr val="FF0000"/>
                </a:solidFill>
                <a:latin typeface="Arial Nova" panose="020B0504020202020204" pitchFamily="34" charset="0"/>
              </a:rPr>
              <a:t>const</a:t>
            </a:r>
            <a:r>
              <a:rPr lang="en-SG" b="1" dirty="0">
                <a:solidFill>
                  <a:srgbClr val="FF0000"/>
                </a:solidFill>
                <a:latin typeface="Arial Nova" panose="020B0504020202020204" pitchFamily="34" charset="0"/>
              </a:rPr>
              <a:t> </a:t>
            </a:r>
            <a:r>
              <a:rPr lang="en-SG" dirty="0" err="1">
                <a:solidFill>
                  <a:srgbClr val="FF0000"/>
                </a:solidFill>
                <a:latin typeface="Arial Nova" panose="020B0504020202020204" pitchFamily="34" charset="0"/>
              </a:rPr>
              <a:t>customerData</a:t>
            </a:r>
            <a:r>
              <a:rPr lang="en-SG" dirty="0">
                <a:solidFill>
                  <a:srgbClr val="FF0000"/>
                </a:solidFill>
                <a:latin typeface="Arial Nova" panose="020B0504020202020204" pitchFamily="34" charset="0"/>
              </a:rPr>
              <a:t> = []; </a:t>
            </a:r>
          </a:p>
          <a:p>
            <a:r>
              <a:rPr lang="en-SG" dirty="0">
                <a:solidFill>
                  <a:srgbClr val="FF0000"/>
                </a:solidFill>
                <a:latin typeface="Arial Nova" panose="020B0504020202020204" pitchFamily="34" charset="0"/>
              </a:rPr>
              <a:t>   </a:t>
            </a:r>
            <a:r>
              <a:rPr lang="en-SG" dirty="0" err="1">
                <a:solidFill>
                  <a:srgbClr val="FF0000"/>
                </a:solidFill>
                <a:latin typeface="Arial Nova" panose="020B0504020202020204" pitchFamily="34" charset="0"/>
              </a:rPr>
              <a:t>customers.forEach</a:t>
            </a:r>
            <a:r>
              <a:rPr lang="en-SG" dirty="0">
                <a:solidFill>
                  <a:srgbClr val="FF0000"/>
                </a:solidFill>
                <a:latin typeface="Arial Nova" panose="020B0504020202020204" pitchFamily="34" charset="0"/>
              </a:rPr>
              <a:t>((customer) =&gt; { </a:t>
            </a:r>
            <a:r>
              <a:rPr lang="en-SG" dirty="0" err="1">
                <a:solidFill>
                  <a:srgbClr val="FF0000"/>
                </a:solidFill>
                <a:latin typeface="Arial Nova" panose="020B0504020202020204" pitchFamily="34" charset="0"/>
              </a:rPr>
              <a:t>customerData.push</a:t>
            </a:r>
            <a:r>
              <a:rPr lang="en-SG" dirty="0">
                <a:solidFill>
                  <a:srgbClr val="FF0000"/>
                </a:solidFill>
                <a:latin typeface="Arial Nova" panose="020B0504020202020204" pitchFamily="34" charset="0"/>
              </a:rPr>
              <a:t>(... )}); </a:t>
            </a:r>
          </a:p>
          <a:p>
            <a:r>
              <a:rPr lang="en-SG" i="1" dirty="0">
                <a:latin typeface="Arial Nova" panose="020B0504020202020204" pitchFamily="34" charset="0"/>
              </a:rPr>
              <a:t>   </a:t>
            </a:r>
            <a:r>
              <a:rPr lang="en-SG" i="1" dirty="0">
                <a:solidFill>
                  <a:srgbClr val="0070C0"/>
                </a:solidFill>
                <a:latin typeface="Arial Nova" panose="020B0504020202020204" pitchFamily="34" charset="0"/>
              </a:rPr>
              <a:t>/* Build a new HTTP request, send stolen data to the hacker's own servers.*/</a:t>
            </a:r>
            <a:br>
              <a:rPr lang="en-SG" i="1" dirty="0">
                <a:latin typeface="Arial Nova" panose="020B0504020202020204" pitchFamily="34" charset="0"/>
              </a:rPr>
            </a:br>
            <a:r>
              <a:rPr lang="en-SG" i="1" dirty="0">
                <a:latin typeface="Arial Nova" panose="020B0504020202020204" pitchFamily="34" charset="0"/>
              </a:rPr>
              <a:t>   </a:t>
            </a:r>
            <a:r>
              <a:rPr lang="en-SG" b="1" dirty="0" err="1">
                <a:solidFill>
                  <a:srgbClr val="FF0000"/>
                </a:solidFill>
                <a:latin typeface="Arial Nova" panose="020B0504020202020204" pitchFamily="34" charset="0"/>
              </a:rPr>
              <a:t>const</a:t>
            </a:r>
            <a:r>
              <a:rPr lang="en-SG" b="1" dirty="0">
                <a:solidFill>
                  <a:srgbClr val="FF0000"/>
                </a:solidFill>
                <a:latin typeface="Arial Nova" panose="020B0504020202020204" pitchFamily="34" charset="0"/>
              </a:rPr>
              <a:t> </a:t>
            </a:r>
            <a:r>
              <a:rPr lang="en-SG" dirty="0">
                <a:solidFill>
                  <a:srgbClr val="FF0000"/>
                </a:solidFill>
                <a:latin typeface="Arial Nova" panose="020B0504020202020204" pitchFamily="34" charset="0"/>
              </a:rPr>
              <a:t>http = </a:t>
            </a:r>
            <a:r>
              <a:rPr lang="en-SG" b="1" dirty="0">
                <a:solidFill>
                  <a:srgbClr val="FF0000"/>
                </a:solidFill>
                <a:latin typeface="Arial Nova" panose="020B0504020202020204" pitchFamily="34" charset="0"/>
              </a:rPr>
              <a:t>new </a:t>
            </a:r>
            <a:r>
              <a:rPr lang="en-SG" dirty="0" err="1">
                <a:solidFill>
                  <a:srgbClr val="FF0000"/>
                </a:solidFill>
                <a:latin typeface="Arial Nova" panose="020B0504020202020204" pitchFamily="34" charset="0"/>
              </a:rPr>
              <a:t>XMLHttpRequest</a:t>
            </a:r>
            <a:r>
              <a:rPr lang="en-SG" dirty="0">
                <a:solidFill>
                  <a:srgbClr val="FF0000"/>
                </a:solidFill>
                <a:latin typeface="Arial Nova" panose="020B0504020202020204" pitchFamily="34" charset="0"/>
              </a:rPr>
              <a:t>();</a:t>
            </a:r>
            <a:br>
              <a:rPr lang="en-SG" dirty="0">
                <a:solidFill>
                  <a:srgbClr val="FF0000"/>
                </a:solidFill>
                <a:latin typeface="Arial Nova" panose="020B0504020202020204" pitchFamily="34" charset="0"/>
              </a:rPr>
            </a:br>
            <a:r>
              <a:rPr lang="en-SG" dirty="0">
                <a:solidFill>
                  <a:srgbClr val="FF0000"/>
                </a:solidFill>
                <a:latin typeface="Arial Nova" panose="020B0504020202020204" pitchFamily="34" charset="0"/>
              </a:rPr>
              <a:t>   </a:t>
            </a:r>
            <a:r>
              <a:rPr lang="en-SG" dirty="0" err="1">
                <a:solidFill>
                  <a:srgbClr val="FF0000"/>
                </a:solidFill>
                <a:latin typeface="Arial Nova" panose="020B0504020202020204" pitchFamily="34" charset="0"/>
              </a:rPr>
              <a:t>http.open</a:t>
            </a:r>
            <a:r>
              <a:rPr lang="en-SG" dirty="0">
                <a:solidFill>
                  <a:srgbClr val="FF0000"/>
                </a:solidFill>
                <a:latin typeface="Arial Nova" panose="020B0504020202020204" pitchFamily="34" charset="0"/>
              </a:rPr>
              <a:t>('POST', 'https://steal-your-</a:t>
            </a:r>
            <a:r>
              <a:rPr lang="en-SG" dirty="0" err="1">
                <a:solidFill>
                  <a:srgbClr val="FF0000"/>
                </a:solidFill>
                <a:latin typeface="Arial Nova" panose="020B0504020202020204" pitchFamily="34" charset="0"/>
              </a:rPr>
              <a:t>data.com</a:t>
            </a:r>
            <a:r>
              <a:rPr lang="en-SG" dirty="0">
                <a:solidFill>
                  <a:srgbClr val="FF0000"/>
                </a:solidFill>
                <a:latin typeface="Arial Nova" panose="020B0504020202020204" pitchFamily="34" charset="0"/>
              </a:rPr>
              <a:t>/data', </a:t>
            </a:r>
            <a:r>
              <a:rPr lang="en-SG" b="1" dirty="0">
                <a:solidFill>
                  <a:srgbClr val="FF0000"/>
                </a:solidFill>
                <a:latin typeface="Arial Nova" panose="020B0504020202020204" pitchFamily="34" charset="0"/>
              </a:rPr>
              <a:t>true</a:t>
            </a:r>
            <a:r>
              <a:rPr lang="en-SG" dirty="0">
                <a:solidFill>
                  <a:srgbClr val="FF0000"/>
                </a:solidFill>
                <a:latin typeface="Arial Nova" panose="020B0504020202020204" pitchFamily="34" charset="0"/>
              </a:rPr>
              <a:t>);</a:t>
            </a:r>
            <a:r>
              <a:rPr lang="en-SG" dirty="0" err="1">
                <a:solidFill>
                  <a:srgbClr val="FF0000"/>
                </a:solidFill>
                <a:latin typeface="Arial Nova" panose="020B0504020202020204" pitchFamily="34" charset="0"/>
              </a:rPr>
              <a:t>http.setRequestHeader</a:t>
            </a:r>
            <a:r>
              <a:rPr lang="en-SG" dirty="0">
                <a:solidFill>
                  <a:srgbClr val="FF0000"/>
                </a:solidFill>
                <a:latin typeface="Arial Nova" panose="020B0504020202020204" pitchFamily="34" charset="0"/>
              </a:rPr>
              <a:t> ('</a:t>
            </a:r>
            <a:r>
              <a:rPr lang="en-SG" dirty="0" err="1">
                <a:solidFill>
                  <a:srgbClr val="FF0000"/>
                </a:solidFill>
                <a:latin typeface="Arial Nova" panose="020B0504020202020204" pitchFamily="34" charset="0"/>
              </a:rPr>
              <a:t>Contenttype</a:t>
            </a:r>
            <a:r>
              <a:rPr lang="en-SG" dirty="0">
                <a:solidFill>
                  <a:srgbClr val="FF0000"/>
                </a:solidFill>
                <a:latin typeface="Arial Nova" panose="020B0504020202020204" pitchFamily="34" charset="0"/>
              </a:rPr>
              <a:t>’, 'application/</a:t>
            </a:r>
            <a:r>
              <a:rPr lang="en-SG" dirty="0" err="1">
                <a:solidFill>
                  <a:srgbClr val="FF0000"/>
                </a:solidFill>
                <a:latin typeface="Arial Nova" panose="020B0504020202020204" pitchFamily="34" charset="0"/>
              </a:rPr>
              <a:t>json</a:t>
            </a:r>
            <a:r>
              <a:rPr lang="en-SG" dirty="0">
                <a:solidFill>
                  <a:srgbClr val="FF0000"/>
                </a:solidFill>
                <a:latin typeface="Arial Nova" panose="020B0504020202020204" pitchFamily="34" charset="0"/>
              </a:rPr>
              <a:t>'); </a:t>
            </a:r>
            <a:r>
              <a:rPr lang="en-SG" dirty="0" err="1">
                <a:solidFill>
                  <a:srgbClr val="FF0000"/>
                </a:solidFill>
                <a:latin typeface="Arial Nova" panose="020B0504020202020204" pitchFamily="34" charset="0"/>
              </a:rPr>
              <a:t>http.send</a:t>
            </a:r>
            <a:r>
              <a:rPr lang="en-SG" dirty="0">
                <a:solidFill>
                  <a:srgbClr val="FF0000"/>
                </a:solidFill>
                <a:latin typeface="Arial Nova" panose="020B0504020202020204" pitchFamily="34" charset="0"/>
              </a:rPr>
              <a:t>(</a:t>
            </a:r>
            <a:r>
              <a:rPr lang="en-SG" dirty="0" err="1">
                <a:solidFill>
                  <a:srgbClr val="FF0000"/>
                </a:solidFill>
                <a:latin typeface="Arial Nova" panose="020B0504020202020204" pitchFamily="34" charset="0"/>
              </a:rPr>
              <a:t>JSON.stringify</a:t>
            </a:r>
            <a:r>
              <a:rPr lang="en-SG" dirty="0">
                <a:solidFill>
                  <a:srgbClr val="FF0000"/>
                </a:solidFill>
                <a:latin typeface="Arial Nova" panose="020B0504020202020204" pitchFamily="34" charset="0"/>
              </a:rPr>
              <a:t>(</a:t>
            </a:r>
            <a:r>
              <a:rPr lang="en-SG" dirty="0" err="1">
                <a:solidFill>
                  <a:srgbClr val="FF0000"/>
                </a:solidFill>
                <a:latin typeface="Arial Nova" panose="020B0504020202020204" pitchFamily="34" charset="0"/>
              </a:rPr>
              <a:t>customerData</a:t>
            </a:r>
            <a:r>
              <a:rPr lang="en-SG" dirty="0">
                <a:solidFill>
                  <a:srgbClr val="FF0000"/>
                </a:solidFill>
                <a:latin typeface="Arial Nova" panose="020B0504020202020204" pitchFamily="34" charset="0"/>
              </a:rPr>
              <a:t>);</a:t>
            </a:r>
            <a:r>
              <a:rPr lang="en-SG" dirty="0">
                <a:latin typeface="Arial Nova" panose="020B0504020202020204" pitchFamily="34" charset="0"/>
              </a:rPr>
              <a:t> </a:t>
            </a:r>
          </a:p>
          <a:p>
            <a:r>
              <a:rPr lang="en-SG" b="1" dirty="0">
                <a:solidFill>
                  <a:srgbClr val="FF0000"/>
                </a:solidFill>
                <a:latin typeface="Arial Nova" panose="020B0504020202020204" pitchFamily="34" charset="0"/>
              </a:rPr>
              <a:t>&lt;/script&gt;</a:t>
            </a:r>
          </a:p>
          <a:p>
            <a:r>
              <a:rPr lang="en-SG" dirty="0">
                <a:latin typeface="Arial Nova" panose="020B0504020202020204" pitchFamily="34" charset="0"/>
              </a:rPr>
              <a:t>—Unhappy Customer of Megabank</a:t>
            </a:r>
          </a:p>
        </p:txBody>
      </p:sp>
      <p:sp>
        <p:nvSpPr>
          <p:cNvPr id="8" name="TextBox 7">
            <a:extLst>
              <a:ext uri="{FF2B5EF4-FFF2-40B4-BE49-F238E27FC236}">
                <a16:creationId xmlns:a16="http://schemas.microsoft.com/office/drawing/2014/main" id="{7C4D7267-0386-CE4E-8C23-B6FC8840BC70}"/>
              </a:ext>
            </a:extLst>
          </p:cNvPr>
          <p:cNvSpPr txBox="1"/>
          <p:nvPr/>
        </p:nvSpPr>
        <p:spPr>
          <a:xfrm>
            <a:off x="2284944" y="5756230"/>
            <a:ext cx="6169959" cy="369332"/>
          </a:xfrm>
          <a:prstGeom prst="rect">
            <a:avLst/>
          </a:prstGeom>
          <a:solidFill>
            <a:schemeClr val="bg1"/>
          </a:solidFill>
        </p:spPr>
        <p:txBody>
          <a:bodyPr wrap="none" rtlCol="0">
            <a:spAutoFit/>
          </a:bodyPr>
          <a:lstStyle/>
          <a:p>
            <a:pPr algn="l"/>
            <a:r>
              <a:rPr lang="en-GB" dirty="0">
                <a:latin typeface="Arial Nova" panose="020B0504020202020204" pitchFamily="34" charset="0"/>
              </a:rPr>
              <a:t>CS440: No requirement for JavaScript code understanding</a:t>
            </a:r>
          </a:p>
        </p:txBody>
      </p:sp>
    </p:spTree>
    <p:extLst>
      <p:ext uri="{BB962C8B-B14F-4D97-AF65-F5344CB8AC3E}">
        <p14:creationId xmlns:p14="http://schemas.microsoft.com/office/powerpoint/2010/main" val="3020021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53E7F-614C-7F45-839D-E9AA37C14FCA}"/>
              </a:ext>
            </a:extLst>
          </p:cNvPr>
          <p:cNvSpPr>
            <a:spLocks noGrp="1"/>
          </p:cNvSpPr>
          <p:nvPr>
            <p:ph type="title" idx="4294967295"/>
          </p:nvPr>
        </p:nvSpPr>
        <p:spPr>
          <a:xfrm>
            <a:off x="1191126" y="30163"/>
            <a:ext cx="9649912" cy="1325562"/>
          </a:xfrm>
        </p:spPr>
        <p:txBody>
          <a:bodyPr/>
          <a:lstStyle/>
          <a:p>
            <a:r>
              <a:rPr lang="en-GB" dirty="0"/>
              <a:t>As a Result: </a:t>
            </a:r>
          </a:p>
        </p:txBody>
      </p:sp>
      <p:sp>
        <p:nvSpPr>
          <p:cNvPr id="5" name="TextBox 4">
            <a:extLst>
              <a:ext uri="{FF2B5EF4-FFF2-40B4-BE49-F238E27FC236}">
                <a16:creationId xmlns:a16="http://schemas.microsoft.com/office/drawing/2014/main" id="{C6EA33E9-6E08-B048-9160-EF279BA04E09}"/>
              </a:ext>
            </a:extLst>
          </p:cNvPr>
          <p:cNvSpPr txBox="1"/>
          <p:nvPr/>
        </p:nvSpPr>
        <p:spPr>
          <a:xfrm>
            <a:off x="5496018" y="1531474"/>
            <a:ext cx="6452096" cy="1631216"/>
          </a:xfrm>
          <a:prstGeom prst="rect">
            <a:avLst/>
          </a:prstGeom>
          <a:noFill/>
          <a:ln w="25400">
            <a:solidFill>
              <a:srgbClr val="92D050"/>
            </a:solidFill>
          </a:ln>
        </p:spPr>
        <p:txBody>
          <a:bodyPr wrap="square" rtlCol="0">
            <a:spAutoFit/>
          </a:bodyPr>
          <a:lstStyle/>
          <a:p>
            <a:r>
              <a:rPr lang="en-SG" sz="2000" dirty="0">
                <a:latin typeface="Arial Nova" panose="020B0504020202020204" pitchFamily="34" charset="0"/>
              </a:rPr>
              <a:t>I am not happy with the service provided by your bank.</a:t>
            </a:r>
            <a:br>
              <a:rPr lang="en-SG" sz="2000" dirty="0">
                <a:latin typeface="Arial Nova" panose="020B0504020202020204" pitchFamily="34" charset="0"/>
              </a:rPr>
            </a:br>
            <a:r>
              <a:rPr lang="en-SG" sz="2000" dirty="0">
                <a:latin typeface="Arial Nova" panose="020B0504020202020204" pitchFamily="34" charset="0"/>
              </a:rPr>
              <a:t>I have waited 12 hours for my deposit to show up in the web application. Please improve your web application.</a:t>
            </a:r>
            <a:br>
              <a:rPr lang="en-SG" sz="2000" dirty="0">
                <a:latin typeface="Arial Nova" panose="020B0504020202020204" pitchFamily="34" charset="0"/>
              </a:rPr>
            </a:br>
            <a:r>
              <a:rPr lang="en-SG" sz="2000" dirty="0">
                <a:latin typeface="Arial Nova" panose="020B0504020202020204" pitchFamily="34" charset="0"/>
              </a:rPr>
              <a:t>Other banks will show deposits instantly. </a:t>
            </a:r>
          </a:p>
          <a:p>
            <a:r>
              <a:rPr lang="en-SG" sz="2000" dirty="0">
                <a:latin typeface="Arial Nova" panose="020B0504020202020204" pitchFamily="34" charset="0"/>
              </a:rPr>
              <a:t>—Unhappy Customer</a:t>
            </a:r>
          </a:p>
        </p:txBody>
      </p:sp>
      <p:sp>
        <p:nvSpPr>
          <p:cNvPr id="6" name="TextBox 5">
            <a:extLst>
              <a:ext uri="{FF2B5EF4-FFF2-40B4-BE49-F238E27FC236}">
                <a16:creationId xmlns:a16="http://schemas.microsoft.com/office/drawing/2014/main" id="{51498659-8DE4-414F-A639-E65AAC9D58A7}"/>
              </a:ext>
            </a:extLst>
          </p:cNvPr>
          <p:cNvSpPr txBox="1"/>
          <p:nvPr/>
        </p:nvSpPr>
        <p:spPr>
          <a:xfrm>
            <a:off x="335361" y="1412776"/>
            <a:ext cx="4824536" cy="1015663"/>
          </a:xfrm>
          <a:prstGeom prst="rect">
            <a:avLst/>
          </a:prstGeom>
          <a:noFill/>
        </p:spPr>
        <p:txBody>
          <a:bodyPr wrap="square" rtlCol="0">
            <a:spAutoFit/>
          </a:bodyPr>
          <a:lstStyle/>
          <a:p>
            <a:pPr algn="l"/>
            <a:r>
              <a:rPr lang="en-GB" sz="2000" dirty="0">
                <a:latin typeface="Arial Nova" panose="020B0504020202020204" pitchFamily="34" charset="0"/>
              </a:rPr>
              <a:t>When the bank’s customer service representative views the feedback, she sees a common complain.</a:t>
            </a:r>
          </a:p>
        </p:txBody>
      </p:sp>
      <p:sp>
        <p:nvSpPr>
          <p:cNvPr id="10" name="TextBox 9">
            <a:extLst>
              <a:ext uri="{FF2B5EF4-FFF2-40B4-BE49-F238E27FC236}">
                <a16:creationId xmlns:a16="http://schemas.microsoft.com/office/drawing/2014/main" id="{504E682F-DD38-2446-BAF3-39D34DF99AF2}"/>
              </a:ext>
            </a:extLst>
          </p:cNvPr>
          <p:cNvSpPr txBox="1"/>
          <p:nvPr/>
        </p:nvSpPr>
        <p:spPr>
          <a:xfrm>
            <a:off x="947428" y="3888640"/>
            <a:ext cx="10261140" cy="1938992"/>
          </a:xfrm>
          <a:prstGeom prst="rect">
            <a:avLst/>
          </a:prstGeom>
          <a:noFill/>
        </p:spPr>
        <p:txBody>
          <a:bodyPr wrap="square" rtlCol="0">
            <a:spAutoFit/>
          </a:bodyPr>
          <a:lstStyle/>
          <a:p>
            <a:pPr marL="342900" indent="-342900" algn="just" defTabSz="914400" fontAlgn="base">
              <a:spcBef>
                <a:spcPct val="0"/>
              </a:spcBef>
              <a:spcAft>
                <a:spcPct val="0"/>
              </a:spcAft>
              <a:buFont typeface="Arial" panose="020B0604020202020204" pitchFamily="34" charset="0"/>
              <a:buChar char="•"/>
            </a:pPr>
            <a:r>
              <a:rPr lang="en-SG" sz="2000" b="1" dirty="0">
                <a:solidFill>
                  <a:srgbClr val="000000"/>
                </a:solidFill>
                <a:latin typeface="Arial Nova" panose="020B0504020202020204" pitchFamily="34" charset="0"/>
              </a:rPr>
              <a:t>But,</a:t>
            </a:r>
            <a:r>
              <a:rPr lang="en-SG" sz="2000" dirty="0">
                <a:solidFill>
                  <a:srgbClr val="000000"/>
                </a:solidFill>
                <a:latin typeface="Arial Nova" panose="020B0504020202020204" pitchFamily="34" charset="0"/>
              </a:rPr>
              <a:t> the attacker’s script traverses the DOM using </a:t>
            </a:r>
            <a:r>
              <a:rPr lang="en-SG" sz="2000" b="1" dirty="0" err="1">
                <a:solidFill>
                  <a:srgbClr val="000000"/>
                </a:solidFill>
                <a:latin typeface="Arial Nova" panose="020B0504020202020204" pitchFamily="34" charset="0"/>
              </a:rPr>
              <a:t>document.querySelector</a:t>
            </a:r>
            <a:r>
              <a:rPr lang="en-SG" sz="2000" b="1" dirty="0">
                <a:solidFill>
                  <a:srgbClr val="000000"/>
                </a:solidFill>
                <a:latin typeface="Arial Nova" panose="020B0504020202020204" pitchFamily="34" charset="0"/>
              </a:rPr>
              <a:t>() </a:t>
            </a:r>
            <a:r>
              <a:rPr lang="en-SG" sz="2000" dirty="0">
                <a:solidFill>
                  <a:srgbClr val="000000"/>
                </a:solidFill>
                <a:latin typeface="Arial Nova" panose="020B0504020202020204" pitchFamily="34" charset="0"/>
              </a:rPr>
              <a:t>and steals privileged data that only she or </a:t>
            </a:r>
            <a:r>
              <a:rPr lang="en-SG" sz="2000" dirty="0" err="1">
                <a:solidFill>
                  <a:srgbClr val="000000"/>
                </a:solidFill>
                <a:latin typeface="Arial Nova" panose="020B0504020202020204" pitchFamily="34" charset="0"/>
              </a:rPr>
              <a:t>MegaBank</a:t>
            </a:r>
            <a:r>
              <a:rPr lang="en-SG" sz="2000" dirty="0">
                <a:solidFill>
                  <a:srgbClr val="000000"/>
                </a:solidFill>
                <a:latin typeface="Arial Nova" panose="020B0504020202020204" pitchFamily="34" charset="0"/>
              </a:rPr>
              <a:t> employee would have access to. The script finds this data in the UI, convert it to a nice JSON for readability and easy storage, and then send it back to his servers for use or sale at a later time. </a:t>
            </a:r>
          </a:p>
          <a:p>
            <a:pPr marL="342900" indent="-342900" algn="just" defTabSz="914400" fontAlgn="base">
              <a:spcBef>
                <a:spcPct val="0"/>
              </a:spcBef>
              <a:spcAft>
                <a:spcPct val="0"/>
              </a:spcAft>
              <a:buFont typeface="Arial" panose="020B0604020202020204" pitchFamily="34" charset="0"/>
              <a:buChar char="•"/>
            </a:pPr>
            <a:endParaRPr lang="en-SG" sz="2000" dirty="0">
              <a:solidFill>
                <a:srgbClr val="000000"/>
              </a:solidFill>
              <a:latin typeface="Arial Nova" panose="020B0504020202020204" pitchFamily="34" charset="0"/>
              <a:sym typeface="Wingdings" pitchFamily="2" charset="2"/>
            </a:endParaRPr>
          </a:p>
          <a:p>
            <a:pPr marL="342900" indent="-342900" algn="just" defTabSz="914400" fontAlgn="base">
              <a:spcBef>
                <a:spcPct val="0"/>
              </a:spcBef>
              <a:spcAft>
                <a:spcPct val="0"/>
              </a:spcAft>
              <a:buFont typeface="Arial" panose="020B0604020202020204" pitchFamily="34" charset="0"/>
              <a:buChar char="•"/>
            </a:pPr>
            <a:r>
              <a:rPr lang="en-SG" sz="2000" dirty="0">
                <a:solidFill>
                  <a:srgbClr val="000000"/>
                </a:solidFill>
                <a:latin typeface="Arial Nova" panose="020B0504020202020204" pitchFamily="34" charset="0"/>
                <a:sym typeface="Wingdings" pitchFamily="2" charset="2"/>
              </a:rPr>
              <a:t>It can do anything permitted by the representative’s browser. </a:t>
            </a:r>
            <a:endParaRPr lang="en-SG" sz="2000" dirty="0">
              <a:solidFill>
                <a:srgbClr val="000000"/>
              </a:solidFill>
              <a:latin typeface="Arial Nova" panose="020B0504020202020204" pitchFamily="34" charset="0"/>
            </a:endParaRPr>
          </a:p>
        </p:txBody>
      </p:sp>
    </p:spTree>
    <p:extLst>
      <p:ext uri="{BB962C8B-B14F-4D97-AF65-F5344CB8AC3E}">
        <p14:creationId xmlns:p14="http://schemas.microsoft.com/office/powerpoint/2010/main" val="3831120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8D404-4F99-7043-8306-984D2BF2080E}"/>
              </a:ext>
            </a:extLst>
          </p:cNvPr>
          <p:cNvSpPr>
            <a:spLocks noGrp="1"/>
          </p:cNvSpPr>
          <p:nvPr>
            <p:ph type="title"/>
          </p:nvPr>
        </p:nvSpPr>
        <p:spPr/>
        <p:txBody>
          <a:bodyPr/>
          <a:lstStyle/>
          <a:p>
            <a:r>
              <a:rPr lang="en-GB" dirty="0"/>
              <a:t>Stored XSS</a:t>
            </a:r>
          </a:p>
        </p:txBody>
      </p:sp>
      <p:sp>
        <p:nvSpPr>
          <p:cNvPr id="7" name="Text Placeholder 6">
            <a:extLst>
              <a:ext uri="{FF2B5EF4-FFF2-40B4-BE49-F238E27FC236}">
                <a16:creationId xmlns:a16="http://schemas.microsoft.com/office/drawing/2014/main" id="{FA59BC68-9EB4-7144-9F27-CB8D92CB788D}"/>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049BEA2B-9F38-8A43-9D03-65CB5751D0FA}"/>
              </a:ext>
            </a:extLst>
          </p:cNvPr>
          <p:cNvSpPr>
            <a:spLocks noGrp="1"/>
          </p:cNvSpPr>
          <p:nvPr>
            <p:ph idx="1"/>
          </p:nvPr>
        </p:nvSpPr>
        <p:spPr/>
        <p:txBody>
          <a:bodyPr>
            <a:normAutofit/>
          </a:bodyPr>
          <a:lstStyle/>
          <a:p>
            <a:r>
              <a:rPr lang="en-GB" sz="2800" dirty="0"/>
              <a:t>It is the most common type of XSS attacks.</a:t>
            </a:r>
          </a:p>
          <a:p>
            <a:r>
              <a:rPr lang="en-GB" sz="2800" dirty="0"/>
              <a:t>It may affect the most users, depending on who views the data stored in the database</a:t>
            </a:r>
          </a:p>
          <a:p>
            <a:pPr lvl="1"/>
            <a:r>
              <a:rPr lang="en-GB" sz="2400" dirty="0"/>
              <a:t>E.g., a comment posted in a web forum is visible to everyone in the Internet!</a:t>
            </a:r>
          </a:p>
        </p:txBody>
      </p:sp>
    </p:spTree>
    <p:extLst>
      <p:ext uri="{BB962C8B-B14F-4D97-AF65-F5344CB8AC3E}">
        <p14:creationId xmlns:p14="http://schemas.microsoft.com/office/powerpoint/2010/main" val="42247404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8D404-4F99-7043-8306-984D2BF2080E}"/>
              </a:ext>
            </a:extLst>
          </p:cNvPr>
          <p:cNvSpPr>
            <a:spLocks noGrp="1"/>
          </p:cNvSpPr>
          <p:nvPr>
            <p:ph type="title"/>
          </p:nvPr>
        </p:nvSpPr>
        <p:spPr/>
        <p:txBody>
          <a:bodyPr/>
          <a:lstStyle/>
          <a:p>
            <a:r>
              <a:rPr lang="en-GB" dirty="0"/>
              <a:t>Stored XSS</a:t>
            </a:r>
          </a:p>
        </p:txBody>
      </p:sp>
      <p:sp>
        <p:nvSpPr>
          <p:cNvPr id="7" name="Text Placeholder 6">
            <a:extLst>
              <a:ext uri="{FF2B5EF4-FFF2-40B4-BE49-F238E27FC236}">
                <a16:creationId xmlns:a16="http://schemas.microsoft.com/office/drawing/2014/main" id="{FA59BC68-9EB4-7144-9F27-CB8D92CB788D}"/>
              </a:ext>
            </a:extLst>
          </p:cNvPr>
          <p:cNvSpPr>
            <a:spLocks noGrp="1"/>
          </p:cNvSpPr>
          <p:nvPr>
            <p:ph type="body" idx="11"/>
          </p:nvPr>
        </p:nvSpPr>
        <p:spPr/>
        <p:txBody>
          <a:bodyPr/>
          <a:lstStyle/>
          <a:p>
            <a:endParaRPr lang="en-US"/>
          </a:p>
        </p:txBody>
      </p:sp>
      <p:pic>
        <p:nvPicPr>
          <p:cNvPr id="4" name="Picture 2" descr="Persistent Cross Site Scripting (p-XSS) | by Christopher Makarem | IOCSCAN  | Medium">
            <a:extLst>
              <a:ext uri="{FF2B5EF4-FFF2-40B4-BE49-F238E27FC236}">
                <a16:creationId xmlns:a16="http://schemas.microsoft.com/office/drawing/2014/main" id="{714C479C-C494-7135-DA6D-0881669EE3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2691" y="601033"/>
            <a:ext cx="7950360" cy="5528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41241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97114-9A73-C141-B2C3-385FB045F6FB}"/>
              </a:ext>
            </a:extLst>
          </p:cNvPr>
          <p:cNvSpPr>
            <a:spLocks noGrp="1"/>
          </p:cNvSpPr>
          <p:nvPr>
            <p:ph type="title"/>
          </p:nvPr>
        </p:nvSpPr>
        <p:spPr/>
        <p:txBody>
          <a:bodyPr/>
          <a:lstStyle/>
          <a:p>
            <a:r>
              <a:rPr lang="en-GB" dirty="0"/>
              <a:t>Reflected XSS</a:t>
            </a:r>
          </a:p>
        </p:txBody>
      </p:sp>
      <p:sp>
        <p:nvSpPr>
          <p:cNvPr id="3" name="Text Placeholder 2">
            <a:extLst>
              <a:ext uri="{FF2B5EF4-FFF2-40B4-BE49-F238E27FC236}">
                <a16:creationId xmlns:a16="http://schemas.microsoft.com/office/drawing/2014/main" id="{5443300E-2A94-BC42-BAE8-25F9BF811CAC}"/>
              </a:ext>
            </a:extLst>
          </p:cNvPr>
          <p:cNvSpPr>
            <a:spLocks noGrp="1"/>
          </p:cNvSpPr>
          <p:nvPr>
            <p:ph type="body" idx="11"/>
          </p:nvPr>
        </p:nvSpPr>
        <p:spPr/>
        <p:txBody>
          <a:bodyPr/>
          <a:lstStyle/>
          <a:p>
            <a:endParaRPr lang="en-GB"/>
          </a:p>
        </p:txBody>
      </p:sp>
      <p:sp>
        <p:nvSpPr>
          <p:cNvPr id="4" name="Content Placeholder 3">
            <a:extLst>
              <a:ext uri="{FF2B5EF4-FFF2-40B4-BE49-F238E27FC236}">
                <a16:creationId xmlns:a16="http://schemas.microsoft.com/office/drawing/2014/main" id="{96EC9F79-8053-334A-8447-0C3B076134ED}"/>
              </a:ext>
            </a:extLst>
          </p:cNvPr>
          <p:cNvSpPr>
            <a:spLocks noGrp="1"/>
          </p:cNvSpPr>
          <p:nvPr>
            <p:ph idx="1"/>
          </p:nvPr>
        </p:nvSpPr>
        <p:spPr/>
        <p:txBody>
          <a:bodyPr/>
          <a:lstStyle/>
          <a:p>
            <a:r>
              <a:rPr lang="en-SG" dirty="0"/>
              <a:t>A.k.a. </a:t>
            </a:r>
            <a:r>
              <a:rPr lang="en-SG" b="1" dirty="0"/>
              <a:t>non-persistent XSS. </a:t>
            </a:r>
          </a:p>
          <a:p>
            <a:r>
              <a:rPr lang="en-SG" b="1" dirty="0"/>
              <a:t>Reflected XSS</a:t>
            </a:r>
            <a:r>
              <a:rPr lang="en-SG" dirty="0"/>
              <a:t> occurs when user input, </a:t>
            </a:r>
            <a:r>
              <a:rPr lang="en-SG" i="1" dirty="0"/>
              <a:t>which may contain a malicious script</a:t>
            </a:r>
            <a:r>
              <a:rPr lang="en-SG" dirty="0"/>
              <a:t>, is immediately returned by a web application in an error message, search result, or any other response that includes some or all of the input provided by the user as part of the request, without that data being made safe to render in the browser, and without permanently storing the user provided data. </a:t>
            </a:r>
            <a:endParaRPr lang="en-GB" dirty="0"/>
          </a:p>
        </p:txBody>
      </p:sp>
    </p:spTree>
    <p:extLst>
      <p:ext uri="{BB962C8B-B14F-4D97-AF65-F5344CB8AC3E}">
        <p14:creationId xmlns:p14="http://schemas.microsoft.com/office/powerpoint/2010/main" val="22982412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C1739-EF67-5D45-8B00-783C074048AF}"/>
              </a:ext>
            </a:extLst>
          </p:cNvPr>
          <p:cNvSpPr>
            <a:spLocks noGrp="1"/>
          </p:cNvSpPr>
          <p:nvPr>
            <p:ph type="title"/>
          </p:nvPr>
        </p:nvSpPr>
        <p:spPr/>
        <p:txBody>
          <a:bodyPr/>
          <a:lstStyle/>
          <a:p>
            <a:r>
              <a:rPr lang="en-GB" dirty="0"/>
              <a:t>Reflected XSS Vulnerability</a:t>
            </a:r>
          </a:p>
        </p:txBody>
      </p:sp>
      <p:sp>
        <p:nvSpPr>
          <p:cNvPr id="13" name="Text Placeholder 12">
            <a:extLst>
              <a:ext uri="{FF2B5EF4-FFF2-40B4-BE49-F238E27FC236}">
                <a16:creationId xmlns:a16="http://schemas.microsoft.com/office/drawing/2014/main" id="{1EC6EFCA-622B-8844-AE5A-91C90F4196FA}"/>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5D9CFED8-1CAA-794C-A881-C07A7C9FCC1E}"/>
              </a:ext>
            </a:extLst>
          </p:cNvPr>
          <p:cNvSpPr>
            <a:spLocks noGrp="1"/>
          </p:cNvSpPr>
          <p:nvPr>
            <p:ph idx="1"/>
          </p:nvPr>
        </p:nvSpPr>
        <p:spPr>
          <a:xfrm>
            <a:off x="513349" y="1268243"/>
            <a:ext cx="6284883" cy="4723318"/>
          </a:xfrm>
        </p:spPr>
        <p:txBody>
          <a:bodyPr>
            <a:normAutofit/>
          </a:bodyPr>
          <a:lstStyle/>
          <a:p>
            <a:r>
              <a:rPr lang="en-SG" dirty="0"/>
              <a:t>Potential Vulnerability: there could be a correlation between the URL query parameters and objects in the result page. </a:t>
            </a:r>
          </a:p>
          <a:p>
            <a:endParaRPr lang="en-SG" dirty="0"/>
          </a:p>
          <a:p>
            <a:r>
              <a:rPr lang="en-SG" dirty="0"/>
              <a:t>Suppose a website has a search function which receives the user-supplied search term in a URL parameter: </a:t>
            </a:r>
          </a:p>
          <a:p>
            <a:pPr marL="0" indent="0">
              <a:buNone/>
            </a:pPr>
            <a:r>
              <a:rPr lang="en-SG" sz="1900" dirty="0">
                <a:highlight>
                  <a:srgbClr val="FFFF00"/>
                </a:highlight>
              </a:rPr>
              <a:t>https://insecure-</a:t>
            </a:r>
            <a:r>
              <a:rPr lang="en-SG" sz="1900" dirty="0" err="1">
                <a:highlight>
                  <a:srgbClr val="FFFF00"/>
                </a:highlight>
              </a:rPr>
              <a:t>bank.com</a:t>
            </a:r>
            <a:r>
              <a:rPr lang="en-SG" sz="1900" dirty="0">
                <a:highlight>
                  <a:srgbClr val="FFFF00"/>
                </a:highlight>
              </a:rPr>
              <a:t>/</a:t>
            </a:r>
            <a:r>
              <a:rPr lang="en-SG" sz="1900" dirty="0" err="1">
                <a:highlight>
                  <a:srgbClr val="FFFF00"/>
                </a:highlight>
              </a:rPr>
              <a:t>search?query</a:t>
            </a:r>
            <a:r>
              <a:rPr lang="en-SG" sz="1900" dirty="0">
                <a:highlight>
                  <a:srgbClr val="FFFF00"/>
                </a:highlight>
              </a:rPr>
              <a:t>=</a:t>
            </a:r>
            <a:r>
              <a:rPr lang="en-SG" sz="1900" dirty="0" err="1">
                <a:highlight>
                  <a:srgbClr val="FFFF00"/>
                </a:highlight>
              </a:rPr>
              <a:t>open+account</a:t>
            </a:r>
            <a:r>
              <a:rPr lang="en-SG" sz="1900" dirty="0">
                <a:highlight>
                  <a:srgbClr val="FFFF00"/>
                </a:highlight>
              </a:rPr>
              <a:t> </a:t>
            </a:r>
          </a:p>
          <a:p>
            <a:r>
              <a:rPr lang="en-SG" dirty="0"/>
              <a:t>The application echoes the supplied search term in the response to this URL: </a:t>
            </a:r>
          </a:p>
          <a:p>
            <a:pPr marL="0" indent="0">
              <a:buNone/>
            </a:pPr>
            <a:r>
              <a:rPr lang="en-SG" dirty="0"/>
              <a:t>      </a:t>
            </a:r>
            <a:r>
              <a:rPr lang="en-SG" sz="1900" dirty="0">
                <a:highlight>
                  <a:srgbClr val="FFFF00"/>
                </a:highlight>
              </a:rPr>
              <a:t>&lt;p&gt;You searched for: open account&lt;/p&gt;  </a:t>
            </a:r>
          </a:p>
        </p:txBody>
      </p:sp>
      <p:pic>
        <p:nvPicPr>
          <p:cNvPr id="6" name="Picture 5">
            <a:extLst>
              <a:ext uri="{FF2B5EF4-FFF2-40B4-BE49-F238E27FC236}">
                <a16:creationId xmlns:a16="http://schemas.microsoft.com/office/drawing/2014/main" id="{10D982F9-2637-214C-A611-E2D4229AF6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5628" y="9193"/>
            <a:ext cx="5745068" cy="3631059"/>
          </a:xfrm>
          <a:prstGeom prst="rect">
            <a:avLst/>
          </a:prstGeom>
        </p:spPr>
      </p:pic>
      <p:pic>
        <p:nvPicPr>
          <p:cNvPr id="8" name="Picture 7">
            <a:extLst>
              <a:ext uri="{FF2B5EF4-FFF2-40B4-BE49-F238E27FC236}">
                <a16:creationId xmlns:a16="http://schemas.microsoft.com/office/drawing/2014/main" id="{5771799A-35B1-3A4A-A245-B62C693187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8232" y="3131439"/>
            <a:ext cx="5485344" cy="3537921"/>
          </a:xfrm>
          <a:prstGeom prst="rect">
            <a:avLst/>
          </a:prstGeom>
        </p:spPr>
      </p:pic>
      <p:sp>
        <p:nvSpPr>
          <p:cNvPr id="9" name="Oval 8">
            <a:extLst>
              <a:ext uri="{FF2B5EF4-FFF2-40B4-BE49-F238E27FC236}">
                <a16:creationId xmlns:a16="http://schemas.microsoft.com/office/drawing/2014/main" id="{39E24F4D-8FFF-0448-8DB8-08248A29F617}"/>
              </a:ext>
            </a:extLst>
          </p:cNvPr>
          <p:cNvSpPr/>
          <p:nvPr/>
        </p:nvSpPr>
        <p:spPr>
          <a:xfrm>
            <a:off x="7248128" y="908720"/>
            <a:ext cx="576064" cy="3421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AFD58D45-8A98-DC41-B682-7031F72E00A6}"/>
              </a:ext>
            </a:extLst>
          </p:cNvPr>
          <p:cNvSpPr/>
          <p:nvPr/>
        </p:nvSpPr>
        <p:spPr>
          <a:xfrm>
            <a:off x="7896200" y="5349720"/>
            <a:ext cx="576064" cy="3421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D93FA34-F71E-3C41-BD86-C8A30B292A6D}"/>
              </a:ext>
            </a:extLst>
          </p:cNvPr>
          <p:cNvSpPr/>
          <p:nvPr/>
        </p:nvSpPr>
        <p:spPr>
          <a:xfrm>
            <a:off x="9613291" y="3437884"/>
            <a:ext cx="576064" cy="3421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41C8877-1495-EE44-A5BD-7442D48C3E59}"/>
              </a:ext>
            </a:extLst>
          </p:cNvPr>
          <p:cNvSpPr/>
          <p:nvPr/>
        </p:nvSpPr>
        <p:spPr>
          <a:xfrm>
            <a:off x="7320136" y="4910088"/>
            <a:ext cx="576064" cy="3421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68284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C1739-EF67-5D45-8B00-783C074048AF}"/>
              </a:ext>
            </a:extLst>
          </p:cNvPr>
          <p:cNvSpPr>
            <a:spLocks noGrp="1"/>
          </p:cNvSpPr>
          <p:nvPr>
            <p:ph type="title"/>
          </p:nvPr>
        </p:nvSpPr>
        <p:spPr/>
        <p:txBody>
          <a:bodyPr/>
          <a:lstStyle/>
          <a:p>
            <a:r>
              <a:rPr lang="en-GB" dirty="0"/>
              <a:t>Reflected XSS Explained</a:t>
            </a:r>
          </a:p>
        </p:txBody>
      </p:sp>
      <p:sp>
        <p:nvSpPr>
          <p:cNvPr id="11" name="Text Placeholder 10">
            <a:extLst>
              <a:ext uri="{FF2B5EF4-FFF2-40B4-BE49-F238E27FC236}">
                <a16:creationId xmlns:a16="http://schemas.microsoft.com/office/drawing/2014/main" id="{FBB755AE-7F1B-BD46-A65F-47E122F8845F}"/>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5D9CFED8-1CAA-794C-A881-C07A7C9FCC1E}"/>
              </a:ext>
            </a:extLst>
          </p:cNvPr>
          <p:cNvSpPr>
            <a:spLocks noGrp="1"/>
          </p:cNvSpPr>
          <p:nvPr>
            <p:ph idx="1"/>
          </p:nvPr>
        </p:nvSpPr>
        <p:spPr>
          <a:xfrm>
            <a:off x="513349" y="1268243"/>
            <a:ext cx="7540421" cy="4723318"/>
          </a:xfrm>
        </p:spPr>
        <p:txBody>
          <a:bodyPr>
            <a:normAutofit/>
          </a:bodyPr>
          <a:lstStyle/>
          <a:p>
            <a:r>
              <a:rPr lang="en-GB" dirty="0"/>
              <a:t>The attacker sends the malicious URL to the victim user via email, web advertisement or other ways.</a:t>
            </a:r>
          </a:p>
          <a:p>
            <a:endParaRPr lang="en-GB" dirty="0"/>
          </a:p>
          <a:p>
            <a:endParaRPr lang="en-GB" dirty="0"/>
          </a:p>
          <a:p>
            <a:r>
              <a:rPr lang="en-GB" dirty="0"/>
              <a:t>When the victim user clicks the URL, the server returns the HTML page which echoes back the query consisting of the JS code. </a:t>
            </a:r>
          </a:p>
        </p:txBody>
      </p:sp>
      <p:sp>
        <p:nvSpPr>
          <p:cNvPr id="8" name="TextBox 7">
            <a:extLst>
              <a:ext uri="{FF2B5EF4-FFF2-40B4-BE49-F238E27FC236}">
                <a16:creationId xmlns:a16="http://schemas.microsoft.com/office/drawing/2014/main" id="{126F81B1-A0CA-EC46-883D-B58E486728D1}"/>
              </a:ext>
            </a:extLst>
          </p:cNvPr>
          <p:cNvSpPr txBox="1"/>
          <p:nvPr/>
        </p:nvSpPr>
        <p:spPr>
          <a:xfrm>
            <a:off x="171506" y="2476228"/>
            <a:ext cx="8036382" cy="369332"/>
          </a:xfrm>
          <a:prstGeom prst="rect">
            <a:avLst/>
          </a:prstGeom>
          <a:solidFill>
            <a:srgbClr val="FFFF00"/>
          </a:solidFill>
        </p:spPr>
        <p:txBody>
          <a:bodyPr wrap="square" rtlCol="0">
            <a:spAutoFit/>
          </a:bodyPr>
          <a:lstStyle/>
          <a:p>
            <a:r>
              <a:rPr lang="en-SG" dirty="0">
                <a:latin typeface="Arial Nova" panose="020B0504020202020204" pitchFamily="34" charset="0"/>
              </a:rPr>
              <a:t>insecure-</a:t>
            </a:r>
            <a:r>
              <a:rPr lang="en-SG" dirty="0" err="1">
                <a:latin typeface="Arial Nova" panose="020B0504020202020204" pitchFamily="34" charset="0"/>
              </a:rPr>
              <a:t>bank.com</a:t>
            </a:r>
            <a:r>
              <a:rPr lang="en-SG" dirty="0">
                <a:latin typeface="Arial Nova" panose="020B0504020202020204" pitchFamily="34" charset="0"/>
              </a:rPr>
              <a:t>/</a:t>
            </a:r>
            <a:r>
              <a:rPr lang="en-SG" dirty="0" err="1">
                <a:latin typeface="Arial Nova" panose="020B0504020202020204" pitchFamily="34" charset="0"/>
              </a:rPr>
              <a:t>search?query</a:t>
            </a:r>
            <a:r>
              <a:rPr lang="en-SG" dirty="0">
                <a:latin typeface="Arial Nova" panose="020B0504020202020204" pitchFamily="34" charset="0"/>
              </a:rPr>
              <a:t>=open+</a:t>
            </a:r>
            <a:r>
              <a:rPr lang="en-SG" dirty="0">
                <a:solidFill>
                  <a:srgbClr val="FF0000"/>
                </a:solidFill>
                <a:latin typeface="Arial Nova" panose="020B0504020202020204" pitchFamily="34" charset="0"/>
              </a:rPr>
              <a:t>&lt;script&gt;alert(test);&lt;/script&gt;</a:t>
            </a:r>
            <a:r>
              <a:rPr lang="en-SG" dirty="0">
                <a:latin typeface="Arial Nova" panose="020B0504020202020204" pitchFamily="34" charset="0"/>
              </a:rPr>
              <a:t>+account</a:t>
            </a:r>
          </a:p>
        </p:txBody>
      </p:sp>
      <p:pic>
        <p:nvPicPr>
          <p:cNvPr id="9" name="Picture 8" descr="A picture containing text, sign&#10;&#10;Description automatically generated">
            <a:extLst>
              <a:ext uri="{FF2B5EF4-FFF2-40B4-BE49-F238E27FC236}">
                <a16:creationId xmlns:a16="http://schemas.microsoft.com/office/drawing/2014/main" id="{25723325-13A2-9DB1-A61B-1B24C2226592}"/>
              </a:ext>
            </a:extLst>
          </p:cNvPr>
          <p:cNvPicPr>
            <a:picLocks noChangeAspect="1"/>
          </p:cNvPicPr>
          <p:nvPr/>
        </p:nvPicPr>
        <p:blipFill>
          <a:blip r:embed="rId2"/>
          <a:stretch>
            <a:fillRect/>
          </a:stretch>
        </p:blipFill>
        <p:spPr>
          <a:xfrm>
            <a:off x="8395613" y="929709"/>
            <a:ext cx="3740764" cy="5239840"/>
          </a:xfrm>
          <a:prstGeom prst="rect">
            <a:avLst/>
          </a:prstGeom>
        </p:spPr>
      </p:pic>
    </p:spTree>
    <p:extLst>
      <p:ext uri="{BB962C8B-B14F-4D97-AF65-F5344CB8AC3E}">
        <p14:creationId xmlns:p14="http://schemas.microsoft.com/office/powerpoint/2010/main" val="2929009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E798B-7583-AB4E-BE63-6AF2B17F38B6}"/>
              </a:ext>
            </a:extLst>
          </p:cNvPr>
          <p:cNvSpPr>
            <a:spLocks noGrp="1"/>
          </p:cNvSpPr>
          <p:nvPr>
            <p:ph type="title"/>
          </p:nvPr>
        </p:nvSpPr>
        <p:spPr/>
        <p:txBody>
          <a:bodyPr/>
          <a:lstStyle/>
          <a:p>
            <a:r>
              <a:rPr lang="en-GB" dirty="0"/>
              <a:t>Reflected XSS</a:t>
            </a:r>
          </a:p>
        </p:txBody>
      </p:sp>
      <p:sp>
        <p:nvSpPr>
          <p:cNvPr id="7" name="Text Placeholder 6">
            <a:extLst>
              <a:ext uri="{FF2B5EF4-FFF2-40B4-BE49-F238E27FC236}">
                <a16:creationId xmlns:a16="http://schemas.microsoft.com/office/drawing/2014/main" id="{E313C7B7-B3F7-CE43-B965-DD23351BF1EC}"/>
              </a:ext>
            </a:extLst>
          </p:cNvPr>
          <p:cNvSpPr>
            <a:spLocks noGrp="1"/>
          </p:cNvSpPr>
          <p:nvPr>
            <p:ph type="body" idx="11"/>
          </p:nvPr>
        </p:nvSpPr>
        <p:spPr/>
        <p:txBody>
          <a:bodyPr/>
          <a:lstStyle/>
          <a:p>
            <a:endParaRPr lang="en-US"/>
          </a:p>
        </p:txBody>
      </p:sp>
      <p:pic>
        <p:nvPicPr>
          <p:cNvPr id="7170" name="Picture 2" descr="Reflected Cross Site Scripting (r-XSS) | by Christopher Makarem | IOCSCAN |  Medium">
            <a:extLst>
              <a:ext uri="{FF2B5EF4-FFF2-40B4-BE49-F238E27FC236}">
                <a16:creationId xmlns:a16="http://schemas.microsoft.com/office/drawing/2014/main" id="{3825E9F6-F43D-89A7-CBD6-EEFCA6A898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5007" y="211479"/>
            <a:ext cx="7443644" cy="5880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3034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E798B-7583-AB4E-BE63-6AF2B17F38B6}"/>
              </a:ext>
            </a:extLst>
          </p:cNvPr>
          <p:cNvSpPr>
            <a:spLocks noGrp="1"/>
          </p:cNvSpPr>
          <p:nvPr>
            <p:ph type="title"/>
          </p:nvPr>
        </p:nvSpPr>
        <p:spPr/>
        <p:txBody>
          <a:bodyPr/>
          <a:lstStyle/>
          <a:p>
            <a:r>
              <a:rPr lang="en-GB" dirty="0"/>
              <a:t>Reflected XSS vs Stored XSS</a:t>
            </a:r>
          </a:p>
        </p:txBody>
      </p:sp>
      <p:sp>
        <p:nvSpPr>
          <p:cNvPr id="7" name="Text Placeholder 6">
            <a:extLst>
              <a:ext uri="{FF2B5EF4-FFF2-40B4-BE49-F238E27FC236}">
                <a16:creationId xmlns:a16="http://schemas.microsoft.com/office/drawing/2014/main" id="{E313C7B7-B3F7-CE43-B965-DD23351BF1EC}"/>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5A6BCAE7-1089-6B43-BBAF-A36CD4F62693}"/>
              </a:ext>
            </a:extLst>
          </p:cNvPr>
          <p:cNvSpPr>
            <a:spLocks noGrp="1"/>
          </p:cNvSpPr>
          <p:nvPr>
            <p:ph idx="1"/>
          </p:nvPr>
        </p:nvSpPr>
        <p:spPr/>
        <p:txBody>
          <a:bodyPr/>
          <a:lstStyle/>
          <a:p>
            <a:r>
              <a:rPr lang="en-GB" dirty="0"/>
              <a:t>By and large, Reflected XSS is better at avoiding detection than Stored XSS, but is harder to distribute to a wide number of users.</a:t>
            </a:r>
          </a:p>
          <a:p>
            <a:pPr lvl="1"/>
            <a:r>
              <a:rPr lang="en-GB" dirty="0"/>
              <a:t>It can be launched to targeted users.</a:t>
            </a:r>
          </a:p>
          <a:p>
            <a:endParaRPr lang="en-GB" dirty="0"/>
          </a:p>
        </p:txBody>
      </p:sp>
    </p:spTree>
    <p:extLst>
      <p:ext uri="{BB962C8B-B14F-4D97-AF65-F5344CB8AC3E}">
        <p14:creationId xmlns:p14="http://schemas.microsoft.com/office/powerpoint/2010/main" val="29857007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6C431-AA66-FC46-8948-EFB2BFAFD8EC}"/>
              </a:ext>
            </a:extLst>
          </p:cNvPr>
          <p:cNvSpPr>
            <a:spLocks noGrp="1"/>
          </p:cNvSpPr>
          <p:nvPr>
            <p:ph type="title"/>
          </p:nvPr>
        </p:nvSpPr>
        <p:spPr/>
        <p:txBody>
          <a:bodyPr/>
          <a:lstStyle/>
          <a:p>
            <a:r>
              <a:rPr lang="en-GB" dirty="0"/>
              <a:t>DOM-based XSS</a:t>
            </a:r>
          </a:p>
        </p:txBody>
      </p:sp>
      <p:sp>
        <p:nvSpPr>
          <p:cNvPr id="3" name="Content Placeholder 2">
            <a:extLst>
              <a:ext uri="{FF2B5EF4-FFF2-40B4-BE49-F238E27FC236}">
                <a16:creationId xmlns:a16="http://schemas.microsoft.com/office/drawing/2014/main" id="{CEB734AD-F377-5D42-8691-59467E6973C9}"/>
              </a:ext>
            </a:extLst>
          </p:cNvPr>
          <p:cNvSpPr>
            <a:spLocks noGrp="1"/>
          </p:cNvSpPr>
          <p:nvPr>
            <p:ph idx="1"/>
          </p:nvPr>
        </p:nvSpPr>
        <p:spPr>
          <a:xfrm>
            <a:off x="513349" y="1000019"/>
            <a:ext cx="10840451" cy="3218413"/>
          </a:xfrm>
        </p:spPr>
        <p:txBody>
          <a:bodyPr>
            <a:normAutofit fontScale="92500" lnSpcReduction="10000"/>
          </a:bodyPr>
          <a:lstStyle/>
          <a:p>
            <a:r>
              <a:rPr lang="en-SG" dirty="0"/>
              <a:t>DOM Based XSS (a.k.a. “type-0 XSS”) is an XSS attack wherein the attack payload is executed as a result of modifying the DOM “environment” in the victim’s browser used by the original client side script, so that the client side code runs in an “unexpected” manner.</a:t>
            </a:r>
          </a:p>
          <a:p>
            <a:pPr lvl="1"/>
            <a:r>
              <a:rPr lang="en-SG" dirty="0"/>
              <a:t>The page itself (i.e. the HTTP response) does not change, but the client side code contained in the page executes differently due to the malicious modifications that have occurred in the DOM environment.</a:t>
            </a:r>
          </a:p>
          <a:p>
            <a:r>
              <a:rPr lang="en-SG" dirty="0"/>
              <a:t>Both stored XSS and reflected XSS attacks require server-side flaws to inject malicious code. But Dom-based XSS do not have that requirement.</a:t>
            </a:r>
            <a:endParaRPr lang="en-GB" dirty="0"/>
          </a:p>
        </p:txBody>
      </p:sp>
      <p:grpSp>
        <p:nvGrpSpPr>
          <p:cNvPr id="37" name="Group 36">
            <a:extLst>
              <a:ext uri="{FF2B5EF4-FFF2-40B4-BE49-F238E27FC236}">
                <a16:creationId xmlns:a16="http://schemas.microsoft.com/office/drawing/2014/main" id="{4D8D6E26-11E0-BF40-B727-02B9C890F816}"/>
              </a:ext>
            </a:extLst>
          </p:cNvPr>
          <p:cNvGrpSpPr/>
          <p:nvPr/>
        </p:nvGrpSpPr>
        <p:grpSpPr>
          <a:xfrm>
            <a:off x="679244" y="3966339"/>
            <a:ext cx="9737236" cy="2401370"/>
            <a:chOff x="679244" y="4271139"/>
            <a:chExt cx="9737236" cy="2401370"/>
          </a:xfrm>
        </p:grpSpPr>
        <p:sp>
          <p:nvSpPr>
            <p:cNvPr id="38" name="Rectangle 37">
              <a:extLst>
                <a:ext uri="{FF2B5EF4-FFF2-40B4-BE49-F238E27FC236}">
                  <a16:creationId xmlns:a16="http://schemas.microsoft.com/office/drawing/2014/main" id="{9E4CA1C3-C1B9-3F4D-84FF-B3B68C8F2BFD}"/>
                </a:ext>
              </a:extLst>
            </p:cNvPr>
            <p:cNvSpPr/>
            <p:nvPr/>
          </p:nvSpPr>
          <p:spPr>
            <a:xfrm>
              <a:off x="3719736" y="5143370"/>
              <a:ext cx="6696744" cy="1237958"/>
            </a:xfrm>
            <a:prstGeom prst="rect">
              <a:avLst/>
            </a:prstGeom>
            <a:solidFill>
              <a:srgbClr val="FFFFFF"/>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dirty="0">
                <a:ln>
                  <a:noFill/>
                </a:ln>
                <a:solidFill>
                  <a:srgbClr val="FFFFFF"/>
                </a:solidFill>
                <a:effectLst/>
                <a:uLnTx/>
                <a:uFillTx/>
                <a:latin typeface="Arial"/>
                <a:ea typeface="+mn-ea"/>
                <a:cs typeface="+mn-cs"/>
              </a:endParaRPr>
            </a:p>
          </p:txBody>
        </p:sp>
        <p:sp>
          <p:nvSpPr>
            <p:cNvPr id="39" name="TextBox 38">
              <a:extLst>
                <a:ext uri="{FF2B5EF4-FFF2-40B4-BE49-F238E27FC236}">
                  <a16:creationId xmlns:a16="http://schemas.microsoft.com/office/drawing/2014/main" id="{6A4E686C-3195-AE43-AA65-D8456030225E}"/>
                </a:ext>
              </a:extLst>
            </p:cNvPr>
            <p:cNvSpPr txBox="1"/>
            <p:nvPr/>
          </p:nvSpPr>
          <p:spPr>
            <a:xfrm>
              <a:off x="5426312" y="4578860"/>
              <a:ext cx="1096775" cy="40011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2000" b="0" i="0" u="none" strike="noStrike" kern="0" cap="none" spc="0" normalizeH="0" baseline="0" noProof="0" dirty="0">
                  <a:ln>
                    <a:noFill/>
                  </a:ln>
                  <a:solidFill>
                    <a:srgbClr val="000000"/>
                  </a:solidFill>
                  <a:effectLst/>
                  <a:uLnTx/>
                  <a:uFillTx/>
                  <a:latin typeface="Arial"/>
                </a:rPr>
                <a:t>browser</a:t>
              </a:r>
            </a:p>
          </p:txBody>
        </p:sp>
        <p:sp>
          <p:nvSpPr>
            <p:cNvPr id="40" name="TextBox 39">
              <a:extLst>
                <a:ext uri="{FF2B5EF4-FFF2-40B4-BE49-F238E27FC236}">
                  <a16:creationId xmlns:a16="http://schemas.microsoft.com/office/drawing/2014/main" id="{3A088BB5-183B-7748-B158-9D179FB52933}"/>
                </a:ext>
              </a:extLst>
            </p:cNvPr>
            <p:cNvSpPr txBox="1"/>
            <p:nvPr/>
          </p:nvSpPr>
          <p:spPr>
            <a:xfrm>
              <a:off x="1271464" y="5207481"/>
              <a:ext cx="1882247" cy="40011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2000" b="0" i="0" u="none" strike="noStrike" kern="0" cap="none" spc="0" normalizeH="0" baseline="0" noProof="0" dirty="0">
                  <a:ln>
                    <a:noFill/>
                  </a:ln>
                  <a:solidFill>
                    <a:srgbClr val="000000"/>
                  </a:solidFill>
                  <a:effectLst/>
                  <a:uLnTx/>
                  <a:uFillTx/>
                  <a:latin typeface="Arial"/>
                </a:rPr>
                <a:t>malicious input</a:t>
              </a:r>
            </a:p>
          </p:txBody>
        </p:sp>
        <p:sp>
          <p:nvSpPr>
            <p:cNvPr id="41" name="Right Arrow 40">
              <a:extLst>
                <a:ext uri="{FF2B5EF4-FFF2-40B4-BE49-F238E27FC236}">
                  <a16:creationId xmlns:a16="http://schemas.microsoft.com/office/drawing/2014/main" id="{08FC7F16-EDED-5941-A5C5-E1A59CFAA262}"/>
                </a:ext>
              </a:extLst>
            </p:cNvPr>
            <p:cNvSpPr/>
            <p:nvPr/>
          </p:nvSpPr>
          <p:spPr>
            <a:xfrm>
              <a:off x="1343472" y="5589240"/>
              <a:ext cx="2376264" cy="360040"/>
            </a:xfrm>
            <a:prstGeom prst="rightArrow">
              <a:avLst/>
            </a:prstGeom>
            <a:solidFill>
              <a:srgbClr val="FFC000"/>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42" name="Rectangle 41">
              <a:extLst>
                <a:ext uri="{FF2B5EF4-FFF2-40B4-BE49-F238E27FC236}">
                  <a16:creationId xmlns:a16="http://schemas.microsoft.com/office/drawing/2014/main" id="{C145380D-705B-6C4C-A7FC-255181373668}"/>
                </a:ext>
              </a:extLst>
            </p:cNvPr>
            <p:cNvSpPr/>
            <p:nvPr/>
          </p:nvSpPr>
          <p:spPr>
            <a:xfrm>
              <a:off x="3815563" y="5517232"/>
              <a:ext cx="1128310" cy="720080"/>
            </a:xfrm>
            <a:prstGeom prst="rect">
              <a:avLst/>
            </a:prstGeom>
            <a:solidFill>
              <a:srgbClr val="FFFFFF"/>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b="0" i="0" u="none" strike="noStrike" kern="0" cap="none" spc="0" normalizeH="0" baseline="0" noProof="0" dirty="0">
                  <a:ln>
                    <a:noFill/>
                  </a:ln>
                  <a:solidFill>
                    <a:srgbClr val="002060"/>
                  </a:solidFill>
                  <a:effectLst/>
                  <a:uLnTx/>
                  <a:uFillTx/>
                  <a:latin typeface="Arial"/>
                  <a:ea typeface="+mn-ea"/>
                  <a:cs typeface="+mn-cs"/>
                </a:rPr>
                <a:t>source </a:t>
              </a:r>
              <a:r>
                <a:rPr kumimoji="0" lang="en-GB" b="0" i="0" u="none" strike="noStrike" kern="0" cap="none" spc="0" normalizeH="0" baseline="0" noProof="0" dirty="0" err="1">
                  <a:ln>
                    <a:noFill/>
                  </a:ln>
                  <a:solidFill>
                    <a:srgbClr val="002060"/>
                  </a:solidFill>
                  <a:effectLst/>
                  <a:uLnTx/>
                  <a:uFillTx/>
                  <a:latin typeface="Arial"/>
                  <a:ea typeface="+mn-ea"/>
                  <a:cs typeface="+mn-cs"/>
                </a:rPr>
                <a:t>dom</a:t>
              </a:r>
              <a:endParaRPr kumimoji="0" lang="en-GB" b="0" i="0" u="none" strike="noStrike" kern="0" cap="none" spc="0" normalizeH="0" baseline="0" noProof="0" dirty="0">
                <a:ln>
                  <a:noFill/>
                </a:ln>
                <a:solidFill>
                  <a:srgbClr val="002060"/>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B63DF748-2F0C-494E-872E-487869A87309}"/>
                </a:ext>
              </a:extLst>
            </p:cNvPr>
            <p:cNvSpPr/>
            <p:nvPr/>
          </p:nvSpPr>
          <p:spPr>
            <a:xfrm>
              <a:off x="6604632" y="5648220"/>
              <a:ext cx="2093572" cy="483496"/>
            </a:xfrm>
            <a:prstGeom prst="rect">
              <a:avLst/>
            </a:prstGeom>
            <a:solidFill>
              <a:srgbClr val="FFFFFF"/>
            </a:solidFill>
            <a:ln w="25400" cap="flat" cmpd="sng" algn="ctr">
              <a:solidFill>
                <a:srgbClr val="000000"/>
              </a:solid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GB" b="0" i="0" u="none" strike="noStrike" kern="0" cap="none" spc="0" normalizeH="0" baseline="0" noProof="0" dirty="0">
                  <a:ln>
                    <a:noFill/>
                  </a:ln>
                  <a:solidFill>
                    <a:srgbClr val="002060"/>
                  </a:solidFill>
                  <a:effectLst/>
                  <a:uLnTx/>
                  <a:uFillTx/>
                  <a:latin typeface="Arial"/>
                  <a:ea typeface="+mn-ea"/>
                  <a:cs typeface="+mn-cs"/>
                </a:rPr>
                <a:t>sink </a:t>
              </a:r>
              <a:r>
                <a:rPr kumimoji="0" lang="en-GB" b="0" i="0" u="none" strike="noStrike" kern="0" cap="none" spc="0" normalizeH="0" baseline="0" noProof="0" dirty="0" err="1">
                  <a:ln>
                    <a:noFill/>
                  </a:ln>
                  <a:solidFill>
                    <a:srgbClr val="002060"/>
                  </a:solidFill>
                  <a:effectLst/>
                  <a:uLnTx/>
                  <a:uFillTx/>
                  <a:latin typeface="Arial"/>
                  <a:ea typeface="+mn-ea"/>
                  <a:cs typeface="+mn-cs"/>
                </a:rPr>
                <a:t>dom</a:t>
              </a:r>
              <a:endParaRPr kumimoji="0" lang="en-GB" b="0" i="0" u="none" strike="noStrike" kern="0" cap="none" spc="0" normalizeH="0" baseline="0" noProof="0" dirty="0">
                <a:ln>
                  <a:noFill/>
                </a:ln>
                <a:solidFill>
                  <a:srgbClr val="002060"/>
                </a:solidFill>
                <a:effectLst/>
                <a:uLnTx/>
                <a:uFillTx/>
                <a:latin typeface="Arial"/>
                <a:ea typeface="+mn-ea"/>
                <a:cs typeface="+mn-cs"/>
              </a:endParaRPr>
            </a:p>
          </p:txBody>
        </p:sp>
        <p:sp>
          <p:nvSpPr>
            <p:cNvPr id="44" name="Notched Right Arrow 43">
              <a:extLst>
                <a:ext uri="{FF2B5EF4-FFF2-40B4-BE49-F238E27FC236}">
                  <a16:creationId xmlns:a16="http://schemas.microsoft.com/office/drawing/2014/main" id="{041CCF44-2588-144C-B35C-58D15A8855AE}"/>
                </a:ext>
              </a:extLst>
            </p:cNvPr>
            <p:cNvSpPr/>
            <p:nvPr/>
          </p:nvSpPr>
          <p:spPr>
            <a:xfrm>
              <a:off x="4943873" y="5741154"/>
              <a:ext cx="1660759" cy="280134"/>
            </a:xfrm>
            <a:prstGeom prst="notchedRightArrow">
              <a:avLst/>
            </a:prstGeom>
            <a:solidFill>
              <a:srgbClr val="FFFFFF"/>
            </a:solidFill>
            <a:ln w="25400"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45" name="TextBox 44">
              <a:extLst>
                <a:ext uri="{FF2B5EF4-FFF2-40B4-BE49-F238E27FC236}">
                  <a16:creationId xmlns:a16="http://schemas.microsoft.com/office/drawing/2014/main" id="{29D1D86B-47D8-D743-9554-A52D23D9B04A}"/>
                </a:ext>
              </a:extLst>
            </p:cNvPr>
            <p:cNvSpPr txBox="1"/>
            <p:nvPr/>
          </p:nvSpPr>
          <p:spPr>
            <a:xfrm>
              <a:off x="5054716" y="5384005"/>
              <a:ext cx="1107996" cy="369332"/>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b="0" i="0" u="none" strike="noStrike" kern="0" cap="none" spc="0" normalizeH="0" baseline="0" noProof="0" dirty="0">
                  <a:ln>
                    <a:noFill/>
                  </a:ln>
                  <a:solidFill>
                    <a:srgbClr val="000000"/>
                  </a:solidFill>
                  <a:effectLst/>
                  <a:uLnTx/>
                  <a:uFillTx/>
                  <a:latin typeface="Arial"/>
                </a:rPr>
                <a:t>data flow</a:t>
              </a:r>
            </a:p>
          </p:txBody>
        </p:sp>
        <p:sp>
          <p:nvSpPr>
            <p:cNvPr id="46" name="Notched Right Arrow 45">
              <a:extLst>
                <a:ext uri="{FF2B5EF4-FFF2-40B4-BE49-F238E27FC236}">
                  <a16:creationId xmlns:a16="http://schemas.microsoft.com/office/drawing/2014/main" id="{D44AE8AB-3F9C-2248-8FA0-6F8675EBC817}"/>
                </a:ext>
              </a:extLst>
            </p:cNvPr>
            <p:cNvSpPr/>
            <p:nvPr/>
          </p:nvSpPr>
          <p:spPr>
            <a:xfrm>
              <a:off x="8770212" y="5661248"/>
              <a:ext cx="1348446" cy="383815"/>
            </a:xfrm>
            <a:prstGeom prst="notchedRightArrow">
              <a:avLst/>
            </a:prstGeom>
            <a:solidFill>
              <a:srgbClr val="FF0000"/>
            </a:solidFill>
            <a:ln w="25400"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2400" b="0" i="0" u="none" strike="noStrike" kern="0" cap="none" spc="0" normalizeH="0" baseline="0" noProof="0">
                <a:ln>
                  <a:noFill/>
                </a:ln>
                <a:solidFill>
                  <a:srgbClr val="FFFFFF"/>
                </a:solidFill>
                <a:effectLst/>
                <a:uLnTx/>
                <a:uFillTx/>
                <a:latin typeface="Arial"/>
                <a:ea typeface="+mn-ea"/>
                <a:cs typeface="+mn-cs"/>
              </a:endParaRPr>
            </a:p>
          </p:txBody>
        </p:sp>
        <p:sp>
          <p:nvSpPr>
            <p:cNvPr id="47" name="TextBox 46">
              <a:extLst>
                <a:ext uri="{FF2B5EF4-FFF2-40B4-BE49-F238E27FC236}">
                  <a16:creationId xmlns:a16="http://schemas.microsoft.com/office/drawing/2014/main" id="{8F93276F-A5A9-FA41-A389-60215714F742}"/>
                </a:ext>
              </a:extLst>
            </p:cNvPr>
            <p:cNvSpPr txBox="1"/>
            <p:nvPr/>
          </p:nvSpPr>
          <p:spPr>
            <a:xfrm>
              <a:off x="8698204" y="5399388"/>
              <a:ext cx="1152880" cy="400110"/>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GB" sz="2000" b="0" i="0" u="none" strike="noStrike" kern="0" cap="none" spc="0" normalizeH="0" baseline="0" noProof="0" dirty="0">
                  <a:ln>
                    <a:noFill/>
                  </a:ln>
                  <a:solidFill>
                    <a:srgbClr val="000000"/>
                  </a:solidFill>
                  <a:effectLst/>
                  <a:uLnTx/>
                  <a:uFillTx/>
                  <a:latin typeface="Arial"/>
                </a:rPr>
                <a:t>execute!</a:t>
              </a:r>
            </a:p>
          </p:txBody>
        </p:sp>
        <p:pic>
          <p:nvPicPr>
            <p:cNvPr id="48" name="Picture 47">
              <a:extLst>
                <a:ext uri="{FF2B5EF4-FFF2-40B4-BE49-F238E27FC236}">
                  <a16:creationId xmlns:a16="http://schemas.microsoft.com/office/drawing/2014/main" id="{A7FEB4E8-CFE3-1C4C-9DE8-6500947EF8FC}"/>
                </a:ext>
              </a:extLst>
            </p:cNvPr>
            <p:cNvPicPr>
              <a:picLocks noChangeAspect="1"/>
            </p:cNvPicPr>
            <p:nvPr/>
          </p:nvPicPr>
          <p:blipFill>
            <a:blip r:embed="rId3"/>
            <a:stretch>
              <a:fillRect/>
            </a:stretch>
          </p:blipFill>
          <p:spPr>
            <a:xfrm>
              <a:off x="679244" y="4992923"/>
              <a:ext cx="732812" cy="668325"/>
            </a:xfrm>
            <a:prstGeom prst="rect">
              <a:avLst/>
            </a:prstGeom>
          </p:spPr>
        </p:pic>
        <p:pic>
          <p:nvPicPr>
            <p:cNvPr id="49" name="Picture 48">
              <a:extLst>
                <a:ext uri="{FF2B5EF4-FFF2-40B4-BE49-F238E27FC236}">
                  <a16:creationId xmlns:a16="http://schemas.microsoft.com/office/drawing/2014/main" id="{80245BEF-05EB-B440-B46F-F6B32693210C}"/>
                </a:ext>
              </a:extLst>
            </p:cNvPr>
            <p:cNvPicPr>
              <a:picLocks noChangeAspect="1"/>
            </p:cNvPicPr>
            <p:nvPr/>
          </p:nvPicPr>
          <p:blipFill>
            <a:blip r:embed="rId4"/>
            <a:stretch>
              <a:fillRect/>
            </a:stretch>
          </p:blipFill>
          <p:spPr>
            <a:xfrm>
              <a:off x="7400755" y="4271139"/>
              <a:ext cx="819299" cy="936342"/>
            </a:xfrm>
            <a:prstGeom prst="rect">
              <a:avLst/>
            </a:prstGeom>
          </p:spPr>
        </p:pic>
        <p:sp>
          <p:nvSpPr>
            <p:cNvPr id="50" name="TextBox 49">
              <a:extLst>
                <a:ext uri="{FF2B5EF4-FFF2-40B4-BE49-F238E27FC236}">
                  <a16:creationId xmlns:a16="http://schemas.microsoft.com/office/drawing/2014/main" id="{A9F455BD-B489-2A4E-80C2-F315CF85377E}"/>
                </a:ext>
              </a:extLst>
            </p:cNvPr>
            <p:cNvSpPr txBox="1"/>
            <p:nvPr/>
          </p:nvSpPr>
          <p:spPr>
            <a:xfrm>
              <a:off x="3987623" y="6303177"/>
              <a:ext cx="787395" cy="369332"/>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rial"/>
                </a:rPr>
                <a:t>(data)</a:t>
              </a:r>
            </a:p>
          </p:txBody>
        </p:sp>
        <p:sp>
          <p:nvSpPr>
            <p:cNvPr id="51" name="TextBox 50">
              <a:extLst>
                <a:ext uri="{FF2B5EF4-FFF2-40B4-BE49-F238E27FC236}">
                  <a16:creationId xmlns:a16="http://schemas.microsoft.com/office/drawing/2014/main" id="{25E842C0-29D7-8348-AE2C-41E8E96F7468}"/>
                </a:ext>
              </a:extLst>
            </p:cNvPr>
            <p:cNvSpPr txBox="1"/>
            <p:nvPr/>
          </p:nvSpPr>
          <p:spPr>
            <a:xfrm>
              <a:off x="7156731" y="6303177"/>
              <a:ext cx="889987" cy="369332"/>
            </a:xfrm>
            <a:prstGeom prst="rect">
              <a:avLst/>
            </a:prstGeom>
            <a:noFill/>
          </p:spPr>
          <p:txBody>
            <a:bodyPr wrap="none"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b="0" i="0" u="none" strike="noStrike" kern="0" cap="none" spc="0" normalizeH="0" baseline="0" noProof="0" dirty="0">
                  <a:ln>
                    <a:noFill/>
                  </a:ln>
                  <a:solidFill>
                    <a:srgbClr val="000000"/>
                  </a:solidFill>
                  <a:effectLst/>
                  <a:uLnTx/>
                  <a:uFillTx/>
                  <a:latin typeface="Arial"/>
                </a:rPr>
                <a:t>(script)</a:t>
              </a:r>
            </a:p>
          </p:txBody>
        </p:sp>
      </p:grpSp>
      <p:sp>
        <p:nvSpPr>
          <p:cNvPr id="4" name="TextBox 3">
            <a:extLst>
              <a:ext uri="{FF2B5EF4-FFF2-40B4-BE49-F238E27FC236}">
                <a16:creationId xmlns:a16="http://schemas.microsoft.com/office/drawing/2014/main" id="{845B15BD-98C4-FA47-8BD2-1146E29F388E}"/>
              </a:ext>
            </a:extLst>
          </p:cNvPr>
          <p:cNvSpPr txBox="1"/>
          <p:nvPr/>
        </p:nvSpPr>
        <p:spPr>
          <a:xfrm>
            <a:off x="2716054" y="6409740"/>
            <a:ext cx="6615850" cy="369332"/>
          </a:xfrm>
          <a:prstGeom prst="rect">
            <a:avLst/>
          </a:prstGeom>
          <a:noFill/>
        </p:spPr>
        <p:txBody>
          <a:bodyPr wrap="non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https://</a:t>
            </a:r>
            <a:r>
              <a:rPr lang="en-GB" dirty="0" err="1">
                <a:latin typeface="Helvetica Neue" panose="02000503000000020004" pitchFamily="2" charset="0"/>
                <a:ea typeface="Helvetica Neue" panose="02000503000000020004" pitchFamily="2" charset="0"/>
                <a:cs typeface="Helvetica Neue" panose="02000503000000020004" pitchFamily="2" charset="0"/>
              </a:rPr>
              <a:t>owasp.org</a:t>
            </a:r>
            <a:r>
              <a:rPr lang="en-GB" dirty="0">
                <a:latin typeface="Helvetica Neue" panose="02000503000000020004" pitchFamily="2" charset="0"/>
                <a:ea typeface="Helvetica Neue" panose="02000503000000020004" pitchFamily="2" charset="0"/>
                <a:cs typeface="Helvetica Neue" panose="02000503000000020004" pitchFamily="2" charset="0"/>
              </a:rPr>
              <a:t>/www-community/attacks/</a:t>
            </a:r>
            <a:r>
              <a:rPr lang="en-GB" dirty="0" err="1">
                <a:latin typeface="Helvetica Neue" panose="02000503000000020004" pitchFamily="2" charset="0"/>
                <a:ea typeface="Helvetica Neue" panose="02000503000000020004" pitchFamily="2" charset="0"/>
                <a:cs typeface="Helvetica Neue" panose="02000503000000020004" pitchFamily="2" charset="0"/>
              </a:rPr>
              <a:t>DOM_Based_XSS</a:t>
            </a:r>
            <a:endParaRPr lang="en-GB"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7977376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03F1C-93A9-3B49-A8FE-803D7AB86EC7}"/>
              </a:ext>
            </a:extLst>
          </p:cNvPr>
          <p:cNvSpPr>
            <a:spLocks noGrp="1"/>
          </p:cNvSpPr>
          <p:nvPr>
            <p:ph type="title"/>
          </p:nvPr>
        </p:nvSpPr>
        <p:spPr>
          <a:xfrm>
            <a:off x="513349" y="310719"/>
            <a:ext cx="10840451" cy="584828"/>
          </a:xfrm>
        </p:spPr>
        <p:txBody>
          <a:bodyPr/>
          <a:lstStyle/>
          <a:p>
            <a:r>
              <a:rPr lang="en-GB" dirty="0"/>
              <a:t>A simple example</a:t>
            </a:r>
          </a:p>
        </p:txBody>
      </p:sp>
      <p:sp>
        <p:nvSpPr>
          <p:cNvPr id="12" name="Text Placeholder 11">
            <a:extLst>
              <a:ext uri="{FF2B5EF4-FFF2-40B4-BE49-F238E27FC236}">
                <a16:creationId xmlns:a16="http://schemas.microsoft.com/office/drawing/2014/main" id="{5DA1440D-C487-6943-B1C0-2BBD065CEED2}"/>
              </a:ext>
            </a:extLst>
          </p:cNvPr>
          <p:cNvSpPr>
            <a:spLocks noGrp="1"/>
          </p:cNvSpPr>
          <p:nvPr>
            <p:ph type="body" idx="11"/>
          </p:nvPr>
        </p:nvSpPr>
        <p:spPr/>
        <p:txBody>
          <a:bodyPr/>
          <a:lstStyle/>
          <a:p>
            <a:endParaRPr lang="en-US"/>
          </a:p>
        </p:txBody>
      </p:sp>
      <p:sp>
        <p:nvSpPr>
          <p:cNvPr id="14" name="Content Placeholder 13">
            <a:extLst>
              <a:ext uri="{FF2B5EF4-FFF2-40B4-BE49-F238E27FC236}">
                <a16:creationId xmlns:a16="http://schemas.microsoft.com/office/drawing/2014/main" id="{3327698C-B66C-BC48-B0D0-52BA7B0D0A1C}"/>
              </a:ext>
            </a:extLst>
          </p:cNvPr>
          <p:cNvSpPr>
            <a:spLocks noGrp="1"/>
          </p:cNvSpPr>
          <p:nvPr>
            <p:ph idx="1"/>
          </p:nvPr>
        </p:nvSpPr>
        <p:spPr>
          <a:xfrm>
            <a:off x="513349" y="1938527"/>
            <a:ext cx="10840451" cy="3707405"/>
          </a:xfrm>
        </p:spPr>
        <p:txBody>
          <a:bodyPr>
            <a:normAutofit/>
          </a:bodyPr>
          <a:lstStyle/>
          <a:p>
            <a:pPr marL="342900" indent="-342900"/>
            <a:r>
              <a:rPr lang="en-SG" sz="2000" dirty="0"/>
              <a:t>Attacker sends the above URL to the victim who then clicks it.</a:t>
            </a:r>
          </a:p>
          <a:p>
            <a:pPr marL="342900" indent="-342900"/>
            <a:r>
              <a:rPr lang="en-SG" sz="2000" dirty="0"/>
              <a:t>URI fragments (the part in the URI after the “#”) is not sent to the server by the browser.</a:t>
            </a:r>
          </a:p>
          <a:p>
            <a:pPr marL="342900" lvl="0" indent="-342900"/>
            <a:r>
              <a:rPr lang="en-SG" sz="2000" dirty="0">
                <a:solidFill>
                  <a:srgbClr val="000000"/>
                </a:solidFill>
              </a:rPr>
              <a:t>The web server only sees a request for </a:t>
            </a:r>
            <a:r>
              <a:rPr lang="en-SG" sz="2000" dirty="0" err="1">
                <a:solidFill>
                  <a:srgbClr val="1A47B6"/>
                </a:solidFill>
              </a:rPr>
              <a:t>page.html</a:t>
            </a:r>
            <a:r>
              <a:rPr lang="en-SG" sz="2000" dirty="0">
                <a:solidFill>
                  <a:srgbClr val="000000"/>
                </a:solidFill>
              </a:rPr>
              <a:t> without any URL parameters.</a:t>
            </a:r>
            <a:r>
              <a:rPr lang="en-GB" sz="2000" dirty="0">
                <a:solidFill>
                  <a:srgbClr val="000000"/>
                </a:solidFill>
              </a:rPr>
              <a:t> </a:t>
            </a:r>
          </a:p>
          <a:p>
            <a:pPr marL="342900" indent="-342900"/>
            <a:r>
              <a:rPr lang="en-SG" sz="2000" dirty="0"/>
              <a:t>The response from the server does </a:t>
            </a:r>
            <a:r>
              <a:rPr lang="en-SG" sz="2000" b="1" dirty="0"/>
              <a:t>NOT</a:t>
            </a:r>
            <a:r>
              <a:rPr lang="en-SG" sz="2000" dirty="0"/>
              <a:t> consist of malicious script which manifests itself at the client-side script at runtime.</a:t>
            </a:r>
          </a:p>
          <a:p>
            <a:pPr marL="342900" lvl="0" indent="-342900"/>
            <a:r>
              <a:rPr lang="en-SG" sz="2000" dirty="0">
                <a:solidFill>
                  <a:srgbClr val="000000"/>
                </a:solidFill>
              </a:rPr>
              <a:t>A </a:t>
            </a:r>
            <a:r>
              <a:rPr lang="en-SG" sz="2000" b="1" dirty="0">
                <a:solidFill>
                  <a:srgbClr val="000000"/>
                </a:solidFill>
              </a:rPr>
              <a:t>flawed script </a:t>
            </a:r>
            <a:r>
              <a:rPr lang="en-SG" sz="2000" dirty="0">
                <a:solidFill>
                  <a:srgbClr val="000000"/>
                </a:solidFill>
              </a:rPr>
              <a:t>in </a:t>
            </a:r>
            <a:r>
              <a:rPr lang="en-SG" sz="2000" dirty="0" err="1">
                <a:solidFill>
                  <a:srgbClr val="1A47B6"/>
                </a:solidFill>
              </a:rPr>
              <a:t>page.html</a:t>
            </a:r>
            <a:r>
              <a:rPr lang="en-SG" sz="2000" dirty="0">
                <a:solidFill>
                  <a:srgbClr val="000000"/>
                </a:solidFill>
              </a:rPr>
              <a:t> accesses the DOM variable </a:t>
            </a:r>
            <a:r>
              <a:rPr lang="en-SG" sz="2000" b="1" dirty="0" err="1">
                <a:solidFill>
                  <a:srgbClr val="00B050"/>
                </a:solidFill>
              </a:rPr>
              <a:t>document.location</a:t>
            </a:r>
            <a:r>
              <a:rPr lang="en-SG" sz="2000" dirty="0">
                <a:solidFill>
                  <a:srgbClr val="000000"/>
                </a:solidFill>
              </a:rPr>
              <a:t> and uses the parameter for default to create a new DOM object.</a:t>
            </a:r>
          </a:p>
          <a:p>
            <a:pPr marL="685800" lvl="1" indent="-342900"/>
            <a:r>
              <a:rPr lang="en-SG" sz="1800" dirty="0">
                <a:solidFill>
                  <a:srgbClr val="000000"/>
                </a:solidFill>
              </a:rPr>
              <a:t>The new DOM object encloses </a:t>
            </a:r>
            <a:r>
              <a:rPr lang="en-SG" sz="1800" dirty="0">
                <a:solidFill>
                  <a:srgbClr val="FF0000"/>
                </a:solidFill>
              </a:rPr>
              <a:t>&lt;script&gt;alert(</a:t>
            </a:r>
            <a:r>
              <a:rPr lang="en-SG" sz="1800" dirty="0" err="1">
                <a:solidFill>
                  <a:srgbClr val="FF0000"/>
                </a:solidFill>
              </a:rPr>
              <a:t>document.cookie</a:t>
            </a:r>
            <a:r>
              <a:rPr lang="en-SG" sz="1800" dirty="0">
                <a:solidFill>
                  <a:srgbClr val="FF0000"/>
                </a:solidFill>
              </a:rPr>
              <a:t>);&lt;/script&gt;,</a:t>
            </a:r>
            <a:r>
              <a:rPr lang="en-SG" sz="1800" dirty="0">
                <a:solidFill>
                  <a:srgbClr val="000000"/>
                </a:solidFill>
              </a:rPr>
              <a:t> which triggers the browser to execute it.</a:t>
            </a:r>
          </a:p>
        </p:txBody>
      </p:sp>
      <p:sp>
        <p:nvSpPr>
          <p:cNvPr id="16" name="Content Placeholder 4">
            <a:extLst>
              <a:ext uri="{FF2B5EF4-FFF2-40B4-BE49-F238E27FC236}">
                <a16:creationId xmlns:a16="http://schemas.microsoft.com/office/drawing/2014/main" id="{331265EE-648A-FB4F-B22B-E616A51D7B98}"/>
              </a:ext>
            </a:extLst>
          </p:cNvPr>
          <p:cNvSpPr txBox="1">
            <a:spLocks/>
          </p:cNvSpPr>
          <p:nvPr/>
        </p:nvSpPr>
        <p:spPr bwMode="auto">
          <a:xfrm>
            <a:off x="446881" y="1135486"/>
            <a:ext cx="10972800" cy="461665"/>
          </a:xfrm>
          <a:prstGeom prst="rect">
            <a:avLst/>
          </a:prstGeom>
          <a:solidFill>
            <a:srgbClr val="FFFF00"/>
          </a:solidFill>
          <a:ln w="9525">
            <a:noFill/>
            <a:miter lim="800000"/>
            <a:headEnd/>
            <a:tailEnd/>
          </a:ln>
          <a:effectLst/>
        </p:spPr>
        <p:txBody>
          <a:bodyPr vert="horz" wrap="square" lIns="91440" tIns="45720" rIns="91440" bIns="45720" numCol="1" rtlCol="0" anchor="t" anchorCtr="0" compatLnSpc="1">
            <a:prstTxWarp prst="textNoShape">
              <a:avLst/>
            </a:prstTxWarp>
            <a:spAutoFit/>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SG" sz="2400" b="0" i="0" u="none" strike="noStrike" kern="0" cap="none" spc="0" normalizeH="0" baseline="0" noProof="0">
                <a:ln>
                  <a:noFill/>
                </a:ln>
                <a:solidFill>
                  <a:srgbClr val="000000"/>
                </a:solidFill>
                <a:effectLst/>
                <a:uLnTx/>
                <a:uFillTx/>
                <a:latin typeface="Arial"/>
                <a:ea typeface="+mn-ea"/>
                <a:cs typeface="+mn-cs"/>
              </a:rPr>
              <a:t>insecure-bank.com/page.html#default=</a:t>
            </a:r>
            <a:r>
              <a:rPr kumimoji="0" lang="en-SG" sz="2400" b="0" i="0" u="none" strike="noStrike" kern="0" cap="none" spc="0" normalizeH="0" baseline="0" noProof="0">
                <a:ln>
                  <a:noFill/>
                </a:ln>
                <a:solidFill>
                  <a:srgbClr val="FF0000"/>
                </a:solidFill>
                <a:effectLst/>
                <a:uLnTx/>
                <a:uFillTx/>
                <a:latin typeface="Arial"/>
                <a:ea typeface="+mn-ea"/>
                <a:cs typeface="+mn-cs"/>
              </a:rPr>
              <a:t>&lt;script&gt;alert(document.cookie);&lt;/script&gt;</a:t>
            </a:r>
            <a:endParaRPr kumimoji="0" lang="en-SG" sz="2400" b="0" i="0" u="none" strike="noStrike" kern="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9753967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D06A8-3022-754D-959F-EBB08FBAB3A1}"/>
              </a:ext>
            </a:extLst>
          </p:cNvPr>
          <p:cNvSpPr>
            <a:spLocks noGrp="1"/>
          </p:cNvSpPr>
          <p:nvPr>
            <p:ph type="title" idx="4294967295"/>
          </p:nvPr>
        </p:nvSpPr>
        <p:spPr>
          <a:xfrm>
            <a:off x="155611" y="57927"/>
            <a:ext cx="10231438" cy="961183"/>
          </a:xfrm>
        </p:spPr>
        <p:txBody>
          <a:bodyPr/>
          <a:lstStyle/>
          <a:p>
            <a:r>
              <a:rPr lang="en-GB" dirty="0"/>
              <a:t>Another example of DOM-XSS vulnerability</a:t>
            </a:r>
          </a:p>
        </p:txBody>
      </p:sp>
      <p:sp>
        <p:nvSpPr>
          <p:cNvPr id="5" name="TextBox 4">
            <a:extLst>
              <a:ext uri="{FF2B5EF4-FFF2-40B4-BE49-F238E27FC236}">
                <a16:creationId xmlns:a16="http://schemas.microsoft.com/office/drawing/2014/main" id="{FD82F60D-068B-FE46-AD75-F98C7ABB1E29}"/>
              </a:ext>
            </a:extLst>
          </p:cNvPr>
          <p:cNvSpPr txBox="1"/>
          <p:nvPr/>
        </p:nvSpPr>
        <p:spPr>
          <a:xfrm>
            <a:off x="4882018" y="1556792"/>
            <a:ext cx="7123715" cy="3170099"/>
          </a:xfrm>
          <a:prstGeom prst="rect">
            <a:avLst/>
          </a:prstGeom>
          <a:solidFill>
            <a:schemeClr val="bg1"/>
          </a:solidFill>
          <a:ln w="25400">
            <a:solidFill>
              <a:srgbClr val="002060"/>
            </a:solidFill>
          </a:ln>
        </p:spPr>
        <p:txBody>
          <a:bodyPr wrap="square" rtlCol="0">
            <a:spAutoFit/>
          </a:bodyPr>
          <a:lstStyle/>
          <a:p>
            <a:r>
              <a:rPr lang="en-SG" sz="2000" i="1" dirty="0"/>
              <a:t>/* Grab the hash object #&lt;x&gt; from the URL. Find all matches with the </a:t>
            </a:r>
            <a:r>
              <a:rPr lang="en-SG" sz="2000" i="1" dirty="0" err="1"/>
              <a:t>findNumberOfMatches</a:t>
            </a:r>
            <a:r>
              <a:rPr lang="en-SG" sz="2000" i="1" dirty="0"/>
              <a:t>() function, providing the hash value as an input.*/ </a:t>
            </a:r>
            <a:endParaRPr lang="en-SG" sz="2000" dirty="0"/>
          </a:p>
          <a:p>
            <a:r>
              <a:rPr lang="en-SG" sz="2000" b="1" dirty="0" err="1"/>
              <a:t>const</a:t>
            </a:r>
            <a:r>
              <a:rPr lang="en-SG" sz="2000" b="1" dirty="0"/>
              <a:t> </a:t>
            </a:r>
            <a:r>
              <a:rPr lang="en-SG" sz="2000" dirty="0"/>
              <a:t>hash = </a:t>
            </a:r>
            <a:r>
              <a:rPr lang="en-SG" sz="2000" dirty="0" err="1"/>
              <a:t>document.location.hash</a:t>
            </a:r>
            <a:r>
              <a:rPr lang="en-SG" sz="2000" dirty="0"/>
              <a:t>;</a:t>
            </a:r>
            <a:br>
              <a:rPr lang="en-SG" sz="2000" dirty="0"/>
            </a:br>
            <a:r>
              <a:rPr lang="en-SG" sz="2000" b="1" dirty="0" err="1"/>
              <a:t>const</a:t>
            </a:r>
            <a:r>
              <a:rPr lang="en-SG" sz="2000" b="1" dirty="0"/>
              <a:t> </a:t>
            </a:r>
            <a:r>
              <a:rPr lang="en-SG" sz="2000" dirty="0"/>
              <a:t>funds = [];</a:t>
            </a:r>
            <a:br>
              <a:rPr lang="en-SG" sz="2000" dirty="0"/>
            </a:br>
            <a:r>
              <a:rPr lang="en-SG" sz="2000" b="1" dirty="0" err="1"/>
              <a:t>const</a:t>
            </a:r>
            <a:r>
              <a:rPr lang="en-SG" sz="2000" b="1" dirty="0"/>
              <a:t> </a:t>
            </a:r>
            <a:r>
              <a:rPr lang="en-SG" sz="2000" dirty="0" err="1"/>
              <a:t>nMatches</a:t>
            </a:r>
            <a:r>
              <a:rPr lang="en-SG" sz="2000" dirty="0"/>
              <a:t> = </a:t>
            </a:r>
            <a:r>
              <a:rPr lang="en-SG" sz="2000" dirty="0" err="1"/>
              <a:t>findNumberOfMatches</a:t>
            </a:r>
            <a:r>
              <a:rPr lang="en-SG" sz="2000" dirty="0"/>
              <a:t>(funds, hash); </a:t>
            </a:r>
          </a:p>
          <a:p>
            <a:r>
              <a:rPr lang="en-SG" sz="2000" i="1" dirty="0"/>
              <a:t>/*  Write the number of matches found, plus append the hash value to the DOM to improve the user experience */ </a:t>
            </a:r>
            <a:endParaRPr lang="en-SG" sz="2000" dirty="0"/>
          </a:p>
          <a:p>
            <a:r>
              <a:rPr lang="en-SG" sz="2000" dirty="0" err="1"/>
              <a:t>document.write</a:t>
            </a:r>
            <a:r>
              <a:rPr lang="en-SG" sz="2000" dirty="0"/>
              <a:t>(</a:t>
            </a:r>
            <a:r>
              <a:rPr lang="en-SG" sz="2000" dirty="0" err="1"/>
              <a:t>nMatches</a:t>
            </a:r>
            <a:r>
              <a:rPr lang="en-SG" sz="2000" dirty="0"/>
              <a:t> + ' matches found for ' + hash); </a:t>
            </a:r>
          </a:p>
          <a:p>
            <a:pPr algn="l"/>
            <a:endParaRPr lang="en-GB" sz="2000" dirty="0">
              <a:latin typeface="+mn-lt"/>
            </a:endParaRPr>
          </a:p>
        </p:txBody>
      </p:sp>
      <p:sp>
        <p:nvSpPr>
          <p:cNvPr id="3" name="TextBox 2">
            <a:extLst>
              <a:ext uri="{FF2B5EF4-FFF2-40B4-BE49-F238E27FC236}">
                <a16:creationId xmlns:a16="http://schemas.microsoft.com/office/drawing/2014/main" id="{C0487FC1-C1F0-F943-9269-52BC887BABE1}"/>
              </a:ext>
            </a:extLst>
          </p:cNvPr>
          <p:cNvSpPr txBox="1"/>
          <p:nvPr/>
        </p:nvSpPr>
        <p:spPr>
          <a:xfrm>
            <a:off x="489508" y="1120676"/>
            <a:ext cx="4392488" cy="1200329"/>
          </a:xfrm>
          <a:prstGeom prst="rect">
            <a:avLst/>
          </a:prstGeom>
          <a:noFill/>
        </p:spPr>
        <p:txBody>
          <a:bodyPr wrap="square" rtlCol="0">
            <a:spAutoFit/>
          </a:bodyPr>
          <a:lstStyle/>
          <a:p>
            <a:pPr algn="l"/>
            <a:r>
              <a:rPr lang="en-US" dirty="0">
                <a:latin typeface="Arial Nova" panose="020B0504020202020204" pitchFamily="34" charset="0"/>
              </a:rPr>
              <a:t>Suppose that a bank's web page has a list of funds for user to choose. The page provides searching, sorting and filtering functions </a:t>
            </a:r>
            <a:r>
              <a:rPr lang="en-US" dirty="0">
                <a:solidFill>
                  <a:srgbClr val="FF0000"/>
                </a:solidFill>
                <a:latin typeface="Arial Nova" panose="020B0504020202020204" pitchFamily="34" charset="0"/>
              </a:rPr>
              <a:t>at the client side</a:t>
            </a:r>
            <a:r>
              <a:rPr lang="en-US" dirty="0">
                <a:latin typeface="Arial Nova" panose="020B0504020202020204" pitchFamily="34" charset="0"/>
              </a:rPr>
              <a:t>. </a:t>
            </a:r>
          </a:p>
        </p:txBody>
      </p:sp>
      <p:pic>
        <p:nvPicPr>
          <p:cNvPr id="7" name="Picture 6" descr="Graphical user interface, website&#10;&#10;Description automatically generated">
            <a:extLst>
              <a:ext uri="{FF2B5EF4-FFF2-40B4-BE49-F238E27FC236}">
                <a16:creationId xmlns:a16="http://schemas.microsoft.com/office/drawing/2014/main" id="{510A9E80-58A4-6A4B-8053-5F41E5E32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611" y="2746841"/>
            <a:ext cx="4503790" cy="3153170"/>
          </a:xfrm>
          <a:prstGeom prst="rect">
            <a:avLst/>
          </a:prstGeom>
        </p:spPr>
      </p:pic>
      <p:sp>
        <p:nvSpPr>
          <p:cNvPr id="8" name="Rectangle 7">
            <a:extLst>
              <a:ext uri="{FF2B5EF4-FFF2-40B4-BE49-F238E27FC236}">
                <a16:creationId xmlns:a16="http://schemas.microsoft.com/office/drawing/2014/main" id="{A65FDF78-FA26-7546-8F9A-32F4011D6C7F}"/>
              </a:ext>
            </a:extLst>
          </p:cNvPr>
          <p:cNvSpPr/>
          <p:nvPr/>
        </p:nvSpPr>
        <p:spPr>
          <a:xfrm>
            <a:off x="6312024" y="2492896"/>
            <a:ext cx="2664296" cy="36004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ABF9676-BFFE-E84A-9627-199A16EAF35B}"/>
              </a:ext>
            </a:extLst>
          </p:cNvPr>
          <p:cNvSpPr txBox="1"/>
          <p:nvPr/>
        </p:nvSpPr>
        <p:spPr>
          <a:xfrm>
            <a:off x="6357797" y="957915"/>
            <a:ext cx="1194558" cy="461665"/>
          </a:xfrm>
          <a:prstGeom prst="rect">
            <a:avLst/>
          </a:prstGeom>
          <a:noFill/>
        </p:spPr>
        <p:txBody>
          <a:bodyPr wrap="none" rtlCol="0">
            <a:spAutoFit/>
          </a:bodyPr>
          <a:lstStyle/>
          <a:p>
            <a:pPr algn="l"/>
            <a:r>
              <a:rPr lang="en-US" dirty="0">
                <a:latin typeface="+mn-lt"/>
              </a:rPr>
              <a:t>source </a:t>
            </a:r>
          </a:p>
        </p:txBody>
      </p:sp>
      <p:cxnSp>
        <p:nvCxnSpPr>
          <p:cNvPr id="11" name="Straight Arrow Connector 10">
            <a:extLst>
              <a:ext uri="{FF2B5EF4-FFF2-40B4-BE49-F238E27FC236}">
                <a16:creationId xmlns:a16="http://schemas.microsoft.com/office/drawing/2014/main" id="{2926D1E3-B19D-3644-8C0E-6CF1DD56BCC6}"/>
              </a:ext>
            </a:extLst>
          </p:cNvPr>
          <p:cNvCxnSpPr>
            <a:cxnSpLocks/>
            <a:stCxn id="9" idx="2"/>
          </p:cNvCxnSpPr>
          <p:nvPr/>
        </p:nvCxnSpPr>
        <p:spPr>
          <a:xfrm>
            <a:off x="6955076" y="1419580"/>
            <a:ext cx="354930" cy="1060203"/>
          </a:xfrm>
          <a:prstGeom prst="straightConnector1">
            <a:avLst/>
          </a:prstGeom>
          <a:ln>
            <a:solidFill>
              <a:srgbClr val="00009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3FBF0D4F-87D8-3445-9C3F-5800DF9B1F69}"/>
              </a:ext>
            </a:extLst>
          </p:cNvPr>
          <p:cNvSpPr/>
          <p:nvPr/>
        </p:nvSpPr>
        <p:spPr>
          <a:xfrm>
            <a:off x="4943872" y="4077072"/>
            <a:ext cx="6048672" cy="31833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578E3CD-7521-004F-85A0-C36F52E4DB76}"/>
              </a:ext>
            </a:extLst>
          </p:cNvPr>
          <p:cNvSpPr txBox="1"/>
          <p:nvPr/>
        </p:nvSpPr>
        <p:spPr>
          <a:xfrm>
            <a:off x="5624904" y="5015118"/>
            <a:ext cx="732893" cy="461665"/>
          </a:xfrm>
          <a:prstGeom prst="rect">
            <a:avLst/>
          </a:prstGeom>
          <a:noFill/>
        </p:spPr>
        <p:txBody>
          <a:bodyPr wrap="none" rtlCol="0">
            <a:spAutoFit/>
          </a:bodyPr>
          <a:lstStyle/>
          <a:p>
            <a:pPr algn="l"/>
            <a:r>
              <a:rPr lang="en-US" dirty="0">
                <a:latin typeface="+mn-lt"/>
              </a:rPr>
              <a:t>sink</a:t>
            </a:r>
          </a:p>
        </p:txBody>
      </p:sp>
      <p:cxnSp>
        <p:nvCxnSpPr>
          <p:cNvPr id="15" name="Straight Arrow Connector 14">
            <a:extLst>
              <a:ext uri="{FF2B5EF4-FFF2-40B4-BE49-F238E27FC236}">
                <a16:creationId xmlns:a16="http://schemas.microsoft.com/office/drawing/2014/main" id="{2FA5B89D-BA9F-9B4F-A64A-B60F5BA5B63C}"/>
              </a:ext>
            </a:extLst>
          </p:cNvPr>
          <p:cNvCxnSpPr>
            <a:cxnSpLocks/>
            <a:stCxn id="13" idx="0"/>
          </p:cNvCxnSpPr>
          <p:nvPr/>
        </p:nvCxnSpPr>
        <p:spPr>
          <a:xfrm flipV="1">
            <a:off x="5991351" y="4323426"/>
            <a:ext cx="366446" cy="691692"/>
          </a:xfrm>
          <a:prstGeom prst="straightConnector1">
            <a:avLst/>
          </a:prstGeom>
          <a:ln>
            <a:solidFill>
              <a:srgbClr val="00009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7F6DFF34-D054-C349-B8AA-C6D301A9B624}"/>
              </a:ext>
            </a:extLst>
          </p:cNvPr>
          <p:cNvCxnSpPr>
            <a:cxnSpLocks/>
          </p:cNvCxnSpPr>
          <p:nvPr/>
        </p:nvCxnSpPr>
        <p:spPr>
          <a:xfrm flipV="1">
            <a:off x="10560496" y="4293096"/>
            <a:ext cx="0" cy="108112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38C4EA97-F6EA-134E-B854-4AFF71CE74DC}"/>
              </a:ext>
            </a:extLst>
          </p:cNvPr>
          <p:cNvSpPr txBox="1"/>
          <p:nvPr/>
        </p:nvSpPr>
        <p:spPr>
          <a:xfrm>
            <a:off x="8976319" y="5466917"/>
            <a:ext cx="3196661" cy="707886"/>
          </a:xfrm>
          <a:prstGeom prst="rect">
            <a:avLst/>
          </a:prstGeom>
          <a:noFill/>
        </p:spPr>
        <p:txBody>
          <a:bodyPr wrap="square" rtlCol="0">
            <a:spAutoFit/>
          </a:bodyPr>
          <a:lstStyle/>
          <a:p>
            <a:pPr algn="l"/>
            <a:r>
              <a:rPr lang="en-US" sz="2000" dirty="0">
                <a:solidFill>
                  <a:srgbClr val="FF0000"/>
                </a:solidFill>
                <a:latin typeface="+mn-lt"/>
              </a:rPr>
              <a:t>malicious input (e.g., </a:t>
            </a:r>
            <a:r>
              <a:rPr lang="en-US" sz="2000" dirty="0" err="1">
                <a:solidFill>
                  <a:srgbClr val="FF0000"/>
                </a:solidFill>
                <a:latin typeface="+mn-lt"/>
              </a:rPr>
              <a:t>javascript</a:t>
            </a:r>
            <a:r>
              <a:rPr lang="en-US" sz="2000" dirty="0">
                <a:solidFill>
                  <a:srgbClr val="FF0000"/>
                </a:solidFill>
                <a:latin typeface="+mn-lt"/>
              </a:rPr>
              <a:t> code) from URL!</a:t>
            </a:r>
          </a:p>
        </p:txBody>
      </p:sp>
      <p:sp>
        <p:nvSpPr>
          <p:cNvPr id="20" name="TextBox 19">
            <a:extLst>
              <a:ext uri="{FF2B5EF4-FFF2-40B4-BE49-F238E27FC236}">
                <a16:creationId xmlns:a16="http://schemas.microsoft.com/office/drawing/2014/main" id="{E04A5BEF-3F4B-4D42-B035-4CA673B82BB8}"/>
              </a:ext>
            </a:extLst>
          </p:cNvPr>
          <p:cNvSpPr txBox="1"/>
          <p:nvPr/>
        </p:nvSpPr>
        <p:spPr>
          <a:xfrm>
            <a:off x="7373257" y="988692"/>
            <a:ext cx="4070598" cy="400110"/>
          </a:xfrm>
          <a:prstGeom prst="rect">
            <a:avLst/>
          </a:prstGeom>
          <a:noFill/>
        </p:spPr>
        <p:txBody>
          <a:bodyPr wrap="square" rtlCol="0">
            <a:spAutoFit/>
          </a:bodyPr>
          <a:lstStyle/>
          <a:p>
            <a:pPr algn="l"/>
            <a:r>
              <a:rPr lang="en-US" sz="2000" dirty="0">
                <a:solidFill>
                  <a:srgbClr val="FF0000"/>
                </a:solidFill>
                <a:latin typeface="+mn-lt"/>
              </a:rPr>
              <a:t>URL</a:t>
            </a:r>
            <a:r>
              <a:rPr lang="en-US" sz="2000" dirty="0">
                <a:solidFill>
                  <a:srgbClr val="FF0000"/>
                </a:solidFill>
              </a:rPr>
              <a:t> may contain malicious input</a:t>
            </a:r>
            <a:endParaRPr lang="en-US" sz="2000" dirty="0">
              <a:solidFill>
                <a:srgbClr val="FF0000"/>
              </a:solidFill>
              <a:latin typeface="+mn-lt"/>
            </a:endParaRPr>
          </a:p>
        </p:txBody>
      </p:sp>
    </p:spTree>
    <p:extLst>
      <p:ext uri="{BB962C8B-B14F-4D97-AF65-F5344CB8AC3E}">
        <p14:creationId xmlns:p14="http://schemas.microsoft.com/office/powerpoint/2010/main" val="55805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2" grpId="0" animBg="1"/>
      <p:bldP spid="1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83434-0B42-D848-9D52-A87AE4D300E9}"/>
              </a:ext>
            </a:extLst>
          </p:cNvPr>
          <p:cNvSpPr>
            <a:spLocks noGrp="1"/>
          </p:cNvSpPr>
          <p:nvPr>
            <p:ph type="title"/>
          </p:nvPr>
        </p:nvSpPr>
        <p:spPr/>
        <p:txBody>
          <a:bodyPr/>
          <a:lstStyle/>
          <a:p>
            <a:r>
              <a:rPr lang="en-GB" altLang="de-DE" dirty="0"/>
              <a:t>Defence against XSS</a:t>
            </a:r>
            <a:endParaRPr lang="en-US" dirty="0"/>
          </a:p>
        </p:txBody>
      </p:sp>
      <p:sp>
        <p:nvSpPr>
          <p:cNvPr id="7" name="Text Placeholder 6">
            <a:extLst>
              <a:ext uri="{FF2B5EF4-FFF2-40B4-BE49-F238E27FC236}">
                <a16:creationId xmlns:a16="http://schemas.microsoft.com/office/drawing/2014/main" id="{11D05E3B-C489-734A-A7D0-3932A65AC64E}"/>
              </a:ext>
            </a:extLst>
          </p:cNvPr>
          <p:cNvSpPr>
            <a:spLocks noGrp="1"/>
          </p:cNvSpPr>
          <p:nvPr>
            <p:ph type="body" idx="11"/>
          </p:nvPr>
        </p:nvSpPr>
        <p:spPr/>
        <p:txBody>
          <a:bodyPr/>
          <a:lstStyle/>
          <a:p>
            <a:endParaRPr lang="en-US" dirty="0"/>
          </a:p>
        </p:txBody>
      </p:sp>
      <p:sp>
        <p:nvSpPr>
          <p:cNvPr id="3" name="Content Placeholder 2">
            <a:extLst>
              <a:ext uri="{FF2B5EF4-FFF2-40B4-BE49-F238E27FC236}">
                <a16:creationId xmlns:a16="http://schemas.microsoft.com/office/drawing/2014/main" id="{9B246572-0A27-774E-BEA8-311028E85654}"/>
              </a:ext>
            </a:extLst>
          </p:cNvPr>
          <p:cNvSpPr>
            <a:spLocks noGrp="1"/>
          </p:cNvSpPr>
          <p:nvPr>
            <p:ph idx="1"/>
          </p:nvPr>
        </p:nvSpPr>
        <p:spPr/>
        <p:txBody>
          <a:bodyPr/>
          <a:lstStyle/>
          <a:p>
            <a:r>
              <a:rPr lang="en-GB" altLang="de-DE" dirty="0"/>
              <a:t>Two fundamental defence strategies:</a:t>
            </a:r>
          </a:p>
          <a:p>
            <a:pPr lvl="1"/>
            <a:r>
              <a:rPr lang="en-GB" altLang="de-DE" dirty="0"/>
              <a:t>Filter server outputs / browser inputs : differentiate between HTML elements (‘code’) and user data</a:t>
            </a:r>
          </a:p>
          <a:p>
            <a:pPr lvl="2"/>
            <a:r>
              <a:rPr lang="en-GB" altLang="de-DE" dirty="0"/>
              <a:t>Clients can use safe JavaScript APIs or filter inputs ( e.g., !</a:t>
            </a:r>
            <a:r>
              <a:rPr lang="en-GB" altLang="de-DE" dirty="0" err="1"/>
              <a:t>isNaN</a:t>
            </a:r>
            <a:r>
              <a:rPr lang="en-GB" altLang="de-DE" dirty="0"/>
              <a:t>(input) )</a:t>
            </a:r>
          </a:p>
          <a:p>
            <a:pPr lvl="2"/>
            <a:r>
              <a:rPr lang="en-GB" altLang="de-DE" dirty="0"/>
              <a:t>Servers can sanitize outputs, escape, encode dangerous characters ( e.g., &lt; is </a:t>
            </a:r>
            <a:r>
              <a:rPr lang="en-GB" altLang="de-DE" dirty="0">
                <a:sym typeface="Wingdings" pitchFamily="2" charset="2"/>
              </a:rPr>
              <a:t>converted to "&amp;</a:t>
            </a:r>
            <a:r>
              <a:rPr lang="en-GB" altLang="de-DE" dirty="0" err="1">
                <a:sym typeface="Wingdings" pitchFamily="2" charset="2"/>
              </a:rPr>
              <a:t>lt</a:t>
            </a:r>
            <a:r>
              <a:rPr lang="en-GB" altLang="de-DE" dirty="0">
                <a:sym typeface="Wingdings" pitchFamily="2" charset="2"/>
              </a:rPr>
              <a:t>;" ) – known as output encoding</a:t>
            </a:r>
          </a:p>
          <a:p>
            <a:pPr lvl="2"/>
            <a:endParaRPr lang="en-GB" altLang="de-DE" dirty="0"/>
          </a:p>
          <a:p>
            <a:pPr lvl="1"/>
            <a:r>
              <a:rPr lang="en-GB" altLang="de-DE" dirty="0"/>
              <a:t>Improve access control -- XSS violates SOP (access control)</a:t>
            </a:r>
          </a:p>
          <a:p>
            <a:pPr lvl="2"/>
            <a:r>
              <a:rPr lang="en-GB" altLang="de-DE" dirty="0"/>
              <a:t>Authenticate origin (back to cryptography stuff)</a:t>
            </a:r>
          </a:p>
          <a:p>
            <a:pPr lvl="2"/>
            <a:r>
              <a:rPr lang="en-GB" altLang="de-DE" dirty="0"/>
              <a:t>Block execution of scripts in the browser altogether </a:t>
            </a:r>
            <a:r>
              <a:rPr lang="en-GB" altLang="de-DE" dirty="0">
                <a:sym typeface="Wingdings" pitchFamily="2" charset="2"/>
              </a:rPr>
              <a:t> most secure but not practical</a:t>
            </a:r>
            <a:endParaRPr lang="en-GB" altLang="de-DE" dirty="0"/>
          </a:p>
          <a:p>
            <a:pPr lvl="2"/>
            <a:r>
              <a:rPr lang="en-GB" altLang="de-DE" dirty="0"/>
              <a:t>Authorize scripts explicitly (content security policy)</a:t>
            </a:r>
          </a:p>
          <a:p>
            <a:endParaRPr lang="en-US" dirty="0"/>
          </a:p>
        </p:txBody>
      </p:sp>
    </p:spTree>
    <p:extLst>
      <p:ext uri="{BB962C8B-B14F-4D97-AF65-F5344CB8AC3E}">
        <p14:creationId xmlns:p14="http://schemas.microsoft.com/office/powerpoint/2010/main" val="32215782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A713-D713-DF48-BE11-A23C5AD13A92}"/>
              </a:ext>
            </a:extLst>
          </p:cNvPr>
          <p:cNvSpPr>
            <a:spLocks noGrp="1"/>
          </p:cNvSpPr>
          <p:nvPr>
            <p:ph type="title"/>
          </p:nvPr>
        </p:nvSpPr>
        <p:spPr/>
        <p:txBody>
          <a:bodyPr/>
          <a:lstStyle/>
          <a:p>
            <a:r>
              <a:rPr lang="en-GB" altLang="de-DE" dirty="0"/>
              <a:t>Strategy 1: Filtering</a:t>
            </a:r>
            <a:endParaRPr lang="en-US" dirty="0"/>
          </a:p>
        </p:txBody>
      </p:sp>
      <p:sp>
        <p:nvSpPr>
          <p:cNvPr id="7" name="Text Placeholder 6">
            <a:extLst>
              <a:ext uri="{FF2B5EF4-FFF2-40B4-BE49-F238E27FC236}">
                <a16:creationId xmlns:a16="http://schemas.microsoft.com/office/drawing/2014/main" id="{BDB9FCF2-F577-9E47-86AF-FEF7DDAC1417}"/>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811AF0F3-849E-774D-BADD-52802FF7D788}"/>
              </a:ext>
            </a:extLst>
          </p:cNvPr>
          <p:cNvSpPr>
            <a:spLocks noGrp="1"/>
          </p:cNvSpPr>
          <p:nvPr>
            <p:ph idx="1"/>
          </p:nvPr>
        </p:nvSpPr>
        <p:spPr/>
        <p:txBody>
          <a:bodyPr>
            <a:normAutofit/>
          </a:bodyPr>
          <a:lstStyle/>
          <a:p>
            <a:r>
              <a:rPr lang="en-US" altLang="de-DE" dirty="0"/>
              <a:t>Filtering is the current practice with some limitations.</a:t>
            </a:r>
          </a:p>
          <a:p>
            <a:r>
              <a:rPr lang="en-US" altLang="de-DE" b="1" dirty="0"/>
              <a:t>Limitation 1</a:t>
            </a:r>
            <a:r>
              <a:rPr lang="en-US" altLang="de-DE" dirty="0"/>
              <a:t>: Only works well if you have clear rules characterizing good/bad inputs</a:t>
            </a:r>
          </a:p>
          <a:p>
            <a:r>
              <a:rPr lang="en-US" altLang="de-DE" b="1" dirty="0"/>
              <a:t>Limitation 2</a:t>
            </a:r>
            <a:r>
              <a:rPr lang="en-US" altLang="de-DE" dirty="0"/>
              <a:t>: Has to be tailored to a specific scenario; has to deal with unspecified browser behavior</a:t>
            </a:r>
          </a:p>
          <a:p>
            <a:r>
              <a:rPr lang="en-US" altLang="de-DE" b="1" dirty="0"/>
              <a:t>Limitation 3</a:t>
            </a:r>
            <a:r>
              <a:rPr lang="en-US" altLang="de-DE" dirty="0"/>
              <a:t>: Scattered code. </a:t>
            </a:r>
            <a:r>
              <a:rPr lang="en-US" altLang="de-DE" dirty="0">
                <a:sym typeface="Wingdings" pitchFamily="2" charset="2"/>
              </a:rPr>
              <a:t>input validation/output sanitization </a:t>
            </a:r>
            <a:r>
              <a:rPr lang="en-US" altLang="de-DE" dirty="0"/>
              <a:t>not centrally enforceable</a:t>
            </a:r>
          </a:p>
        </p:txBody>
      </p:sp>
    </p:spTree>
    <p:extLst>
      <p:ext uri="{BB962C8B-B14F-4D97-AF65-F5344CB8AC3E}">
        <p14:creationId xmlns:p14="http://schemas.microsoft.com/office/powerpoint/2010/main" val="19466651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F1590-FB05-8848-BCF3-497C7F2D3A36}"/>
              </a:ext>
            </a:extLst>
          </p:cNvPr>
          <p:cNvSpPr>
            <a:spLocks noGrp="1"/>
          </p:cNvSpPr>
          <p:nvPr>
            <p:ph type="title"/>
          </p:nvPr>
        </p:nvSpPr>
        <p:spPr/>
        <p:txBody>
          <a:bodyPr/>
          <a:lstStyle/>
          <a:p>
            <a:r>
              <a:rPr lang="en-GB" altLang="de-DE" dirty="0"/>
              <a:t>Strategy 2: Improve Access Control</a:t>
            </a:r>
            <a:endParaRPr lang="en-US" dirty="0"/>
          </a:p>
        </p:txBody>
      </p:sp>
      <p:sp>
        <p:nvSpPr>
          <p:cNvPr id="7" name="Text Placeholder 6">
            <a:extLst>
              <a:ext uri="{FF2B5EF4-FFF2-40B4-BE49-F238E27FC236}">
                <a16:creationId xmlns:a16="http://schemas.microsoft.com/office/drawing/2014/main" id="{D57F0C57-D1F2-E34A-B991-990D1501C9FB}"/>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FE544A85-F51D-AE4B-9638-228807F947F0}"/>
              </a:ext>
            </a:extLst>
          </p:cNvPr>
          <p:cNvSpPr>
            <a:spLocks noGrp="1"/>
          </p:cNvSpPr>
          <p:nvPr>
            <p:ph idx="1"/>
          </p:nvPr>
        </p:nvSpPr>
        <p:spPr/>
        <p:txBody>
          <a:bodyPr/>
          <a:lstStyle/>
          <a:p>
            <a:r>
              <a:rPr lang="en-GB" altLang="de-DE" dirty="0"/>
              <a:t>Authenticate origin: </a:t>
            </a:r>
            <a:r>
              <a:rPr lang="en-GB" altLang="de-DE" dirty="0">
                <a:sym typeface="Wingdings" pitchFamily="2" charset="2"/>
              </a:rPr>
              <a:t> not really used in practice. May be used some very sensitive military applications</a:t>
            </a:r>
            <a:endParaRPr lang="en-GB" altLang="de-DE" dirty="0"/>
          </a:p>
          <a:p>
            <a:pPr lvl="1"/>
            <a:r>
              <a:rPr lang="en-GB" altLang="de-DE" dirty="0"/>
              <a:t>Server could sign scripts (PKI); client needs public verification key </a:t>
            </a:r>
          </a:p>
          <a:p>
            <a:pPr lvl="1"/>
            <a:r>
              <a:rPr lang="en-GB" altLang="de-DE" dirty="0"/>
              <a:t>Server could apply MAC to scripts; client needs secret key</a:t>
            </a:r>
          </a:p>
          <a:p>
            <a:pPr lvl="1"/>
            <a:endParaRPr lang="en-GB" altLang="de-DE" dirty="0"/>
          </a:p>
          <a:p>
            <a:r>
              <a:rPr lang="en-GB" altLang="de-DE" dirty="0"/>
              <a:t>Browser, when rendering page from trusted server, checks that scripts are authorized by trusted server</a:t>
            </a:r>
          </a:p>
          <a:p>
            <a:pPr lvl="1"/>
            <a:r>
              <a:rPr lang="en-GB" altLang="de-DE" dirty="0"/>
              <a:t>Server could put authorized scripts in a specific directory and tell client about it (Content Security Policy)</a:t>
            </a:r>
          </a:p>
        </p:txBody>
      </p:sp>
    </p:spTree>
    <p:extLst>
      <p:ext uri="{BB962C8B-B14F-4D97-AF65-F5344CB8AC3E}">
        <p14:creationId xmlns:p14="http://schemas.microsoft.com/office/powerpoint/2010/main" val="535996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592C0-DDE0-1441-AFFA-86AC626032EC}"/>
              </a:ext>
            </a:extLst>
          </p:cNvPr>
          <p:cNvSpPr>
            <a:spLocks noGrp="1"/>
          </p:cNvSpPr>
          <p:nvPr>
            <p:ph type="title"/>
          </p:nvPr>
        </p:nvSpPr>
        <p:spPr/>
        <p:txBody>
          <a:bodyPr/>
          <a:lstStyle/>
          <a:p>
            <a:r>
              <a:rPr lang="en-GB" altLang="de-DE" dirty="0"/>
              <a:t>Blocking Script Execution &amp; CSP</a:t>
            </a:r>
            <a:endParaRPr lang="en-US" dirty="0"/>
          </a:p>
        </p:txBody>
      </p:sp>
      <p:sp>
        <p:nvSpPr>
          <p:cNvPr id="7" name="Text Placeholder 6">
            <a:extLst>
              <a:ext uri="{FF2B5EF4-FFF2-40B4-BE49-F238E27FC236}">
                <a16:creationId xmlns:a16="http://schemas.microsoft.com/office/drawing/2014/main" id="{9539B1EC-903B-4C48-AF74-322A9D86ADF4}"/>
              </a:ext>
            </a:extLst>
          </p:cNvPr>
          <p:cNvSpPr>
            <a:spLocks noGrp="1"/>
          </p:cNvSpPr>
          <p:nvPr>
            <p:ph type="body" idx="11"/>
          </p:nvPr>
        </p:nvSpPr>
        <p:spPr/>
        <p:txBody>
          <a:bodyPr/>
          <a:lstStyle/>
          <a:p>
            <a:endParaRPr lang="en-US"/>
          </a:p>
        </p:txBody>
      </p:sp>
      <p:sp>
        <p:nvSpPr>
          <p:cNvPr id="3" name="Content Placeholder 2">
            <a:extLst>
              <a:ext uri="{FF2B5EF4-FFF2-40B4-BE49-F238E27FC236}">
                <a16:creationId xmlns:a16="http://schemas.microsoft.com/office/drawing/2014/main" id="{7FDAF447-68FF-F544-8F66-D7A3C19A1154}"/>
              </a:ext>
            </a:extLst>
          </p:cNvPr>
          <p:cNvSpPr>
            <a:spLocks noGrp="1"/>
          </p:cNvSpPr>
          <p:nvPr>
            <p:ph idx="1"/>
          </p:nvPr>
        </p:nvSpPr>
        <p:spPr/>
        <p:txBody>
          <a:bodyPr>
            <a:normAutofit lnSpcReduction="10000"/>
          </a:bodyPr>
          <a:lstStyle/>
          <a:p>
            <a:r>
              <a:rPr lang="en-GB" altLang="de-DE" dirty="0"/>
              <a:t>Blocking all scripts seriously limits the web pages one can use today</a:t>
            </a:r>
          </a:p>
          <a:p>
            <a:r>
              <a:rPr lang="en-GB" altLang="de-DE" dirty="0"/>
              <a:t>Block in-line scripts: Mozilla’s </a:t>
            </a:r>
            <a:r>
              <a:rPr lang="en-GB" altLang="de-DE" b="1" dirty="0"/>
              <a:t>Content Security Policy</a:t>
            </a:r>
          </a:p>
          <a:p>
            <a:pPr lvl="1"/>
            <a:r>
              <a:rPr lang="en-GB" altLang="de-DE" dirty="0"/>
              <a:t>All scripts for a page must be loaded from white-listed hosts</a:t>
            </a:r>
          </a:p>
          <a:p>
            <a:pPr lvl="1"/>
            <a:r>
              <a:rPr lang="en-GB" altLang="de-DE" dirty="0"/>
              <a:t>Scripts included via a &lt;script&gt; tag pointing to a white-listed host will be treated as valid </a:t>
            </a:r>
          </a:p>
          <a:p>
            <a:pPr lvl="1"/>
            <a:r>
              <a:rPr lang="en-GB" altLang="de-DE" dirty="0"/>
              <a:t>Ignore all other scripts (including inline scripts and event-handling HTML attributes).</a:t>
            </a:r>
          </a:p>
          <a:p>
            <a:pPr lvl="1"/>
            <a:r>
              <a:rPr lang="en-GB" altLang="de-DE" dirty="0">
                <a:hlinkClick r:id="rId2"/>
              </a:rPr>
              <a:t>https://developer.mozilla.org/en-US/docs/Web/HTTP/CSP</a:t>
            </a:r>
            <a:endParaRPr lang="en-GB" altLang="de-DE" dirty="0"/>
          </a:p>
          <a:p>
            <a:r>
              <a:rPr lang="en-GB" altLang="de-DE" dirty="0"/>
              <a:t>Server tells browser how to distinguish between its own scripts and scripts injected into its web pages</a:t>
            </a:r>
          </a:p>
          <a:p>
            <a:r>
              <a:rPr lang="en-GB" altLang="de-DE" dirty="0"/>
              <a:t>Industry vibe: this approach looks promising</a:t>
            </a:r>
          </a:p>
        </p:txBody>
      </p:sp>
    </p:spTree>
    <p:extLst>
      <p:ext uri="{BB962C8B-B14F-4D97-AF65-F5344CB8AC3E}">
        <p14:creationId xmlns:p14="http://schemas.microsoft.com/office/powerpoint/2010/main" val="28601102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8D8F27F-4166-359B-6147-CC7D9BF51A16}"/>
              </a:ext>
            </a:extLst>
          </p:cNvPr>
          <p:cNvSpPr>
            <a:spLocks noGrp="1"/>
          </p:cNvSpPr>
          <p:nvPr>
            <p:ph type="body" idx="11"/>
          </p:nvPr>
        </p:nvSpPr>
        <p:spPr/>
        <p:txBody>
          <a:bodyPr/>
          <a:lstStyle/>
          <a:p>
            <a:endParaRPr lang="en-US"/>
          </a:p>
        </p:txBody>
      </p:sp>
      <p:pic>
        <p:nvPicPr>
          <p:cNvPr id="6" name="Picture 5">
            <a:extLst>
              <a:ext uri="{FF2B5EF4-FFF2-40B4-BE49-F238E27FC236}">
                <a16:creationId xmlns:a16="http://schemas.microsoft.com/office/drawing/2014/main" id="{1148DFB3-6006-0B8A-F6E6-200D32A09F88}"/>
              </a:ext>
            </a:extLst>
          </p:cNvPr>
          <p:cNvPicPr>
            <a:picLocks noChangeAspect="1"/>
          </p:cNvPicPr>
          <p:nvPr/>
        </p:nvPicPr>
        <p:blipFill>
          <a:blip r:embed="rId2"/>
          <a:stretch>
            <a:fillRect/>
          </a:stretch>
        </p:blipFill>
        <p:spPr>
          <a:xfrm>
            <a:off x="1423987" y="895350"/>
            <a:ext cx="9344025" cy="5962650"/>
          </a:xfrm>
          <a:prstGeom prst="rect">
            <a:avLst/>
          </a:prstGeom>
        </p:spPr>
      </p:pic>
      <p:sp>
        <p:nvSpPr>
          <p:cNvPr id="7" name="Title 1">
            <a:extLst>
              <a:ext uri="{FF2B5EF4-FFF2-40B4-BE49-F238E27FC236}">
                <a16:creationId xmlns:a16="http://schemas.microsoft.com/office/drawing/2014/main" id="{26399988-DF1C-C8A0-67A9-90579256DC7C}"/>
              </a:ext>
            </a:extLst>
          </p:cNvPr>
          <p:cNvSpPr>
            <a:spLocks noGrp="1"/>
          </p:cNvSpPr>
          <p:nvPr>
            <p:ph type="title"/>
          </p:nvPr>
        </p:nvSpPr>
        <p:spPr>
          <a:xfrm>
            <a:off x="513349" y="310719"/>
            <a:ext cx="10840451" cy="584828"/>
          </a:xfrm>
        </p:spPr>
        <p:txBody>
          <a:bodyPr/>
          <a:lstStyle/>
          <a:p>
            <a:r>
              <a:rPr lang="en-US" dirty="0"/>
              <a:t>CSP-Example</a:t>
            </a:r>
          </a:p>
        </p:txBody>
      </p:sp>
    </p:spTree>
    <p:extLst>
      <p:ext uri="{BB962C8B-B14F-4D97-AF65-F5344CB8AC3E}">
        <p14:creationId xmlns:p14="http://schemas.microsoft.com/office/powerpoint/2010/main" val="429939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CC2A4-21BD-324A-9E6D-B601FB51E9DA}"/>
              </a:ext>
            </a:extLst>
          </p:cNvPr>
          <p:cNvSpPr>
            <a:spLocks noGrp="1"/>
          </p:cNvSpPr>
          <p:nvPr>
            <p:ph type="title"/>
          </p:nvPr>
        </p:nvSpPr>
        <p:spPr/>
        <p:txBody>
          <a:bodyPr/>
          <a:lstStyle/>
          <a:p>
            <a:r>
              <a:rPr lang="en-US" dirty="0"/>
              <a:t>Take Away</a:t>
            </a:r>
          </a:p>
        </p:txBody>
      </p:sp>
      <p:sp>
        <p:nvSpPr>
          <p:cNvPr id="4" name="Content Placeholder 3">
            <a:extLst>
              <a:ext uri="{FF2B5EF4-FFF2-40B4-BE49-F238E27FC236}">
                <a16:creationId xmlns:a16="http://schemas.microsoft.com/office/drawing/2014/main" id="{EA24A6FD-56DE-6241-B444-0979818B272E}"/>
              </a:ext>
            </a:extLst>
          </p:cNvPr>
          <p:cNvSpPr>
            <a:spLocks noGrp="1"/>
          </p:cNvSpPr>
          <p:nvPr>
            <p:ph idx="1"/>
          </p:nvPr>
        </p:nvSpPr>
        <p:spPr/>
        <p:txBody>
          <a:bodyPr>
            <a:normAutofit fontScale="92500"/>
          </a:bodyPr>
          <a:lstStyle/>
          <a:p>
            <a:r>
              <a:rPr lang="en-US" sz="2200" dirty="0"/>
              <a:t>HTTP is stateless protocol</a:t>
            </a:r>
          </a:p>
          <a:p>
            <a:r>
              <a:rPr lang="en-US" sz="2200" dirty="0"/>
              <a:t>To establish states (e.g. to remember user’s actions), web applications create sessions</a:t>
            </a:r>
          </a:p>
          <a:p>
            <a:pPr lvl="1"/>
            <a:r>
              <a:rPr lang="en-US" dirty="0"/>
              <a:t>based on cookies, session identifiers</a:t>
            </a:r>
          </a:p>
          <a:p>
            <a:pPr lvl="1"/>
            <a:r>
              <a:rPr lang="en-US" dirty="0"/>
              <a:t>assume that communication (internet) is ‘secure’ </a:t>
            </a:r>
            <a:endParaRPr lang="en-US" sz="2200" dirty="0"/>
          </a:p>
          <a:p>
            <a:r>
              <a:rPr lang="en-US" sz="2200" dirty="0"/>
              <a:t>Sessions can be compromised at their endpoints</a:t>
            </a:r>
          </a:p>
          <a:p>
            <a:r>
              <a:rPr lang="en-US" sz="2200" dirty="0"/>
              <a:t>Code and data (such as session id) at client side can be compromised </a:t>
            </a:r>
            <a:r>
              <a:rPr lang="en-US" sz="2200"/>
              <a:t>and manipulated</a:t>
            </a:r>
            <a:endParaRPr lang="en-US" sz="2200" dirty="0"/>
          </a:p>
          <a:p>
            <a:r>
              <a:rPr lang="en-GB" altLang="de-DE" sz="2200" dirty="0"/>
              <a:t>Same origin policy attempts to protect application payloads and session identifiers from outside attackers (malicious websites)</a:t>
            </a:r>
          </a:p>
          <a:p>
            <a:r>
              <a:rPr lang="en-GB" altLang="de-DE" sz="2200" dirty="0"/>
              <a:t>Yet, they can be stolen from the client via XSS</a:t>
            </a:r>
          </a:p>
          <a:p>
            <a:r>
              <a:rPr lang="en-GB" altLang="de-DE" sz="2200" dirty="0"/>
              <a:t>The enemy is not a spy listening to your traffic but a hacker exploiting weak spots in browser policies or vulnerabilities in Server programs!</a:t>
            </a:r>
          </a:p>
          <a:p>
            <a:endParaRPr lang="en-GB" altLang="de-DE" sz="2000" dirty="0"/>
          </a:p>
        </p:txBody>
      </p:sp>
    </p:spTree>
    <p:extLst>
      <p:ext uri="{BB962C8B-B14F-4D97-AF65-F5344CB8AC3E}">
        <p14:creationId xmlns:p14="http://schemas.microsoft.com/office/powerpoint/2010/main" val="3143550947"/>
      </p:ext>
    </p:extLst>
  </p:cSld>
  <p:clrMapOvr>
    <a:masterClrMapping/>
  </p:clrMapOvr>
</p:sld>
</file>

<file path=ppt/theme/theme1.xml><?xml version="1.0" encoding="utf-8"?>
<a:theme xmlns:a="http://schemas.openxmlformats.org/drawingml/2006/main" name="Office Theme">
  <a:themeElements>
    <a:clrScheme name="Custom 22">
      <a:dk1>
        <a:srgbClr val="000000"/>
      </a:dk1>
      <a:lt1>
        <a:srgbClr val="FFFFFF"/>
      </a:lt1>
      <a:dk2>
        <a:srgbClr val="000000"/>
      </a:dk2>
      <a:lt2>
        <a:srgbClr val="F8F8F8"/>
      </a:lt2>
      <a:accent1>
        <a:srgbClr val="DDDDDD"/>
      </a:accent1>
      <a:accent2>
        <a:srgbClr val="B2A694"/>
      </a:accent2>
      <a:accent3>
        <a:srgbClr val="969696"/>
      </a:accent3>
      <a:accent4>
        <a:srgbClr val="808080"/>
      </a:accent4>
      <a:accent5>
        <a:srgbClr val="5F5F5F"/>
      </a:accent5>
      <a:accent6>
        <a:srgbClr val="4D4D4D"/>
      </a:accent6>
      <a:hlink>
        <a:srgbClr val="0070C0"/>
      </a:hlink>
      <a:folHlink>
        <a:srgbClr val="0070C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400"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Presentation1" id="{31295CED-DD91-154F-A28B-658E647D80F4}" vid="{29E40D5C-155D-D94C-822C-4AB35D3CC2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C6AD1B51FFACD45B62528B91A79C429" ma:contentTypeVersion="18" ma:contentTypeDescription="Create a new document." ma:contentTypeScope="" ma:versionID="9672dfb9ec3908af57a6b314afe3680d">
  <xsd:schema xmlns:xsd="http://www.w3.org/2001/XMLSchema" xmlns:xs="http://www.w3.org/2001/XMLSchema" xmlns:p="http://schemas.microsoft.com/office/2006/metadata/properties" xmlns:ns2="1b6a39ee-1380-4096-9882-8248104ba7f7" xmlns:ns3="4604cec2-e769-4190-9d56-5d48f74b6442" targetNamespace="http://schemas.microsoft.com/office/2006/metadata/properties" ma:root="true" ma:fieldsID="12d78462d111bb2baa1b9a3ac61ee40a" ns2:_="" ns3:_="">
    <xsd:import namespace="1b6a39ee-1380-4096-9882-8248104ba7f7"/>
    <xsd:import namespace="4604cec2-e769-4190-9d56-5d48f74b644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Comment" minOccurs="0"/>
                <xsd:element ref="ns2:lcf76f155ced4ddcb4097134ff3c332f" minOccurs="0"/>
                <xsd:element ref="ns3:TaxCatchAll"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6a39ee-1380-4096-9882-8248104ba7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Comment" ma:index="21" nillable="true" ma:displayName="Comment" ma:description="What was the last change about" ma:format="Dropdown" ma:internalName="Comment">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eec61d7-21c4-46ea-8069-5c692c33a4c8"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604cec2-e769-4190-9d56-5d48f74b644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943aed9-ec56-40d8-95cb-c4327e5e8870}" ma:internalName="TaxCatchAll" ma:showField="CatchAllData" ma:web="4604cec2-e769-4190-9d56-5d48f74b64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Comment xmlns="1b6a39ee-1380-4096-9882-8248104ba7f7" xsi:nil="true"/>
    <TaxCatchAll xmlns="4604cec2-e769-4190-9d56-5d48f74b6442" xsi:nil="true"/>
    <lcf76f155ced4ddcb4097134ff3c332f xmlns="1b6a39ee-1380-4096-9882-8248104ba7f7">
      <Terms xmlns="http://schemas.microsoft.com/office/infopath/2007/PartnerControls"/>
    </lcf76f155ced4ddcb4097134ff3c332f>
    <_Flow_SignoffStatus xmlns="1b6a39ee-1380-4096-9882-8248104ba7f7" xsi:nil="true"/>
  </documentManagement>
</p:properties>
</file>

<file path=customXml/itemProps1.xml><?xml version="1.0" encoding="utf-8"?>
<ds:datastoreItem xmlns:ds="http://schemas.openxmlformats.org/officeDocument/2006/customXml" ds:itemID="{EB189C1C-E6C0-4DDA-AF14-D0B386778D70}">
  <ds:schemaRefs>
    <ds:schemaRef ds:uri="http://schemas.microsoft.com/sharepoint/v3/contenttype/forms"/>
  </ds:schemaRefs>
</ds:datastoreItem>
</file>

<file path=customXml/itemProps2.xml><?xml version="1.0" encoding="utf-8"?>
<ds:datastoreItem xmlns:ds="http://schemas.openxmlformats.org/officeDocument/2006/customXml" ds:itemID="{A02D6CE0-B35E-43B3-943A-7C78358097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6a39ee-1380-4096-9882-8248104ba7f7"/>
    <ds:schemaRef ds:uri="4604cec2-e769-4190-9d56-5d48f74b64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0546F40-4B78-48D4-8AB9-A220466E9439}">
  <ds:schemaRefs>
    <ds:schemaRef ds:uri="1b6a39ee-1380-4096-9882-8248104ba7f7"/>
    <ds:schemaRef ds:uri="http://schemas.microsoft.com/office/2006/metadata/properties"/>
    <ds:schemaRef ds:uri="4604cec2-e769-4190-9d56-5d48f74b6442"/>
    <ds:schemaRef ds:uri="http://purl.org/dc/dcmitype/"/>
    <ds:schemaRef ds:uri="http://purl.org/dc/terms/"/>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1e756f9c-e3e7-4810-90da-ea6bfb97c434}" enabled="1" method="Privileged" siteId="{c98a79ca-5a9a-4791-a243-f06afd67464d}" removed="0"/>
</clbl:labelList>
</file>

<file path=docProps/app.xml><?xml version="1.0" encoding="utf-8"?>
<Properties xmlns="http://schemas.openxmlformats.org/officeDocument/2006/extended-properties" xmlns:vt="http://schemas.openxmlformats.org/officeDocument/2006/docPropsVTypes">
  <Template/>
  <TotalTime>2799</TotalTime>
  <Words>3548</Words>
  <Application>Microsoft Office PowerPoint</Application>
  <PresentationFormat>Widescreen</PresentationFormat>
  <Paragraphs>378</Paragraphs>
  <Slides>46</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46</vt:i4>
      </vt:variant>
    </vt:vector>
  </HeadingPairs>
  <TitlesOfParts>
    <vt:vector size="56" baseType="lpstr">
      <vt:lpstr>Helvetica Neue</vt:lpstr>
      <vt:lpstr>Arial</vt:lpstr>
      <vt:lpstr>Arial Nova</vt:lpstr>
      <vt:lpstr>Arial Nova Light</vt:lpstr>
      <vt:lpstr>Calibri</vt:lpstr>
      <vt:lpstr>Comic Sans MS</vt:lpstr>
      <vt:lpstr>Consolas</vt:lpstr>
      <vt:lpstr>Courier New</vt:lpstr>
      <vt:lpstr>Wingdings</vt:lpstr>
      <vt:lpstr>Office Theme</vt:lpstr>
      <vt:lpstr>PowerPoint Presentation</vt:lpstr>
      <vt:lpstr>Recap Week 10</vt:lpstr>
      <vt:lpstr>Overview</vt:lpstr>
      <vt:lpstr>Web Architecture</vt:lpstr>
      <vt:lpstr>URL</vt:lpstr>
      <vt:lpstr>HTTP</vt:lpstr>
      <vt:lpstr>HTTP Request</vt:lpstr>
      <vt:lpstr>HTTP Response</vt:lpstr>
      <vt:lpstr>Sessions</vt:lpstr>
      <vt:lpstr>Sessions</vt:lpstr>
      <vt:lpstr>Transferring Session Identifiers </vt:lpstr>
      <vt:lpstr>Establishing Session with Cookie</vt:lpstr>
      <vt:lpstr>Session Identification v.s User Authentication</vt:lpstr>
      <vt:lpstr>Session Persistence</vt:lpstr>
      <vt:lpstr>Session Attacks</vt:lpstr>
      <vt:lpstr>Session Related Attacks </vt:lpstr>
      <vt:lpstr>Example: Session Hijacking</vt:lpstr>
      <vt:lpstr>Session Hijacking: Cookie Poisoning</vt:lpstr>
      <vt:lpstr>Session ID Protection</vt:lpstr>
      <vt:lpstr>Same Origin Policy</vt:lpstr>
      <vt:lpstr>JavaScript &amp; DOM</vt:lpstr>
      <vt:lpstr>Origin</vt:lpstr>
      <vt:lpstr>Same Origin Policy (SOP)</vt:lpstr>
      <vt:lpstr>Site Isolation (Chrome)</vt:lpstr>
      <vt:lpstr>Cross-Site Scripting (XSS)</vt:lpstr>
      <vt:lpstr>Document Object Model (DOM)</vt:lpstr>
      <vt:lpstr>Cross-Site Scripting (XSS)</vt:lpstr>
      <vt:lpstr>Stored XSS</vt:lpstr>
      <vt:lpstr>Example: Malicious Customer Feedback</vt:lpstr>
      <vt:lpstr>As a Result: </vt:lpstr>
      <vt:lpstr>Stored XSS</vt:lpstr>
      <vt:lpstr>Stored XSS</vt:lpstr>
      <vt:lpstr>Reflected XSS</vt:lpstr>
      <vt:lpstr>Reflected XSS Vulnerability</vt:lpstr>
      <vt:lpstr>Reflected XSS Explained</vt:lpstr>
      <vt:lpstr>Reflected XSS</vt:lpstr>
      <vt:lpstr>Reflected XSS vs Stored XSS</vt:lpstr>
      <vt:lpstr>DOM-based XSS</vt:lpstr>
      <vt:lpstr>A simple example</vt:lpstr>
      <vt:lpstr>Another example of DOM-XSS vulnerability</vt:lpstr>
      <vt:lpstr>Defence against XSS</vt:lpstr>
      <vt:lpstr>Strategy 1: Filtering</vt:lpstr>
      <vt:lpstr>Strategy 2: Improve Access Control</vt:lpstr>
      <vt:lpstr>Blocking Script Execution &amp; CSP</vt:lpstr>
      <vt:lpstr>CSP-Example</vt:lpstr>
      <vt:lpstr>Take 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dc:title>
  <dc:creator>Shar Lwin Khin (Dr)</dc:creator>
  <cp:lastModifiedBy>YANG Guomin</cp:lastModifiedBy>
  <cp:revision>305</cp:revision>
  <dcterms:created xsi:type="dcterms:W3CDTF">2019-12-21T16:17:09Z</dcterms:created>
  <dcterms:modified xsi:type="dcterms:W3CDTF">2025-10-23T02:55:02Z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e756f9c-e3e7-4810-90da-ea6bfb97c434_Enabled">
    <vt:lpwstr>true</vt:lpwstr>
  </property>
  <property fmtid="{D5CDD505-2E9C-101B-9397-08002B2CF9AE}" pid="3" name="MSIP_Label_1e756f9c-e3e7-4810-90da-ea6bfb97c434_SetDate">
    <vt:lpwstr>2022-03-18T01:23:45Z</vt:lpwstr>
  </property>
  <property fmtid="{D5CDD505-2E9C-101B-9397-08002B2CF9AE}" pid="4" name="MSIP_Label_1e756f9c-e3e7-4810-90da-ea6bfb97c434_Method">
    <vt:lpwstr>Privileged</vt:lpwstr>
  </property>
  <property fmtid="{D5CDD505-2E9C-101B-9397-08002B2CF9AE}" pid="5" name="MSIP_Label_1e756f9c-e3e7-4810-90da-ea6bfb97c434_Name">
    <vt:lpwstr>1e756f9c-e3e7-4810-90da-ea6bfb97c434</vt:lpwstr>
  </property>
  <property fmtid="{D5CDD505-2E9C-101B-9397-08002B2CF9AE}" pid="6" name="MSIP_Label_1e756f9c-e3e7-4810-90da-ea6bfb97c434_SiteId">
    <vt:lpwstr>c98a79ca-5a9a-4791-a243-f06afd67464d</vt:lpwstr>
  </property>
  <property fmtid="{D5CDD505-2E9C-101B-9397-08002B2CF9AE}" pid="7" name="MSIP_Label_1e756f9c-e3e7-4810-90da-ea6bfb97c434_ActionId">
    <vt:lpwstr>ff32c935-dd30-495a-ad37-66afe51a4fe9</vt:lpwstr>
  </property>
  <property fmtid="{D5CDD505-2E9C-101B-9397-08002B2CF9AE}" pid="8" name="MSIP_Label_1e756f9c-e3e7-4810-90da-ea6bfb97c434_ContentBits">
    <vt:lpwstr>0</vt:lpwstr>
  </property>
  <property fmtid="{D5CDD505-2E9C-101B-9397-08002B2CF9AE}" pid="9" name="ContentTypeId">
    <vt:lpwstr>0x0101000C6AD1B51FFACD45B62528B91A79C429</vt:lpwstr>
  </property>
</Properties>
</file>