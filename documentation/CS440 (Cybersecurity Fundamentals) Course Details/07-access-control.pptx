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92" r:id="rId4"/>
  </p:sldMasterIdLst>
  <p:notesMasterIdLst>
    <p:notesMasterId r:id="rId44"/>
  </p:notesMasterIdLst>
  <p:handoutMasterIdLst>
    <p:handoutMasterId r:id="rId45"/>
  </p:handoutMasterIdLst>
  <p:sldIdLst>
    <p:sldId id="455" r:id="rId5"/>
    <p:sldId id="571" r:id="rId6"/>
    <p:sldId id="414" r:id="rId7"/>
    <p:sldId id="379" r:id="rId8"/>
    <p:sldId id="554" r:id="rId9"/>
    <p:sldId id="629" r:id="rId10"/>
    <p:sldId id="755" r:id="rId11"/>
    <p:sldId id="630" r:id="rId12"/>
    <p:sldId id="469" r:id="rId13"/>
    <p:sldId id="464" r:id="rId14"/>
    <p:sldId id="470" r:id="rId15"/>
    <p:sldId id="463" r:id="rId16"/>
    <p:sldId id="471" r:id="rId17"/>
    <p:sldId id="467" r:id="rId18"/>
    <p:sldId id="475" r:id="rId19"/>
    <p:sldId id="476" r:id="rId20"/>
    <p:sldId id="572" r:id="rId21"/>
    <p:sldId id="574" r:id="rId22"/>
    <p:sldId id="751" r:id="rId23"/>
    <p:sldId id="477" r:id="rId24"/>
    <p:sldId id="478" r:id="rId25"/>
    <p:sldId id="488" r:id="rId26"/>
    <p:sldId id="631" r:id="rId27"/>
    <p:sldId id="494" r:id="rId28"/>
    <p:sldId id="495" r:id="rId29"/>
    <p:sldId id="496" r:id="rId30"/>
    <p:sldId id="560" r:id="rId31"/>
    <p:sldId id="500" r:id="rId32"/>
    <p:sldId id="501" r:id="rId33"/>
    <p:sldId id="502" r:id="rId34"/>
    <p:sldId id="503" r:id="rId35"/>
    <p:sldId id="512" r:id="rId36"/>
    <p:sldId id="632" r:id="rId37"/>
    <p:sldId id="522" r:id="rId38"/>
    <p:sldId id="543" r:id="rId39"/>
    <p:sldId id="524" r:id="rId40"/>
    <p:sldId id="544" r:id="rId41"/>
    <p:sldId id="525" r:id="rId42"/>
    <p:sldId id="633"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FFE285"/>
    <a:srgbClr val="FFFFFF"/>
    <a:srgbClr val="F1185C"/>
    <a:srgbClr val="F7F7F7"/>
    <a:srgbClr val="FBFBFB"/>
    <a:srgbClr val="1A47B6"/>
    <a:srgbClr val="102B72"/>
    <a:srgbClr val="DBA70B"/>
    <a:srgbClr val="F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18" autoAdjust="0"/>
    <p:restoredTop sz="72673" autoAdjust="0"/>
  </p:normalViewPr>
  <p:slideViewPr>
    <p:cSldViewPr snapToGrid="0" snapToObjects="1">
      <p:cViewPr varScale="1">
        <p:scale>
          <a:sx n="105" d="100"/>
          <a:sy n="105" d="100"/>
        </p:scale>
        <p:origin x="2064" y="184"/>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notesViewPr>
    <p:cSldViewPr snapToGrid="0" snapToObjects="1" showGuides="1">
      <p:cViewPr varScale="1">
        <p:scale>
          <a:sx n="65" d="100"/>
          <a:sy n="65" d="100"/>
        </p:scale>
        <p:origin x="3154"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G Guomin" userId="dccf0981-1625-43db-a7d9-40d73e3f3472" providerId="ADAL" clId="{BC03AD9C-00E0-4900-B6C5-4C14290DAE11}"/>
    <pc:docChg chg="undo custSel addSld delSld modSld sldOrd">
      <pc:chgData name="YANG Guomin" userId="dccf0981-1625-43db-a7d9-40d73e3f3472" providerId="ADAL" clId="{BC03AD9C-00E0-4900-B6C5-4C14290DAE11}" dt="2024-09-23T06:00:24.811" v="137" actId="20577"/>
      <pc:docMkLst>
        <pc:docMk/>
      </pc:docMkLst>
      <pc:sldChg chg="delSp modSp mod delAnim">
        <pc:chgData name="YANG Guomin" userId="dccf0981-1625-43db-a7d9-40d73e3f3472" providerId="ADAL" clId="{BC03AD9C-00E0-4900-B6C5-4C14290DAE11}" dt="2024-09-23T05:38:48.269" v="88" actId="20577"/>
        <pc:sldMkLst>
          <pc:docMk/>
          <pc:sldMk cId="2786440808" sldId="477"/>
        </pc:sldMkLst>
      </pc:sldChg>
      <pc:sldChg chg="modSp mod">
        <pc:chgData name="YANG Guomin" userId="dccf0981-1625-43db-a7d9-40d73e3f3472" providerId="ADAL" clId="{BC03AD9C-00E0-4900-B6C5-4C14290DAE11}" dt="2024-09-23T05:34:56.801" v="58" actId="20577"/>
        <pc:sldMkLst>
          <pc:docMk/>
          <pc:sldMk cId="3957251128" sldId="478"/>
        </pc:sldMkLst>
      </pc:sldChg>
      <pc:sldChg chg="del">
        <pc:chgData name="YANG Guomin" userId="dccf0981-1625-43db-a7d9-40d73e3f3472" providerId="ADAL" clId="{BC03AD9C-00E0-4900-B6C5-4C14290DAE11}" dt="2024-09-23T05:39:31.651" v="89" actId="47"/>
        <pc:sldMkLst>
          <pc:docMk/>
          <pc:sldMk cId="2508684224" sldId="479"/>
        </pc:sldMkLst>
      </pc:sldChg>
      <pc:sldChg chg="modSp mod">
        <pc:chgData name="YANG Guomin" userId="dccf0981-1625-43db-a7d9-40d73e3f3472" providerId="ADAL" clId="{BC03AD9C-00E0-4900-B6C5-4C14290DAE11}" dt="2024-09-23T05:52:10.691" v="102" actId="20577"/>
        <pc:sldMkLst>
          <pc:docMk/>
          <pc:sldMk cId="3308046977" sldId="500"/>
        </pc:sldMkLst>
      </pc:sldChg>
      <pc:sldChg chg="modSp mod">
        <pc:chgData name="YANG Guomin" userId="dccf0981-1625-43db-a7d9-40d73e3f3472" providerId="ADAL" clId="{BC03AD9C-00E0-4900-B6C5-4C14290DAE11}" dt="2024-09-23T05:48:45.857" v="92" actId="255"/>
        <pc:sldMkLst>
          <pc:docMk/>
          <pc:sldMk cId="4031285175" sldId="502"/>
        </pc:sldMkLst>
      </pc:sldChg>
      <pc:sldChg chg="addSp modSp mod modClrScheme chgLayout">
        <pc:chgData name="YANG Guomin" userId="dccf0981-1625-43db-a7d9-40d73e3f3472" providerId="ADAL" clId="{BC03AD9C-00E0-4900-B6C5-4C14290DAE11}" dt="2024-09-23T05:49:41.353" v="93" actId="700"/>
        <pc:sldMkLst>
          <pc:docMk/>
          <pc:sldMk cId="3737628525" sldId="503"/>
        </pc:sldMkLst>
      </pc:sldChg>
      <pc:sldChg chg="modSp mod">
        <pc:chgData name="YANG Guomin" userId="dccf0981-1625-43db-a7d9-40d73e3f3472" providerId="ADAL" clId="{BC03AD9C-00E0-4900-B6C5-4C14290DAE11}" dt="2024-09-23T06:00:24.811" v="137" actId="20577"/>
        <pc:sldMkLst>
          <pc:docMk/>
          <pc:sldMk cId="1651344460" sldId="522"/>
        </pc:sldMkLst>
      </pc:sldChg>
      <pc:sldChg chg="del">
        <pc:chgData name="YANG Guomin" userId="dccf0981-1625-43db-a7d9-40d73e3f3472" providerId="ADAL" clId="{BC03AD9C-00E0-4900-B6C5-4C14290DAE11}" dt="2024-09-23T05:34:35.556" v="57" actId="47"/>
        <pc:sldMkLst>
          <pc:docMk/>
          <pc:sldMk cId="3268338931" sldId="573"/>
        </pc:sldMkLst>
      </pc:sldChg>
      <pc:sldChg chg="addSp delSp modSp add mod">
        <pc:chgData name="YANG Guomin" userId="dccf0981-1625-43db-a7d9-40d73e3f3472" providerId="ADAL" clId="{BC03AD9C-00E0-4900-B6C5-4C14290DAE11}" dt="2024-09-23T05:36:42.885" v="80" actId="403"/>
        <pc:sldMkLst>
          <pc:docMk/>
          <pc:sldMk cId="4164210330" sldId="574"/>
        </pc:sldMkLst>
      </pc:sldChg>
      <pc:sldChg chg="addSp delSp modSp add mod">
        <pc:chgData name="YANG Guomin" userId="dccf0981-1625-43db-a7d9-40d73e3f3472" providerId="ADAL" clId="{BC03AD9C-00E0-4900-B6C5-4C14290DAE11}" dt="2024-09-23T05:36:36.376" v="79" actId="403"/>
        <pc:sldMkLst>
          <pc:docMk/>
          <pc:sldMk cId="2535421710" sldId="751"/>
        </pc:sldMkLst>
      </pc:sldChg>
      <pc:sldChg chg="modSp add mod ord modAnim modNotesTx">
        <pc:chgData name="YANG Guomin" userId="dccf0981-1625-43db-a7d9-40d73e3f3472" providerId="ADAL" clId="{BC03AD9C-00E0-4900-B6C5-4C14290DAE11}" dt="2024-09-23T05:25:51.977" v="10" actId="1076"/>
        <pc:sldMkLst>
          <pc:docMk/>
          <pc:sldMk cId="4160577114" sldId="755"/>
        </pc:sldMkLst>
      </pc:sldChg>
    </pc:docChg>
  </pc:docChgLst>
  <pc:docChgLst>
    <pc:chgData name="YANG Guomin" userId="dccf0981-1625-43db-a7d9-40d73e3f3472" providerId="ADAL" clId="{9AA17120-BED5-4BD6-B8A2-63D5CB3BB6AC}"/>
    <pc:docChg chg="undo custSel modSld">
      <pc:chgData name="YANG Guomin" userId="dccf0981-1625-43db-a7d9-40d73e3f3472" providerId="ADAL" clId="{9AA17120-BED5-4BD6-B8A2-63D5CB3BB6AC}" dt="2023-09-18T02:49:00.606" v="44" actId="1076"/>
      <pc:docMkLst>
        <pc:docMk/>
      </pc:docMkLst>
      <pc:sldChg chg="modSp mod">
        <pc:chgData name="YANG Guomin" userId="dccf0981-1625-43db-a7d9-40d73e3f3472" providerId="ADAL" clId="{9AA17120-BED5-4BD6-B8A2-63D5CB3BB6AC}" dt="2023-09-18T02:18:35.837" v="32" actId="20577"/>
        <pc:sldMkLst>
          <pc:docMk/>
          <pc:sldMk cId="3969980152" sldId="379"/>
        </pc:sldMkLst>
      </pc:sldChg>
      <pc:sldChg chg="delSp modSp mod">
        <pc:chgData name="YANG Guomin" userId="dccf0981-1625-43db-a7d9-40d73e3f3472" providerId="ADAL" clId="{9AA17120-BED5-4BD6-B8A2-63D5CB3BB6AC}" dt="2023-09-18T02:40:15.349" v="37" actId="478"/>
        <pc:sldMkLst>
          <pc:docMk/>
          <pc:sldMk cId="3737628525" sldId="503"/>
        </pc:sldMkLst>
      </pc:sldChg>
      <pc:sldChg chg="modSp mod">
        <pc:chgData name="YANG Guomin" userId="dccf0981-1625-43db-a7d9-40d73e3f3472" providerId="ADAL" clId="{9AA17120-BED5-4BD6-B8A2-63D5CB3BB6AC}" dt="2023-09-18T02:15:40.091" v="30" actId="20577"/>
        <pc:sldMkLst>
          <pc:docMk/>
          <pc:sldMk cId="1094137714" sldId="571"/>
        </pc:sldMkLst>
      </pc:sldChg>
      <pc:sldChg chg="delSp mod">
        <pc:chgData name="YANG Guomin" userId="dccf0981-1625-43db-a7d9-40d73e3f3472" providerId="ADAL" clId="{9AA17120-BED5-4BD6-B8A2-63D5CB3BB6AC}" dt="2023-09-18T02:45:20.349" v="39" actId="478"/>
        <pc:sldMkLst>
          <pc:docMk/>
          <pc:sldMk cId="2896353095" sldId="572"/>
        </pc:sldMkLst>
      </pc:sldChg>
      <pc:sldChg chg="delSp modSp mod">
        <pc:chgData name="YANG Guomin" userId="dccf0981-1625-43db-a7d9-40d73e3f3472" providerId="ADAL" clId="{9AA17120-BED5-4BD6-B8A2-63D5CB3BB6AC}" dt="2023-09-18T02:49:00.606" v="44" actId="1076"/>
        <pc:sldMkLst>
          <pc:docMk/>
          <pc:sldMk cId="3268338931" sldId="573"/>
        </pc:sldMkLst>
      </pc:sldChg>
    </pc:docChg>
  </pc:docChgLst>
  <pc:docChgLst>
    <pc:chgData name="YANG Guomin" userId="dccf0981-1625-43db-a7d9-40d73e3f3472" providerId="ADAL" clId="{6EE4E12C-B742-4675-B218-A842C6D772E1}"/>
    <pc:docChg chg="undo custSel modSld modMainMaster">
      <pc:chgData name="YANG Guomin" userId="dccf0981-1625-43db-a7d9-40d73e3f3472" providerId="ADAL" clId="{6EE4E12C-B742-4675-B218-A842C6D772E1}" dt="2023-02-20T13:58:26.647" v="2" actId="478"/>
      <pc:docMkLst>
        <pc:docMk/>
      </pc:docMkLst>
      <pc:sldChg chg="addSp delSp mod">
        <pc:chgData name="YANG Guomin" userId="dccf0981-1625-43db-a7d9-40d73e3f3472" providerId="ADAL" clId="{6EE4E12C-B742-4675-B218-A842C6D772E1}" dt="2023-02-20T13:57:01.888" v="1" actId="478"/>
        <pc:sldMkLst>
          <pc:docMk/>
          <pc:sldMk cId="3737628525" sldId="503"/>
        </pc:sldMkLst>
      </pc:sldChg>
      <pc:sldMasterChg chg="delSp mod">
        <pc:chgData name="YANG Guomin" userId="dccf0981-1625-43db-a7d9-40d73e3f3472" providerId="ADAL" clId="{6EE4E12C-B742-4675-B218-A842C6D772E1}" dt="2023-02-20T13:58:26.647" v="2" actId="478"/>
        <pc:sldMasterMkLst>
          <pc:docMk/>
          <pc:sldMasterMk cId="3286693295" sldId="2147483792"/>
        </pc:sldMasterMkLst>
      </pc:sldMasterChg>
    </pc:docChg>
  </pc:docChgLst>
  <pc:docChgLst>
    <pc:chgData name="YANG Guomin" userId="dccf0981-1625-43db-a7d9-40d73e3f3472" providerId="ADAL" clId="{27CA96AF-4109-4060-B856-3A005F4C8722}"/>
    <pc:docChg chg="modSld">
      <pc:chgData name="YANG Guomin" userId="dccf0981-1625-43db-a7d9-40d73e3f3472" providerId="ADAL" clId="{27CA96AF-4109-4060-B856-3A005F4C8722}" dt="2025-09-26T01:40:48.197" v="64" actId="20577"/>
      <pc:docMkLst>
        <pc:docMk/>
      </pc:docMkLst>
      <pc:sldChg chg="modNotesTx">
        <pc:chgData name="YANG Guomin" userId="dccf0981-1625-43db-a7d9-40d73e3f3472" providerId="ADAL" clId="{27CA96AF-4109-4060-B856-3A005F4C8722}" dt="2025-09-22T06:54:01.431" v="47" actId="20577"/>
        <pc:sldMkLst>
          <pc:docMk/>
          <pc:sldMk cId="3969980152" sldId="379"/>
        </pc:sldMkLst>
      </pc:sldChg>
      <pc:sldChg chg="modSp mod">
        <pc:chgData name="YANG Guomin" userId="dccf0981-1625-43db-a7d9-40d73e3f3472" providerId="ADAL" clId="{27CA96AF-4109-4060-B856-3A005F4C8722}" dt="2025-09-26T01:40:48.197" v="64" actId="20577"/>
        <pc:sldMkLst>
          <pc:docMk/>
          <pc:sldMk cId="3265305968" sldId="560"/>
        </pc:sldMkLst>
        <pc:spChg chg="mod">
          <ac:chgData name="YANG Guomin" userId="dccf0981-1625-43db-a7d9-40d73e3f3472" providerId="ADAL" clId="{27CA96AF-4109-4060-B856-3A005F4C8722}" dt="2025-09-26T01:40:48.197" v="64" actId="20577"/>
          <ac:spMkLst>
            <pc:docMk/>
            <pc:sldMk cId="3265305968" sldId="560"/>
            <ac:spMk id="39" creationId="{1762E7BA-317C-F840-A221-C94421C3F1AD}"/>
          </ac:spMkLst>
        </pc:spChg>
      </pc:sldChg>
      <pc:sldChg chg="modSp mod">
        <pc:chgData name="YANG Guomin" userId="dccf0981-1625-43db-a7d9-40d73e3f3472" providerId="ADAL" clId="{27CA96AF-4109-4060-B856-3A005F4C8722}" dt="2025-09-22T06:52:04.519" v="45" actId="20577"/>
        <pc:sldMkLst>
          <pc:docMk/>
          <pc:sldMk cId="1094137714" sldId="571"/>
        </pc:sldMkLst>
        <pc:spChg chg="mod">
          <ac:chgData name="YANG Guomin" userId="dccf0981-1625-43db-a7d9-40d73e3f3472" providerId="ADAL" clId="{27CA96AF-4109-4060-B856-3A005F4C8722}" dt="2025-09-22T06:52:04.519" v="45" actId="20577"/>
          <ac:spMkLst>
            <pc:docMk/>
            <pc:sldMk cId="1094137714" sldId="571"/>
            <ac:spMk id="3" creationId="{CC31B2EE-1EFF-E043-845E-1602BC4297FB}"/>
          </ac:spMkLst>
        </pc:spChg>
      </pc:sldChg>
      <pc:sldChg chg="modSp mod">
        <pc:chgData name="YANG Guomin" userId="dccf0981-1625-43db-a7d9-40d73e3f3472" providerId="ADAL" clId="{27CA96AF-4109-4060-B856-3A005F4C8722}" dt="2025-09-26T01:40:27.650" v="56" actId="403"/>
        <pc:sldMkLst>
          <pc:docMk/>
          <pc:sldMk cId="4164210330" sldId="574"/>
        </pc:sldMkLst>
        <pc:spChg chg="mod">
          <ac:chgData name="YANG Guomin" userId="dccf0981-1625-43db-a7d9-40d73e3f3472" providerId="ADAL" clId="{27CA96AF-4109-4060-B856-3A005F4C8722}" dt="2025-09-26T01:40:27.650" v="56" actId="403"/>
          <ac:spMkLst>
            <pc:docMk/>
            <pc:sldMk cId="4164210330" sldId="574"/>
            <ac:spMk id="5" creationId="{19E89D2A-EC22-CECF-EF80-E79D95325DFD}"/>
          </ac:spMkLst>
        </pc:spChg>
      </pc:sldChg>
      <pc:sldChg chg="modSp mod">
        <pc:chgData name="YANG Guomin" userId="dccf0981-1625-43db-a7d9-40d73e3f3472" providerId="ADAL" clId="{27CA96AF-4109-4060-B856-3A005F4C8722}" dt="2025-09-26T01:40:32.799" v="58" actId="403"/>
        <pc:sldMkLst>
          <pc:docMk/>
          <pc:sldMk cId="2535421710" sldId="751"/>
        </pc:sldMkLst>
        <pc:spChg chg="mod">
          <ac:chgData name="YANG Guomin" userId="dccf0981-1625-43db-a7d9-40d73e3f3472" providerId="ADAL" clId="{27CA96AF-4109-4060-B856-3A005F4C8722}" dt="2025-09-26T01:40:32.799" v="58" actId="403"/>
          <ac:spMkLst>
            <pc:docMk/>
            <pc:sldMk cId="2535421710" sldId="751"/>
            <ac:spMk id="7" creationId="{E41B80E3-1D76-1D26-C4B9-7726964008B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2610B3-7AD2-443D-9EED-D272A55646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26924C13-04C5-44FB-B034-640B84AC7A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FD5BE7-7004-4067-ADFA-7CFE35CEFC19}" type="datetimeFigureOut">
              <a:rPr lang="en-SG" smtClean="0"/>
              <a:t>1/11/25</a:t>
            </a:fld>
            <a:endParaRPr lang="en-SG"/>
          </a:p>
        </p:txBody>
      </p:sp>
      <p:sp>
        <p:nvSpPr>
          <p:cNvPr id="4" name="Footer Placeholder 3">
            <a:extLst>
              <a:ext uri="{FF2B5EF4-FFF2-40B4-BE49-F238E27FC236}">
                <a16:creationId xmlns:a16="http://schemas.microsoft.com/office/drawing/2014/main" id="{881BDE46-AEBF-4095-B341-E86B41267A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802A93F1-2B31-47D7-9523-E01662595A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CB8634-C501-4364-B041-147E7E897803}" type="slidenum">
              <a:rPr lang="en-SG" smtClean="0"/>
              <a:t>‹#›</a:t>
            </a:fld>
            <a:endParaRPr lang="en-SG"/>
          </a:p>
        </p:txBody>
      </p:sp>
    </p:spTree>
    <p:extLst>
      <p:ext uri="{BB962C8B-B14F-4D97-AF65-F5344CB8AC3E}">
        <p14:creationId xmlns:p14="http://schemas.microsoft.com/office/powerpoint/2010/main" val="15392678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B1A6E-CF2A-4D43-97E3-58FD378C223B}" type="datetimeFigureOut">
              <a:rPr lang="en-US" smtClean="0"/>
              <a:t>11/1/25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FD4FAC-B258-624A-81B3-9D14B0086038}" type="slidenum">
              <a:rPr lang="en-US" smtClean="0"/>
              <a:t>‹#›</a:t>
            </a:fld>
            <a:endParaRPr lang="en-US"/>
          </a:p>
        </p:txBody>
      </p:sp>
    </p:spTree>
    <p:extLst>
      <p:ext uri="{BB962C8B-B14F-4D97-AF65-F5344CB8AC3E}">
        <p14:creationId xmlns:p14="http://schemas.microsoft.com/office/powerpoint/2010/main" val="690505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B023CC-DE17-470E-B9CC-9009C329C713}" type="slidenum">
              <a:rPr lang="en-US"/>
              <a:pPr/>
              <a:t>4</a:t>
            </a:fld>
            <a:endParaRPr lang="en-US"/>
          </a:p>
        </p:txBody>
      </p:sp>
      <p:sp>
        <p:nvSpPr>
          <p:cNvPr id="193538" name="Rectangle 2"/>
          <p:cNvSpPr>
            <a:spLocks noGrp="1" noRot="1" noChangeAspect="1" noChangeArrowheads="1" noTextEdit="1"/>
          </p:cNvSpPr>
          <p:nvPr>
            <p:ph type="sldImg"/>
          </p:nvPr>
        </p:nvSpPr>
        <p:spPr>
          <a:ln/>
        </p:spPr>
      </p:sp>
      <p:sp>
        <p:nvSpPr>
          <p:cNvPr id="193539" name="Rectangle 3"/>
          <p:cNvSpPr>
            <a:spLocks noGrp="1" noChangeArrowheads="1"/>
          </p:cNvSpPr>
          <p:nvPr>
            <p:ph type="body" idx="1"/>
          </p:nvPr>
        </p:nvSpPr>
        <p:spPr/>
        <p:txBody>
          <a:bodyPr/>
          <a:lstStyle/>
          <a:p>
            <a:r>
              <a:rPr lang="en-US" dirty="0"/>
              <a:t>Access Control determines allowing of usage of some application and denying the usage of some applications.</a:t>
            </a:r>
          </a:p>
          <a:p>
            <a:endParaRPr lang="en-US" dirty="0"/>
          </a:p>
        </p:txBody>
      </p:sp>
    </p:spTree>
    <p:extLst>
      <p:ext uri="{BB962C8B-B14F-4D97-AF65-F5344CB8AC3E}">
        <p14:creationId xmlns:p14="http://schemas.microsoft.com/office/powerpoint/2010/main" val="2207267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DAC and MAC usually used in DB/OS </a:t>
            </a:r>
            <a:r>
              <a:rPr lang="en-US" dirty="0" err="1"/>
              <a:t>etc</a:t>
            </a:r>
            <a:endParaRPr lang="en-US" dirty="0"/>
          </a:p>
          <a:p>
            <a:r>
              <a:rPr lang="en-US" dirty="0"/>
              <a:t>RBAC usually used in application layer.</a:t>
            </a:r>
          </a:p>
          <a:p>
            <a:endParaRPr lang="en-US" dirty="0"/>
          </a:p>
          <a:p>
            <a:r>
              <a:rPr lang="en-US" dirty="0"/>
              <a:t>DAC – the owner decides who can access what.</a:t>
            </a:r>
          </a:p>
          <a:p>
            <a:r>
              <a:rPr lang="en-US" dirty="0"/>
              <a:t>Each </a:t>
            </a:r>
            <a:r>
              <a:rPr lang="en-US" b="1" dirty="0"/>
              <a:t>Object</a:t>
            </a:r>
            <a:r>
              <a:rPr lang="en-US" b="0" dirty="0"/>
              <a:t> has an owner. OS will enforce what the user says.</a:t>
            </a:r>
          </a:p>
          <a:p>
            <a:r>
              <a:rPr lang="en-US" b="0" dirty="0"/>
              <a:t>Owner is the biggest. – user can just allow other people stuff (leak whole system and compromise.)</a:t>
            </a:r>
          </a:p>
          <a:p>
            <a:r>
              <a:rPr lang="en-US" b="0" dirty="0"/>
              <a:t>For DAC, say if I own the object, I am the biggest shit, I can say you use this etc.</a:t>
            </a:r>
            <a:endParaRPr lang="en-US" dirty="0"/>
          </a:p>
          <a:p>
            <a:endParaRPr lang="en-US" dirty="0"/>
          </a:p>
          <a:p>
            <a:r>
              <a:rPr lang="en-US" dirty="0"/>
              <a:t>MAC – System decides on who can access what.</a:t>
            </a:r>
          </a:p>
          <a:p>
            <a:r>
              <a:rPr lang="en-US" dirty="0"/>
              <a:t>Each subject/object has security labels (Top Secret, Confidential </a:t>
            </a:r>
            <a:r>
              <a:rPr lang="en-US" dirty="0" err="1"/>
              <a:t>etc</a:t>
            </a:r>
            <a:r>
              <a:rPr lang="en-US" dirty="0"/>
              <a:t>) – hard to manage for normal users</a:t>
            </a:r>
          </a:p>
          <a:p>
            <a:endParaRPr lang="en-US" dirty="0"/>
          </a:p>
          <a:p>
            <a:r>
              <a:rPr lang="en-US" dirty="0"/>
              <a:t>RBAC – Decided based on roles </a:t>
            </a:r>
          </a:p>
          <a:p>
            <a:r>
              <a:rPr lang="en-US" dirty="0"/>
              <a:t>Eg Admin, Teacher etc.</a:t>
            </a:r>
          </a:p>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5</a:t>
            </a:fld>
            <a:endParaRPr lang="en-US"/>
          </a:p>
        </p:txBody>
      </p:sp>
    </p:spTree>
    <p:extLst>
      <p:ext uri="{BB962C8B-B14F-4D97-AF65-F5344CB8AC3E}">
        <p14:creationId xmlns:p14="http://schemas.microsoft.com/office/powerpoint/2010/main" val="1213606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5CFCAF8-0D02-4786-B7D1-C2E4BF362FFC}" type="slidenum">
              <a:rPr lang="en-US" altLang="en-US" sz="1200"/>
              <a:pPr/>
              <a:t>6</a:t>
            </a:fld>
            <a:endParaRPr lang="en-US" altLang="en-US" sz="1200"/>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829719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Subject might be an object/ object might be subject</a:t>
            </a:r>
          </a:p>
          <a:p>
            <a:endParaRPr lang="en-US" dirty="0"/>
          </a:p>
          <a:p>
            <a:r>
              <a:rPr lang="en-US" dirty="0"/>
              <a:t>Subject will use the object</a:t>
            </a:r>
          </a:p>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7</a:t>
            </a:fld>
            <a:endParaRPr lang="en-US"/>
          </a:p>
        </p:txBody>
      </p:sp>
    </p:spTree>
    <p:extLst>
      <p:ext uri="{BB962C8B-B14F-4D97-AF65-F5344CB8AC3E}">
        <p14:creationId xmlns:p14="http://schemas.microsoft.com/office/powerpoint/2010/main" val="228536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BF614A-2C4A-4156-9228-1D0262A210B9}" type="slidenum">
              <a:rPr lang="en-US"/>
              <a:pPr/>
              <a:t>9</a:t>
            </a:fld>
            <a:endParaRPr lang="en-US"/>
          </a:p>
        </p:txBody>
      </p:sp>
      <p:sp>
        <p:nvSpPr>
          <p:cNvPr id="493570" name="Rectangle 2"/>
          <p:cNvSpPr>
            <a:spLocks noGrp="1" noRot="1" noChangeAspect="1" noChangeArrowheads="1" noTextEdit="1"/>
          </p:cNvSpPr>
          <p:nvPr>
            <p:ph type="sldImg"/>
          </p:nvPr>
        </p:nvSpPr>
        <p:spPr>
          <a:ln/>
        </p:spPr>
      </p:sp>
      <p:sp>
        <p:nvSpPr>
          <p:cNvPr id="493571" name="Rectangle 3"/>
          <p:cNvSpPr>
            <a:spLocks noGrp="1" noChangeArrowheads="1"/>
          </p:cNvSpPr>
          <p:nvPr>
            <p:ph type="body" idx="1"/>
          </p:nvPr>
        </p:nvSpPr>
        <p:spPr/>
        <p:txBody>
          <a:bodyPr/>
          <a:lstStyle/>
          <a:p>
            <a:r>
              <a:rPr lang="en-US" dirty="0"/>
              <a:t>You</a:t>
            </a:r>
            <a:r>
              <a:rPr lang="en-US" baseline="0" dirty="0"/>
              <a:t> can log in to your computer as Administrator or a normal user or a guest. So, the same user, yourself, corresponds to three principals (admin, regular user, guest). therefore, the same program you run in different login session should have different privilege.  That’s the reason some software installation requires you to login as Admin.</a:t>
            </a:r>
          </a:p>
          <a:p>
            <a:endParaRPr lang="en-US" baseline="0" dirty="0"/>
          </a:p>
          <a:p>
            <a:r>
              <a:rPr lang="en-US" baseline="0" dirty="0"/>
              <a:t>You can take on multiple roles (multiple principals), you can access the same subjects as different principals but also, be granted with different access.</a:t>
            </a:r>
            <a:endParaRPr lang="en-US" dirty="0"/>
          </a:p>
        </p:txBody>
      </p:sp>
    </p:spTree>
    <p:extLst>
      <p:ext uri="{BB962C8B-B14F-4D97-AF65-F5344CB8AC3E}">
        <p14:creationId xmlns:p14="http://schemas.microsoft.com/office/powerpoint/2010/main" val="3638498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BFC7CB-403B-42DE-8B9A-8D1FF1415FDB}" type="slidenum">
              <a:rPr lang="en-US"/>
              <a:pPr/>
              <a:t>10</a:t>
            </a:fld>
            <a:endParaRPr lang="en-US"/>
          </a:p>
        </p:txBody>
      </p:sp>
      <p:sp>
        <p:nvSpPr>
          <p:cNvPr id="494594" name="Rectangle 2"/>
          <p:cNvSpPr>
            <a:spLocks noGrp="1" noRot="1" noChangeAspect="1" noChangeArrowheads="1" noTextEdit="1"/>
          </p:cNvSpPr>
          <p:nvPr>
            <p:ph type="sldImg"/>
          </p:nvPr>
        </p:nvSpPr>
        <p:spPr>
          <a:ln/>
        </p:spPr>
      </p:sp>
      <p:sp>
        <p:nvSpPr>
          <p:cNvPr id="494595" name="Rectangle 3"/>
          <p:cNvSpPr>
            <a:spLocks noGrp="1" noChangeArrowheads="1"/>
          </p:cNvSpPr>
          <p:nvPr>
            <p:ph type="body" idx="1"/>
          </p:nvPr>
        </p:nvSpPr>
        <p:spPr/>
        <p:txBody>
          <a:bodyPr/>
          <a:lstStyle/>
          <a:p>
            <a:r>
              <a:rPr lang="en-US" dirty="0"/>
              <a:t>User can take on many roles.</a:t>
            </a:r>
          </a:p>
          <a:p>
            <a:r>
              <a:rPr lang="en-US" dirty="0"/>
              <a:t>When you have shared principals, you wont know who is using what.</a:t>
            </a:r>
          </a:p>
        </p:txBody>
      </p:sp>
    </p:spTree>
    <p:extLst>
      <p:ext uri="{BB962C8B-B14F-4D97-AF65-F5344CB8AC3E}">
        <p14:creationId xmlns:p14="http://schemas.microsoft.com/office/powerpoint/2010/main" val="2860573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EB86D4-82BE-4932-9F01-48574310BC95}" type="slidenum">
              <a:rPr lang="en-US"/>
              <a:pPr/>
              <a:t>11</a:t>
            </a:fld>
            <a:endParaRPr lang="en-US"/>
          </a:p>
        </p:txBody>
      </p:sp>
      <p:sp>
        <p:nvSpPr>
          <p:cNvPr id="495618" name="Rectangle 2"/>
          <p:cNvSpPr>
            <a:spLocks noGrp="1" noRot="1" noChangeAspect="1" noChangeArrowheads="1" noTextEdit="1"/>
          </p:cNvSpPr>
          <p:nvPr>
            <p:ph type="sldImg"/>
          </p:nvPr>
        </p:nvSpPr>
        <p:spPr>
          <a:ln/>
        </p:spPr>
      </p:sp>
      <p:sp>
        <p:nvSpPr>
          <p:cNvPr id="495619" name="Rectangle 3"/>
          <p:cNvSpPr>
            <a:spLocks noGrp="1" noChangeArrowheads="1"/>
          </p:cNvSpPr>
          <p:nvPr>
            <p:ph type="body" idx="1"/>
          </p:nvPr>
        </p:nvSpPr>
        <p:spPr/>
        <p:txBody>
          <a:bodyPr/>
          <a:lstStyle/>
          <a:p>
            <a:r>
              <a:rPr lang="en-US" dirty="0"/>
              <a:t>A user with a role can take on multiple subjects.</a:t>
            </a:r>
          </a:p>
          <a:p>
            <a:r>
              <a:rPr lang="en-US" dirty="0"/>
              <a:t>Subject is run on behalf of principal.</a:t>
            </a:r>
          </a:p>
          <a:p>
            <a:endParaRPr lang="en-US" dirty="0"/>
          </a:p>
          <a:p>
            <a:r>
              <a:rPr lang="en-US" dirty="0"/>
              <a:t>DAC is where the subject inherits the access rights of the user. </a:t>
            </a:r>
          </a:p>
          <a:p>
            <a:endParaRPr lang="en-US" dirty="0"/>
          </a:p>
          <a:p>
            <a:endParaRPr lang="en-US" dirty="0"/>
          </a:p>
          <a:p>
            <a:r>
              <a:rPr lang="en-US" dirty="0"/>
              <a:t>User to principal – authenticate the user based on the context of the principal</a:t>
            </a:r>
          </a:p>
          <a:p>
            <a:r>
              <a:rPr lang="en-US" dirty="0"/>
              <a:t>Principal to Subject – Subject carry out operations on behalf of the principal, one to many mapping, if all subject have same access right as principal, usually detreated the same as principal.</a:t>
            </a:r>
          </a:p>
        </p:txBody>
      </p:sp>
    </p:spTree>
    <p:extLst>
      <p:ext uri="{BB962C8B-B14F-4D97-AF65-F5344CB8AC3E}">
        <p14:creationId xmlns:p14="http://schemas.microsoft.com/office/powerpoint/2010/main" val="10960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397F27-8EEA-4A5A-B078-2C504E5829D8}" type="slidenum">
              <a:rPr lang="en-US"/>
              <a:pPr/>
              <a:t>12</a:t>
            </a:fld>
            <a:endParaRPr lang="en-US"/>
          </a:p>
        </p:txBody>
      </p:sp>
      <p:sp>
        <p:nvSpPr>
          <p:cNvPr id="496642" name="Rectangle 2"/>
          <p:cNvSpPr>
            <a:spLocks noGrp="1" noRot="1" noChangeAspect="1" noChangeArrowheads="1" noTextEdit="1"/>
          </p:cNvSpPr>
          <p:nvPr>
            <p:ph type="sldImg"/>
          </p:nvPr>
        </p:nvSpPr>
        <p:spPr>
          <a:ln/>
        </p:spPr>
      </p:sp>
      <p:sp>
        <p:nvSpPr>
          <p:cNvPr id="496643" name="Rectangle 3"/>
          <p:cNvSpPr>
            <a:spLocks noGrp="1" noChangeArrowheads="1"/>
          </p:cNvSpPr>
          <p:nvPr>
            <p:ph type="body" idx="1"/>
          </p:nvPr>
        </p:nvSpPr>
        <p:spPr/>
        <p:txBody>
          <a:bodyPr/>
          <a:lstStyle/>
          <a:p>
            <a:r>
              <a:rPr lang="en-US" dirty="0"/>
              <a:t>Objects are just items that the subjects use to act on.</a:t>
            </a:r>
          </a:p>
          <a:p>
            <a:r>
              <a:rPr lang="en-US" dirty="0"/>
              <a:t>They are things like files, directory, memory segments. They get </a:t>
            </a:r>
            <a:r>
              <a:rPr lang="en-US" dirty="0" err="1"/>
              <a:t>slutted</a:t>
            </a:r>
            <a:r>
              <a:rPr lang="en-US" dirty="0"/>
              <a:t> upon basically.</a:t>
            </a:r>
          </a:p>
          <a:p>
            <a:r>
              <a:rPr lang="en-US" dirty="0"/>
              <a:t>Subjects (the </a:t>
            </a:r>
            <a:r>
              <a:rPr lang="en-US" dirty="0" err="1"/>
              <a:t>intermeditary</a:t>
            </a:r>
            <a:r>
              <a:rPr lang="en-US" dirty="0"/>
              <a:t>) can become the thing that is being acted on. For example, another subject can become an object. Chrome (usually the one accessing files), can be killed (killing via task manager is your subject now).</a:t>
            </a:r>
          </a:p>
          <a:p>
            <a:endParaRPr lang="en-US" dirty="0"/>
          </a:p>
        </p:txBody>
      </p:sp>
    </p:spTree>
    <p:extLst>
      <p:ext uri="{BB962C8B-B14F-4D97-AF65-F5344CB8AC3E}">
        <p14:creationId xmlns:p14="http://schemas.microsoft.com/office/powerpoint/2010/main" val="1159453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CBB1910-1609-4C72-8C2A-691F01A1A779}" type="slidenum">
              <a:rPr lang="en-US"/>
              <a:pPr/>
              <a:t>13</a:t>
            </a:fld>
            <a:endParaRPr lang="en-US"/>
          </a:p>
        </p:txBody>
      </p:sp>
      <p:sp>
        <p:nvSpPr>
          <p:cNvPr id="497666" name="Rectangle 2"/>
          <p:cNvSpPr>
            <a:spLocks noGrp="1" noRot="1" noChangeAspect="1" noChangeArrowheads="1" noTextEdit="1"/>
          </p:cNvSpPr>
          <p:nvPr>
            <p:ph type="sldImg"/>
          </p:nvPr>
        </p:nvSpPr>
        <p:spPr>
          <a:ln/>
        </p:spPr>
      </p:sp>
      <p:sp>
        <p:nvSpPr>
          <p:cNvPr id="497667" name="Rectangle 3"/>
          <p:cNvSpPr>
            <a:spLocks noGrp="1" noChangeArrowheads="1"/>
          </p:cNvSpPr>
          <p:nvPr>
            <p:ph type="body" idx="1"/>
          </p:nvPr>
        </p:nvSpPr>
        <p:spPr/>
        <p:txBody>
          <a:bodyPr/>
          <a:lstStyle/>
          <a:p>
            <a:r>
              <a:rPr lang="en-US" dirty="0"/>
              <a:t>In DAC systems, these rights that these subjects has on objects are inherited from the principal. The principal will have rights defined like can write, can execute, can read etc. Then the subject can use these and act upon them.</a:t>
            </a:r>
          </a:p>
        </p:txBody>
      </p:sp>
    </p:spTree>
    <p:extLst>
      <p:ext uri="{BB962C8B-B14F-4D97-AF65-F5344CB8AC3E}">
        <p14:creationId xmlns:p14="http://schemas.microsoft.com/office/powerpoint/2010/main" val="1672052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0639AA-ADD2-4729-AFF5-9F6499AEBB7D}" type="slidenum">
              <a:rPr lang="en-US"/>
              <a:pPr/>
              <a:t>14</a:t>
            </a:fld>
            <a:endParaRPr lang="en-US"/>
          </a:p>
        </p:txBody>
      </p:sp>
      <p:sp>
        <p:nvSpPr>
          <p:cNvPr id="491522" name="Rectangle 2"/>
          <p:cNvSpPr>
            <a:spLocks noGrp="1" noRot="1" noChangeAspect="1" noChangeArrowheads="1" noTextEdit="1"/>
          </p:cNvSpPr>
          <p:nvPr>
            <p:ph type="sldImg"/>
          </p:nvPr>
        </p:nvSpPr>
        <p:spPr>
          <a:ln/>
        </p:spPr>
      </p:sp>
      <p:sp>
        <p:nvSpPr>
          <p:cNvPr id="4915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21966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78C8A2-D051-4443-BBD0-183AED569565}" type="slidenum">
              <a:rPr lang="en-US"/>
              <a:pPr/>
              <a:t>15</a:t>
            </a:fld>
            <a:endParaRPr lang="en-US"/>
          </a:p>
        </p:txBody>
      </p:sp>
      <p:sp>
        <p:nvSpPr>
          <p:cNvPr id="354306" name="Rectangle 2"/>
          <p:cNvSpPr>
            <a:spLocks noGrp="1" noRot="1" noChangeAspect="1" noChangeArrowheads="1" noTextEdit="1"/>
          </p:cNvSpPr>
          <p:nvPr>
            <p:ph type="sldImg"/>
          </p:nvPr>
        </p:nvSpPr>
        <p:spPr>
          <a:ln/>
        </p:spPr>
      </p:sp>
      <p:sp>
        <p:nvSpPr>
          <p:cNvPr id="354307" name="Rectangle 3"/>
          <p:cNvSpPr>
            <a:spLocks noGrp="1" noChangeArrowheads="1"/>
          </p:cNvSpPr>
          <p:nvPr>
            <p:ph type="body" idx="1"/>
          </p:nvPr>
        </p:nvSpPr>
        <p:spPr/>
        <p:txBody>
          <a:bodyPr/>
          <a:lstStyle/>
          <a:p>
            <a:r>
              <a:rPr lang="en-US" dirty="0"/>
              <a:t>Can come in the form of a linked list for f. </a:t>
            </a:r>
          </a:p>
          <a:p>
            <a:r>
              <a:rPr lang="en-US" dirty="0"/>
              <a:t>U is the first item, which has </a:t>
            </a:r>
            <a:r>
              <a:rPr lang="en-US" dirty="0" err="1"/>
              <a:t>orw</a:t>
            </a:r>
            <a:endParaRPr lang="en-US" dirty="0"/>
          </a:p>
          <a:p>
            <a:r>
              <a:rPr lang="en-US" dirty="0"/>
              <a:t>V is the second item, which has r.</a:t>
            </a:r>
          </a:p>
          <a:p>
            <a:endParaRPr lang="en-US" dirty="0"/>
          </a:p>
          <a:p>
            <a:endParaRPr lang="en-US" dirty="0"/>
          </a:p>
          <a:p>
            <a:r>
              <a:rPr lang="en-US" dirty="0"/>
              <a:t>Capabilities vs ACL</a:t>
            </a:r>
          </a:p>
          <a:p>
            <a:endParaRPr lang="en-US" dirty="0"/>
          </a:p>
          <a:p>
            <a:endParaRPr lang="en-US" dirty="0"/>
          </a:p>
          <a:p>
            <a:r>
              <a:rPr lang="en-US" dirty="0"/>
              <a:t>Capabilities is stored with </a:t>
            </a:r>
            <a:r>
              <a:rPr lang="en-US" b="1" dirty="0"/>
              <a:t>SUBJECTS.</a:t>
            </a:r>
            <a:r>
              <a:rPr lang="en-US" b="0" dirty="0"/>
              <a:t> Essentially, a subject would have a list of for example object </a:t>
            </a:r>
            <a:r>
              <a:rPr lang="en-US" b="0" dirty="0" err="1"/>
              <a:t>a:r</a:t>
            </a:r>
            <a:r>
              <a:rPr lang="en-US" b="0" dirty="0"/>
              <a:t>, object b </a:t>
            </a:r>
            <a:r>
              <a:rPr lang="en-US" b="0" dirty="0" err="1"/>
              <a:t>a:w</a:t>
            </a:r>
            <a:r>
              <a:rPr lang="en-US" b="0" dirty="0"/>
              <a:t> object </a:t>
            </a:r>
            <a:r>
              <a:rPr lang="en-US" b="0" dirty="0" err="1"/>
              <a:t>c:x</a:t>
            </a:r>
            <a:r>
              <a:rPr lang="en-US" b="0" dirty="0"/>
              <a:t>. It is important for the capabilities to not be forgeable as this poses a security risk.</a:t>
            </a:r>
          </a:p>
          <a:p>
            <a:r>
              <a:rPr lang="en-US" b="0" dirty="0"/>
              <a:t>When someone wants to access the files, the subject, it would check the user’s principal (identity) and the access right.</a:t>
            </a:r>
          </a:p>
          <a:p>
            <a:r>
              <a:rPr lang="en-US" b="0" dirty="0"/>
              <a:t>ACL is stored with the </a:t>
            </a:r>
            <a:r>
              <a:rPr lang="en-US" b="1" dirty="0"/>
              <a:t>OBJECTS</a:t>
            </a:r>
            <a:r>
              <a:rPr lang="en-US" b="0" dirty="0"/>
              <a:t>. Essentially, an object would have a list of subjects and their corresponding rights. Like, Object O has a list of entries like (Subject </a:t>
            </a:r>
            <a:r>
              <a:rPr lang="en-US" b="0" dirty="0" err="1"/>
              <a:t>A:blah</a:t>
            </a:r>
            <a:r>
              <a:rPr lang="en-US" b="0" dirty="0"/>
              <a:t> </a:t>
            </a:r>
            <a:r>
              <a:rPr lang="en-US" b="0" dirty="0" err="1"/>
              <a:t>etc</a:t>
            </a:r>
            <a:r>
              <a:rPr lang="en-US" b="0" dirty="0"/>
              <a:t>) </a:t>
            </a:r>
            <a:endParaRPr lang="en-US" dirty="0"/>
          </a:p>
        </p:txBody>
      </p:sp>
    </p:spTree>
    <p:extLst>
      <p:ext uri="{BB962C8B-B14F-4D97-AF65-F5344CB8AC3E}">
        <p14:creationId xmlns:p14="http://schemas.microsoft.com/office/powerpoint/2010/main" val="35972689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CBFD7E-0256-4C73-9E64-401B8046529B}" type="slidenum">
              <a:rPr lang="en-US"/>
              <a:pPr/>
              <a:t>16</a:t>
            </a:fld>
            <a:endParaRPr lang="en-US"/>
          </a:p>
        </p:txBody>
      </p:sp>
      <p:sp>
        <p:nvSpPr>
          <p:cNvPr id="498690" name="Rectangle 2"/>
          <p:cNvSpPr>
            <a:spLocks noGrp="1" noRot="1" noChangeAspect="1" noChangeArrowheads="1" noTextEdit="1"/>
          </p:cNvSpPr>
          <p:nvPr>
            <p:ph type="sldImg"/>
          </p:nvPr>
        </p:nvSpPr>
        <p:spPr>
          <a:ln/>
        </p:spPr>
      </p:sp>
      <p:sp>
        <p:nvSpPr>
          <p:cNvPr id="498691" name="Rectangle 3"/>
          <p:cNvSpPr>
            <a:spLocks noGrp="1" noChangeArrowheads="1"/>
          </p:cNvSpPr>
          <p:nvPr>
            <p:ph type="body" idx="1"/>
          </p:nvPr>
        </p:nvSpPr>
        <p:spPr/>
        <p:txBody>
          <a:bodyPr/>
          <a:lstStyle/>
          <a:p>
            <a:r>
              <a:rPr lang="en-US" dirty="0"/>
              <a:t>This is essentially a linked list. </a:t>
            </a:r>
          </a:p>
          <a:p>
            <a:r>
              <a:rPr lang="en-US" dirty="0"/>
              <a:t>The File F has the following permissions: </a:t>
            </a:r>
            <a:r>
              <a:rPr lang="en-US" dirty="0" err="1"/>
              <a:t>U:o</a:t>
            </a:r>
            <a:r>
              <a:rPr lang="en-US" dirty="0"/>
              <a:t>, </a:t>
            </a:r>
            <a:r>
              <a:rPr lang="en-US" dirty="0" err="1"/>
              <a:t>U;r</a:t>
            </a:r>
            <a:r>
              <a:rPr lang="en-US" dirty="0"/>
              <a:t>, </a:t>
            </a:r>
            <a:r>
              <a:rPr lang="en-US" dirty="0" err="1"/>
              <a:t>U:w</a:t>
            </a:r>
            <a:r>
              <a:rPr lang="en-US" dirty="0"/>
              <a:t>, </a:t>
            </a:r>
            <a:r>
              <a:rPr lang="en-US" dirty="0" err="1"/>
              <a:t>V:r</a:t>
            </a:r>
            <a:r>
              <a:rPr lang="en-US" dirty="0"/>
              <a:t> – Going based on objects (F and G is the object ).</a:t>
            </a:r>
          </a:p>
          <a:p>
            <a:endParaRPr lang="en-US" dirty="0"/>
          </a:p>
          <a:p>
            <a:r>
              <a:rPr lang="en-US" dirty="0"/>
              <a:t>Two ways, F can have a Pointer in which points to a whole list of of the ACL (U: </a:t>
            </a:r>
            <a:r>
              <a:rPr lang="en-US" dirty="0" err="1"/>
              <a:t>orw</a:t>
            </a:r>
            <a:r>
              <a:rPr lang="en-US" dirty="0"/>
              <a:t> </a:t>
            </a:r>
            <a:r>
              <a:rPr lang="en-US" dirty="0" err="1"/>
              <a:t>etc</a:t>
            </a:r>
            <a:r>
              <a:rPr lang="en-US" dirty="0"/>
              <a:t>)</a:t>
            </a:r>
          </a:p>
          <a:p>
            <a:r>
              <a:rPr lang="en-US" dirty="0"/>
              <a:t>Or it can go another way, where the File maintains a list of its permissions like </a:t>
            </a:r>
            <a:r>
              <a:rPr lang="en-US" dirty="0" err="1"/>
              <a:t>u:o</a:t>
            </a:r>
            <a:r>
              <a:rPr lang="en-US" dirty="0"/>
              <a:t> etc.</a:t>
            </a:r>
          </a:p>
          <a:p>
            <a:endParaRPr lang="en-US" dirty="0"/>
          </a:p>
          <a:p>
            <a:endParaRPr lang="en-US" dirty="0"/>
          </a:p>
          <a:p>
            <a:r>
              <a:rPr lang="en-US" dirty="0"/>
              <a:t>U AND V ARE SUBJECTS.</a:t>
            </a:r>
          </a:p>
        </p:txBody>
      </p:sp>
    </p:spTree>
    <p:extLst>
      <p:ext uri="{BB962C8B-B14F-4D97-AF65-F5344CB8AC3E}">
        <p14:creationId xmlns:p14="http://schemas.microsoft.com/office/powerpoint/2010/main" val="2001399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4889520-3E7A-4ABB-93E6-0B17BEEE38A5}" type="slidenum">
              <a:rPr lang="en-US" altLang="en-US" sz="1200"/>
              <a:pPr/>
              <a:t>18</a:t>
            </a:fld>
            <a:endParaRPr lang="en-US" alt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en-US" dirty="0"/>
          </a:p>
        </p:txBody>
      </p:sp>
    </p:spTree>
    <p:extLst>
      <p:ext uri="{BB962C8B-B14F-4D97-AF65-F5344CB8AC3E}">
        <p14:creationId xmlns:p14="http://schemas.microsoft.com/office/powerpoint/2010/main" val="23173863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47CB1A-4A6F-44AD-BD1C-05756ABAFFA6}" type="slidenum">
              <a:rPr lang="en-US"/>
              <a:pPr/>
              <a:t>20</a:t>
            </a:fld>
            <a:endParaRPr lang="en-US"/>
          </a:p>
        </p:txBody>
      </p:sp>
      <p:sp>
        <p:nvSpPr>
          <p:cNvPr id="499714" name="Rectangle 2"/>
          <p:cNvSpPr>
            <a:spLocks noGrp="1" noRot="1" noChangeAspect="1" noChangeArrowheads="1" noTextEdit="1"/>
          </p:cNvSpPr>
          <p:nvPr>
            <p:ph type="sldImg"/>
          </p:nvPr>
        </p:nvSpPr>
        <p:spPr>
          <a:ln/>
        </p:spPr>
      </p:sp>
      <p:sp>
        <p:nvSpPr>
          <p:cNvPr id="499715" name="Rectangle 3"/>
          <p:cNvSpPr>
            <a:spLocks noGrp="1" noChangeArrowheads="1"/>
          </p:cNvSpPr>
          <p:nvPr>
            <p:ph type="body" idx="1"/>
          </p:nvPr>
        </p:nvSpPr>
        <p:spPr/>
        <p:txBody>
          <a:bodyPr/>
          <a:lstStyle/>
          <a:p>
            <a:r>
              <a:rPr lang="en-US" dirty="0"/>
              <a:t>Capabilities – something that your subject holds.</a:t>
            </a:r>
          </a:p>
          <a:p>
            <a:r>
              <a:rPr lang="en-US" dirty="0"/>
              <a:t>You can think of it as something like a key that the subject has. </a:t>
            </a:r>
          </a:p>
          <a:p>
            <a:r>
              <a:rPr lang="en-US" dirty="0"/>
              <a:t>Without capabilities, the subject has no access to the object.</a:t>
            </a:r>
          </a:p>
          <a:p>
            <a:r>
              <a:rPr lang="en-US" dirty="0"/>
              <a:t>For example, google chrome has permissions to read to files, but not write to files. </a:t>
            </a:r>
          </a:p>
          <a:p>
            <a:endParaRPr lang="en-US" dirty="0"/>
          </a:p>
          <a:p>
            <a:r>
              <a:rPr lang="en-US" dirty="0"/>
              <a:t>Unforgeable – cannot be created by subject randomly. Control propagation means the subject can only to a certain extent, pass the capabilities to other subjects.</a:t>
            </a:r>
          </a:p>
          <a:p>
            <a:endParaRPr lang="en-US" dirty="0"/>
          </a:p>
        </p:txBody>
      </p:sp>
    </p:spTree>
    <p:extLst>
      <p:ext uri="{BB962C8B-B14F-4D97-AF65-F5344CB8AC3E}">
        <p14:creationId xmlns:p14="http://schemas.microsoft.com/office/powerpoint/2010/main" val="25600302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5589C65-1315-49DB-9262-012FCF0E0636}" type="slidenum">
              <a:rPr lang="en-US"/>
              <a:pPr/>
              <a:t>21</a:t>
            </a:fld>
            <a:endParaRPr lang="en-US"/>
          </a:p>
        </p:txBody>
      </p:sp>
      <p:sp>
        <p:nvSpPr>
          <p:cNvPr id="501762" name="Rectangle 2"/>
          <p:cNvSpPr>
            <a:spLocks noGrp="1" noRot="1" noChangeAspect="1" noChangeArrowheads="1" noTextEdit="1"/>
          </p:cNvSpPr>
          <p:nvPr>
            <p:ph type="sldImg"/>
          </p:nvPr>
        </p:nvSpPr>
        <p:spPr>
          <a:ln/>
        </p:spPr>
      </p:sp>
      <p:sp>
        <p:nvSpPr>
          <p:cNvPr id="501763" name="Rectangle 3"/>
          <p:cNvSpPr>
            <a:spLocks noGrp="1" noChangeArrowheads="1"/>
          </p:cNvSpPr>
          <p:nvPr>
            <p:ph type="body" idx="1"/>
          </p:nvPr>
        </p:nvSpPr>
        <p:spPr/>
        <p:txBody>
          <a:bodyPr/>
          <a:lstStyle/>
          <a:p>
            <a:r>
              <a:rPr lang="en-US" dirty="0"/>
              <a:t>ACL is attached to object; a file. – A object </a:t>
            </a:r>
          </a:p>
          <a:p>
            <a:r>
              <a:rPr lang="en-US" dirty="0"/>
              <a:t>Capabilities is attached to a subject. – Chrome can access something?</a:t>
            </a:r>
          </a:p>
          <a:p>
            <a:endParaRPr lang="en-US" dirty="0"/>
          </a:p>
          <a:p>
            <a:r>
              <a:rPr lang="en-US" dirty="0"/>
              <a:t>ACL – a object has a list of who can access me like </a:t>
            </a:r>
            <a:r>
              <a:rPr lang="en-US" dirty="0" err="1"/>
              <a:t>userA:rwx</a:t>
            </a:r>
            <a:r>
              <a:rPr lang="en-US" dirty="0"/>
              <a:t> </a:t>
            </a:r>
            <a:r>
              <a:rPr lang="en-US" dirty="0" err="1"/>
              <a:t>userb:wx</a:t>
            </a:r>
            <a:r>
              <a:rPr lang="en-US" dirty="0"/>
              <a:t> etc.</a:t>
            </a:r>
          </a:p>
          <a:p>
            <a:r>
              <a:rPr lang="en-US" dirty="0"/>
              <a:t>Since stored with object, I will check its authentication (can you use).</a:t>
            </a:r>
          </a:p>
          <a:p>
            <a:r>
              <a:rPr lang="en-US" dirty="0"/>
              <a:t>Capabilities – stored with subject, in which has </a:t>
            </a:r>
            <a:r>
              <a:rPr lang="en-US" dirty="0" err="1"/>
              <a:t>fileA:rwx</a:t>
            </a:r>
            <a:r>
              <a:rPr lang="en-US" dirty="0"/>
              <a:t> etc.</a:t>
            </a:r>
          </a:p>
          <a:p>
            <a:r>
              <a:rPr lang="en-US" dirty="0"/>
              <a:t>Since stored with subject, it cannot be forged and control of propagation of capabilities.</a:t>
            </a:r>
          </a:p>
          <a:p>
            <a:endParaRPr lang="en-US" dirty="0"/>
          </a:p>
          <a:p>
            <a:r>
              <a:rPr lang="en-US" dirty="0"/>
              <a:t>For ACL, there is a access review on object basis.</a:t>
            </a:r>
          </a:p>
          <a:p>
            <a:endParaRPr lang="en-US" dirty="0"/>
          </a:p>
          <a:p>
            <a:endParaRPr lang="en-US" dirty="0"/>
          </a:p>
        </p:txBody>
      </p:sp>
    </p:spTree>
    <p:extLst>
      <p:ext uri="{BB962C8B-B14F-4D97-AF65-F5344CB8AC3E}">
        <p14:creationId xmlns:p14="http://schemas.microsoft.com/office/powerpoint/2010/main" val="1825558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8EBB78-49F2-4F0D-90E0-9F5A3657CF64}" type="slidenum">
              <a:rPr lang="en-US"/>
              <a:pPr/>
              <a:t>22</a:t>
            </a:fld>
            <a:endParaRPr lang="en-US"/>
          </a:p>
        </p:txBody>
      </p:sp>
      <p:sp>
        <p:nvSpPr>
          <p:cNvPr id="503810" name="Rectangle 2"/>
          <p:cNvSpPr>
            <a:spLocks noGrp="1" noRot="1" noChangeAspect="1" noChangeArrowheads="1" noTextEdit="1"/>
          </p:cNvSpPr>
          <p:nvPr>
            <p:ph type="sldImg"/>
          </p:nvPr>
        </p:nvSpPr>
        <p:spPr>
          <a:ln/>
        </p:spPr>
      </p:sp>
      <p:sp>
        <p:nvSpPr>
          <p:cNvPr id="5038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84893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043385-4B6D-4A91-8FC3-5E7D52376137}" type="slidenum">
              <a:rPr lang="en-US"/>
              <a:pPr/>
              <a:t>24</a:t>
            </a:fld>
            <a:endParaRPr lang="en-US"/>
          </a:p>
        </p:txBody>
      </p:sp>
      <p:sp>
        <p:nvSpPr>
          <p:cNvPr id="536578" name="Rectangle 2"/>
          <p:cNvSpPr>
            <a:spLocks noGrp="1" noRot="1" noChangeAspect="1" noChangeArrowheads="1" noTextEdit="1"/>
          </p:cNvSpPr>
          <p:nvPr>
            <p:ph type="sldImg"/>
          </p:nvPr>
        </p:nvSpPr>
        <p:spPr>
          <a:ln/>
        </p:spPr>
      </p:sp>
      <p:sp>
        <p:nvSpPr>
          <p:cNvPr id="536579" name="Rectangle 3"/>
          <p:cNvSpPr>
            <a:spLocks noGrp="1" noChangeArrowheads="1"/>
          </p:cNvSpPr>
          <p:nvPr>
            <p:ph type="body" idx="1"/>
          </p:nvPr>
        </p:nvSpPr>
        <p:spPr/>
        <p:txBody>
          <a:bodyPr/>
          <a:lstStyle/>
          <a:p>
            <a:r>
              <a:rPr lang="en-US" dirty="0"/>
              <a:t>DAC is weak because of this reason.</a:t>
            </a:r>
          </a:p>
          <a:p>
            <a:r>
              <a:rPr lang="en-US" dirty="0"/>
              <a:t>Imagine I have RW access to file F, and W to G</a:t>
            </a:r>
          </a:p>
          <a:p>
            <a:r>
              <a:rPr lang="en-US" dirty="0"/>
              <a:t>And person J have R access to G.</a:t>
            </a:r>
          </a:p>
          <a:p>
            <a:endParaRPr lang="en-US" dirty="0"/>
          </a:p>
          <a:p>
            <a:r>
              <a:rPr lang="en-US" dirty="0"/>
              <a:t>I can just take what I have from F, and write to G. If G is bad, </a:t>
            </a:r>
            <a:r>
              <a:rPr lang="en-US" dirty="0" err="1"/>
              <a:t>im</a:t>
            </a:r>
            <a:r>
              <a:rPr lang="en-US" dirty="0"/>
              <a:t> cooked.</a:t>
            </a:r>
          </a:p>
          <a:p>
            <a:endParaRPr lang="en-US" dirty="0"/>
          </a:p>
          <a:p>
            <a:endParaRPr lang="en-US" dirty="0"/>
          </a:p>
        </p:txBody>
      </p:sp>
    </p:spTree>
    <p:extLst>
      <p:ext uri="{BB962C8B-B14F-4D97-AF65-F5344CB8AC3E}">
        <p14:creationId xmlns:p14="http://schemas.microsoft.com/office/powerpoint/2010/main" val="2543324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55DE177-6210-434B-9E75-581047702EE2}" type="slidenum">
              <a:rPr lang="en-US"/>
              <a:pPr/>
              <a:t>25</a:t>
            </a:fld>
            <a:endParaRPr lang="en-US"/>
          </a:p>
        </p:txBody>
      </p:sp>
      <p:sp>
        <p:nvSpPr>
          <p:cNvPr id="538626" name="Rectangle 2"/>
          <p:cNvSpPr>
            <a:spLocks noGrp="1" noRot="1" noChangeAspect="1" noChangeArrowheads="1" noTextEdit="1"/>
          </p:cNvSpPr>
          <p:nvPr>
            <p:ph type="sldImg"/>
          </p:nvPr>
        </p:nvSpPr>
        <p:spPr>
          <a:ln/>
        </p:spPr>
      </p:sp>
      <p:sp>
        <p:nvSpPr>
          <p:cNvPr id="538627" name="Rectangle 3"/>
          <p:cNvSpPr>
            <a:spLocks noGrp="1" noChangeArrowheads="1"/>
          </p:cNvSpPr>
          <p:nvPr>
            <p:ph type="body" idx="1"/>
          </p:nvPr>
        </p:nvSpPr>
        <p:spPr/>
        <p:txBody>
          <a:bodyPr/>
          <a:lstStyle/>
          <a:p>
            <a:r>
              <a:rPr lang="en-US" dirty="0"/>
              <a:t>What is a Trojan Horse – when you execute, it’s a malicious program which can take on your identity and your permissions (rights) to certain objects and conduct operations on them.</a:t>
            </a:r>
          </a:p>
          <a:p>
            <a:r>
              <a:rPr lang="en-US" dirty="0"/>
              <a:t>For DAC, I can just run a trojan horse which takes the rights someone has to something, and run certain processes on it to exploit him.</a:t>
            </a:r>
          </a:p>
        </p:txBody>
      </p:sp>
    </p:spTree>
    <p:extLst>
      <p:ext uri="{BB962C8B-B14F-4D97-AF65-F5344CB8AC3E}">
        <p14:creationId xmlns:p14="http://schemas.microsoft.com/office/powerpoint/2010/main" val="530294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524F88-B9F0-4AD0-847E-66ADA3C51E2A}" type="slidenum">
              <a:rPr lang="en-US"/>
              <a:pPr/>
              <a:t>26</a:t>
            </a:fld>
            <a:endParaRPr lang="en-US"/>
          </a:p>
        </p:txBody>
      </p:sp>
      <p:sp>
        <p:nvSpPr>
          <p:cNvPr id="540674" name="Rectangle 2"/>
          <p:cNvSpPr>
            <a:spLocks noGrp="1" noRot="1" noChangeAspect="1" noChangeArrowheads="1" noTextEdit="1"/>
          </p:cNvSpPr>
          <p:nvPr>
            <p:ph type="sldImg"/>
          </p:nvPr>
        </p:nvSpPr>
        <p:spPr>
          <a:ln/>
        </p:spPr>
      </p:sp>
      <p:sp>
        <p:nvSpPr>
          <p:cNvPr id="540675" name="Rectangle 3"/>
          <p:cNvSpPr>
            <a:spLocks noGrp="1" noChangeArrowheads="1"/>
          </p:cNvSpPr>
          <p:nvPr>
            <p:ph type="body" idx="1"/>
          </p:nvPr>
        </p:nvSpPr>
        <p:spPr/>
        <p:txBody>
          <a:bodyPr/>
          <a:lstStyle/>
          <a:p>
            <a:r>
              <a:rPr lang="en-US" dirty="0"/>
              <a:t>Even if I am the owner of file, this one is given by the system.</a:t>
            </a:r>
          </a:p>
          <a:p>
            <a:r>
              <a:rPr lang="en-US" dirty="0"/>
              <a:t>Security labels are used to attach to subject and object.</a:t>
            </a:r>
          </a:p>
          <a:p>
            <a:r>
              <a:rPr lang="en-US" dirty="0"/>
              <a:t>For subjects, it is clearance. For objects, it is sensitivity.</a:t>
            </a:r>
          </a:p>
          <a:p>
            <a:endParaRPr lang="en-US" dirty="0"/>
          </a:p>
          <a:p>
            <a:endParaRPr lang="en-US" dirty="0"/>
          </a:p>
          <a:p>
            <a:r>
              <a:rPr lang="en-US" dirty="0"/>
              <a:t>So if for example, if my subject has access to secret data,  I can only </a:t>
            </a:r>
            <a:r>
              <a:rPr lang="en-US" b="1" dirty="0"/>
              <a:t>READ</a:t>
            </a:r>
            <a:r>
              <a:rPr lang="en-US" b="0" dirty="0"/>
              <a:t> anything that is below or at same level as secret (for objects)</a:t>
            </a:r>
            <a:br>
              <a:rPr lang="en-US" b="0" dirty="0"/>
            </a:br>
            <a:r>
              <a:rPr lang="en-US" b="0" dirty="0"/>
              <a:t>But, if as the subject, I can access write to things that are higher to me ”Secret can write to top secret”</a:t>
            </a:r>
          </a:p>
          <a:p>
            <a:endParaRPr lang="en-US" b="0" dirty="0"/>
          </a:p>
          <a:p>
            <a:r>
              <a:rPr lang="en-US" b="0" dirty="0"/>
              <a:t>The principal will give the subject the permission. Subject inherit from principal. From there, the subject will be able to read downwards, write upwards.</a:t>
            </a:r>
          </a:p>
          <a:p>
            <a:r>
              <a:rPr lang="en-US" b="0" dirty="0"/>
              <a:t>It is the same from principal to subject as well.</a:t>
            </a:r>
            <a:endParaRPr lang="en-US" dirty="0"/>
          </a:p>
          <a:p>
            <a:endParaRPr lang="en-US" dirty="0"/>
          </a:p>
        </p:txBody>
      </p:sp>
    </p:spTree>
    <p:extLst>
      <p:ext uri="{BB962C8B-B14F-4D97-AF65-F5344CB8AC3E}">
        <p14:creationId xmlns:p14="http://schemas.microsoft.com/office/powerpoint/2010/main" val="17926673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label is top secret, you can read a file with secret.</a:t>
            </a:r>
          </a:p>
        </p:txBody>
      </p:sp>
      <p:sp>
        <p:nvSpPr>
          <p:cNvPr id="4" name="Slide Number Placeholder 3"/>
          <p:cNvSpPr>
            <a:spLocks noGrp="1"/>
          </p:cNvSpPr>
          <p:nvPr>
            <p:ph type="sldNum" sz="quarter" idx="5"/>
          </p:nvPr>
        </p:nvSpPr>
        <p:spPr/>
        <p:txBody>
          <a:bodyPr/>
          <a:lstStyle/>
          <a:p>
            <a:fld id="{1CFD4FAC-B258-624A-81B3-9D14B0086038}" type="slidenum">
              <a:rPr lang="en-US" smtClean="0"/>
              <a:t>27</a:t>
            </a:fld>
            <a:endParaRPr lang="en-US"/>
          </a:p>
        </p:txBody>
      </p:sp>
    </p:spTree>
    <p:extLst>
      <p:ext uri="{BB962C8B-B14F-4D97-AF65-F5344CB8AC3E}">
        <p14:creationId xmlns:p14="http://schemas.microsoft.com/office/powerpoint/2010/main" val="38631050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E7FE38F-7085-4059-88EC-9DF73B9FEC07}" type="slidenum">
              <a:rPr lang="en-US"/>
              <a:pPr/>
              <a:t>28</a:t>
            </a:fld>
            <a:endParaRPr lang="en-US"/>
          </a:p>
        </p:txBody>
      </p:sp>
      <p:sp>
        <p:nvSpPr>
          <p:cNvPr id="548866" name="Rectangle 2"/>
          <p:cNvSpPr>
            <a:spLocks noGrp="1" noRot="1" noChangeAspect="1" noChangeArrowheads="1" noTextEdit="1"/>
          </p:cNvSpPr>
          <p:nvPr>
            <p:ph type="sldImg"/>
          </p:nvPr>
        </p:nvSpPr>
        <p:spPr>
          <a:ln/>
        </p:spPr>
      </p:sp>
      <p:sp>
        <p:nvSpPr>
          <p:cNvPr id="548867" name="Rectangle 3"/>
          <p:cNvSpPr>
            <a:spLocks noGrp="1" noChangeArrowheads="1"/>
          </p:cNvSpPr>
          <p:nvPr>
            <p:ph type="body" idx="1"/>
          </p:nvPr>
        </p:nvSpPr>
        <p:spPr/>
        <p:txBody>
          <a:bodyPr/>
          <a:lstStyle/>
          <a:p>
            <a:r>
              <a:rPr lang="en-US" dirty="0"/>
              <a:t>Addresses confidentially, not integrity. Because you can only prevent who to access.</a:t>
            </a:r>
          </a:p>
          <a:p>
            <a:r>
              <a:rPr lang="en-US" dirty="0"/>
              <a:t>Prevent data from FLOWING to high level to low level.</a:t>
            </a:r>
            <a:br>
              <a:rPr lang="en-US" dirty="0"/>
            </a:br>
            <a:r>
              <a:rPr lang="en-US" dirty="0"/>
              <a:t>Data can FLOWING from low level to high level (can report from low to high, cannot report high to low)</a:t>
            </a:r>
          </a:p>
          <a:p>
            <a:r>
              <a:rPr lang="en-US" dirty="0"/>
              <a:t>Data can only flow downwards, but you can give it upwards.</a:t>
            </a:r>
          </a:p>
          <a:p>
            <a:endParaRPr lang="en-US" dirty="0"/>
          </a:p>
        </p:txBody>
      </p:sp>
    </p:spTree>
    <p:extLst>
      <p:ext uri="{BB962C8B-B14F-4D97-AF65-F5344CB8AC3E}">
        <p14:creationId xmlns:p14="http://schemas.microsoft.com/office/powerpoint/2010/main" val="23647657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4164B4-078A-4BBC-ABF5-4A0EEFEA3525}" type="slidenum">
              <a:rPr lang="en-US"/>
              <a:pPr/>
              <a:t>29</a:t>
            </a:fld>
            <a:endParaRPr lang="en-US"/>
          </a:p>
        </p:txBody>
      </p:sp>
      <p:sp>
        <p:nvSpPr>
          <p:cNvPr id="550914" name="Rectangle 2"/>
          <p:cNvSpPr>
            <a:spLocks noGrp="1" noRot="1" noChangeAspect="1" noChangeArrowheads="1" noTextEdit="1"/>
          </p:cNvSpPr>
          <p:nvPr>
            <p:ph type="sldImg"/>
          </p:nvPr>
        </p:nvSpPr>
        <p:spPr>
          <a:ln/>
        </p:spPr>
      </p:sp>
      <p:sp>
        <p:nvSpPr>
          <p:cNvPr id="550915" name="Rectangle 3"/>
          <p:cNvSpPr>
            <a:spLocks noGrp="1" noChangeArrowheads="1"/>
          </p:cNvSpPr>
          <p:nvPr>
            <p:ph type="body" idx="1"/>
          </p:nvPr>
        </p:nvSpPr>
        <p:spPr/>
        <p:txBody>
          <a:bodyPr/>
          <a:lstStyle/>
          <a:p>
            <a:r>
              <a:rPr lang="en-US" dirty="0"/>
              <a:t>Can only read with object is lower or same level higher. </a:t>
            </a:r>
          </a:p>
          <a:p>
            <a:r>
              <a:rPr lang="en-US" dirty="0"/>
              <a:t>Can only write to object with same or higher level – take it as you are a small one. You can add info basically.</a:t>
            </a:r>
          </a:p>
          <a:p>
            <a:endParaRPr lang="en-US" dirty="0"/>
          </a:p>
          <a:p>
            <a:endParaRPr lang="en-US" dirty="0"/>
          </a:p>
        </p:txBody>
      </p:sp>
    </p:spTree>
    <p:extLst>
      <p:ext uri="{BB962C8B-B14F-4D97-AF65-F5344CB8AC3E}">
        <p14:creationId xmlns:p14="http://schemas.microsoft.com/office/powerpoint/2010/main" val="37269783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0F3B77-02B8-42F2-AF74-D18909B56E6E}" type="slidenum">
              <a:rPr lang="en-US"/>
              <a:pPr/>
              <a:t>30</a:t>
            </a:fld>
            <a:endParaRPr lang="en-US"/>
          </a:p>
        </p:txBody>
      </p:sp>
      <p:sp>
        <p:nvSpPr>
          <p:cNvPr id="552962" name="Rectangle 2"/>
          <p:cNvSpPr>
            <a:spLocks noGrp="1" noRot="1" noChangeAspect="1" noChangeArrowheads="1" noTextEdit="1"/>
          </p:cNvSpPr>
          <p:nvPr>
            <p:ph type="sldImg"/>
          </p:nvPr>
        </p:nvSpPr>
        <p:spPr>
          <a:ln/>
        </p:spPr>
      </p:sp>
      <p:sp>
        <p:nvSpPr>
          <p:cNvPr id="552963" name="Rectangle 3"/>
          <p:cNvSpPr>
            <a:spLocks noGrp="1" noChangeArrowheads="1"/>
          </p:cNvSpPr>
          <p:nvPr>
            <p:ph type="body" idx="1"/>
          </p:nvPr>
        </p:nvSpPr>
        <p:spPr/>
        <p:txBody>
          <a:bodyPr/>
          <a:lstStyle/>
          <a:p>
            <a:r>
              <a:rPr lang="en-US" dirty="0"/>
              <a:t>With both together, we can check if whether this person is secret matches my subject’s property.</a:t>
            </a:r>
          </a:p>
          <a:p>
            <a:endParaRPr lang="en-US" dirty="0"/>
          </a:p>
        </p:txBody>
      </p:sp>
    </p:spTree>
    <p:extLst>
      <p:ext uri="{BB962C8B-B14F-4D97-AF65-F5344CB8AC3E}">
        <p14:creationId xmlns:p14="http://schemas.microsoft.com/office/powerpoint/2010/main" val="14445308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465FCA-ED67-4EC0-8A60-765F174BE8F0}" type="slidenum">
              <a:rPr lang="en-US"/>
              <a:pPr/>
              <a:t>31</a:t>
            </a:fld>
            <a:endParaRPr lang="en-US"/>
          </a:p>
        </p:txBody>
      </p:sp>
      <p:sp>
        <p:nvSpPr>
          <p:cNvPr id="555010" name="Rectangle 2"/>
          <p:cNvSpPr>
            <a:spLocks noGrp="1" noRot="1" noChangeAspect="1" noChangeArrowheads="1" noTextEdit="1"/>
          </p:cNvSpPr>
          <p:nvPr>
            <p:ph type="sldImg"/>
          </p:nvPr>
        </p:nvSpPr>
        <p:spPr>
          <a:ln/>
        </p:spPr>
      </p:sp>
      <p:sp>
        <p:nvSpPr>
          <p:cNvPr id="555011" name="Rectangle 3"/>
          <p:cNvSpPr>
            <a:spLocks noGrp="1" noChangeArrowheads="1"/>
          </p:cNvSpPr>
          <p:nvPr>
            <p:ph type="body" idx="1"/>
          </p:nvPr>
        </p:nvSpPr>
        <p:spPr/>
        <p:txBody>
          <a:bodyPr/>
          <a:lstStyle/>
          <a:p>
            <a:pPr eaLnBrk="1" hangingPunct="1">
              <a:spcBef>
                <a:spcPct val="50000"/>
              </a:spcBef>
            </a:pPr>
            <a:r>
              <a:rPr lang="en-US" dirty="0"/>
              <a:t>MAC with BLP has another layer. Basically, If you have a trojan horse in which with different label, you cannot anyhow access with the wrong security labels.</a:t>
            </a:r>
          </a:p>
          <a:p>
            <a:pPr eaLnBrk="1" hangingPunct="1">
              <a:spcBef>
                <a:spcPct val="50000"/>
              </a:spcBef>
            </a:pPr>
            <a:endParaRPr lang="en-US" dirty="0"/>
          </a:p>
          <a:p>
            <a:pPr eaLnBrk="1" hangingPunct="1">
              <a:spcBef>
                <a:spcPct val="50000"/>
              </a:spcBef>
            </a:pPr>
            <a:r>
              <a:rPr lang="en-US" dirty="0"/>
              <a:t>File F has ACL, File G has ACL.</a:t>
            </a:r>
          </a:p>
          <a:p>
            <a:pPr eaLnBrk="1" hangingPunct="1">
              <a:spcBef>
                <a:spcPct val="50000"/>
              </a:spcBef>
            </a:pPr>
            <a:r>
              <a:rPr lang="en-US" dirty="0"/>
              <a:t>Owner of the resource can define these. Root user/Admin can also.</a:t>
            </a:r>
          </a:p>
          <a:p>
            <a:pPr eaLnBrk="1" hangingPunct="1">
              <a:spcBef>
                <a:spcPct val="50000"/>
              </a:spcBef>
            </a:pPr>
            <a:r>
              <a:rPr lang="en-US" dirty="0"/>
              <a:t>DAC cannot prevent potential attacks of bypass.</a:t>
            </a:r>
          </a:p>
          <a:p>
            <a:pPr eaLnBrk="1" hangingPunct="1">
              <a:spcBef>
                <a:spcPct val="50000"/>
              </a:spcBef>
            </a:pPr>
            <a:r>
              <a:rPr lang="en-US" dirty="0"/>
              <a:t>Trojan horse take principal U and has its permissions and can read/write F or G.</a:t>
            </a:r>
            <a:br>
              <a:rPr lang="en-US" dirty="0"/>
            </a:br>
            <a:br>
              <a:rPr lang="en-US" dirty="0"/>
            </a:br>
            <a:r>
              <a:rPr lang="en-US" dirty="0"/>
              <a:t>BLP is for confidentiality, not integrity.</a:t>
            </a:r>
            <a:br>
              <a:rPr lang="en-US" dirty="0"/>
            </a:br>
            <a:br>
              <a:rPr lang="en-US" dirty="0"/>
            </a:br>
            <a:r>
              <a:rPr lang="en-US" dirty="0"/>
              <a:t>Label is pasted on Principal and the Subject/Object.</a:t>
            </a:r>
          </a:p>
          <a:p>
            <a:pPr eaLnBrk="1" hangingPunct="1">
              <a:spcBef>
                <a:spcPct val="50000"/>
              </a:spcBef>
            </a:pPr>
            <a:r>
              <a:rPr lang="en-US" dirty="0"/>
              <a:t>So principal can access them, or even lower.</a:t>
            </a:r>
          </a:p>
          <a:p>
            <a:pPr eaLnBrk="1" hangingPunct="1">
              <a:spcBef>
                <a:spcPct val="50000"/>
              </a:spcBef>
            </a:pPr>
            <a:r>
              <a:rPr lang="en-US" dirty="0"/>
              <a:t>Read Down, Write Up.</a:t>
            </a:r>
          </a:p>
          <a:p>
            <a:pPr eaLnBrk="1" hangingPunct="1">
              <a:spcBef>
                <a:spcPct val="50000"/>
              </a:spcBef>
            </a:pPr>
            <a:br>
              <a:rPr lang="en-US" dirty="0"/>
            </a:br>
            <a:r>
              <a:rPr lang="en-US" dirty="0"/>
              <a:t>Star Property -&gt; you cannot write up.</a:t>
            </a:r>
          </a:p>
          <a:p>
            <a:pPr eaLnBrk="1" hangingPunct="1">
              <a:spcBef>
                <a:spcPct val="50000"/>
              </a:spcBef>
            </a:pPr>
            <a:br>
              <a:rPr lang="en-US" dirty="0"/>
            </a:br>
            <a:r>
              <a:rPr lang="en-US" dirty="0"/>
              <a:t>If say for </a:t>
            </a:r>
            <a:r>
              <a:rPr lang="en-US" dirty="0" err="1"/>
              <a:t>intergirty</a:t>
            </a:r>
            <a:r>
              <a:rPr lang="en-US" dirty="0"/>
              <a:t>, you cannot write up. You can modify non important (write down maybe?) but cannot write up.</a:t>
            </a:r>
          </a:p>
          <a:p>
            <a:pPr eaLnBrk="1" hangingPunct="1">
              <a:spcBef>
                <a:spcPct val="50000"/>
              </a:spcBef>
            </a:pPr>
            <a:r>
              <a:rPr lang="en-US" dirty="0"/>
              <a:t>BLP is ONLY FOR CONFIDENTIALITY</a:t>
            </a:r>
          </a:p>
        </p:txBody>
      </p:sp>
    </p:spTree>
    <p:extLst>
      <p:ext uri="{BB962C8B-B14F-4D97-AF65-F5344CB8AC3E}">
        <p14:creationId xmlns:p14="http://schemas.microsoft.com/office/powerpoint/2010/main" val="1162100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D7E4EE-AA1D-4233-80FB-A3B01AC7824C}" type="slidenum">
              <a:rPr lang="en-US"/>
              <a:pPr/>
              <a:t>32</a:t>
            </a:fld>
            <a:endParaRPr lang="en-US"/>
          </a:p>
        </p:txBody>
      </p:sp>
      <p:sp>
        <p:nvSpPr>
          <p:cNvPr id="573442" name="Rectangle 2"/>
          <p:cNvSpPr>
            <a:spLocks noGrp="1" noRot="1" noChangeAspect="1" noChangeArrowheads="1" noTextEdit="1"/>
          </p:cNvSpPr>
          <p:nvPr>
            <p:ph type="sldImg"/>
          </p:nvPr>
        </p:nvSpPr>
        <p:spPr>
          <a:ln/>
        </p:spPr>
      </p:sp>
      <p:sp>
        <p:nvSpPr>
          <p:cNvPr id="573443" name="Rectangle 3"/>
          <p:cNvSpPr>
            <a:spLocks noGrp="1" noChangeArrowheads="1"/>
          </p:cNvSpPr>
          <p:nvPr>
            <p:ph type="body" idx="1"/>
          </p:nvPr>
        </p:nvSpPr>
        <p:spPr/>
        <p:txBody>
          <a:bodyPr/>
          <a:lstStyle/>
          <a:p>
            <a:r>
              <a:rPr lang="en-US" dirty="0"/>
              <a:t>This is not good because it is too restrictive, collaboration between parties will be difficult.</a:t>
            </a:r>
          </a:p>
          <a:p>
            <a:r>
              <a:rPr lang="en-US" dirty="0"/>
              <a:t>Everyone can define whatever ways they want, and it is not very helpful when some information is defined differently between different parties.</a:t>
            </a:r>
            <a:br>
              <a:rPr lang="en-US" dirty="0"/>
            </a:br>
            <a:br>
              <a:rPr lang="en-US" dirty="0"/>
            </a:br>
            <a:r>
              <a:rPr lang="en-US" dirty="0"/>
              <a:t>For BLP, you need to have classification of each documents to prevent a breakdown of definition. Documents MUST BE well-defined.</a:t>
            </a:r>
            <a:br>
              <a:rPr lang="en-US" dirty="0"/>
            </a:br>
            <a:br>
              <a:rPr lang="en-US" dirty="0"/>
            </a:br>
            <a:r>
              <a:rPr lang="en-US" dirty="0"/>
              <a:t>DAC and MAC is mainly used for file system, OS and database.</a:t>
            </a:r>
          </a:p>
          <a:p>
            <a:r>
              <a:rPr lang="en-US" dirty="0"/>
              <a:t>Like S3 Buckets.</a:t>
            </a:r>
          </a:p>
          <a:p>
            <a:endParaRPr lang="en-US" dirty="0"/>
          </a:p>
          <a:p>
            <a:r>
              <a:rPr lang="en-US" dirty="0"/>
              <a:t>You can use DAC/MAC on the server hosted on maybe </a:t>
            </a:r>
            <a:r>
              <a:rPr lang="en-US" dirty="0" err="1"/>
              <a:t>elearn</a:t>
            </a:r>
            <a:r>
              <a:rPr lang="en-US" dirty="0"/>
              <a:t>.</a:t>
            </a:r>
          </a:p>
          <a:p>
            <a:r>
              <a:rPr lang="en-US" dirty="0"/>
              <a:t>RBAC is more fine-grained, where one person can do this etc.</a:t>
            </a:r>
          </a:p>
        </p:txBody>
      </p:sp>
    </p:spTree>
    <p:extLst>
      <p:ext uri="{BB962C8B-B14F-4D97-AF65-F5344CB8AC3E}">
        <p14:creationId xmlns:p14="http://schemas.microsoft.com/office/powerpoint/2010/main" val="6669639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8E3B3D-CB85-495B-8693-5E35616942AB}" type="slidenum">
              <a:rPr lang="en-US"/>
              <a:pPr/>
              <a:t>34</a:t>
            </a:fld>
            <a:endParaRPr lang="en-US"/>
          </a:p>
        </p:txBody>
      </p:sp>
      <p:sp>
        <p:nvSpPr>
          <p:cNvPr id="593922" name="Rectangle 2"/>
          <p:cNvSpPr>
            <a:spLocks noGrp="1" noRot="1" noChangeAspect="1" noChangeArrowheads="1" noTextEdit="1"/>
          </p:cNvSpPr>
          <p:nvPr>
            <p:ph type="sldImg"/>
          </p:nvPr>
        </p:nvSpPr>
        <p:spPr>
          <a:ln/>
        </p:spPr>
      </p:sp>
      <p:sp>
        <p:nvSpPr>
          <p:cNvPr id="593923" name="Rectangle 3"/>
          <p:cNvSpPr>
            <a:spLocks noGrp="1" noChangeArrowheads="1"/>
          </p:cNvSpPr>
          <p:nvPr>
            <p:ph type="body" idx="1"/>
          </p:nvPr>
        </p:nvSpPr>
        <p:spPr/>
        <p:txBody>
          <a:bodyPr/>
          <a:lstStyle/>
          <a:p>
            <a:r>
              <a:rPr lang="en-US" dirty="0"/>
              <a:t>Mainly used for application layer operations.</a:t>
            </a:r>
            <a:br>
              <a:rPr lang="en-US" dirty="0"/>
            </a:br>
            <a:br>
              <a:rPr lang="en-US" dirty="0"/>
            </a:br>
            <a:r>
              <a:rPr lang="en-US" dirty="0"/>
              <a:t>Y</a:t>
            </a:r>
          </a:p>
        </p:txBody>
      </p:sp>
    </p:spTree>
    <p:extLst>
      <p:ext uri="{BB962C8B-B14F-4D97-AF65-F5344CB8AC3E}">
        <p14:creationId xmlns:p14="http://schemas.microsoft.com/office/powerpoint/2010/main" val="17592779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A99D1E-CD45-4E5F-8C3E-FDB9238EDD2E}" type="slidenum">
              <a:rPr lang="en-US" smtClean="0"/>
              <a:pPr/>
              <a:t>35</a:t>
            </a:fld>
            <a:endParaRPr lang="en-US"/>
          </a:p>
        </p:txBody>
      </p:sp>
    </p:spTree>
    <p:extLst>
      <p:ext uri="{BB962C8B-B14F-4D97-AF65-F5344CB8AC3E}">
        <p14:creationId xmlns:p14="http://schemas.microsoft.com/office/powerpoint/2010/main" val="37673330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44F822-95DF-4059-BCF4-CA618A6A247E}" type="slidenum">
              <a:rPr lang="en-US"/>
              <a:pPr/>
              <a:t>36</a:t>
            </a:fld>
            <a:endParaRPr lang="en-US"/>
          </a:p>
        </p:txBody>
      </p:sp>
      <p:sp>
        <p:nvSpPr>
          <p:cNvPr id="598018" name="Rectangle 2"/>
          <p:cNvSpPr>
            <a:spLocks noGrp="1" noRot="1" noChangeAspect="1" noChangeArrowheads="1" noTextEdit="1"/>
          </p:cNvSpPr>
          <p:nvPr>
            <p:ph type="sldImg"/>
          </p:nvPr>
        </p:nvSpPr>
        <p:spPr>
          <a:ln/>
        </p:spPr>
      </p:sp>
      <p:sp>
        <p:nvSpPr>
          <p:cNvPr id="598019" name="Rectangle 3"/>
          <p:cNvSpPr>
            <a:spLocks noGrp="1" noChangeArrowheads="1"/>
          </p:cNvSpPr>
          <p:nvPr>
            <p:ph type="body" idx="1"/>
          </p:nvPr>
        </p:nvSpPr>
        <p:spPr/>
        <p:txBody>
          <a:bodyPr/>
          <a:lstStyle/>
          <a:p>
            <a:r>
              <a:rPr lang="en-US" dirty="0"/>
              <a:t>Role can be seen as a special instantiation of the principal.</a:t>
            </a:r>
          </a:p>
          <a:p>
            <a:r>
              <a:rPr lang="en-US" dirty="0"/>
              <a:t>Can have a hierarchal structure.</a:t>
            </a:r>
          </a:p>
          <a:p>
            <a:endParaRPr lang="en-US" dirty="0"/>
          </a:p>
          <a:p>
            <a:r>
              <a:rPr lang="en-US" dirty="0"/>
              <a:t>Role can be like your user role, role define your permission.</a:t>
            </a:r>
          </a:p>
          <a:p>
            <a:endParaRPr lang="en-US" dirty="0"/>
          </a:p>
          <a:p>
            <a:r>
              <a:rPr lang="en-US" dirty="0"/>
              <a:t>There is inheritance. As parent can use everything under children.</a:t>
            </a:r>
          </a:p>
          <a:p>
            <a:endParaRPr lang="en-US" dirty="0"/>
          </a:p>
          <a:p>
            <a:r>
              <a:rPr lang="en-US" dirty="0"/>
              <a:t>Eg, CEO can have CTO permissions. </a:t>
            </a:r>
          </a:p>
          <a:p>
            <a:r>
              <a:rPr lang="en-US" dirty="0"/>
              <a:t>CTO can have SVP permissions</a:t>
            </a:r>
          </a:p>
          <a:p>
            <a:r>
              <a:rPr lang="en-US" dirty="0"/>
              <a:t>SVP can have VP ones.</a:t>
            </a:r>
          </a:p>
        </p:txBody>
      </p:sp>
    </p:spTree>
    <p:extLst>
      <p:ext uri="{BB962C8B-B14F-4D97-AF65-F5344CB8AC3E}">
        <p14:creationId xmlns:p14="http://schemas.microsoft.com/office/powerpoint/2010/main" val="3391975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need to care who the user is, Just log in as a particular role. </a:t>
            </a:r>
            <a:br>
              <a:rPr lang="en-US" dirty="0"/>
            </a:br>
            <a:br>
              <a:rPr lang="en-US" dirty="0"/>
            </a:br>
            <a:r>
              <a:rPr lang="en-US" dirty="0"/>
              <a:t>Role decides your permissions. – Kinda decided by the </a:t>
            </a:r>
            <a:r>
              <a:rPr lang="en-US" dirty="0" err="1"/>
              <a:t>SysAdmin</a:t>
            </a:r>
            <a:r>
              <a:rPr lang="en-US" dirty="0"/>
              <a:t>.</a:t>
            </a:r>
          </a:p>
          <a:p>
            <a:r>
              <a:rPr lang="en-US" dirty="0"/>
              <a:t>For DAC, owner/sysadmin decides your permission on the files etc. – Common in OS.</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37</a:t>
            </a:fld>
            <a:endParaRPr lang="en-US"/>
          </a:p>
        </p:txBody>
      </p:sp>
    </p:spTree>
    <p:extLst>
      <p:ext uri="{BB962C8B-B14F-4D97-AF65-F5344CB8AC3E}">
        <p14:creationId xmlns:p14="http://schemas.microsoft.com/office/powerpoint/2010/main" val="11296508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FBA0EE-B320-46FB-80F3-F405D9557ADE}" type="slidenum">
              <a:rPr lang="en-US"/>
              <a:pPr/>
              <a:t>38</a:t>
            </a:fld>
            <a:endParaRPr lang="en-US"/>
          </a:p>
        </p:txBody>
      </p:sp>
      <p:sp>
        <p:nvSpPr>
          <p:cNvPr id="600066" name="Rectangle 2"/>
          <p:cNvSpPr>
            <a:spLocks noGrp="1" noRot="1" noChangeAspect="1" noChangeArrowheads="1" noTextEdit="1"/>
          </p:cNvSpPr>
          <p:nvPr>
            <p:ph type="sldImg"/>
          </p:nvPr>
        </p:nvSpPr>
        <p:spPr>
          <a:ln/>
        </p:spPr>
      </p:sp>
      <p:sp>
        <p:nvSpPr>
          <p:cNvPr id="600067" name="Rectangle 3"/>
          <p:cNvSpPr>
            <a:spLocks noGrp="1" noChangeArrowheads="1"/>
          </p:cNvSpPr>
          <p:nvPr>
            <p:ph type="body" idx="1"/>
          </p:nvPr>
        </p:nvSpPr>
        <p:spPr/>
        <p:txBody>
          <a:bodyPr/>
          <a:lstStyle/>
          <a:p>
            <a:r>
              <a:rPr lang="en-US" dirty="0"/>
              <a:t>Role to permission is stable : not always changed.</a:t>
            </a:r>
          </a:p>
          <a:p>
            <a:r>
              <a:rPr lang="en-US" dirty="0"/>
              <a:t>User to role: dynamic cos user roles might change here and there.</a:t>
            </a:r>
          </a:p>
        </p:txBody>
      </p:sp>
    </p:spTree>
    <p:extLst>
      <p:ext uri="{BB962C8B-B14F-4D97-AF65-F5344CB8AC3E}">
        <p14:creationId xmlns:p14="http://schemas.microsoft.com/office/powerpoint/2010/main" val="27419818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FD4FAC-B258-624A-81B3-9D14B0086038}" type="slidenum">
              <a:rPr lang="en-US" smtClean="0"/>
              <a:t>39</a:t>
            </a:fld>
            <a:endParaRPr lang="en-US"/>
          </a:p>
        </p:txBody>
      </p:sp>
    </p:spTree>
    <p:extLst>
      <p:ext uri="{BB962C8B-B14F-4D97-AF65-F5344CB8AC3E}">
        <p14:creationId xmlns:p14="http://schemas.microsoft.com/office/powerpoint/2010/main" val="145941289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4.svg"/><Relationship Id="rId5" Type="http://schemas.openxmlformats.org/officeDocument/2006/relationships/image" Target="../media/image8.svg"/><Relationship Id="rId10"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4.svg"/><Relationship Id="rId5" Type="http://schemas.openxmlformats.org/officeDocument/2006/relationships/image" Target="../media/image8.svg"/><Relationship Id="rId10"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alpha val="58824"/>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B3C88D0-2E08-4670-9044-5186D448CA04}"/>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 name="Graphic 3">
            <a:extLst>
              <a:ext uri="{FF2B5EF4-FFF2-40B4-BE49-F238E27FC236}">
                <a16:creationId xmlns:a16="http://schemas.microsoft.com/office/drawing/2014/main" id="{2E584884-844F-4B21-AC76-5ED86C2636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5724" y="1051033"/>
            <a:ext cx="4750676" cy="4742829"/>
          </a:xfrm>
          <a:prstGeom prst="rect">
            <a:avLst/>
          </a:prstGeom>
        </p:spPr>
      </p:pic>
      <p:sp>
        <p:nvSpPr>
          <p:cNvPr id="5" name="Shape 220">
            <a:extLst>
              <a:ext uri="{FF2B5EF4-FFF2-40B4-BE49-F238E27FC236}">
                <a16:creationId xmlns:a16="http://schemas.microsoft.com/office/drawing/2014/main" id="{35520701-497D-44D0-A84B-8664C301EC62}"/>
              </a:ext>
            </a:extLst>
          </p:cNvPr>
          <p:cNvSpPr txBox="1">
            <a:spLocks/>
          </p:cNvSpPr>
          <p:nvPr userDrawn="1"/>
        </p:nvSpPr>
        <p:spPr>
          <a:xfrm>
            <a:off x="3041" y="2478949"/>
            <a:ext cx="12188959" cy="460767"/>
          </a:xfrm>
          <a:prstGeom prst="rect">
            <a:avLst/>
          </a:prstGeom>
          <a:noFill/>
          <a:ln>
            <a:noFill/>
          </a:ln>
        </p:spPr>
        <p:txBody>
          <a:bodyPr vert="horz" wrap="square" lIns="68569" tIns="34275" rIns="68569" bIns="34275" rtlCol="0" anchor="ctr" anchorCtr="0">
            <a:noAutofit/>
          </a:bodyPr>
          <a:lstStyle>
            <a:lvl1pPr algn="l" defTabSz="685800" rtl="0" eaLnBrk="1" latinLnBrk="0" hangingPunct="1">
              <a:lnSpc>
                <a:spcPct val="90000"/>
              </a:lnSpc>
              <a:spcBef>
                <a:spcPct val="0"/>
              </a:spcBef>
              <a:buNone/>
              <a:defRPr sz="2700" b="1" i="0" kern="1200">
                <a:solidFill>
                  <a:schemeClr val="tx1"/>
                </a:solidFill>
                <a:latin typeface="Helvetica Neue Condensed" panose="02000503000000020004" pitchFamily="2" charset="0"/>
                <a:ea typeface="Helvetica Neue Condensed" panose="02000503000000020004" pitchFamily="2" charset="0"/>
                <a:cs typeface="Helvetica Neue Condensed" panose="02000503000000020004" pitchFamily="2" charset="0"/>
              </a:defRPr>
            </a:lvl1pPr>
          </a:lstStyle>
          <a:p>
            <a:pPr algn="r"/>
            <a:r>
              <a:rPr lang="en-US" altLang="en-US" sz="3400" spc="-150" dirty="0">
                <a:latin typeface="Arial Nova" panose="020B0504020202020204" pitchFamily="34" charset="0"/>
                <a:ea typeface="Roboto" panose="020B0604020202020204" pitchFamily="2" charset="0"/>
              </a:rPr>
              <a:t>CS440</a:t>
            </a:r>
            <a:endParaRPr lang="en-US" sz="3400" spc="-150" dirty="0">
              <a:solidFill>
                <a:schemeClr val="accent2"/>
              </a:solidFill>
              <a:latin typeface="Arial Nova" panose="020B0504020202020204" pitchFamily="34" charset="0"/>
              <a:ea typeface="Roboto" panose="020B0604020202020204" pitchFamily="2" charset="0"/>
              <a:cs typeface="Tahoma"/>
              <a:sym typeface="Tahoma"/>
            </a:endParaRPr>
          </a:p>
        </p:txBody>
      </p:sp>
      <p:sp>
        <p:nvSpPr>
          <p:cNvPr id="7" name="TextBox 6">
            <a:extLst>
              <a:ext uri="{FF2B5EF4-FFF2-40B4-BE49-F238E27FC236}">
                <a16:creationId xmlns:a16="http://schemas.microsoft.com/office/drawing/2014/main" id="{D71D5293-5E45-4ED0-8ABB-404EA0C787DB}"/>
              </a:ext>
            </a:extLst>
          </p:cNvPr>
          <p:cNvSpPr txBox="1"/>
          <p:nvPr userDrawn="1"/>
        </p:nvSpPr>
        <p:spPr>
          <a:xfrm>
            <a:off x="0" y="2813447"/>
            <a:ext cx="12188959" cy="615553"/>
          </a:xfrm>
          <a:prstGeom prst="rect">
            <a:avLst/>
          </a:prstGeom>
          <a:noFill/>
        </p:spPr>
        <p:txBody>
          <a:bodyPr wrap="square">
            <a:spAutoFit/>
          </a:bodyPr>
          <a:lstStyle/>
          <a:p>
            <a:pPr algn="r"/>
            <a:r>
              <a:rPr lang="en-US" altLang="en-US" sz="3400" b="1" spc="-150" dirty="0">
                <a:latin typeface="Arial Nova" panose="020B0504020202020204" pitchFamily="34" charset="0"/>
                <a:ea typeface="Roboto" panose="020B0604020202020204" pitchFamily="2" charset="0"/>
              </a:rPr>
              <a:t>Foundations of Cybersecurity</a:t>
            </a:r>
            <a:endParaRPr lang="en-SG" sz="3400" b="1" spc="-150" dirty="0">
              <a:latin typeface="Arial Nova" panose="020B0504020202020204" pitchFamily="34" charset="0"/>
            </a:endParaRPr>
          </a:p>
        </p:txBody>
      </p:sp>
      <p:pic>
        <p:nvPicPr>
          <p:cNvPr id="8" name="Graphic 7">
            <a:extLst>
              <a:ext uri="{FF2B5EF4-FFF2-40B4-BE49-F238E27FC236}">
                <a16:creationId xmlns:a16="http://schemas.microsoft.com/office/drawing/2014/main" id="{8DDB0E61-499E-455F-A5D3-6261FA854D0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6669" y="1354341"/>
            <a:ext cx="4157604" cy="4157604"/>
          </a:xfrm>
          <a:prstGeom prst="rect">
            <a:avLst/>
          </a:prstGeom>
        </p:spPr>
      </p:pic>
      <p:pic>
        <p:nvPicPr>
          <p:cNvPr id="9" name="Graphic 8">
            <a:extLst>
              <a:ext uri="{FF2B5EF4-FFF2-40B4-BE49-F238E27FC236}">
                <a16:creationId xmlns:a16="http://schemas.microsoft.com/office/drawing/2014/main" id="{6E362F9D-8518-4A7E-9743-E5EAF1DFFD0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50207"/>
          <a:stretch/>
        </p:blipFill>
        <p:spPr>
          <a:xfrm>
            <a:off x="1027242" y="3433142"/>
            <a:ext cx="4157604" cy="2070185"/>
          </a:xfrm>
          <a:prstGeom prst="rect">
            <a:avLst/>
          </a:prstGeom>
        </p:spPr>
      </p:pic>
      <p:sp>
        <p:nvSpPr>
          <p:cNvPr id="13" name="Text Placeholder 2">
            <a:extLst>
              <a:ext uri="{FF2B5EF4-FFF2-40B4-BE49-F238E27FC236}">
                <a16:creationId xmlns:a16="http://schemas.microsoft.com/office/drawing/2014/main" id="{CA5F7416-A3F0-4B2C-8382-6FB636DAF2E5}"/>
              </a:ext>
            </a:extLst>
          </p:cNvPr>
          <p:cNvSpPr>
            <a:spLocks noGrp="1"/>
          </p:cNvSpPr>
          <p:nvPr>
            <p:ph type="body" idx="10" hasCustomPrompt="1"/>
          </p:nvPr>
        </p:nvSpPr>
        <p:spPr>
          <a:xfrm>
            <a:off x="5495218" y="3437315"/>
            <a:ext cx="6693741" cy="1241217"/>
          </a:xfrm>
        </p:spPr>
        <p:txBody>
          <a:bodyPr anchor="t">
            <a:noAutofit/>
          </a:bodyPr>
          <a:lstStyle>
            <a:lvl1pPr marL="0" indent="0" algn="r">
              <a:buNone/>
              <a:defRPr sz="24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Title Here</a:t>
            </a:r>
            <a:br>
              <a:rPr lang="en-GB" dirty="0"/>
            </a:br>
            <a:endParaRPr lang="en-GB" dirty="0"/>
          </a:p>
        </p:txBody>
      </p:sp>
      <p:sp>
        <p:nvSpPr>
          <p:cNvPr id="14" name="TextBox 13">
            <a:extLst>
              <a:ext uri="{FF2B5EF4-FFF2-40B4-BE49-F238E27FC236}">
                <a16:creationId xmlns:a16="http://schemas.microsoft.com/office/drawing/2014/main" id="{E574CF7D-A872-4DD3-8F5C-DBA67CFC686C}"/>
              </a:ext>
            </a:extLst>
          </p:cNvPr>
          <p:cNvSpPr txBox="1"/>
          <p:nvPr userDrawn="1"/>
        </p:nvSpPr>
        <p:spPr>
          <a:xfrm>
            <a:off x="3041" y="4696518"/>
            <a:ext cx="12188959" cy="338554"/>
          </a:xfrm>
          <a:prstGeom prst="rect">
            <a:avLst/>
          </a:prstGeom>
          <a:noFill/>
        </p:spPr>
        <p:txBody>
          <a:bodyPr wrap="square">
            <a:spAutoFit/>
          </a:bodyPr>
          <a:lstStyle/>
          <a:p>
            <a:pPr algn="r"/>
            <a:r>
              <a:rPr lang="en-US" altLang="en-US" sz="1600" b="0" spc="0" dirty="0">
                <a:latin typeface="Arial Nova Light" panose="020B0304020202020204" pitchFamily="34" charset="0"/>
                <a:ea typeface="Roboto" panose="020B0604020202020204" pitchFamily="2" charset="0"/>
              </a:rPr>
              <a:t>Presented By: Shar Lwin </a:t>
            </a:r>
            <a:r>
              <a:rPr lang="en-US" altLang="en-US" sz="1600" b="0" spc="0" dirty="0" err="1">
                <a:latin typeface="Arial Nova Light" panose="020B0304020202020204" pitchFamily="34" charset="0"/>
                <a:ea typeface="Roboto" panose="020B0604020202020204" pitchFamily="2" charset="0"/>
              </a:rPr>
              <a:t>Khin</a:t>
            </a:r>
            <a:endParaRPr lang="en-SG" sz="1600" b="0" spc="0" dirty="0">
              <a:latin typeface="Arial Nova Light" panose="020B0304020202020204" pitchFamily="34" charset="0"/>
            </a:endParaRPr>
          </a:p>
        </p:txBody>
      </p:sp>
      <p:grpSp>
        <p:nvGrpSpPr>
          <p:cNvPr id="19" name="Group 18">
            <a:extLst>
              <a:ext uri="{FF2B5EF4-FFF2-40B4-BE49-F238E27FC236}">
                <a16:creationId xmlns:a16="http://schemas.microsoft.com/office/drawing/2014/main" id="{75375691-E25A-463F-A244-33D5283ECA07}"/>
              </a:ext>
            </a:extLst>
          </p:cNvPr>
          <p:cNvGrpSpPr/>
          <p:nvPr userDrawn="1"/>
        </p:nvGrpSpPr>
        <p:grpSpPr>
          <a:xfrm>
            <a:off x="219412" y="142004"/>
            <a:ext cx="3078914" cy="546273"/>
            <a:chOff x="798998" y="4391812"/>
            <a:chExt cx="3252915" cy="577145"/>
          </a:xfrm>
        </p:grpSpPr>
        <p:pic>
          <p:nvPicPr>
            <p:cNvPr id="20" name="Graphic 19">
              <a:extLst>
                <a:ext uri="{FF2B5EF4-FFF2-40B4-BE49-F238E27FC236}">
                  <a16:creationId xmlns:a16="http://schemas.microsoft.com/office/drawing/2014/main" id="{B4E13C30-8D5A-4621-B756-E54226B0312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416662" y="4391812"/>
              <a:ext cx="1635251" cy="577145"/>
            </a:xfrm>
            <a:prstGeom prst="rect">
              <a:avLst/>
            </a:prstGeom>
          </p:spPr>
        </p:pic>
        <p:pic>
          <p:nvPicPr>
            <p:cNvPr id="21" name="Graphic 20">
              <a:extLst>
                <a:ext uri="{FF2B5EF4-FFF2-40B4-BE49-F238E27FC236}">
                  <a16:creationId xmlns:a16="http://schemas.microsoft.com/office/drawing/2014/main" id="{DA55FD92-6D03-43FA-AF8F-FC98AD97B56A}"/>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3523435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No presented by)">
    <p:bg>
      <p:bgPr>
        <a:solidFill>
          <a:schemeClr val="bg1">
            <a:alpha val="58824"/>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B3C88D0-2E08-4670-9044-5186D448CA04}"/>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 name="Graphic 3">
            <a:extLst>
              <a:ext uri="{FF2B5EF4-FFF2-40B4-BE49-F238E27FC236}">
                <a16:creationId xmlns:a16="http://schemas.microsoft.com/office/drawing/2014/main" id="{2E584884-844F-4B21-AC76-5ED86C2636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5724" y="1051033"/>
            <a:ext cx="4750676" cy="4742829"/>
          </a:xfrm>
          <a:prstGeom prst="rect">
            <a:avLst/>
          </a:prstGeom>
        </p:spPr>
      </p:pic>
      <p:sp>
        <p:nvSpPr>
          <p:cNvPr id="5" name="Shape 220">
            <a:extLst>
              <a:ext uri="{FF2B5EF4-FFF2-40B4-BE49-F238E27FC236}">
                <a16:creationId xmlns:a16="http://schemas.microsoft.com/office/drawing/2014/main" id="{35520701-497D-44D0-A84B-8664C301EC62}"/>
              </a:ext>
            </a:extLst>
          </p:cNvPr>
          <p:cNvSpPr txBox="1">
            <a:spLocks/>
          </p:cNvSpPr>
          <p:nvPr userDrawn="1"/>
        </p:nvSpPr>
        <p:spPr>
          <a:xfrm>
            <a:off x="3041" y="2478949"/>
            <a:ext cx="12188959" cy="460767"/>
          </a:xfrm>
          <a:prstGeom prst="rect">
            <a:avLst/>
          </a:prstGeom>
          <a:noFill/>
          <a:ln>
            <a:noFill/>
          </a:ln>
        </p:spPr>
        <p:txBody>
          <a:bodyPr vert="horz" wrap="square" lIns="68569" tIns="34275" rIns="68569" bIns="34275" rtlCol="0" anchor="ctr" anchorCtr="0">
            <a:noAutofit/>
          </a:bodyPr>
          <a:lstStyle>
            <a:lvl1pPr algn="l" defTabSz="685800" rtl="0" eaLnBrk="1" latinLnBrk="0" hangingPunct="1">
              <a:lnSpc>
                <a:spcPct val="90000"/>
              </a:lnSpc>
              <a:spcBef>
                <a:spcPct val="0"/>
              </a:spcBef>
              <a:buNone/>
              <a:defRPr sz="2700" b="1" i="0" kern="1200">
                <a:solidFill>
                  <a:schemeClr val="tx1"/>
                </a:solidFill>
                <a:latin typeface="Helvetica Neue Condensed" panose="02000503000000020004" pitchFamily="2" charset="0"/>
                <a:ea typeface="Helvetica Neue Condensed" panose="02000503000000020004" pitchFamily="2" charset="0"/>
                <a:cs typeface="Helvetica Neue Condensed" panose="02000503000000020004" pitchFamily="2" charset="0"/>
              </a:defRPr>
            </a:lvl1pPr>
          </a:lstStyle>
          <a:p>
            <a:pPr algn="r"/>
            <a:r>
              <a:rPr lang="en-US" altLang="en-US" sz="3400" spc="-150" dirty="0">
                <a:latin typeface="Arial Nova" panose="020B0504020202020204" pitchFamily="34" charset="0"/>
                <a:ea typeface="Roboto" panose="020B0604020202020204" pitchFamily="2" charset="0"/>
              </a:rPr>
              <a:t>CS440</a:t>
            </a:r>
            <a:endParaRPr lang="en-US" sz="3400" spc="-150" dirty="0">
              <a:solidFill>
                <a:schemeClr val="accent2"/>
              </a:solidFill>
              <a:latin typeface="Arial Nova" panose="020B0504020202020204" pitchFamily="34" charset="0"/>
              <a:ea typeface="Roboto" panose="020B0604020202020204" pitchFamily="2" charset="0"/>
              <a:cs typeface="Tahoma"/>
              <a:sym typeface="Tahoma"/>
            </a:endParaRPr>
          </a:p>
        </p:txBody>
      </p:sp>
      <p:sp>
        <p:nvSpPr>
          <p:cNvPr id="7" name="TextBox 6">
            <a:extLst>
              <a:ext uri="{FF2B5EF4-FFF2-40B4-BE49-F238E27FC236}">
                <a16:creationId xmlns:a16="http://schemas.microsoft.com/office/drawing/2014/main" id="{D71D5293-5E45-4ED0-8ABB-404EA0C787DB}"/>
              </a:ext>
            </a:extLst>
          </p:cNvPr>
          <p:cNvSpPr txBox="1"/>
          <p:nvPr userDrawn="1"/>
        </p:nvSpPr>
        <p:spPr>
          <a:xfrm>
            <a:off x="0" y="2813447"/>
            <a:ext cx="12188959" cy="615553"/>
          </a:xfrm>
          <a:prstGeom prst="rect">
            <a:avLst/>
          </a:prstGeom>
          <a:noFill/>
        </p:spPr>
        <p:txBody>
          <a:bodyPr wrap="square">
            <a:spAutoFit/>
          </a:bodyPr>
          <a:lstStyle/>
          <a:p>
            <a:pPr algn="r"/>
            <a:r>
              <a:rPr lang="en-US" altLang="en-US" sz="3400" b="1" spc="-150" dirty="0">
                <a:latin typeface="Arial Nova" panose="020B0504020202020204" pitchFamily="34" charset="0"/>
                <a:ea typeface="Roboto" panose="020B0604020202020204" pitchFamily="2" charset="0"/>
              </a:rPr>
              <a:t>Foundations of Cybersecurity</a:t>
            </a:r>
            <a:endParaRPr lang="en-SG" sz="3400" b="1" spc="-150" dirty="0">
              <a:latin typeface="Arial Nova" panose="020B0504020202020204" pitchFamily="34" charset="0"/>
            </a:endParaRPr>
          </a:p>
        </p:txBody>
      </p:sp>
      <p:pic>
        <p:nvPicPr>
          <p:cNvPr id="8" name="Graphic 7">
            <a:extLst>
              <a:ext uri="{FF2B5EF4-FFF2-40B4-BE49-F238E27FC236}">
                <a16:creationId xmlns:a16="http://schemas.microsoft.com/office/drawing/2014/main" id="{8DDB0E61-499E-455F-A5D3-6261FA854D0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6669" y="1354341"/>
            <a:ext cx="4157604" cy="4157604"/>
          </a:xfrm>
          <a:prstGeom prst="rect">
            <a:avLst/>
          </a:prstGeom>
        </p:spPr>
      </p:pic>
      <p:pic>
        <p:nvPicPr>
          <p:cNvPr id="9" name="Graphic 8">
            <a:extLst>
              <a:ext uri="{FF2B5EF4-FFF2-40B4-BE49-F238E27FC236}">
                <a16:creationId xmlns:a16="http://schemas.microsoft.com/office/drawing/2014/main" id="{6E362F9D-8518-4A7E-9743-E5EAF1DFFD0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50207"/>
          <a:stretch/>
        </p:blipFill>
        <p:spPr>
          <a:xfrm>
            <a:off x="1027242" y="3433142"/>
            <a:ext cx="4157604" cy="2070185"/>
          </a:xfrm>
          <a:prstGeom prst="rect">
            <a:avLst/>
          </a:prstGeom>
        </p:spPr>
      </p:pic>
      <p:sp>
        <p:nvSpPr>
          <p:cNvPr id="15" name="Text Placeholder 2">
            <a:extLst>
              <a:ext uri="{FF2B5EF4-FFF2-40B4-BE49-F238E27FC236}">
                <a16:creationId xmlns:a16="http://schemas.microsoft.com/office/drawing/2014/main" id="{EE169A0C-E452-4AAB-92DC-2B26D2D761D6}"/>
              </a:ext>
            </a:extLst>
          </p:cNvPr>
          <p:cNvSpPr>
            <a:spLocks noGrp="1"/>
          </p:cNvSpPr>
          <p:nvPr>
            <p:ph type="body" idx="10" hasCustomPrompt="1"/>
          </p:nvPr>
        </p:nvSpPr>
        <p:spPr>
          <a:xfrm>
            <a:off x="5495218" y="3437315"/>
            <a:ext cx="6693741" cy="1241217"/>
          </a:xfrm>
        </p:spPr>
        <p:txBody>
          <a:bodyPr anchor="t">
            <a:noAutofit/>
          </a:bodyPr>
          <a:lstStyle>
            <a:lvl1pPr marL="0" indent="0" algn="r">
              <a:buNone/>
              <a:defRPr sz="24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Title Here</a:t>
            </a:r>
            <a:br>
              <a:rPr lang="en-GB" dirty="0"/>
            </a:br>
            <a:endParaRPr lang="en-GB" dirty="0"/>
          </a:p>
        </p:txBody>
      </p:sp>
      <p:grpSp>
        <p:nvGrpSpPr>
          <p:cNvPr id="17" name="Group 16">
            <a:extLst>
              <a:ext uri="{FF2B5EF4-FFF2-40B4-BE49-F238E27FC236}">
                <a16:creationId xmlns:a16="http://schemas.microsoft.com/office/drawing/2014/main" id="{F87F7D5D-9E6A-4F19-BC0E-EEA8CF4CCCFB}"/>
              </a:ext>
            </a:extLst>
          </p:cNvPr>
          <p:cNvGrpSpPr/>
          <p:nvPr userDrawn="1"/>
        </p:nvGrpSpPr>
        <p:grpSpPr>
          <a:xfrm>
            <a:off x="219412" y="142004"/>
            <a:ext cx="3078914" cy="546273"/>
            <a:chOff x="798998" y="4391812"/>
            <a:chExt cx="3252915" cy="577145"/>
          </a:xfrm>
        </p:grpSpPr>
        <p:pic>
          <p:nvPicPr>
            <p:cNvPr id="18" name="Graphic 17">
              <a:extLst>
                <a:ext uri="{FF2B5EF4-FFF2-40B4-BE49-F238E27FC236}">
                  <a16:creationId xmlns:a16="http://schemas.microsoft.com/office/drawing/2014/main" id="{EF83F0FF-C3A1-4B8A-901B-5D525AE80513}"/>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416662" y="4391812"/>
              <a:ext cx="1635251" cy="577145"/>
            </a:xfrm>
            <a:prstGeom prst="rect">
              <a:avLst/>
            </a:prstGeom>
          </p:spPr>
        </p:pic>
        <p:pic>
          <p:nvPicPr>
            <p:cNvPr id="19" name="Graphic 18">
              <a:extLst>
                <a:ext uri="{FF2B5EF4-FFF2-40B4-BE49-F238E27FC236}">
                  <a16:creationId xmlns:a16="http://schemas.microsoft.com/office/drawing/2014/main" id="{32BA6559-BBDA-45C5-9199-66F8C4F0449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834320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O/Content Slide">
    <p:bg>
      <p:bgPr>
        <a:solidFill>
          <a:schemeClr val="bg1">
            <a:alpha val="58824"/>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
        <p:nvSpPr>
          <p:cNvPr id="13" name="TextBox 12">
            <a:extLst>
              <a:ext uri="{FF2B5EF4-FFF2-40B4-BE49-F238E27FC236}">
                <a16:creationId xmlns:a16="http://schemas.microsoft.com/office/drawing/2014/main" id="{9A117E2B-B80D-4096-90C9-CAFA0DFAC6A8}"/>
              </a:ext>
            </a:extLst>
          </p:cNvPr>
          <p:cNvSpPr txBox="1"/>
          <p:nvPr userDrawn="1"/>
        </p:nvSpPr>
        <p:spPr>
          <a:xfrm>
            <a:off x="1106815" y="420052"/>
            <a:ext cx="4269605" cy="584775"/>
          </a:xfrm>
          <a:prstGeom prst="rect">
            <a:avLst/>
          </a:prstGeom>
          <a:noFill/>
        </p:spPr>
        <p:txBody>
          <a:bodyPr wrap="square" lIns="360000" rIns="360000">
            <a:spAutoFit/>
          </a:bodyPr>
          <a:lstStyle/>
          <a:p>
            <a:pPr algn="ctr"/>
            <a:r>
              <a:rPr lang="en-US" altLang="en-US" sz="3200" b="1" spc="-150" dirty="0">
                <a:latin typeface="Arial Nova" panose="020B0504020202020204" pitchFamily="34" charset="0"/>
                <a:ea typeface="Roboto" panose="020B0604020202020204" pitchFamily="2" charset="0"/>
              </a:rPr>
              <a:t>Content</a:t>
            </a:r>
            <a:endParaRPr lang="en-SG" sz="3200" b="1" spc="-150" dirty="0">
              <a:latin typeface="Arial Nova" panose="020B0504020202020204" pitchFamily="34" charset="0"/>
            </a:endParaRPr>
          </a:p>
        </p:txBody>
      </p:sp>
      <p:cxnSp>
        <p:nvCxnSpPr>
          <p:cNvPr id="17" name="Straight Connector 16">
            <a:extLst>
              <a:ext uri="{FF2B5EF4-FFF2-40B4-BE49-F238E27FC236}">
                <a16:creationId xmlns:a16="http://schemas.microsoft.com/office/drawing/2014/main" id="{F8DD2921-8FDC-4B26-9FB6-69446F913D64}"/>
              </a:ext>
            </a:extLst>
          </p:cNvPr>
          <p:cNvCxnSpPr>
            <a:cxnSpLocks/>
          </p:cNvCxnSpPr>
          <p:nvPr userDrawn="1"/>
        </p:nvCxnSpPr>
        <p:spPr>
          <a:xfrm>
            <a:off x="6096000" y="759436"/>
            <a:ext cx="0" cy="4811226"/>
          </a:xfrm>
          <a:prstGeom prst="line">
            <a:avLst/>
          </a:prstGeom>
          <a:ln w="60325" cap="rnd"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31AD672-3531-4214-90F6-5BD894F15DA1}"/>
              </a:ext>
            </a:extLst>
          </p:cNvPr>
          <p:cNvSpPr txBox="1"/>
          <p:nvPr userDrawn="1"/>
        </p:nvSpPr>
        <p:spPr>
          <a:xfrm>
            <a:off x="6815580" y="420051"/>
            <a:ext cx="4352035" cy="584775"/>
          </a:xfrm>
          <a:prstGeom prst="rect">
            <a:avLst/>
          </a:prstGeom>
          <a:noFill/>
        </p:spPr>
        <p:txBody>
          <a:bodyPr wrap="square" lIns="360000" rIns="360000">
            <a:spAutoFit/>
          </a:bodyPr>
          <a:lstStyle/>
          <a:p>
            <a:pPr algn="ctr"/>
            <a:r>
              <a:rPr lang="en-US" altLang="en-US" sz="3200" b="1" spc="-150" dirty="0">
                <a:latin typeface="Arial Nova" panose="020B0504020202020204" pitchFamily="34" charset="0"/>
                <a:ea typeface="Roboto" panose="020B0604020202020204" pitchFamily="2" charset="0"/>
              </a:rPr>
              <a:t>Learning Objectives</a:t>
            </a:r>
            <a:endParaRPr lang="en-SG" sz="3200" b="1" spc="-150" dirty="0">
              <a:latin typeface="Arial Nova" panose="020B0504020202020204" pitchFamily="34" charset="0"/>
            </a:endParaRPr>
          </a:p>
        </p:txBody>
      </p:sp>
      <p:sp>
        <p:nvSpPr>
          <p:cNvPr id="25" name="Content Placeholder 2">
            <a:extLst>
              <a:ext uri="{FF2B5EF4-FFF2-40B4-BE49-F238E27FC236}">
                <a16:creationId xmlns:a16="http://schemas.microsoft.com/office/drawing/2014/main" id="{A849563C-90E4-4A69-BD87-8BC98FB6216B}"/>
              </a:ext>
            </a:extLst>
          </p:cNvPr>
          <p:cNvSpPr>
            <a:spLocks noGrp="1"/>
          </p:cNvSpPr>
          <p:nvPr>
            <p:ph sz="half" idx="1"/>
          </p:nvPr>
        </p:nvSpPr>
        <p:spPr>
          <a:xfrm>
            <a:off x="1024385" y="1253331"/>
            <a:ext cx="4352035" cy="4351338"/>
          </a:xfrm>
        </p:spPr>
        <p:txBody>
          <a:bodyPr/>
          <a:lstStyle>
            <a:lvl1pPr>
              <a:defRPr>
                <a:latin typeface="Arial Nova" panose="020B0504020202020204" pitchFamily="34" charset="0"/>
              </a:defRPr>
            </a:lvl1pPr>
            <a:lvl2pPr>
              <a:defRPr>
                <a:latin typeface="Arial Nova" panose="020B0504020202020204" pitchFamily="34" charset="0"/>
              </a:defRPr>
            </a:lvl2pPr>
            <a:lvl3pPr>
              <a:defRPr>
                <a:latin typeface="Arial Nova Light" panose="020B0304020202020204" pitchFamily="34" charset="0"/>
              </a:defRPr>
            </a:lvl3pPr>
            <a:lvl4pPr>
              <a:defRPr>
                <a:latin typeface="Arial Nova Light" panose="020B0304020202020204" pitchFamily="34" charset="0"/>
              </a:defRPr>
            </a:lvl4pPr>
            <a:lvl5pPr>
              <a:defRPr>
                <a:latin typeface="Arial Nova Light" panose="020B03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26" name="Content Placeholder 2">
            <a:extLst>
              <a:ext uri="{FF2B5EF4-FFF2-40B4-BE49-F238E27FC236}">
                <a16:creationId xmlns:a16="http://schemas.microsoft.com/office/drawing/2014/main" id="{C98B1011-7E80-4030-A729-05B3DD2CFCFA}"/>
              </a:ext>
            </a:extLst>
          </p:cNvPr>
          <p:cNvSpPr>
            <a:spLocks noGrp="1"/>
          </p:cNvSpPr>
          <p:nvPr>
            <p:ph sz="half" idx="10"/>
          </p:nvPr>
        </p:nvSpPr>
        <p:spPr>
          <a:xfrm>
            <a:off x="6856797" y="1253331"/>
            <a:ext cx="4310820" cy="4351338"/>
          </a:xfrm>
        </p:spPr>
        <p:txBody>
          <a:bodyPr/>
          <a:lstStyle>
            <a:lvl1pPr>
              <a:defRPr>
                <a:latin typeface="Arial Nova" panose="020B0504020202020204" pitchFamily="34" charset="0"/>
              </a:defRPr>
            </a:lvl1pPr>
            <a:lvl2pPr>
              <a:defRPr>
                <a:latin typeface="Arial Nova" panose="020B0504020202020204" pitchFamily="34" charset="0"/>
              </a:defRPr>
            </a:lvl2pPr>
            <a:lvl3pPr>
              <a:defRPr>
                <a:latin typeface="Arial Nova Light" panose="020B0304020202020204" pitchFamily="34" charset="0"/>
              </a:defRPr>
            </a:lvl3pPr>
            <a:lvl4pPr>
              <a:defRPr>
                <a:latin typeface="Arial Nova Light" panose="020B0304020202020204" pitchFamily="34" charset="0"/>
              </a:defRPr>
            </a:lvl4pPr>
            <a:lvl5pPr>
              <a:defRPr>
                <a:latin typeface="Arial Nova Light" panose="020B03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Tree>
    <p:extLst>
      <p:ext uri="{BB962C8B-B14F-4D97-AF65-F5344CB8AC3E}">
        <p14:creationId xmlns:p14="http://schemas.microsoft.com/office/powerpoint/2010/main" val="2433955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view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A31952-8378-46DA-9488-641778451731}"/>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SG" dirty="0"/>
          </a:p>
        </p:txBody>
      </p:sp>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0" y="2851952"/>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Autofit/>
          </a:bodyPr>
          <a:lstStyle>
            <a:lvl1pPr algn="l">
              <a:defRPr sz="4000">
                <a:latin typeface="Arial Nova" panose="020B0504020202020204" pitchFamily="34" charset="0"/>
              </a:defRPr>
            </a:lvl1pPr>
          </a:lstStyle>
          <a:p>
            <a:r>
              <a:rPr lang="en-GB" dirty="0"/>
              <a:t>Header Here</a:t>
            </a:r>
            <a:endParaRPr lang="en-US" dirty="0"/>
          </a:p>
        </p:txBody>
      </p:sp>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
        <p:nvSpPr>
          <p:cNvPr id="11" name="Text Placeholder 2">
            <a:extLst>
              <a:ext uri="{FF2B5EF4-FFF2-40B4-BE49-F238E27FC236}">
                <a16:creationId xmlns:a16="http://schemas.microsoft.com/office/drawing/2014/main" id="{1A420E72-2781-4109-9E57-B95FAD77AD31}"/>
              </a:ext>
            </a:extLst>
          </p:cNvPr>
          <p:cNvSpPr>
            <a:spLocks noGrp="1"/>
          </p:cNvSpPr>
          <p:nvPr>
            <p:ph type="body" idx="10" hasCustomPrompt="1"/>
          </p:nvPr>
        </p:nvSpPr>
        <p:spPr>
          <a:xfrm>
            <a:off x="-3041" y="3437316"/>
            <a:ext cx="10843491" cy="363116"/>
          </a:xfrm>
        </p:spPr>
        <p:txBody>
          <a:bodyPr lIns="360000" rIns="360000" anchor="ctr">
            <a:normAutofit/>
          </a:bodyPr>
          <a:lstStyle>
            <a:lvl1pPr marL="0" indent="0" algn="l">
              <a:buNone/>
              <a:defRPr sz="16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Flavour Text Here</a:t>
            </a:r>
          </a:p>
        </p:txBody>
      </p:sp>
      <p:grpSp>
        <p:nvGrpSpPr>
          <p:cNvPr id="16" name="Group 15">
            <a:extLst>
              <a:ext uri="{FF2B5EF4-FFF2-40B4-BE49-F238E27FC236}">
                <a16:creationId xmlns:a16="http://schemas.microsoft.com/office/drawing/2014/main" id="{6E4BDADD-B6C7-4717-9148-0B325B4E0F79}"/>
              </a:ext>
            </a:extLst>
          </p:cNvPr>
          <p:cNvGrpSpPr/>
          <p:nvPr userDrawn="1"/>
        </p:nvGrpSpPr>
        <p:grpSpPr>
          <a:xfrm>
            <a:off x="219412" y="142004"/>
            <a:ext cx="3078914" cy="546273"/>
            <a:chOff x="798998" y="4391812"/>
            <a:chExt cx="3252915" cy="577145"/>
          </a:xfrm>
        </p:grpSpPr>
        <p:pic>
          <p:nvPicPr>
            <p:cNvPr id="17" name="Graphic 16">
              <a:extLst>
                <a:ext uri="{FF2B5EF4-FFF2-40B4-BE49-F238E27FC236}">
                  <a16:creationId xmlns:a16="http://schemas.microsoft.com/office/drawing/2014/main" id="{58586D31-15C5-425D-85E1-18733954454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16662" y="4391812"/>
              <a:ext cx="1635251" cy="577145"/>
            </a:xfrm>
            <a:prstGeom prst="rect">
              <a:avLst/>
            </a:prstGeom>
          </p:spPr>
        </p:pic>
        <p:pic>
          <p:nvPicPr>
            <p:cNvPr id="18" name="Graphic 17">
              <a:extLst>
                <a:ext uri="{FF2B5EF4-FFF2-40B4-BE49-F238E27FC236}">
                  <a16:creationId xmlns:a16="http://schemas.microsoft.com/office/drawing/2014/main" id="{D9C1CDC5-8FDA-44C4-ADA3-EC69A58B1F5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1380257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4" name="Straight Connector 3">
            <a:extLst>
              <a:ext uri="{FF2B5EF4-FFF2-40B4-BE49-F238E27FC236}">
                <a16:creationId xmlns:a16="http://schemas.microsoft.com/office/drawing/2014/main" id="{1B1108A6-71D4-4871-A524-4FC6C414A6F8}"/>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CEB485F1-9C7A-4089-BC0C-E0EC4F8CDA6A}"/>
              </a:ext>
            </a:extLst>
          </p:cNvPr>
          <p:cNvSpPr>
            <a:spLocks noGrp="1"/>
          </p:cNvSpPr>
          <p:nvPr>
            <p:ph type="body" idx="11" hasCustomPrompt="1"/>
          </p:nvPr>
        </p:nvSpPr>
        <p:spPr>
          <a:xfrm>
            <a:off x="2831977" y="6347537"/>
            <a:ext cx="6604986" cy="510464"/>
          </a:xfrm>
        </p:spPr>
        <p:txBody>
          <a:bodyPr anchor="b">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7" name="Text Placeholder 2">
            <a:extLst>
              <a:ext uri="{FF2B5EF4-FFF2-40B4-BE49-F238E27FC236}">
                <a16:creationId xmlns:a16="http://schemas.microsoft.com/office/drawing/2014/main" id="{C3ACFFB6-D74F-46F9-BA08-950DC89D9A9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540192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856D6901-44F1-4E68-9145-D54DC24D486C}"/>
              </a:ext>
            </a:extLst>
          </p:cNvPr>
          <p:cNvGrpSpPr/>
          <p:nvPr userDrawn="1"/>
        </p:nvGrpSpPr>
        <p:grpSpPr>
          <a:xfrm>
            <a:off x="4654966" y="6366048"/>
            <a:ext cx="2882068" cy="452174"/>
            <a:chOff x="4654967" y="6366048"/>
            <a:chExt cx="2882068" cy="452174"/>
          </a:xfrm>
        </p:grpSpPr>
        <p:sp>
          <p:nvSpPr>
            <p:cNvPr id="65" name="Oval 64">
              <a:extLst>
                <a:ext uri="{FF2B5EF4-FFF2-40B4-BE49-F238E27FC236}">
                  <a16:creationId xmlns:a16="http://schemas.microsoft.com/office/drawing/2014/main" id="{2D7825D4-D640-4E3D-8AD8-E7FEC3E96437}"/>
                </a:ext>
              </a:extLst>
            </p:cNvPr>
            <p:cNvSpPr/>
            <p:nvPr userDrawn="1"/>
          </p:nvSpPr>
          <p:spPr>
            <a:xfrm>
              <a:off x="4654967" y="6368222"/>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7087035" y="6366048"/>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5535106"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7E09C187-E0E8-41A1-9532-51B50682CE85}"/>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44724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856D6901-44F1-4E68-9145-D54DC24D486C}"/>
              </a:ext>
            </a:extLst>
          </p:cNvPr>
          <p:cNvGrpSpPr/>
          <p:nvPr userDrawn="1"/>
        </p:nvGrpSpPr>
        <p:grpSpPr>
          <a:xfrm>
            <a:off x="4654966" y="6366048"/>
            <a:ext cx="2882068" cy="452174"/>
            <a:chOff x="4654967" y="6366048"/>
            <a:chExt cx="2882068" cy="452174"/>
          </a:xfrm>
        </p:grpSpPr>
        <p:sp>
          <p:nvSpPr>
            <p:cNvPr id="65" name="Oval 64">
              <a:extLst>
                <a:ext uri="{FF2B5EF4-FFF2-40B4-BE49-F238E27FC236}">
                  <a16:creationId xmlns:a16="http://schemas.microsoft.com/office/drawing/2014/main" id="{2D7825D4-D640-4E3D-8AD8-E7FEC3E96437}"/>
                </a:ext>
              </a:extLst>
            </p:cNvPr>
            <p:cNvSpPr/>
            <p:nvPr userDrawn="1"/>
          </p:nvSpPr>
          <p:spPr>
            <a:xfrm>
              <a:off x="4654967" y="6368222"/>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7087035" y="6366048"/>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5535106"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7E09C187-E0E8-41A1-9532-51B50682CE85}"/>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204712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347C78BA-B57D-48AB-AA8E-4475D71AD05D}"/>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18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934004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AA6A8000-3EF0-4625-B4F1-196FAA8FE8E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722635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Part Slide (3)">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CADB5228-5FB9-49A9-9740-193C8967675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9679169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D014A74E-A0B9-4DD0-B456-BBC8F3A7322D}"/>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55157793"/>
      </p:ext>
    </p:extLst>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7778D2C4-BF38-444F-8AF8-00E29162BF15}"/>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312245812"/>
      </p:ext>
    </p:extLst>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Part Slide (3)">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246D950D-7856-44BE-8CE8-E5341DA7045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27320857"/>
      </p:ext>
    </p:extLst>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Part Slide (4)">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7CE1B0DB-E15B-4C21-B367-461909D80891}"/>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1800"/>
            </a:lvl3pPr>
            <a:lvl4pPr>
              <a:defRPr sz="16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938000425"/>
      </p:ext>
    </p:extLst>
  </p:cSld>
  <p:clrMapOvr>
    <a:masterClrMapping/>
  </p:clrMapOvr>
  <p:extLst>
    <p:ext uri="{DCECCB84-F9BA-43D5-87BE-67443E8EF086}">
      <p15:sldGuideLst xmlns:p15="http://schemas.microsoft.com/office/powerpoint/2012/main">
        <p15:guide id="1" orient="horz" pos="2183" userDrawn="1">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06D5DC14-943D-4D41-8FE8-E992C268EC2B}"/>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500845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6BCC3EC9-5000-4F66-AF20-DE162BE3D134}"/>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9031567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 Part Slide (3)">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ED23105A-C0A1-47BD-A54B-C83DE2C03B7F}"/>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2610773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 Part Slide (4)">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28AF55C2-70B9-4413-A945-B0FE7F8A8BD2}"/>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939887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 Part Slide (5)">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A32F4977-E4C8-45CF-BB26-6212089F4184}"/>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4715789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alpha val="58824"/>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990704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a:defRPr/>
            </a:lvl1pPr>
          </a:lstStyle>
          <a:p>
            <a:pPr>
              <a:defRPr/>
            </a:pPr>
            <a:fld id="{66B3B5CC-1FAB-4AEE-A1D8-F673B74B29C7}" type="slidenum">
              <a:rPr lang="en-US" smtClean="0"/>
              <a:pPr>
                <a:defRPr/>
              </a:pPr>
              <a:t>‹#›</a:t>
            </a:fld>
            <a:endParaRPr lang="en-US" dirty="0"/>
          </a:p>
        </p:txBody>
      </p:sp>
      <p:sp>
        <p:nvSpPr>
          <p:cNvPr id="4" name="Title 3">
            <a:extLst>
              <a:ext uri="{FF2B5EF4-FFF2-40B4-BE49-F238E27FC236}">
                <a16:creationId xmlns:a16="http://schemas.microsoft.com/office/drawing/2014/main" id="{6E36EB2A-8A6B-964A-A438-4479B4C40B34}"/>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6014799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295400"/>
            <a:ext cx="5384800" cy="200054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295400"/>
            <a:ext cx="5384800" cy="200054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lvl1pPr>
              <a:defRPr/>
            </a:lvl1pPr>
          </a:lstStyle>
          <a:p>
            <a:pPr>
              <a:defRPr/>
            </a:pPr>
            <a:fld id="{31AE90C7-57E7-496C-8761-8DFBC43A06CF}" type="slidenum">
              <a:rPr lang="en-US" smtClean="0"/>
              <a:pPr>
                <a:defRPr/>
              </a:pPr>
              <a:t>‹#›</a:t>
            </a:fld>
            <a:endParaRPr lang="en-US" dirty="0"/>
          </a:p>
        </p:txBody>
      </p:sp>
    </p:spTree>
    <p:extLst>
      <p:ext uri="{BB962C8B-B14F-4D97-AF65-F5344CB8AC3E}">
        <p14:creationId xmlns:p14="http://schemas.microsoft.com/office/powerpoint/2010/main" val="8225787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D5A5EF3-44FE-5E40-A93B-377517EFD5DD}" type="slidenum">
              <a:rPr lang="en-US" smtClean="0"/>
              <a:t>‹#›</a:t>
            </a:fld>
            <a:endParaRPr lang="en-US"/>
          </a:p>
        </p:txBody>
      </p:sp>
    </p:spTree>
    <p:extLst>
      <p:ext uri="{BB962C8B-B14F-4D97-AF65-F5344CB8AC3E}">
        <p14:creationId xmlns:p14="http://schemas.microsoft.com/office/powerpoint/2010/main" val="3713350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sv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4.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58824"/>
          </a:srgb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CB7AF6B-0044-4409-B454-9A80AC9E8B75}"/>
              </a:ext>
            </a:extLst>
          </p:cNvPr>
          <p:cNvSpPr/>
          <p:nvPr userDrawn="1"/>
        </p:nvSpPr>
        <p:spPr>
          <a:xfrm>
            <a:off x="0" y="6298033"/>
            <a:ext cx="12188959" cy="584828"/>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itle Placeholder 1"/>
          <p:cNvSpPr>
            <a:spLocks noGrp="1"/>
          </p:cNvSpPr>
          <p:nvPr>
            <p:ph type="title"/>
          </p:nvPr>
        </p:nvSpPr>
        <p:spPr>
          <a:xfrm>
            <a:off x="513349" y="30834"/>
            <a:ext cx="10840451"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513349" y="1465007"/>
            <a:ext cx="10840451" cy="472331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Box 3">
            <a:extLst>
              <a:ext uri="{FF2B5EF4-FFF2-40B4-BE49-F238E27FC236}">
                <a16:creationId xmlns:a16="http://schemas.microsoft.com/office/drawing/2014/main" id="{297ECBE6-2E2A-4698-82E4-D7E7B0744F06}"/>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grpSp>
        <p:nvGrpSpPr>
          <p:cNvPr id="34" name="Group 33">
            <a:extLst>
              <a:ext uri="{FF2B5EF4-FFF2-40B4-BE49-F238E27FC236}">
                <a16:creationId xmlns:a16="http://schemas.microsoft.com/office/drawing/2014/main" id="{EC7DA68C-E182-408B-8C2D-0709B36851EC}"/>
              </a:ext>
            </a:extLst>
          </p:cNvPr>
          <p:cNvGrpSpPr/>
          <p:nvPr userDrawn="1"/>
        </p:nvGrpSpPr>
        <p:grpSpPr>
          <a:xfrm>
            <a:off x="234855" y="6392470"/>
            <a:ext cx="2205449" cy="391250"/>
            <a:chOff x="798998" y="4391812"/>
            <a:chExt cx="3253331" cy="577145"/>
          </a:xfrm>
        </p:grpSpPr>
        <p:pic>
          <p:nvPicPr>
            <p:cNvPr id="35" name="Graphic 34">
              <a:extLst>
                <a:ext uri="{FF2B5EF4-FFF2-40B4-BE49-F238E27FC236}">
                  <a16:creationId xmlns:a16="http://schemas.microsoft.com/office/drawing/2014/main" id="{841ED958-BA93-481F-B5A4-8C585F19867F}"/>
                </a:ext>
              </a:extLst>
            </p:cNvPr>
            <p:cNvPicPr>
              <a:picLocks noChangeAspect="1"/>
            </p:cNvPicPr>
            <p:nvPr userDrawn="1"/>
          </p:nvPicPr>
          <p:blipFill>
            <a:blip r:embed="rId25">
              <a:extLst>
                <a:ext uri="{96DAC541-7B7A-43D3-8B79-37D633B846F1}">
                  <asvg:svgBlip xmlns:asvg="http://schemas.microsoft.com/office/drawing/2016/SVG/main" r:embed="rId26"/>
                </a:ext>
              </a:extLst>
            </a:blip>
            <a:stretch>
              <a:fillRect/>
            </a:stretch>
          </p:blipFill>
          <p:spPr>
            <a:xfrm>
              <a:off x="2417079" y="4391812"/>
              <a:ext cx="1635250" cy="577145"/>
            </a:xfrm>
            <a:prstGeom prst="rect">
              <a:avLst/>
            </a:prstGeom>
          </p:spPr>
        </p:pic>
        <p:pic>
          <p:nvPicPr>
            <p:cNvPr id="36" name="Graphic 35">
              <a:extLst>
                <a:ext uri="{FF2B5EF4-FFF2-40B4-BE49-F238E27FC236}">
                  <a16:creationId xmlns:a16="http://schemas.microsoft.com/office/drawing/2014/main" id="{1DA310D7-2E97-4E16-B93B-5F9ABF7D93DC}"/>
                </a:ext>
              </a:extLst>
            </p:cNvPr>
            <p:cNvPicPr>
              <a:picLocks noChangeAspect="1"/>
            </p:cNvPicPr>
            <p:nvPr userDrawn="1"/>
          </p:nvPicPr>
          <p:blipFill>
            <a:blip r:embed="rId27">
              <a:extLst>
                <a:ext uri="{96DAC541-7B7A-43D3-8B79-37D633B846F1}">
                  <asvg:svgBlip xmlns:asvg="http://schemas.microsoft.com/office/drawing/2016/SVG/main" r:embed="rId28"/>
                </a:ext>
              </a:extLst>
            </a:blip>
            <a:stretch>
              <a:fillRect/>
            </a:stretch>
          </p:blipFill>
          <p:spPr>
            <a:xfrm>
              <a:off x="798998" y="4393717"/>
              <a:ext cx="1457325" cy="571500"/>
            </a:xfrm>
            <a:prstGeom prst="rect">
              <a:avLst/>
            </a:prstGeom>
          </p:spPr>
        </p:pic>
      </p:grpSp>
      <p:sp>
        <p:nvSpPr>
          <p:cNvPr id="6" name="TextBox 5">
            <a:extLst>
              <a:ext uri="{FF2B5EF4-FFF2-40B4-BE49-F238E27FC236}">
                <a16:creationId xmlns:a16="http://schemas.microsoft.com/office/drawing/2014/main" id="{43232D04-D18D-FFC4-7DE4-CD34C6639DFA}"/>
              </a:ext>
            </a:extLst>
          </p:cNvPr>
          <p:cNvSpPr txBox="1"/>
          <p:nvPr userDrawn="1">
            <p:extLst>
              <p:ext uri="{1162E1C5-73C7-4A58-AE30-91384D911F3F}">
                <p184:classification xmlns:p184="http://schemas.microsoft.com/office/powerpoint/2018/4/main" val="hdr"/>
              </p:ext>
            </p:extLst>
          </p:nvPr>
        </p:nvSpPr>
        <p:spPr>
          <a:xfrm>
            <a:off x="5480050" y="0"/>
            <a:ext cx="1254125" cy="121920"/>
          </a:xfrm>
          <a:prstGeom prst="rect">
            <a:avLst/>
          </a:prstGeom>
        </p:spPr>
        <p:txBody>
          <a:bodyPr horzOverflow="overflow" lIns="0" tIns="0" rIns="0" bIns="0">
            <a:spAutoFit/>
          </a:bodyPr>
          <a:lstStyle/>
          <a:p>
            <a:pPr algn="l"/>
            <a:r>
              <a:rPr lang="en-US" sz="800">
                <a:solidFill>
                  <a:srgbClr val="000000"/>
                </a:solidFill>
                <a:latin typeface="Calibri" panose="020F0502020204030204" pitchFamily="34" charset="0"/>
                <a:cs typeface="Calibri" panose="020F0502020204030204" pitchFamily="34" charset="0"/>
              </a:rPr>
              <a:t>SMU Classification: Restricted</a:t>
            </a:r>
          </a:p>
        </p:txBody>
      </p:sp>
    </p:spTree>
    <p:extLst>
      <p:ext uri="{BB962C8B-B14F-4D97-AF65-F5344CB8AC3E}">
        <p14:creationId xmlns:p14="http://schemas.microsoft.com/office/powerpoint/2010/main" val="3286693295"/>
      </p:ext>
    </p:extLst>
  </p:cSld>
  <p:clrMap bg1="lt1" tx1="dk1" bg2="lt2" tx2="dk2" accent1="accent1" accent2="accent2" accent3="accent3" accent4="accent4" accent5="accent5" accent6="accent6" hlink="hlink" folHlink="folHlink"/>
  <p:sldLayoutIdLst>
    <p:sldLayoutId id="2147483798" r:id="rId1"/>
    <p:sldLayoutId id="2147483818" r:id="rId2"/>
    <p:sldLayoutId id="2147483805" r:id="rId3"/>
    <p:sldLayoutId id="2147483806" r:id="rId4"/>
    <p:sldLayoutId id="2147483804" r:id="rId5"/>
    <p:sldLayoutId id="2147483801" r:id="rId6"/>
    <p:sldLayoutId id="2147483808" r:id="rId7"/>
    <p:sldLayoutId id="2147483795" r:id="rId8"/>
    <p:sldLayoutId id="2147483809" r:id="rId9"/>
    <p:sldLayoutId id="2147483810" r:id="rId10"/>
    <p:sldLayoutId id="2147483813" r:id="rId11"/>
    <p:sldLayoutId id="2147483812" r:id="rId12"/>
    <p:sldLayoutId id="2147483811" r:id="rId13"/>
    <p:sldLayoutId id="2147483802" r:id="rId14"/>
    <p:sldLayoutId id="2147483803" r:id="rId15"/>
    <p:sldLayoutId id="2147483814" r:id="rId16"/>
    <p:sldLayoutId id="2147483815" r:id="rId17"/>
    <p:sldLayoutId id="2147483816" r:id="rId18"/>
    <p:sldLayoutId id="2147483817" r:id="rId19"/>
    <p:sldLayoutId id="2147483807" r:id="rId20"/>
    <p:sldLayoutId id="2147483819" r:id="rId21"/>
    <p:sldLayoutId id="2147483820" r:id="rId22"/>
    <p:sldLayoutId id="2147483821" r:id="rId23"/>
  </p:sldLayoutIdLst>
  <p:hf sldNum="0" hdr="0" ftr="0" dt="0"/>
  <p:txStyles>
    <p:titleStyle>
      <a:lvl1pPr algn="l" defTabSz="685800" rtl="0" eaLnBrk="1" latinLnBrk="0" hangingPunct="1">
        <a:lnSpc>
          <a:spcPct val="90000"/>
        </a:lnSpc>
        <a:spcBef>
          <a:spcPct val="0"/>
        </a:spcBef>
        <a:buNone/>
        <a:defRPr sz="3200" b="1"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p:titleStyle>
    <p:bodyStyle>
      <a:lvl1pPr marL="171450" indent="-171450" algn="l" defTabSz="685800" rtl="0" eaLnBrk="1" latinLnBrk="0" hangingPunct="1">
        <a:lnSpc>
          <a:spcPct val="100000"/>
        </a:lnSpc>
        <a:spcBef>
          <a:spcPts val="450"/>
        </a:spcBef>
        <a:spcAft>
          <a:spcPts val="450"/>
        </a:spcAft>
        <a:buFont typeface="Arial" panose="020B0604020202020204" pitchFamily="34" charset="0"/>
        <a:buChar char="•"/>
        <a:defRPr sz="2400" b="0"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a:lvl2pPr marL="514350" indent="-171450" algn="l" defTabSz="685800" rtl="0" eaLnBrk="1" latinLnBrk="0" hangingPunct="1">
        <a:lnSpc>
          <a:spcPct val="100000"/>
        </a:lnSpc>
        <a:spcBef>
          <a:spcPts val="450"/>
        </a:spcBef>
        <a:spcAft>
          <a:spcPts val="450"/>
        </a:spcAft>
        <a:buFont typeface="Arial" panose="020B0604020202020204" pitchFamily="34" charset="0"/>
        <a:buChar char="•"/>
        <a:defRPr sz="220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2pPr>
      <a:lvl3pPr marL="857250" indent="-171450" algn="l" defTabSz="685800" rtl="0" eaLnBrk="1" latinLnBrk="0" hangingPunct="1">
        <a:lnSpc>
          <a:spcPct val="100000"/>
        </a:lnSpc>
        <a:spcBef>
          <a:spcPts val="450"/>
        </a:spcBef>
        <a:spcAft>
          <a:spcPts val="450"/>
        </a:spcAft>
        <a:buFont typeface="Arial" panose="020B0604020202020204" pitchFamily="34" charset="0"/>
        <a:buChar char="•"/>
        <a:defRPr sz="200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3pPr>
      <a:lvl4pPr marL="1200150" indent="-171450" algn="l" defTabSz="685800" rtl="0" eaLnBrk="1" latinLnBrk="0" hangingPunct="1">
        <a:lnSpc>
          <a:spcPct val="100000"/>
        </a:lnSpc>
        <a:spcBef>
          <a:spcPts val="450"/>
        </a:spcBef>
        <a:spcAft>
          <a:spcPts val="450"/>
        </a:spcAft>
        <a:buFont typeface="Arial" panose="020B0604020202020204" pitchFamily="34" charset="0"/>
        <a:buChar char="•"/>
        <a:defRPr sz="1800" b="0" i="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4pPr>
      <a:lvl5pPr marL="1543050" indent="-171450" algn="l" defTabSz="685800" rtl="0" eaLnBrk="1" latinLnBrk="0" hangingPunct="1">
        <a:lnSpc>
          <a:spcPct val="100000"/>
        </a:lnSpc>
        <a:spcBef>
          <a:spcPts val="450"/>
        </a:spcBef>
        <a:spcAft>
          <a:spcPts val="450"/>
        </a:spcAft>
        <a:buFont typeface="Arial" panose="020B0604020202020204" pitchFamily="34" charset="0"/>
        <a:buChar char="•"/>
        <a:defRPr sz="1600" b="0" i="0" kern="1200">
          <a:solidFill>
            <a:schemeClr val="tx1"/>
          </a:solidFill>
          <a:latin typeface="Arial Nova Light" panose="020B03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3.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9.xml"/><Relationship Id="rId1" Type="http://schemas.openxmlformats.org/officeDocument/2006/relationships/slideLayout" Target="../slideLayouts/slideLayout20.xml"/><Relationship Id="rId5" Type="http://schemas.openxmlformats.org/officeDocument/2006/relationships/image" Target="../media/image26.emf"/><Relationship Id="rId4" Type="http://schemas.openxmlformats.org/officeDocument/2006/relationships/image" Target="../media/image25.e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AC79824-7FAC-7143-8F72-8BF68C44384F}"/>
              </a:ext>
            </a:extLst>
          </p:cNvPr>
          <p:cNvSpPr>
            <a:spLocks noGrp="1"/>
          </p:cNvSpPr>
          <p:nvPr>
            <p:ph type="body" idx="10"/>
          </p:nvPr>
        </p:nvSpPr>
        <p:spPr/>
        <p:txBody>
          <a:bodyPr/>
          <a:lstStyle/>
          <a:p>
            <a:r>
              <a:rPr lang="en-US" dirty="0"/>
              <a:t>Access Control</a:t>
            </a:r>
          </a:p>
        </p:txBody>
      </p:sp>
    </p:spTree>
    <p:extLst>
      <p:ext uri="{BB962C8B-B14F-4D97-AF65-F5344CB8AC3E}">
        <p14:creationId xmlns:p14="http://schemas.microsoft.com/office/powerpoint/2010/main" val="422306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4BEA6-2014-DB44-AC53-6BC7F7DBCB98}"/>
              </a:ext>
            </a:extLst>
          </p:cNvPr>
          <p:cNvSpPr>
            <a:spLocks noGrp="1"/>
          </p:cNvSpPr>
          <p:nvPr>
            <p:ph type="title"/>
          </p:nvPr>
        </p:nvSpPr>
        <p:spPr/>
        <p:txBody>
          <a:bodyPr/>
          <a:lstStyle/>
          <a:p>
            <a:r>
              <a:rPr lang="en-GB" dirty="0"/>
              <a:t>Recap of Week 6</a:t>
            </a:r>
          </a:p>
        </p:txBody>
      </p:sp>
      <p:sp>
        <p:nvSpPr>
          <p:cNvPr id="7" name="Text Placeholder 6">
            <a:extLst>
              <a:ext uri="{FF2B5EF4-FFF2-40B4-BE49-F238E27FC236}">
                <a16:creationId xmlns:a16="http://schemas.microsoft.com/office/drawing/2014/main" id="{DDDD9D51-9E2A-4848-A89A-E0673CE8D60A}"/>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CC31B2EE-1EFF-E043-845E-1602BC4297FB}"/>
              </a:ext>
            </a:extLst>
          </p:cNvPr>
          <p:cNvSpPr>
            <a:spLocks noGrp="1"/>
          </p:cNvSpPr>
          <p:nvPr>
            <p:ph idx="1"/>
          </p:nvPr>
        </p:nvSpPr>
        <p:spPr/>
        <p:txBody>
          <a:bodyPr/>
          <a:lstStyle/>
          <a:p>
            <a:r>
              <a:rPr lang="en-GB" dirty="0"/>
              <a:t>Weak authentication vs. strong authentication</a:t>
            </a:r>
          </a:p>
          <a:p>
            <a:r>
              <a:rPr lang="en-GB" dirty="0"/>
              <a:t>Password authentication: </a:t>
            </a:r>
          </a:p>
          <a:p>
            <a:pPr lvl="1"/>
            <a:r>
              <a:rPr lang="en-GB" dirty="0"/>
              <a:t>How it works: Server uses the password to encrypt a public message (or compute a hash digest) and compares it against the password file entry.</a:t>
            </a:r>
          </a:p>
          <a:p>
            <a:pPr lvl="1"/>
            <a:r>
              <a:rPr lang="en-GB" dirty="0"/>
              <a:t>Password cracking: online vs offline; dictionary vs </a:t>
            </a:r>
            <a:r>
              <a:rPr lang="en-GB" dirty="0" err="1"/>
              <a:t>bruteforce</a:t>
            </a:r>
            <a:endParaRPr lang="en-GB" dirty="0"/>
          </a:p>
          <a:p>
            <a:pPr lvl="1"/>
            <a:r>
              <a:rPr lang="en-GB" dirty="0"/>
              <a:t>Replay attack: applicable to all weak authentication schemes.</a:t>
            </a:r>
          </a:p>
          <a:p>
            <a:r>
              <a:rPr lang="en-GB" dirty="0"/>
              <a:t>Strong authentication:</a:t>
            </a:r>
          </a:p>
          <a:p>
            <a:pPr lvl="1"/>
            <a:r>
              <a:rPr lang="en-GB" dirty="0"/>
              <a:t>Challenge-response protocol</a:t>
            </a:r>
          </a:p>
          <a:p>
            <a:pPr lvl="1"/>
            <a:r>
              <a:rPr lang="en-GB" dirty="0"/>
              <a:t>Time-stamp protocol</a:t>
            </a:r>
          </a:p>
          <a:p>
            <a:r>
              <a:rPr lang="en-GB" dirty="0"/>
              <a:t>Identity Management &amp; Open ID</a:t>
            </a:r>
          </a:p>
        </p:txBody>
      </p:sp>
    </p:spTree>
    <p:extLst>
      <p:ext uri="{BB962C8B-B14F-4D97-AF65-F5344CB8AC3E}">
        <p14:creationId xmlns:p14="http://schemas.microsoft.com/office/powerpoint/2010/main" val="1094137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Overview</a:t>
            </a:r>
            <a:endParaRPr lang="en-US" dirty="0"/>
          </a:p>
        </p:txBody>
      </p:sp>
      <p:sp>
        <p:nvSpPr>
          <p:cNvPr id="6" name="Text Placeholder 5">
            <a:extLst>
              <a:ext uri="{FF2B5EF4-FFF2-40B4-BE49-F238E27FC236}">
                <a16:creationId xmlns:a16="http://schemas.microsoft.com/office/drawing/2014/main" id="{C603FB6C-6D64-1044-8A2A-F3F85A6FCD6C}"/>
              </a:ext>
            </a:extLst>
          </p:cNvPr>
          <p:cNvSpPr>
            <a:spLocks noGrp="1"/>
          </p:cNvSpPr>
          <p:nvPr>
            <p:ph type="body" idx="11"/>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sz="2000" dirty="0"/>
              <a:t>Content</a:t>
            </a:r>
          </a:p>
          <a:p>
            <a:pPr lvl="1"/>
            <a:r>
              <a:rPr lang="en-US" sz="1900" dirty="0"/>
              <a:t>Introduction</a:t>
            </a:r>
          </a:p>
          <a:p>
            <a:pPr lvl="1"/>
            <a:r>
              <a:rPr lang="en-US" sz="1900" dirty="0"/>
              <a:t>Access control models</a:t>
            </a:r>
          </a:p>
          <a:p>
            <a:pPr lvl="1"/>
            <a:r>
              <a:rPr lang="en-US" altLang="en-US" sz="1900" dirty="0"/>
              <a:t>Discretionary access control (DAC)</a:t>
            </a:r>
          </a:p>
          <a:p>
            <a:pPr lvl="2"/>
            <a:r>
              <a:rPr lang="en-US" altLang="en-US" sz="1900" dirty="0"/>
              <a:t>Security problem of DAC</a:t>
            </a:r>
          </a:p>
          <a:p>
            <a:pPr lvl="1"/>
            <a:r>
              <a:rPr lang="en-US" altLang="en-US" sz="1900" dirty="0"/>
              <a:t>Mandatory access control (MAC)</a:t>
            </a:r>
          </a:p>
          <a:p>
            <a:pPr lvl="1"/>
            <a:r>
              <a:rPr lang="en-US" altLang="en-US" sz="1900" dirty="0"/>
              <a:t>Role based access control (RBAC)</a:t>
            </a:r>
          </a:p>
          <a:p>
            <a:pPr lvl="1"/>
            <a:endParaRPr lang="en-US" sz="1900" dirty="0"/>
          </a:p>
          <a:p>
            <a:pPr lvl="1"/>
            <a:endParaRPr lang="en-US" sz="2000" dirty="0"/>
          </a:p>
          <a:p>
            <a:r>
              <a:rPr lang="en-US" sz="2000" dirty="0"/>
              <a:t>After this module, you should be able to</a:t>
            </a:r>
          </a:p>
          <a:p>
            <a:pPr lvl="1"/>
            <a:r>
              <a:rPr lang="en-US" sz="1900" dirty="0"/>
              <a:t>Describe what access control is </a:t>
            </a:r>
          </a:p>
          <a:p>
            <a:pPr lvl="1"/>
            <a:r>
              <a:rPr lang="en-US" sz="1900" dirty="0"/>
              <a:t>Describe how computers and service providers </a:t>
            </a:r>
            <a:r>
              <a:rPr lang="en-US" sz="2000" dirty="0"/>
              <a:t>use different kinds of access control to protect resources</a:t>
            </a:r>
          </a:p>
        </p:txBody>
      </p:sp>
    </p:spTree>
    <p:extLst>
      <p:ext uri="{BB962C8B-B14F-4D97-AF65-F5344CB8AC3E}">
        <p14:creationId xmlns:p14="http://schemas.microsoft.com/office/powerpoint/2010/main" val="32326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en-US" altLang="zh-CN" dirty="0"/>
              <a:t>Access Control Overview</a:t>
            </a:r>
            <a:endParaRPr lang="en-US" dirty="0"/>
          </a:p>
        </p:txBody>
      </p:sp>
      <p:sp>
        <p:nvSpPr>
          <p:cNvPr id="4" name="Text Placeholder 3">
            <a:extLst>
              <a:ext uri="{FF2B5EF4-FFF2-40B4-BE49-F238E27FC236}">
                <a16:creationId xmlns:a16="http://schemas.microsoft.com/office/drawing/2014/main" id="{A1C4A0C0-A699-2041-B371-AEA9CE80645C}"/>
              </a:ext>
            </a:extLst>
          </p:cNvPr>
          <p:cNvSpPr>
            <a:spLocks noGrp="1"/>
          </p:cNvSpPr>
          <p:nvPr>
            <p:ph type="body" idx="11"/>
          </p:nvPr>
        </p:nvSpPr>
        <p:spPr/>
        <p:txBody>
          <a:bodyPr/>
          <a:lstStyle/>
          <a:p>
            <a:endParaRPr lang="en-US"/>
          </a:p>
        </p:txBody>
      </p:sp>
      <p:sp>
        <p:nvSpPr>
          <p:cNvPr id="192515" name="Rectangle 3"/>
          <p:cNvSpPr>
            <a:spLocks noGrp="1" noChangeArrowheads="1"/>
          </p:cNvSpPr>
          <p:nvPr>
            <p:ph idx="1"/>
          </p:nvPr>
        </p:nvSpPr>
        <p:spPr/>
        <p:txBody>
          <a:bodyPr>
            <a:normAutofit lnSpcReduction="10000"/>
          </a:bodyPr>
          <a:lstStyle/>
          <a:p>
            <a:r>
              <a:rPr lang="en-US" altLang="zh-CN" dirty="0"/>
              <a:t>Motivation</a:t>
            </a:r>
          </a:p>
          <a:p>
            <a:pPr lvl="1"/>
            <a:r>
              <a:rPr lang="en-US" altLang="zh-CN" dirty="0"/>
              <a:t>Multiple users share information resources</a:t>
            </a:r>
          </a:p>
          <a:p>
            <a:r>
              <a:rPr lang="en-US" altLang="zh-CN" dirty="0"/>
              <a:t>Access control</a:t>
            </a:r>
          </a:p>
          <a:p>
            <a:pPr lvl="1"/>
            <a:r>
              <a:rPr lang="en-US" dirty="0"/>
              <a:t>Who can access what and do what operation.</a:t>
            </a:r>
          </a:p>
          <a:p>
            <a:pPr lvl="1"/>
            <a:r>
              <a:rPr lang="en-US" altLang="zh-CN" dirty="0"/>
              <a:t>Authorization follows authentication.</a:t>
            </a:r>
          </a:p>
          <a:p>
            <a:r>
              <a:rPr lang="en-US" altLang="zh-CN" dirty="0"/>
              <a:t>Examples:</a:t>
            </a:r>
          </a:p>
          <a:p>
            <a:pPr lvl="1"/>
            <a:r>
              <a:rPr lang="en-US" altLang="zh-CN" dirty="0"/>
              <a:t>when you login to eLearn, you have different rights for different content.</a:t>
            </a:r>
          </a:p>
          <a:p>
            <a:pPr lvl="1"/>
            <a:r>
              <a:rPr lang="en-US" altLang="zh-CN" dirty="0"/>
              <a:t>Windows does not allow non-Administrator users to write to C:\</a:t>
            </a:r>
          </a:p>
          <a:p>
            <a:pPr lvl="1"/>
            <a:r>
              <a:rPr lang="en-US" altLang="zh-CN" dirty="0"/>
              <a:t>You may specify access rights on who can view or comment on your photos or blogs in OSN.</a:t>
            </a:r>
          </a:p>
          <a:p>
            <a:pPr lvl="1"/>
            <a:r>
              <a:rPr lang="en-US" altLang="zh-CN" dirty="0"/>
              <a:t>Android/iOS permission policy</a:t>
            </a:r>
          </a:p>
        </p:txBody>
      </p:sp>
    </p:spTree>
    <p:extLst>
      <p:ext uri="{BB962C8B-B14F-4D97-AF65-F5344CB8AC3E}">
        <p14:creationId xmlns:p14="http://schemas.microsoft.com/office/powerpoint/2010/main" val="3969980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Models</a:t>
            </a:r>
          </a:p>
        </p:txBody>
      </p:sp>
      <p:sp>
        <p:nvSpPr>
          <p:cNvPr id="8" name="Text Placeholder 7">
            <a:extLst>
              <a:ext uri="{FF2B5EF4-FFF2-40B4-BE49-F238E27FC236}">
                <a16:creationId xmlns:a16="http://schemas.microsoft.com/office/drawing/2014/main" id="{2AC44D37-50E6-4C4E-9010-310781BC3DE4}"/>
              </a:ext>
            </a:extLst>
          </p:cNvPr>
          <p:cNvSpPr>
            <a:spLocks noGrp="1"/>
          </p:cNvSpPr>
          <p:nvPr>
            <p:ph type="body" idx="11"/>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Discretionary Access Control (DAC): the access rights are at the discretion of the resource owner.</a:t>
            </a:r>
          </a:p>
          <a:p>
            <a:r>
              <a:rPr lang="en-US" dirty="0"/>
              <a:t>Mandatory Access Control (MAC): the access rights are mandatorily defined based on certain policies, not at one's discretion.  </a:t>
            </a:r>
          </a:p>
          <a:p>
            <a:r>
              <a:rPr lang="en-US" dirty="0"/>
              <a:t>Role-Based Access Control (RBAC): the access rights are defined according to the users' roles.</a:t>
            </a:r>
          </a:p>
        </p:txBody>
      </p:sp>
      <p:sp>
        <p:nvSpPr>
          <p:cNvPr id="4" name="TextBox 3"/>
          <p:cNvSpPr txBox="1"/>
          <p:nvPr/>
        </p:nvSpPr>
        <p:spPr>
          <a:xfrm>
            <a:off x="1235460" y="5071559"/>
            <a:ext cx="9721080" cy="954107"/>
          </a:xfrm>
          <a:prstGeom prst="rect">
            <a:avLst/>
          </a:prstGeom>
          <a:solidFill>
            <a:srgbClr val="008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marL="0" lvl="1"/>
            <a:r>
              <a:rPr lang="en-US" sz="2800" dirty="0"/>
              <a:t>In general, an access control model involves three elements: </a:t>
            </a:r>
            <a:r>
              <a:rPr lang="en-US" sz="2800" i="1" dirty="0"/>
              <a:t>subject</a:t>
            </a:r>
            <a:r>
              <a:rPr lang="en-US" sz="2800" dirty="0"/>
              <a:t>, </a:t>
            </a:r>
            <a:r>
              <a:rPr lang="en-US" sz="2800" i="1" dirty="0"/>
              <a:t>objects</a:t>
            </a:r>
            <a:r>
              <a:rPr lang="en-US" sz="2800" dirty="0"/>
              <a:t>, </a:t>
            </a:r>
            <a:r>
              <a:rPr lang="en-US" sz="2800" i="1" dirty="0"/>
              <a:t>rights</a:t>
            </a:r>
            <a:r>
              <a:rPr lang="en-US" sz="2800" dirty="0"/>
              <a:t>.</a:t>
            </a:r>
          </a:p>
        </p:txBody>
      </p:sp>
    </p:spTree>
    <p:extLst>
      <p:ext uri="{BB962C8B-B14F-4D97-AF65-F5344CB8AC3E}">
        <p14:creationId xmlns:p14="http://schemas.microsoft.com/office/powerpoint/2010/main" val="4023080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Authentication vs Access Control</a:t>
            </a:r>
            <a:endParaRPr lang="en-US" altLang="en-US" dirty="0"/>
          </a:p>
        </p:txBody>
      </p:sp>
      <p:sp>
        <p:nvSpPr>
          <p:cNvPr id="2" name="Content Placeholder 1">
            <a:extLst>
              <a:ext uri="{FF2B5EF4-FFF2-40B4-BE49-F238E27FC236}">
                <a16:creationId xmlns:a16="http://schemas.microsoft.com/office/drawing/2014/main" id="{BB032940-DB3D-F442-BA75-4A1725F340FA}"/>
              </a:ext>
            </a:extLst>
          </p:cNvPr>
          <p:cNvSpPr>
            <a:spLocks noGrp="1"/>
          </p:cNvSpPr>
          <p:nvPr>
            <p:ph idx="1"/>
          </p:nvPr>
        </p:nvSpPr>
        <p:spPr/>
        <p:txBody>
          <a:bodyPr/>
          <a:lstStyle/>
          <a:p>
            <a:r>
              <a:rPr lang="en-US" altLang="en-US" dirty="0"/>
              <a:t>Initially, the system must first determine who is the one requesting access accurately</a:t>
            </a:r>
          </a:p>
          <a:p>
            <a:r>
              <a:rPr lang="en-US" altLang="en-US" dirty="0"/>
              <a:t>In addition, the system must also specify what actions can the subject do on those objects</a:t>
            </a:r>
          </a:p>
          <a:p>
            <a:endParaRPr lang="en-US" altLang="en-US" dirty="0"/>
          </a:p>
          <a:p>
            <a:r>
              <a:rPr lang="en-US" altLang="en-US" dirty="0"/>
              <a:t>The process of accurately determining the subject’s identity is called </a:t>
            </a:r>
            <a:r>
              <a:rPr lang="en-US" altLang="en-US" dirty="0">
                <a:solidFill>
                  <a:srgbClr val="C00000"/>
                </a:solidFill>
              </a:rPr>
              <a:t>authentication</a:t>
            </a:r>
          </a:p>
          <a:p>
            <a:r>
              <a:rPr lang="en-US" altLang="en-US" dirty="0"/>
              <a:t>Restricting access of objects to ONLY those subjects authorized is called </a:t>
            </a:r>
            <a:r>
              <a:rPr lang="en-US" altLang="en-US" dirty="0">
                <a:solidFill>
                  <a:srgbClr val="C00000"/>
                </a:solidFill>
              </a:rPr>
              <a:t>access control</a:t>
            </a:r>
          </a:p>
        </p:txBody>
      </p:sp>
      <p:sp>
        <p:nvSpPr>
          <p:cNvPr id="4" name="Text Placeholder 3">
            <a:extLst>
              <a:ext uri="{FF2B5EF4-FFF2-40B4-BE49-F238E27FC236}">
                <a16:creationId xmlns:a16="http://schemas.microsoft.com/office/drawing/2014/main" id="{70460FE7-2F1C-1A4A-AD7F-09A313A957A6}"/>
              </a:ext>
            </a:extLst>
          </p:cNvPr>
          <p:cNvSpPr>
            <a:spLocks noGrp="1"/>
          </p:cNvSpPr>
          <p:nvPr>
            <p:ph type="body" idx="11"/>
          </p:nvPr>
        </p:nvSpPr>
        <p:spPr/>
        <p:txBody>
          <a:bodyPr/>
          <a:lstStyle/>
          <a:p>
            <a:endParaRPr lang="en-US"/>
          </a:p>
        </p:txBody>
      </p:sp>
    </p:spTree>
    <p:extLst>
      <p:ext uri="{BB962C8B-B14F-4D97-AF65-F5344CB8AC3E}">
        <p14:creationId xmlns:p14="http://schemas.microsoft.com/office/powerpoint/2010/main" val="1729760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ell phone&#10;&#10;Description automatically generated">
            <a:extLst>
              <a:ext uri="{FF2B5EF4-FFF2-40B4-BE49-F238E27FC236}">
                <a16:creationId xmlns:a16="http://schemas.microsoft.com/office/drawing/2014/main" id="{9C298E0C-5E6D-1C4D-8DA4-5E12308E2F56}"/>
              </a:ext>
            </a:extLst>
          </p:cNvPr>
          <p:cNvPicPr>
            <a:picLocks noChangeAspect="1"/>
          </p:cNvPicPr>
          <p:nvPr/>
        </p:nvPicPr>
        <p:blipFill>
          <a:blip r:embed="rId3"/>
          <a:stretch>
            <a:fillRect/>
          </a:stretch>
        </p:blipFill>
        <p:spPr>
          <a:xfrm>
            <a:off x="1029786" y="2354336"/>
            <a:ext cx="2184400" cy="2146300"/>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3E94CCAE-DB01-694E-9D8E-0150975E7CC5}"/>
              </a:ext>
            </a:extLst>
          </p:cNvPr>
          <p:cNvPicPr>
            <a:picLocks noChangeAspect="1"/>
          </p:cNvPicPr>
          <p:nvPr/>
        </p:nvPicPr>
        <p:blipFill>
          <a:blip r:embed="rId4"/>
          <a:stretch>
            <a:fillRect/>
          </a:stretch>
        </p:blipFill>
        <p:spPr>
          <a:xfrm>
            <a:off x="4288452" y="1597276"/>
            <a:ext cx="1071808" cy="887591"/>
          </a:xfrm>
          <a:prstGeom prst="rect">
            <a:avLst/>
          </a:prstGeom>
        </p:spPr>
      </p:pic>
      <p:sp>
        <p:nvSpPr>
          <p:cNvPr id="9" name="TextBox 8">
            <a:extLst>
              <a:ext uri="{FF2B5EF4-FFF2-40B4-BE49-F238E27FC236}">
                <a16:creationId xmlns:a16="http://schemas.microsoft.com/office/drawing/2014/main" id="{71830B86-7DDA-774B-94F5-2881F9F389E2}"/>
              </a:ext>
            </a:extLst>
          </p:cNvPr>
          <p:cNvSpPr txBox="1"/>
          <p:nvPr/>
        </p:nvSpPr>
        <p:spPr>
          <a:xfrm>
            <a:off x="4288452" y="1355650"/>
            <a:ext cx="1184857" cy="369332"/>
          </a:xfrm>
          <a:prstGeom prst="rect">
            <a:avLst/>
          </a:prstGeom>
          <a:noFill/>
        </p:spPr>
        <p:txBody>
          <a:bodyPr wrap="square" rtlCol="0">
            <a:spAutoFit/>
          </a:bodyPr>
          <a:lstStyle/>
          <a:p>
            <a:pPr algn="l"/>
            <a:r>
              <a:rPr lang="en-US" dirty="0">
                <a:latin typeface="Comic Sans MS" panose="030F0902030302020204" pitchFamily="66" charset="0"/>
                <a:ea typeface="Helvetica Neue" panose="02000503000000020004" pitchFamily="2" charset="0"/>
                <a:cs typeface="Helvetica Neue" panose="02000503000000020004" pitchFamily="2" charset="0"/>
              </a:rPr>
              <a:t>Dean</a:t>
            </a:r>
          </a:p>
        </p:txBody>
      </p:sp>
      <p:pic>
        <p:nvPicPr>
          <p:cNvPr id="10" name="Picture 9" descr="A picture containing drawing&#10;&#10;Description automatically generated">
            <a:extLst>
              <a:ext uri="{FF2B5EF4-FFF2-40B4-BE49-F238E27FC236}">
                <a16:creationId xmlns:a16="http://schemas.microsoft.com/office/drawing/2014/main" id="{C0D28C1C-DA4C-7548-8A27-9E9056FB8CC3}"/>
              </a:ext>
            </a:extLst>
          </p:cNvPr>
          <p:cNvPicPr>
            <a:picLocks noChangeAspect="1"/>
          </p:cNvPicPr>
          <p:nvPr/>
        </p:nvPicPr>
        <p:blipFill>
          <a:blip r:embed="rId4"/>
          <a:stretch>
            <a:fillRect/>
          </a:stretch>
        </p:blipFill>
        <p:spPr>
          <a:xfrm>
            <a:off x="4308128" y="2983691"/>
            <a:ext cx="1071808" cy="887591"/>
          </a:xfrm>
          <a:prstGeom prst="rect">
            <a:avLst/>
          </a:prstGeom>
        </p:spPr>
      </p:pic>
      <p:sp>
        <p:nvSpPr>
          <p:cNvPr id="11" name="TextBox 10">
            <a:extLst>
              <a:ext uri="{FF2B5EF4-FFF2-40B4-BE49-F238E27FC236}">
                <a16:creationId xmlns:a16="http://schemas.microsoft.com/office/drawing/2014/main" id="{E9F07D75-3E71-9B49-83BC-8F675303122E}"/>
              </a:ext>
            </a:extLst>
          </p:cNvPr>
          <p:cNvSpPr txBox="1"/>
          <p:nvPr/>
        </p:nvSpPr>
        <p:spPr>
          <a:xfrm>
            <a:off x="4308128" y="2742065"/>
            <a:ext cx="1184857" cy="369332"/>
          </a:xfrm>
          <a:prstGeom prst="rect">
            <a:avLst/>
          </a:prstGeom>
          <a:noFill/>
        </p:spPr>
        <p:txBody>
          <a:bodyPr wrap="square" rtlCol="0">
            <a:spAutoFit/>
          </a:bodyPr>
          <a:lstStyle/>
          <a:p>
            <a:pPr algn="l"/>
            <a:r>
              <a:rPr lang="en-US" dirty="0">
                <a:latin typeface="Comic Sans MS" panose="030F0902030302020204" pitchFamily="66" charset="0"/>
                <a:ea typeface="Helvetica Neue" panose="02000503000000020004" pitchFamily="2" charset="0"/>
                <a:cs typeface="Helvetica Neue" panose="02000503000000020004" pitchFamily="2" charset="0"/>
              </a:rPr>
              <a:t>Faculty</a:t>
            </a:r>
          </a:p>
        </p:txBody>
      </p:sp>
      <p:sp>
        <p:nvSpPr>
          <p:cNvPr id="12" name="TextBox 11">
            <a:extLst>
              <a:ext uri="{FF2B5EF4-FFF2-40B4-BE49-F238E27FC236}">
                <a16:creationId xmlns:a16="http://schemas.microsoft.com/office/drawing/2014/main" id="{2C2C9A76-5246-0A4E-B695-6B91A1218AB8}"/>
              </a:ext>
            </a:extLst>
          </p:cNvPr>
          <p:cNvSpPr txBox="1"/>
          <p:nvPr/>
        </p:nvSpPr>
        <p:spPr>
          <a:xfrm>
            <a:off x="4288452" y="553354"/>
            <a:ext cx="1518992" cy="369332"/>
          </a:xfrm>
          <a:prstGeom prst="rect">
            <a:avLst/>
          </a:prstGeom>
          <a:noFill/>
        </p:spPr>
        <p:txBody>
          <a:bodyPr wrap="square" rtlCol="0">
            <a:spAutoFit/>
          </a:bodyPr>
          <a:lstStyle/>
          <a:p>
            <a:pPr algn="l"/>
            <a:r>
              <a:rPr lang="en-US" dirty="0">
                <a:latin typeface="Comic Sans MS" panose="030F0902030302020204" pitchFamily="66" charset="0"/>
                <a:ea typeface="Helvetica Neue" panose="02000503000000020004" pitchFamily="2" charset="0"/>
                <a:cs typeface="Helvetica Neue" panose="02000503000000020004" pitchFamily="2" charset="0"/>
              </a:rPr>
              <a:t>Principals</a:t>
            </a:r>
          </a:p>
        </p:txBody>
      </p:sp>
      <p:cxnSp>
        <p:nvCxnSpPr>
          <p:cNvPr id="14" name="Straight Arrow Connector 13">
            <a:extLst>
              <a:ext uri="{FF2B5EF4-FFF2-40B4-BE49-F238E27FC236}">
                <a16:creationId xmlns:a16="http://schemas.microsoft.com/office/drawing/2014/main" id="{D6D61AF8-817F-5549-9793-0CAB58A01409}"/>
              </a:ext>
            </a:extLst>
          </p:cNvPr>
          <p:cNvCxnSpPr>
            <a:stCxn id="6" idx="3"/>
            <a:endCxn id="8" idx="1"/>
          </p:cNvCxnSpPr>
          <p:nvPr/>
        </p:nvCxnSpPr>
        <p:spPr>
          <a:xfrm flipV="1">
            <a:off x="3214186" y="2041072"/>
            <a:ext cx="1074266" cy="1386414"/>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9FD3E48-58D0-FB4B-8AEC-F443BE73C479}"/>
              </a:ext>
            </a:extLst>
          </p:cNvPr>
          <p:cNvCxnSpPr>
            <a:cxnSpLocks/>
            <a:stCxn id="6" idx="3"/>
            <a:endCxn id="10" idx="1"/>
          </p:cNvCxnSpPr>
          <p:nvPr/>
        </p:nvCxnSpPr>
        <p:spPr>
          <a:xfrm>
            <a:off x="3214186" y="3427486"/>
            <a:ext cx="1093942" cy="1"/>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descr="A picture containing drawing&#10;&#10;Description automatically generated">
            <a:extLst>
              <a:ext uri="{FF2B5EF4-FFF2-40B4-BE49-F238E27FC236}">
                <a16:creationId xmlns:a16="http://schemas.microsoft.com/office/drawing/2014/main" id="{DD4863E8-74F2-FF4B-A05F-3A11D3E22490}"/>
              </a:ext>
            </a:extLst>
          </p:cNvPr>
          <p:cNvPicPr>
            <a:picLocks noChangeAspect="1"/>
          </p:cNvPicPr>
          <p:nvPr/>
        </p:nvPicPr>
        <p:blipFill>
          <a:blip r:embed="rId4"/>
          <a:stretch>
            <a:fillRect/>
          </a:stretch>
        </p:blipFill>
        <p:spPr>
          <a:xfrm>
            <a:off x="4308290" y="4218228"/>
            <a:ext cx="1071808" cy="887591"/>
          </a:xfrm>
          <a:prstGeom prst="rect">
            <a:avLst/>
          </a:prstGeom>
        </p:spPr>
      </p:pic>
      <p:sp>
        <p:nvSpPr>
          <p:cNvPr id="17" name="TextBox 16">
            <a:extLst>
              <a:ext uri="{FF2B5EF4-FFF2-40B4-BE49-F238E27FC236}">
                <a16:creationId xmlns:a16="http://schemas.microsoft.com/office/drawing/2014/main" id="{79D6A52C-04A1-D44E-94C8-A6913C3F61C0}"/>
              </a:ext>
            </a:extLst>
          </p:cNvPr>
          <p:cNvSpPr txBox="1"/>
          <p:nvPr/>
        </p:nvSpPr>
        <p:spPr>
          <a:xfrm>
            <a:off x="4308290" y="3976602"/>
            <a:ext cx="1184857" cy="369332"/>
          </a:xfrm>
          <a:prstGeom prst="rect">
            <a:avLst/>
          </a:prstGeom>
          <a:noFill/>
        </p:spPr>
        <p:txBody>
          <a:bodyPr wrap="square" rtlCol="0">
            <a:spAutoFit/>
          </a:bodyPr>
          <a:lstStyle/>
          <a:p>
            <a:pPr algn="l"/>
            <a:r>
              <a:rPr lang="en-US" dirty="0">
                <a:latin typeface="Comic Sans MS" panose="030F0902030302020204" pitchFamily="66" charset="0"/>
                <a:ea typeface="Helvetica Neue" panose="02000503000000020004" pitchFamily="2" charset="0"/>
                <a:cs typeface="Helvetica Neue" panose="02000503000000020004" pitchFamily="2" charset="0"/>
              </a:rPr>
              <a:t>Staff</a:t>
            </a:r>
          </a:p>
        </p:txBody>
      </p:sp>
      <p:cxnSp>
        <p:nvCxnSpPr>
          <p:cNvPr id="22" name="Straight Arrow Connector 21">
            <a:extLst>
              <a:ext uri="{FF2B5EF4-FFF2-40B4-BE49-F238E27FC236}">
                <a16:creationId xmlns:a16="http://schemas.microsoft.com/office/drawing/2014/main" id="{F0D1591A-89C9-7340-BE08-3847884BC8E2}"/>
              </a:ext>
            </a:extLst>
          </p:cNvPr>
          <p:cNvCxnSpPr>
            <a:cxnSpLocks/>
            <a:stCxn id="6" idx="3"/>
            <a:endCxn id="16" idx="1"/>
          </p:cNvCxnSpPr>
          <p:nvPr/>
        </p:nvCxnSpPr>
        <p:spPr>
          <a:xfrm>
            <a:off x="3214186" y="3427486"/>
            <a:ext cx="1094104" cy="1234538"/>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971875C-1C62-A840-B3D4-5F504223249F}"/>
              </a:ext>
            </a:extLst>
          </p:cNvPr>
          <p:cNvSpPr txBox="1"/>
          <p:nvPr/>
        </p:nvSpPr>
        <p:spPr>
          <a:xfrm>
            <a:off x="1362490" y="576648"/>
            <a:ext cx="1518992" cy="369332"/>
          </a:xfrm>
          <a:prstGeom prst="rect">
            <a:avLst/>
          </a:prstGeom>
          <a:noFill/>
        </p:spPr>
        <p:txBody>
          <a:bodyPr wrap="square" rtlCol="0">
            <a:spAutoFit/>
          </a:bodyPr>
          <a:lstStyle/>
          <a:p>
            <a:pPr algn="l"/>
            <a:r>
              <a:rPr lang="en-US" dirty="0">
                <a:latin typeface="Comic Sans MS" panose="030F0902030302020204" pitchFamily="66" charset="0"/>
                <a:ea typeface="Helvetica Neue" panose="02000503000000020004" pitchFamily="2" charset="0"/>
                <a:cs typeface="Helvetica Neue" panose="02000503000000020004" pitchFamily="2" charset="0"/>
              </a:rPr>
              <a:t>User</a:t>
            </a:r>
          </a:p>
        </p:txBody>
      </p:sp>
      <p:pic>
        <p:nvPicPr>
          <p:cNvPr id="30" name="Picture 29" descr="A close up of a sign&#10;&#10;Description automatically generated">
            <a:extLst>
              <a:ext uri="{FF2B5EF4-FFF2-40B4-BE49-F238E27FC236}">
                <a16:creationId xmlns:a16="http://schemas.microsoft.com/office/drawing/2014/main" id="{D181F9EA-AF62-FC43-A7F8-60AA2E9917E0}"/>
              </a:ext>
            </a:extLst>
          </p:cNvPr>
          <p:cNvPicPr>
            <a:picLocks noChangeAspect="1"/>
          </p:cNvPicPr>
          <p:nvPr/>
        </p:nvPicPr>
        <p:blipFill>
          <a:blip r:embed="rId5"/>
          <a:stretch>
            <a:fillRect/>
          </a:stretch>
        </p:blipFill>
        <p:spPr>
          <a:xfrm>
            <a:off x="6718693" y="969822"/>
            <a:ext cx="734952" cy="748076"/>
          </a:xfrm>
          <a:prstGeom prst="rect">
            <a:avLst/>
          </a:prstGeom>
        </p:spPr>
      </p:pic>
      <p:pic>
        <p:nvPicPr>
          <p:cNvPr id="32" name="Picture 31" descr="A picture containing drawing&#10;&#10;Description automatically generated">
            <a:extLst>
              <a:ext uri="{FF2B5EF4-FFF2-40B4-BE49-F238E27FC236}">
                <a16:creationId xmlns:a16="http://schemas.microsoft.com/office/drawing/2014/main" id="{611E4F42-AFEC-234F-8C00-682EB01AA58D}"/>
              </a:ext>
            </a:extLst>
          </p:cNvPr>
          <p:cNvPicPr>
            <a:picLocks noChangeAspect="1"/>
          </p:cNvPicPr>
          <p:nvPr/>
        </p:nvPicPr>
        <p:blipFill>
          <a:blip r:embed="rId6"/>
          <a:stretch>
            <a:fillRect/>
          </a:stretch>
        </p:blipFill>
        <p:spPr>
          <a:xfrm>
            <a:off x="6571819" y="1664336"/>
            <a:ext cx="1028700" cy="965200"/>
          </a:xfrm>
          <a:prstGeom prst="rect">
            <a:avLst/>
          </a:prstGeom>
        </p:spPr>
      </p:pic>
      <p:pic>
        <p:nvPicPr>
          <p:cNvPr id="34" name="Picture 33" descr="A picture containing object, drawing&#10;&#10;Description automatically generated">
            <a:extLst>
              <a:ext uri="{FF2B5EF4-FFF2-40B4-BE49-F238E27FC236}">
                <a16:creationId xmlns:a16="http://schemas.microsoft.com/office/drawing/2014/main" id="{897B3933-900F-E84F-AB25-6EBC7A624A5D}"/>
              </a:ext>
            </a:extLst>
          </p:cNvPr>
          <p:cNvPicPr>
            <a:picLocks noChangeAspect="1"/>
          </p:cNvPicPr>
          <p:nvPr/>
        </p:nvPicPr>
        <p:blipFill>
          <a:blip r:embed="rId7"/>
          <a:stretch>
            <a:fillRect/>
          </a:stretch>
        </p:blipFill>
        <p:spPr>
          <a:xfrm>
            <a:off x="6660200" y="2754295"/>
            <a:ext cx="957869" cy="839481"/>
          </a:xfrm>
          <a:prstGeom prst="rect">
            <a:avLst/>
          </a:prstGeom>
        </p:spPr>
      </p:pic>
      <p:pic>
        <p:nvPicPr>
          <p:cNvPr id="36" name="Picture 35" descr="A picture containing drawing&#10;&#10;Description automatically generated">
            <a:extLst>
              <a:ext uri="{FF2B5EF4-FFF2-40B4-BE49-F238E27FC236}">
                <a16:creationId xmlns:a16="http://schemas.microsoft.com/office/drawing/2014/main" id="{AF36E37F-8E88-0A42-BFBF-03334A2CC15A}"/>
              </a:ext>
            </a:extLst>
          </p:cNvPr>
          <p:cNvPicPr>
            <a:picLocks noChangeAspect="1"/>
          </p:cNvPicPr>
          <p:nvPr/>
        </p:nvPicPr>
        <p:blipFill>
          <a:blip r:embed="rId8"/>
          <a:stretch>
            <a:fillRect/>
          </a:stretch>
        </p:blipFill>
        <p:spPr>
          <a:xfrm>
            <a:off x="10795820" y="1014552"/>
            <a:ext cx="839477" cy="839477"/>
          </a:xfrm>
          <a:prstGeom prst="rect">
            <a:avLst/>
          </a:prstGeom>
        </p:spPr>
      </p:pic>
      <p:sp>
        <p:nvSpPr>
          <p:cNvPr id="37" name="TextBox 36">
            <a:extLst>
              <a:ext uri="{FF2B5EF4-FFF2-40B4-BE49-F238E27FC236}">
                <a16:creationId xmlns:a16="http://schemas.microsoft.com/office/drawing/2014/main" id="{B2A4F2F9-3F7D-C646-9953-CF54AA8B9625}"/>
              </a:ext>
            </a:extLst>
          </p:cNvPr>
          <p:cNvSpPr txBox="1"/>
          <p:nvPr/>
        </p:nvSpPr>
        <p:spPr>
          <a:xfrm>
            <a:off x="6519022" y="553354"/>
            <a:ext cx="1518992" cy="369332"/>
          </a:xfrm>
          <a:prstGeom prst="rect">
            <a:avLst/>
          </a:prstGeom>
          <a:noFill/>
        </p:spPr>
        <p:txBody>
          <a:bodyPr wrap="square" rtlCol="0">
            <a:spAutoFit/>
          </a:bodyPr>
          <a:lstStyle/>
          <a:p>
            <a:pPr algn="l"/>
            <a:r>
              <a:rPr lang="en-US" dirty="0">
                <a:latin typeface="Comic Sans MS" panose="030F0902030302020204" pitchFamily="66" charset="0"/>
                <a:ea typeface="Helvetica Neue" panose="02000503000000020004" pitchFamily="2" charset="0"/>
                <a:cs typeface="Helvetica Neue" panose="02000503000000020004" pitchFamily="2" charset="0"/>
              </a:rPr>
              <a:t>Subjects</a:t>
            </a:r>
          </a:p>
        </p:txBody>
      </p:sp>
      <p:cxnSp>
        <p:nvCxnSpPr>
          <p:cNvPr id="58" name="Straight Arrow Connector 57">
            <a:extLst>
              <a:ext uri="{FF2B5EF4-FFF2-40B4-BE49-F238E27FC236}">
                <a16:creationId xmlns:a16="http://schemas.microsoft.com/office/drawing/2014/main" id="{CA2068CE-0652-D64D-ACC5-6D237DCF4940}"/>
              </a:ext>
            </a:extLst>
          </p:cNvPr>
          <p:cNvCxnSpPr>
            <a:cxnSpLocks/>
          </p:cNvCxnSpPr>
          <p:nvPr/>
        </p:nvCxnSpPr>
        <p:spPr>
          <a:xfrm>
            <a:off x="5378910" y="3368595"/>
            <a:ext cx="1093942" cy="1"/>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F443E89D-727F-D54E-9C78-CF4DB8A6488F}"/>
              </a:ext>
            </a:extLst>
          </p:cNvPr>
          <p:cNvCxnSpPr>
            <a:cxnSpLocks/>
          </p:cNvCxnSpPr>
          <p:nvPr/>
        </p:nvCxnSpPr>
        <p:spPr>
          <a:xfrm>
            <a:off x="5360260" y="2028983"/>
            <a:ext cx="1093942" cy="1"/>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630F31BA-511C-6D43-BFDA-C9D998B3030D}"/>
              </a:ext>
            </a:extLst>
          </p:cNvPr>
          <p:cNvCxnSpPr>
            <a:cxnSpLocks/>
          </p:cNvCxnSpPr>
          <p:nvPr/>
        </p:nvCxnSpPr>
        <p:spPr>
          <a:xfrm>
            <a:off x="5360260" y="4708207"/>
            <a:ext cx="1093942" cy="1"/>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62" name="Picture 61" descr="A picture containing drawing, clock&#10;&#10;Description automatically generated">
            <a:extLst>
              <a:ext uri="{FF2B5EF4-FFF2-40B4-BE49-F238E27FC236}">
                <a16:creationId xmlns:a16="http://schemas.microsoft.com/office/drawing/2014/main" id="{C4961AA5-F3D4-3F4E-BADC-B9B47A013E96}"/>
              </a:ext>
            </a:extLst>
          </p:cNvPr>
          <p:cNvPicPr>
            <a:picLocks noChangeAspect="1"/>
          </p:cNvPicPr>
          <p:nvPr/>
        </p:nvPicPr>
        <p:blipFill>
          <a:blip r:embed="rId9"/>
          <a:stretch>
            <a:fillRect/>
          </a:stretch>
        </p:blipFill>
        <p:spPr>
          <a:xfrm>
            <a:off x="10911448" y="2118742"/>
            <a:ext cx="653220" cy="556956"/>
          </a:xfrm>
          <a:prstGeom prst="rect">
            <a:avLst/>
          </a:prstGeom>
        </p:spPr>
      </p:pic>
      <p:pic>
        <p:nvPicPr>
          <p:cNvPr id="64" name="Picture 63" descr="A picture containing drawing&#10;&#10;Description automatically generated">
            <a:extLst>
              <a:ext uri="{FF2B5EF4-FFF2-40B4-BE49-F238E27FC236}">
                <a16:creationId xmlns:a16="http://schemas.microsoft.com/office/drawing/2014/main" id="{2D50E48B-99A5-AB47-9E8F-50786365A40C}"/>
              </a:ext>
            </a:extLst>
          </p:cNvPr>
          <p:cNvPicPr>
            <a:picLocks noChangeAspect="1"/>
          </p:cNvPicPr>
          <p:nvPr/>
        </p:nvPicPr>
        <p:blipFill>
          <a:blip r:embed="rId10"/>
          <a:stretch>
            <a:fillRect/>
          </a:stretch>
        </p:blipFill>
        <p:spPr>
          <a:xfrm>
            <a:off x="10934179" y="3678630"/>
            <a:ext cx="653446" cy="709602"/>
          </a:xfrm>
          <a:prstGeom prst="rect">
            <a:avLst/>
          </a:prstGeom>
        </p:spPr>
      </p:pic>
      <p:pic>
        <p:nvPicPr>
          <p:cNvPr id="66" name="Picture 65" descr="A close up of a logo&#10;&#10;Description automatically generated">
            <a:extLst>
              <a:ext uri="{FF2B5EF4-FFF2-40B4-BE49-F238E27FC236}">
                <a16:creationId xmlns:a16="http://schemas.microsoft.com/office/drawing/2014/main" id="{9323E005-0B5A-504A-9300-03B576445831}"/>
              </a:ext>
            </a:extLst>
          </p:cNvPr>
          <p:cNvPicPr>
            <a:picLocks noChangeAspect="1"/>
          </p:cNvPicPr>
          <p:nvPr/>
        </p:nvPicPr>
        <p:blipFill>
          <a:blip r:embed="rId11"/>
          <a:stretch>
            <a:fillRect/>
          </a:stretch>
        </p:blipFill>
        <p:spPr>
          <a:xfrm>
            <a:off x="10938950" y="2930717"/>
            <a:ext cx="553220" cy="629351"/>
          </a:xfrm>
          <a:prstGeom prst="rect">
            <a:avLst/>
          </a:prstGeom>
        </p:spPr>
      </p:pic>
      <p:pic>
        <p:nvPicPr>
          <p:cNvPr id="68" name="Picture 67" descr="A close up of a logo&#10;&#10;Description automatically generated">
            <a:extLst>
              <a:ext uri="{FF2B5EF4-FFF2-40B4-BE49-F238E27FC236}">
                <a16:creationId xmlns:a16="http://schemas.microsoft.com/office/drawing/2014/main" id="{EEED3E3B-0990-8746-83FE-78F5E929398F}"/>
              </a:ext>
            </a:extLst>
          </p:cNvPr>
          <p:cNvPicPr>
            <a:picLocks noChangeAspect="1"/>
          </p:cNvPicPr>
          <p:nvPr/>
        </p:nvPicPr>
        <p:blipFill>
          <a:blip r:embed="rId12"/>
          <a:stretch>
            <a:fillRect/>
          </a:stretch>
        </p:blipFill>
        <p:spPr>
          <a:xfrm>
            <a:off x="6692127" y="3674851"/>
            <a:ext cx="790070" cy="692373"/>
          </a:xfrm>
          <a:prstGeom prst="rect">
            <a:avLst/>
          </a:prstGeom>
        </p:spPr>
      </p:pic>
      <p:grpSp>
        <p:nvGrpSpPr>
          <p:cNvPr id="81" name="Group 80">
            <a:extLst>
              <a:ext uri="{FF2B5EF4-FFF2-40B4-BE49-F238E27FC236}">
                <a16:creationId xmlns:a16="http://schemas.microsoft.com/office/drawing/2014/main" id="{A245E87C-E25A-044C-AF36-8FE1E73F2039}"/>
              </a:ext>
            </a:extLst>
          </p:cNvPr>
          <p:cNvGrpSpPr/>
          <p:nvPr/>
        </p:nvGrpSpPr>
        <p:grpSpPr>
          <a:xfrm>
            <a:off x="8038014" y="2138237"/>
            <a:ext cx="2655232" cy="1912291"/>
            <a:chOff x="8038014" y="2138237"/>
            <a:chExt cx="2655232" cy="1912291"/>
          </a:xfrm>
        </p:grpSpPr>
        <p:sp>
          <p:nvSpPr>
            <p:cNvPr id="69" name="TextBox 68">
              <a:extLst>
                <a:ext uri="{FF2B5EF4-FFF2-40B4-BE49-F238E27FC236}">
                  <a16:creationId xmlns:a16="http://schemas.microsoft.com/office/drawing/2014/main" id="{3F4024C6-2812-F54B-B86E-4978CE3CF5D1}"/>
                </a:ext>
              </a:extLst>
            </p:cNvPr>
            <p:cNvSpPr txBox="1"/>
            <p:nvPr/>
          </p:nvSpPr>
          <p:spPr>
            <a:xfrm>
              <a:off x="8038014" y="3404197"/>
              <a:ext cx="2655232" cy="646331"/>
            </a:xfrm>
            <a:prstGeom prst="rect">
              <a:avLst/>
            </a:prstGeom>
            <a:noFill/>
          </p:spPr>
          <p:txBody>
            <a:bodyPr wrap="square" rtlCol="0">
              <a:spAutoFit/>
            </a:bodyPr>
            <a:lstStyle/>
            <a:p>
              <a:pPr algn="l"/>
              <a:r>
                <a:rPr lang="en-US" dirty="0">
                  <a:latin typeface="Comic Sans MS" panose="030F0902030302020204" pitchFamily="66" charset="0"/>
                  <a:ea typeface="Helvetica Neue" panose="02000503000000020004" pitchFamily="2" charset="0"/>
                  <a:cs typeface="Helvetica Neue" panose="02000503000000020004" pitchFamily="2" charset="0"/>
                </a:rPr>
                <a:t>Access rights: </a:t>
              </a:r>
            </a:p>
            <a:p>
              <a:pPr algn="l"/>
              <a:r>
                <a:rPr lang="en-US" dirty="0">
                  <a:latin typeface="Comic Sans MS" panose="030F0902030302020204" pitchFamily="66" charset="0"/>
                  <a:ea typeface="Helvetica Neue" panose="02000503000000020004" pitchFamily="2" charset="0"/>
                  <a:cs typeface="Helvetica Neue" panose="02000503000000020004" pitchFamily="2" charset="0"/>
                </a:rPr>
                <a:t>read, write, execute, …</a:t>
              </a:r>
            </a:p>
          </p:txBody>
        </p:sp>
        <p:cxnSp>
          <p:nvCxnSpPr>
            <p:cNvPr id="70" name="Straight Arrow Connector 69">
              <a:extLst>
                <a:ext uri="{FF2B5EF4-FFF2-40B4-BE49-F238E27FC236}">
                  <a16:creationId xmlns:a16="http://schemas.microsoft.com/office/drawing/2014/main" id="{5D6BFBA5-FF2F-B741-BAE1-6411BE1B87A8}"/>
                </a:ext>
              </a:extLst>
            </p:cNvPr>
            <p:cNvCxnSpPr>
              <a:cxnSpLocks/>
            </p:cNvCxnSpPr>
            <p:nvPr/>
          </p:nvCxnSpPr>
          <p:spPr>
            <a:xfrm>
              <a:off x="8403739" y="3395173"/>
              <a:ext cx="1093942" cy="1"/>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72" name="Picture 71" descr="A close up of a logo&#10;&#10;Description automatically generated">
              <a:extLst>
                <a:ext uri="{FF2B5EF4-FFF2-40B4-BE49-F238E27FC236}">
                  <a16:creationId xmlns:a16="http://schemas.microsoft.com/office/drawing/2014/main" id="{70108A0D-32D7-9D45-AE26-33BF4788E6D3}"/>
                </a:ext>
              </a:extLst>
            </p:cNvPr>
            <p:cNvPicPr>
              <a:picLocks noChangeAspect="1"/>
            </p:cNvPicPr>
            <p:nvPr/>
          </p:nvPicPr>
          <p:blipFill>
            <a:blip r:embed="rId13"/>
            <a:stretch>
              <a:fillRect/>
            </a:stretch>
          </p:blipFill>
          <p:spPr>
            <a:xfrm>
              <a:off x="8568568" y="2138237"/>
              <a:ext cx="888879" cy="1135429"/>
            </a:xfrm>
            <a:prstGeom prst="rect">
              <a:avLst/>
            </a:prstGeom>
          </p:spPr>
        </p:pic>
      </p:grpSp>
      <p:sp>
        <p:nvSpPr>
          <p:cNvPr id="73" name="TextBox 72">
            <a:extLst>
              <a:ext uri="{FF2B5EF4-FFF2-40B4-BE49-F238E27FC236}">
                <a16:creationId xmlns:a16="http://schemas.microsoft.com/office/drawing/2014/main" id="{8105F6FC-6851-0348-9AAF-E78C1AAFED86}"/>
              </a:ext>
            </a:extLst>
          </p:cNvPr>
          <p:cNvSpPr txBox="1"/>
          <p:nvPr/>
        </p:nvSpPr>
        <p:spPr>
          <a:xfrm>
            <a:off x="10654650" y="607488"/>
            <a:ext cx="1121819" cy="369332"/>
          </a:xfrm>
          <a:prstGeom prst="rect">
            <a:avLst/>
          </a:prstGeom>
          <a:noFill/>
        </p:spPr>
        <p:txBody>
          <a:bodyPr wrap="square" rtlCol="0">
            <a:spAutoFit/>
          </a:bodyPr>
          <a:lstStyle/>
          <a:p>
            <a:pPr algn="l"/>
            <a:r>
              <a:rPr lang="en-US" dirty="0">
                <a:latin typeface="Comic Sans MS" panose="030F0902030302020204" pitchFamily="66" charset="0"/>
                <a:ea typeface="Helvetica Neue" panose="02000503000000020004" pitchFamily="2" charset="0"/>
                <a:cs typeface="Helvetica Neue" panose="02000503000000020004" pitchFamily="2" charset="0"/>
              </a:rPr>
              <a:t>Objects</a:t>
            </a:r>
          </a:p>
        </p:txBody>
      </p:sp>
      <p:sp>
        <p:nvSpPr>
          <p:cNvPr id="80" name="TextBox 79">
            <a:extLst>
              <a:ext uri="{FF2B5EF4-FFF2-40B4-BE49-F238E27FC236}">
                <a16:creationId xmlns:a16="http://schemas.microsoft.com/office/drawing/2014/main" id="{D13180AD-37AD-764F-A706-ECF6D9B63201}"/>
              </a:ext>
            </a:extLst>
          </p:cNvPr>
          <p:cNvSpPr txBox="1"/>
          <p:nvPr/>
        </p:nvSpPr>
        <p:spPr>
          <a:xfrm>
            <a:off x="1368198" y="5425385"/>
            <a:ext cx="10630727" cy="923330"/>
          </a:xfrm>
          <a:prstGeom prst="rect">
            <a:avLst/>
          </a:prstGeom>
          <a:noFill/>
        </p:spPr>
        <p:txBody>
          <a:bodyPr wrap="square" rtlCol="0">
            <a:spAutoFit/>
          </a:bodyPr>
          <a:lstStyle/>
          <a:p>
            <a:r>
              <a:rPr lang="en-US" altLang="en-US" dirty="0">
                <a:latin typeface="Comic Sans MS" panose="030F0902030302020204" pitchFamily="66" charset="0"/>
              </a:rPr>
              <a:t>The process of accurately determining the subject’s identity is called </a:t>
            </a:r>
            <a:r>
              <a:rPr lang="en-US" altLang="en-US" dirty="0">
                <a:solidFill>
                  <a:srgbClr val="C00000"/>
                </a:solidFill>
                <a:latin typeface="Comic Sans MS" panose="030F0902030302020204" pitchFamily="66" charset="0"/>
              </a:rPr>
              <a:t>authentication</a:t>
            </a:r>
          </a:p>
          <a:p>
            <a:r>
              <a:rPr lang="en-US" altLang="en-US" dirty="0">
                <a:latin typeface="Comic Sans MS" panose="030F0902030302020204" pitchFamily="66" charset="0"/>
              </a:rPr>
              <a:t>The process of specifying and controlling who (</a:t>
            </a:r>
            <a:r>
              <a:rPr lang="en-US" altLang="en-US" dirty="0">
                <a:solidFill>
                  <a:srgbClr val="C00000"/>
                </a:solidFill>
                <a:latin typeface="Comic Sans MS" panose="030F0902030302020204" pitchFamily="66" charset="0"/>
              </a:rPr>
              <a:t>which subjects</a:t>
            </a:r>
            <a:r>
              <a:rPr lang="en-US" altLang="en-US" dirty="0">
                <a:latin typeface="Comic Sans MS" panose="030F0902030302020204" pitchFamily="66" charset="0"/>
              </a:rPr>
              <a:t>) can access what (</a:t>
            </a:r>
            <a:r>
              <a:rPr lang="en-US" altLang="en-US" dirty="0">
                <a:solidFill>
                  <a:srgbClr val="C00000"/>
                </a:solidFill>
                <a:latin typeface="Comic Sans MS" panose="030F0902030302020204" pitchFamily="66" charset="0"/>
              </a:rPr>
              <a:t>which objects</a:t>
            </a:r>
            <a:r>
              <a:rPr lang="en-US" altLang="en-US" dirty="0">
                <a:latin typeface="Comic Sans MS" panose="030F0902030302020204" pitchFamily="66" charset="0"/>
              </a:rPr>
              <a:t>) and how (</a:t>
            </a:r>
            <a:r>
              <a:rPr lang="en-US" altLang="en-US" dirty="0">
                <a:solidFill>
                  <a:srgbClr val="C00000"/>
                </a:solidFill>
                <a:latin typeface="Comic Sans MS" panose="030F0902030302020204" pitchFamily="66" charset="0"/>
              </a:rPr>
              <a:t>by which means</a:t>
            </a:r>
            <a:r>
              <a:rPr lang="en-US" altLang="en-US" dirty="0">
                <a:latin typeface="Comic Sans MS" panose="030F0902030302020204" pitchFamily="66" charset="0"/>
              </a:rPr>
              <a:t>) is called </a:t>
            </a:r>
            <a:r>
              <a:rPr lang="en-US" altLang="en-US" dirty="0">
                <a:solidFill>
                  <a:srgbClr val="C00000"/>
                </a:solidFill>
                <a:latin typeface="Comic Sans MS" panose="030F0902030302020204" pitchFamily="66" charset="0"/>
              </a:rPr>
              <a:t>access control</a:t>
            </a:r>
          </a:p>
        </p:txBody>
      </p:sp>
      <p:pic>
        <p:nvPicPr>
          <p:cNvPr id="5" name="Picture 4" descr="A picture containing text, sign&#10;&#10;Description automatically generated">
            <a:extLst>
              <a:ext uri="{FF2B5EF4-FFF2-40B4-BE49-F238E27FC236}">
                <a16:creationId xmlns:a16="http://schemas.microsoft.com/office/drawing/2014/main" id="{42F7BC3B-2570-894D-BB71-ED9C02F84993}"/>
              </a:ext>
            </a:extLst>
          </p:cNvPr>
          <p:cNvPicPr>
            <a:picLocks noChangeAspect="1"/>
          </p:cNvPicPr>
          <p:nvPr/>
        </p:nvPicPr>
        <p:blipFill>
          <a:blip r:embed="rId14"/>
          <a:stretch>
            <a:fillRect/>
          </a:stretch>
        </p:blipFill>
        <p:spPr>
          <a:xfrm>
            <a:off x="6750123" y="4568552"/>
            <a:ext cx="732074" cy="732074"/>
          </a:xfrm>
          <a:prstGeom prst="rect">
            <a:avLst/>
          </a:prstGeom>
        </p:spPr>
      </p:pic>
      <p:pic>
        <p:nvPicPr>
          <p:cNvPr id="38" name="Picture 37" descr="A picture containing drawing&#10;&#10;Description automatically generated">
            <a:extLst>
              <a:ext uri="{FF2B5EF4-FFF2-40B4-BE49-F238E27FC236}">
                <a16:creationId xmlns:a16="http://schemas.microsoft.com/office/drawing/2014/main" id="{EDE51356-8873-B347-AE41-A9F658334C19}"/>
              </a:ext>
            </a:extLst>
          </p:cNvPr>
          <p:cNvPicPr>
            <a:picLocks noChangeAspect="1"/>
          </p:cNvPicPr>
          <p:nvPr/>
        </p:nvPicPr>
        <p:blipFill>
          <a:blip r:embed="rId6"/>
          <a:stretch>
            <a:fillRect/>
          </a:stretch>
        </p:blipFill>
        <p:spPr>
          <a:xfrm>
            <a:off x="10693246" y="4470098"/>
            <a:ext cx="945373" cy="887017"/>
          </a:xfrm>
          <a:prstGeom prst="rect">
            <a:avLst/>
          </a:prstGeom>
        </p:spPr>
      </p:pic>
    </p:spTree>
    <p:extLst>
      <p:ext uri="{BB962C8B-B14F-4D97-AF65-F5344CB8AC3E}">
        <p14:creationId xmlns:p14="http://schemas.microsoft.com/office/powerpoint/2010/main" val="4160577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82F146F-8DB6-4948-9AF9-3D3A838C5709}"/>
              </a:ext>
            </a:extLst>
          </p:cNvPr>
          <p:cNvSpPr>
            <a:spLocks noGrp="1"/>
          </p:cNvSpPr>
          <p:nvPr>
            <p:ph type="title"/>
          </p:nvPr>
        </p:nvSpPr>
        <p:spPr/>
        <p:txBody>
          <a:bodyPr/>
          <a:lstStyle/>
          <a:p>
            <a:r>
              <a:rPr lang="en-US" dirty="0"/>
              <a:t>Discretionary Access Control (DAC)</a:t>
            </a:r>
          </a:p>
        </p:txBody>
      </p:sp>
      <p:sp>
        <p:nvSpPr>
          <p:cNvPr id="6" name="Text Placeholder 5">
            <a:extLst>
              <a:ext uri="{FF2B5EF4-FFF2-40B4-BE49-F238E27FC236}">
                <a16:creationId xmlns:a16="http://schemas.microsoft.com/office/drawing/2014/main" id="{C577D9C4-6E66-3941-9C9A-D874838CA879}"/>
              </a:ext>
            </a:extLst>
          </p:cNvPr>
          <p:cNvSpPr>
            <a:spLocks noGrp="1"/>
          </p:cNvSpPr>
          <p:nvPr>
            <p:ph type="body" idx="10"/>
          </p:nvPr>
        </p:nvSpPr>
        <p:spPr/>
        <p:txBody>
          <a:bodyPr/>
          <a:lstStyle/>
          <a:p>
            <a:endParaRPr lang="en-US"/>
          </a:p>
        </p:txBody>
      </p:sp>
    </p:spTree>
    <p:extLst>
      <p:ext uri="{BB962C8B-B14F-4D97-AF65-F5344CB8AC3E}">
        <p14:creationId xmlns:p14="http://schemas.microsoft.com/office/powerpoint/2010/main" val="30942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p:txBody>
          <a:bodyPr/>
          <a:lstStyle/>
          <a:p>
            <a:r>
              <a:rPr lang="en-US" dirty="0"/>
              <a:t>Who is “Who” ?</a:t>
            </a:r>
          </a:p>
        </p:txBody>
      </p:sp>
      <p:sp>
        <p:nvSpPr>
          <p:cNvPr id="4" name="Text Placeholder 3">
            <a:extLst>
              <a:ext uri="{FF2B5EF4-FFF2-40B4-BE49-F238E27FC236}">
                <a16:creationId xmlns:a16="http://schemas.microsoft.com/office/drawing/2014/main" id="{8B885785-FF6A-F84D-8DD7-C7588414783B}"/>
              </a:ext>
            </a:extLst>
          </p:cNvPr>
          <p:cNvSpPr>
            <a:spLocks noGrp="1"/>
          </p:cNvSpPr>
          <p:nvPr>
            <p:ph type="body" idx="11"/>
          </p:nvPr>
        </p:nvSpPr>
        <p:spPr/>
        <p:txBody>
          <a:bodyPr/>
          <a:lstStyle/>
          <a:p>
            <a:endParaRPr lang="en-US"/>
          </a:p>
        </p:txBody>
      </p:sp>
      <p:sp>
        <p:nvSpPr>
          <p:cNvPr id="340995" name="Rectangle 3"/>
          <p:cNvSpPr>
            <a:spLocks noGrp="1" noChangeArrowheads="1"/>
          </p:cNvSpPr>
          <p:nvPr>
            <p:ph idx="1"/>
          </p:nvPr>
        </p:nvSpPr>
        <p:spPr>
          <a:xfrm>
            <a:off x="513349" y="1268243"/>
            <a:ext cx="10840451" cy="735237"/>
          </a:xfrm>
        </p:spPr>
        <p:txBody>
          <a:bodyPr/>
          <a:lstStyle/>
          <a:p>
            <a:r>
              <a:rPr lang="en-US" dirty="0"/>
              <a:t>Access control deals with programs running on behalf users.</a:t>
            </a:r>
          </a:p>
        </p:txBody>
      </p:sp>
      <p:grpSp>
        <p:nvGrpSpPr>
          <p:cNvPr id="5" name="Group 4">
            <a:extLst>
              <a:ext uri="{FF2B5EF4-FFF2-40B4-BE49-F238E27FC236}">
                <a16:creationId xmlns:a16="http://schemas.microsoft.com/office/drawing/2014/main" id="{28D19B9E-5564-AC48-9D29-5DCFB9DA5E94}"/>
              </a:ext>
            </a:extLst>
          </p:cNvPr>
          <p:cNvGrpSpPr/>
          <p:nvPr/>
        </p:nvGrpSpPr>
        <p:grpSpPr>
          <a:xfrm>
            <a:off x="1923802" y="2003480"/>
            <a:ext cx="7410784" cy="4191000"/>
            <a:chOff x="1828800" y="2438400"/>
            <a:chExt cx="7410784" cy="4191000"/>
          </a:xfrm>
        </p:grpSpPr>
        <p:sp>
          <p:nvSpPr>
            <p:cNvPr id="84" name="Line 4">
              <a:extLst>
                <a:ext uri="{FF2B5EF4-FFF2-40B4-BE49-F238E27FC236}">
                  <a16:creationId xmlns:a16="http://schemas.microsoft.com/office/drawing/2014/main" id="{D8CE212B-90EA-9641-BE88-F2BF277259A6}"/>
                </a:ext>
              </a:extLst>
            </p:cNvPr>
            <p:cNvSpPr>
              <a:spLocks noChangeShapeType="1"/>
            </p:cNvSpPr>
            <p:nvPr/>
          </p:nvSpPr>
          <p:spPr bwMode="auto">
            <a:xfrm flipV="1">
              <a:off x="3886200" y="3429000"/>
              <a:ext cx="2057400" cy="9144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5" name="Line 7">
              <a:extLst>
                <a:ext uri="{FF2B5EF4-FFF2-40B4-BE49-F238E27FC236}">
                  <a16:creationId xmlns:a16="http://schemas.microsoft.com/office/drawing/2014/main" id="{9D9A0168-F13F-AD46-A07C-89C86FA2326A}"/>
                </a:ext>
              </a:extLst>
            </p:cNvPr>
            <p:cNvSpPr>
              <a:spLocks noChangeShapeType="1"/>
            </p:cNvSpPr>
            <p:nvPr/>
          </p:nvSpPr>
          <p:spPr bwMode="auto">
            <a:xfrm>
              <a:off x="3886200" y="4343400"/>
              <a:ext cx="1981200" cy="9144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6" name="Line 9">
              <a:extLst>
                <a:ext uri="{FF2B5EF4-FFF2-40B4-BE49-F238E27FC236}">
                  <a16:creationId xmlns:a16="http://schemas.microsoft.com/office/drawing/2014/main" id="{B54F5EE8-5E29-3846-A2B1-F44B2031AA8C}"/>
                </a:ext>
              </a:extLst>
            </p:cNvPr>
            <p:cNvSpPr>
              <a:spLocks noChangeShapeType="1"/>
            </p:cNvSpPr>
            <p:nvPr/>
          </p:nvSpPr>
          <p:spPr bwMode="auto">
            <a:xfrm>
              <a:off x="3886200" y="4343400"/>
              <a:ext cx="20574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7" name="Line 13">
              <a:extLst>
                <a:ext uri="{FF2B5EF4-FFF2-40B4-BE49-F238E27FC236}">
                  <a16:creationId xmlns:a16="http://schemas.microsoft.com/office/drawing/2014/main" id="{FD91099D-BC72-A041-81C6-EFEA785E1C8B}"/>
                </a:ext>
              </a:extLst>
            </p:cNvPr>
            <p:cNvSpPr>
              <a:spLocks noChangeShapeType="1"/>
            </p:cNvSpPr>
            <p:nvPr/>
          </p:nvSpPr>
          <p:spPr bwMode="auto">
            <a:xfrm flipV="1">
              <a:off x="6019800" y="3962400"/>
              <a:ext cx="1676400" cy="3810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8" name="Line 14">
              <a:extLst>
                <a:ext uri="{FF2B5EF4-FFF2-40B4-BE49-F238E27FC236}">
                  <a16:creationId xmlns:a16="http://schemas.microsoft.com/office/drawing/2014/main" id="{B9A5613B-40DC-1944-90C8-DE9E035CA0EF}"/>
                </a:ext>
              </a:extLst>
            </p:cNvPr>
            <p:cNvSpPr>
              <a:spLocks noChangeShapeType="1"/>
            </p:cNvSpPr>
            <p:nvPr/>
          </p:nvSpPr>
          <p:spPr bwMode="auto">
            <a:xfrm>
              <a:off x="6019800" y="4343400"/>
              <a:ext cx="17526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9" name="Line 15">
              <a:extLst>
                <a:ext uri="{FF2B5EF4-FFF2-40B4-BE49-F238E27FC236}">
                  <a16:creationId xmlns:a16="http://schemas.microsoft.com/office/drawing/2014/main" id="{5CDF724A-FD36-5F48-AAF1-8E2013EDB0F5}"/>
                </a:ext>
              </a:extLst>
            </p:cNvPr>
            <p:cNvSpPr>
              <a:spLocks noChangeShapeType="1"/>
            </p:cNvSpPr>
            <p:nvPr/>
          </p:nvSpPr>
          <p:spPr bwMode="auto">
            <a:xfrm>
              <a:off x="6019800" y="4343400"/>
              <a:ext cx="1676400" cy="3810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0" name="Line 16">
              <a:extLst>
                <a:ext uri="{FF2B5EF4-FFF2-40B4-BE49-F238E27FC236}">
                  <a16:creationId xmlns:a16="http://schemas.microsoft.com/office/drawing/2014/main" id="{6307A3FE-36BB-ED47-A1B5-1AD43790F3D7}"/>
                </a:ext>
              </a:extLst>
            </p:cNvPr>
            <p:cNvSpPr>
              <a:spLocks noChangeShapeType="1"/>
            </p:cNvSpPr>
            <p:nvPr/>
          </p:nvSpPr>
          <p:spPr bwMode="auto">
            <a:xfrm flipV="1">
              <a:off x="5943600" y="4953000"/>
              <a:ext cx="1752600" cy="3048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1" name="Line 17">
              <a:extLst>
                <a:ext uri="{FF2B5EF4-FFF2-40B4-BE49-F238E27FC236}">
                  <a16:creationId xmlns:a16="http://schemas.microsoft.com/office/drawing/2014/main" id="{3BE15994-FD0B-5348-B5DF-D6C1F41DB223}"/>
                </a:ext>
              </a:extLst>
            </p:cNvPr>
            <p:cNvSpPr>
              <a:spLocks noChangeShapeType="1"/>
            </p:cNvSpPr>
            <p:nvPr/>
          </p:nvSpPr>
          <p:spPr bwMode="auto">
            <a:xfrm flipV="1">
              <a:off x="5943600" y="5181600"/>
              <a:ext cx="1828800" cy="762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2" name="Line 18">
              <a:extLst>
                <a:ext uri="{FF2B5EF4-FFF2-40B4-BE49-F238E27FC236}">
                  <a16:creationId xmlns:a16="http://schemas.microsoft.com/office/drawing/2014/main" id="{87003086-044B-6747-8CF6-E3740603FEF4}"/>
                </a:ext>
              </a:extLst>
            </p:cNvPr>
            <p:cNvSpPr>
              <a:spLocks noChangeShapeType="1"/>
            </p:cNvSpPr>
            <p:nvPr/>
          </p:nvSpPr>
          <p:spPr bwMode="auto">
            <a:xfrm>
              <a:off x="5943600" y="5257800"/>
              <a:ext cx="1828800" cy="2286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3" name="Line 19">
              <a:extLst>
                <a:ext uri="{FF2B5EF4-FFF2-40B4-BE49-F238E27FC236}">
                  <a16:creationId xmlns:a16="http://schemas.microsoft.com/office/drawing/2014/main" id="{9036C3AC-AD79-6D49-8EE8-C73140B696CA}"/>
                </a:ext>
              </a:extLst>
            </p:cNvPr>
            <p:cNvSpPr>
              <a:spLocks noChangeShapeType="1"/>
            </p:cNvSpPr>
            <p:nvPr/>
          </p:nvSpPr>
          <p:spPr bwMode="auto">
            <a:xfrm>
              <a:off x="5943600" y="5257800"/>
              <a:ext cx="1752600" cy="5334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4" name="Line 20">
              <a:extLst>
                <a:ext uri="{FF2B5EF4-FFF2-40B4-BE49-F238E27FC236}">
                  <a16:creationId xmlns:a16="http://schemas.microsoft.com/office/drawing/2014/main" id="{F8A5EE84-BA62-AC4E-92F2-51D6CB256128}"/>
                </a:ext>
              </a:extLst>
            </p:cNvPr>
            <p:cNvSpPr>
              <a:spLocks noChangeShapeType="1"/>
            </p:cNvSpPr>
            <p:nvPr/>
          </p:nvSpPr>
          <p:spPr bwMode="auto">
            <a:xfrm flipV="1">
              <a:off x="6019800" y="3048000"/>
              <a:ext cx="1600200" cy="3810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5" name="Line 21">
              <a:extLst>
                <a:ext uri="{FF2B5EF4-FFF2-40B4-BE49-F238E27FC236}">
                  <a16:creationId xmlns:a16="http://schemas.microsoft.com/office/drawing/2014/main" id="{240A04C0-2C85-8745-8583-89AB1D37D077}"/>
                </a:ext>
              </a:extLst>
            </p:cNvPr>
            <p:cNvSpPr>
              <a:spLocks noChangeShapeType="1"/>
            </p:cNvSpPr>
            <p:nvPr/>
          </p:nvSpPr>
          <p:spPr bwMode="auto">
            <a:xfrm>
              <a:off x="6019800" y="3429000"/>
              <a:ext cx="1600200" cy="1524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6" name="Oval 32">
              <a:extLst>
                <a:ext uri="{FF2B5EF4-FFF2-40B4-BE49-F238E27FC236}">
                  <a16:creationId xmlns:a16="http://schemas.microsoft.com/office/drawing/2014/main" id="{89EF6C0A-BB06-7147-B028-A4E90E6DECF7}"/>
                </a:ext>
              </a:extLst>
            </p:cNvPr>
            <p:cNvSpPr>
              <a:spLocks noChangeArrowheads="1"/>
            </p:cNvSpPr>
            <p:nvPr/>
          </p:nvSpPr>
          <p:spPr bwMode="auto">
            <a:xfrm flipV="1">
              <a:off x="3810000" y="42672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7" name="Oval 33">
              <a:extLst>
                <a:ext uri="{FF2B5EF4-FFF2-40B4-BE49-F238E27FC236}">
                  <a16:creationId xmlns:a16="http://schemas.microsoft.com/office/drawing/2014/main" id="{8C62B18B-14B4-0843-972E-27457E5802C5}"/>
                </a:ext>
              </a:extLst>
            </p:cNvPr>
            <p:cNvSpPr>
              <a:spLocks noChangeArrowheads="1"/>
            </p:cNvSpPr>
            <p:nvPr/>
          </p:nvSpPr>
          <p:spPr bwMode="auto">
            <a:xfrm flipV="1">
              <a:off x="7772400" y="42672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8" name="Oval 34">
              <a:extLst>
                <a:ext uri="{FF2B5EF4-FFF2-40B4-BE49-F238E27FC236}">
                  <a16:creationId xmlns:a16="http://schemas.microsoft.com/office/drawing/2014/main" id="{2F5D99A4-E293-B946-B3A5-E872B3E05843}"/>
                </a:ext>
              </a:extLst>
            </p:cNvPr>
            <p:cNvSpPr>
              <a:spLocks noChangeArrowheads="1"/>
            </p:cNvSpPr>
            <p:nvPr/>
          </p:nvSpPr>
          <p:spPr bwMode="auto">
            <a:xfrm flipV="1">
              <a:off x="7696200" y="38862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9" name="Oval 35">
              <a:extLst>
                <a:ext uri="{FF2B5EF4-FFF2-40B4-BE49-F238E27FC236}">
                  <a16:creationId xmlns:a16="http://schemas.microsoft.com/office/drawing/2014/main" id="{21F7F085-216F-6D47-8406-F5499AA8F753}"/>
                </a:ext>
              </a:extLst>
            </p:cNvPr>
            <p:cNvSpPr>
              <a:spLocks noChangeArrowheads="1"/>
            </p:cNvSpPr>
            <p:nvPr/>
          </p:nvSpPr>
          <p:spPr bwMode="auto">
            <a:xfrm flipV="1">
              <a:off x="7620000" y="35052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00" name="Oval 36">
              <a:extLst>
                <a:ext uri="{FF2B5EF4-FFF2-40B4-BE49-F238E27FC236}">
                  <a16:creationId xmlns:a16="http://schemas.microsoft.com/office/drawing/2014/main" id="{7DB93394-1542-814B-9AE9-CA72D378A938}"/>
                </a:ext>
              </a:extLst>
            </p:cNvPr>
            <p:cNvSpPr>
              <a:spLocks noChangeArrowheads="1"/>
            </p:cNvSpPr>
            <p:nvPr/>
          </p:nvSpPr>
          <p:spPr bwMode="auto">
            <a:xfrm flipV="1">
              <a:off x="7620000" y="29718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01" name="Oval 37">
              <a:extLst>
                <a:ext uri="{FF2B5EF4-FFF2-40B4-BE49-F238E27FC236}">
                  <a16:creationId xmlns:a16="http://schemas.microsoft.com/office/drawing/2014/main" id="{95FE8A2E-6DEF-424E-BC17-D6E95874C1A7}"/>
                </a:ext>
              </a:extLst>
            </p:cNvPr>
            <p:cNvSpPr>
              <a:spLocks noChangeArrowheads="1"/>
            </p:cNvSpPr>
            <p:nvPr/>
          </p:nvSpPr>
          <p:spPr bwMode="auto">
            <a:xfrm flipV="1">
              <a:off x="5867400" y="51816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02" name="Oval 38">
              <a:extLst>
                <a:ext uri="{FF2B5EF4-FFF2-40B4-BE49-F238E27FC236}">
                  <a16:creationId xmlns:a16="http://schemas.microsoft.com/office/drawing/2014/main" id="{C1E33620-287E-E346-8669-2D4958079CFF}"/>
                </a:ext>
              </a:extLst>
            </p:cNvPr>
            <p:cNvSpPr>
              <a:spLocks noChangeArrowheads="1"/>
            </p:cNvSpPr>
            <p:nvPr/>
          </p:nvSpPr>
          <p:spPr bwMode="auto">
            <a:xfrm flipV="1">
              <a:off x="5943600" y="42672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03" name="Oval 39">
              <a:extLst>
                <a:ext uri="{FF2B5EF4-FFF2-40B4-BE49-F238E27FC236}">
                  <a16:creationId xmlns:a16="http://schemas.microsoft.com/office/drawing/2014/main" id="{4258EDBC-59C6-DD4A-A5F7-3255E4C41C17}"/>
                </a:ext>
              </a:extLst>
            </p:cNvPr>
            <p:cNvSpPr>
              <a:spLocks noChangeArrowheads="1"/>
            </p:cNvSpPr>
            <p:nvPr/>
          </p:nvSpPr>
          <p:spPr bwMode="auto">
            <a:xfrm flipV="1">
              <a:off x="5943600" y="33528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04" name="Oval 40">
              <a:extLst>
                <a:ext uri="{FF2B5EF4-FFF2-40B4-BE49-F238E27FC236}">
                  <a16:creationId xmlns:a16="http://schemas.microsoft.com/office/drawing/2014/main" id="{AFE9DC4D-7C71-0F4E-8ABA-6178641E67B8}"/>
                </a:ext>
              </a:extLst>
            </p:cNvPr>
            <p:cNvSpPr>
              <a:spLocks noChangeArrowheads="1"/>
            </p:cNvSpPr>
            <p:nvPr/>
          </p:nvSpPr>
          <p:spPr bwMode="auto">
            <a:xfrm flipV="1">
              <a:off x="7772400" y="54102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05" name="Oval 41">
              <a:extLst>
                <a:ext uri="{FF2B5EF4-FFF2-40B4-BE49-F238E27FC236}">
                  <a16:creationId xmlns:a16="http://schemas.microsoft.com/office/drawing/2014/main" id="{1D2C24E2-6AD7-024E-8273-F01DCFB13FE3}"/>
                </a:ext>
              </a:extLst>
            </p:cNvPr>
            <p:cNvSpPr>
              <a:spLocks noChangeArrowheads="1"/>
            </p:cNvSpPr>
            <p:nvPr/>
          </p:nvSpPr>
          <p:spPr bwMode="auto">
            <a:xfrm flipV="1">
              <a:off x="7772400" y="51054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06" name="Oval 42">
              <a:extLst>
                <a:ext uri="{FF2B5EF4-FFF2-40B4-BE49-F238E27FC236}">
                  <a16:creationId xmlns:a16="http://schemas.microsoft.com/office/drawing/2014/main" id="{FDC195A2-304E-6F4E-BC30-4AB4EC68F6A3}"/>
                </a:ext>
              </a:extLst>
            </p:cNvPr>
            <p:cNvSpPr>
              <a:spLocks noChangeArrowheads="1"/>
            </p:cNvSpPr>
            <p:nvPr/>
          </p:nvSpPr>
          <p:spPr bwMode="auto">
            <a:xfrm flipV="1">
              <a:off x="7696200" y="48768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07" name="Oval 43">
              <a:extLst>
                <a:ext uri="{FF2B5EF4-FFF2-40B4-BE49-F238E27FC236}">
                  <a16:creationId xmlns:a16="http://schemas.microsoft.com/office/drawing/2014/main" id="{E3394341-562A-EE46-8FAF-87414FCE62BF}"/>
                </a:ext>
              </a:extLst>
            </p:cNvPr>
            <p:cNvSpPr>
              <a:spLocks noChangeArrowheads="1"/>
            </p:cNvSpPr>
            <p:nvPr/>
          </p:nvSpPr>
          <p:spPr bwMode="auto">
            <a:xfrm flipV="1">
              <a:off x="7696200" y="46482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08" name="Oval 44">
              <a:extLst>
                <a:ext uri="{FF2B5EF4-FFF2-40B4-BE49-F238E27FC236}">
                  <a16:creationId xmlns:a16="http://schemas.microsoft.com/office/drawing/2014/main" id="{AC063DAC-1B9F-FE45-922E-8334DADF5225}"/>
                </a:ext>
              </a:extLst>
            </p:cNvPr>
            <p:cNvSpPr>
              <a:spLocks noChangeArrowheads="1"/>
            </p:cNvSpPr>
            <p:nvPr/>
          </p:nvSpPr>
          <p:spPr bwMode="auto">
            <a:xfrm flipV="1">
              <a:off x="7696200" y="57150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09" name="Oval 45">
              <a:extLst>
                <a:ext uri="{FF2B5EF4-FFF2-40B4-BE49-F238E27FC236}">
                  <a16:creationId xmlns:a16="http://schemas.microsoft.com/office/drawing/2014/main" id="{0720D9E5-2C1C-C04F-AD14-57BAFF900408}"/>
                </a:ext>
              </a:extLst>
            </p:cNvPr>
            <p:cNvSpPr>
              <a:spLocks noChangeArrowheads="1"/>
            </p:cNvSpPr>
            <p:nvPr/>
          </p:nvSpPr>
          <p:spPr bwMode="auto">
            <a:xfrm>
              <a:off x="5715000" y="2971800"/>
              <a:ext cx="457200" cy="2819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10" name="Oval 46">
              <a:extLst>
                <a:ext uri="{FF2B5EF4-FFF2-40B4-BE49-F238E27FC236}">
                  <a16:creationId xmlns:a16="http://schemas.microsoft.com/office/drawing/2014/main" id="{ED6AF608-A1DE-6C4B-958B-8C9E1BA6A470}"/>
                </a:ext>
              </a:extLst>
            </p:cNvPr>
            <p:cNvSpPr>
              <a:spLocks noChangeArrowheads="1"/>
            </p:cNvSpPr>
            <p:nvPr/>
          </p:nvSpPr>
          <p:spPr bwMode="auto">
            <a:xfrm>
              <a:off x="7315200" y="2438400"/>
              <a:ext cx="838200" cy="38100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11" name="Text Box 47">
              <a:extLst>
                <a:ext uri="{FF2B5EF4-FFF2-40B4-BE49-F238E27FC236}">
                  <a16:creationId xmlns:a16="http://schemas.microsoft.com/office/drawing/2014/main" id="{25DDD847-1F00-1549-8A06-888A9C96165A}"/>
                </a:ext>
              </a:extLst>
            </p:cNvPr>
            <p:cNvSpPr txBox="1">
              <a:spLocks noChangeArrowheads="1"/>
            </p:cNvSpPr>
            <p:nvPr/>
          </p:nvSpPr>
          <p:spPr bwMode="auto">
            <a:xfrm>
              <a:off x="3505200" y="4343400"/>
              <a:ext cx="8382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user</a:t>
              </a:r>
            </a:p>
          </p:txBody>
        </p:sp>
        <p:sp>
          <p:nvSpPr>
            <p:cNvPr id="112" name="Text Box 48">
              <a:extLst>
                <a:ext uri="{FF2B5EF4-FFF2-40B4-BE49-F238E27FC236}">
                  <a16:creationId xmlns:a16="http://schemas.microsoft.com/office/drawing/2014/main" id="{834CFA2E-A7BF-5B48-A831-12AEF74D0B29}"/>
                </a:ext>
              </a:extLst>
            </p:cNvPr>
            <p:cNvSpPr txBox="1">
              <a:spLocks noChangeArrowheads="1"/>
            </p:cNvSpPr>
            <p:nvPr/>
          </p:nvSpPr>
          <p:spPr bwMode="auto">
            <a:xfrm>
              <a:off x="5181600" y="5715000"/>
              <a:ext cx="15240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principals</a:t>
              </a:r>
            </a:p>
          </p:txBody>
        </p:sp>
        <p:sp>
          <p:nvSpPr>
            <p:cNvPr id="113" name="Text Box 49">
              <a:extLst>
                <a:ext uri="{FF2B5EF4-FFF2-40B4-BE49-F238E27FC236}">
                  <a16:creationId xmlns:a16="http://schemas.microsoft.com/office/drawing/2014/main" id="{A2E6FBD6-A21C-8C4D-A246-A4ED5CCD8F34}"/>
                </a:ext>
              </a:extLst>
            </p:cNvPr>
            <p:cNvSpPr txBox="1">
              <a:spLocks noChangeArrowheads="1"/>
            </p:cNvSpPr>
            <p:nvPr/>
          </p:nvSpPr>
          <p:spPr bwMode="auto">
            <a:xfrm>
              <a:off x="7162800" y="6172200"/>
              <a:ext cx="12192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subjects</a:t>
              </a:r>
            </a:p>
          </p:txBody>
        </p:sp>
        <p:sp>
          <p:nvSpPr>
            <p:cNvPr id="114" name="TextBox 113">
              <a:extLst>
                <a:ext uri="{FF2B5EF4-FFF2-40B4-BE49-F238E27FC236}">
                  <a16:creationId xmlns:a16="http://schemas.microsoft.com/office/drawing/2014/main" id="{E9739F94-61D5-9B4B-956D-A1CE87013DCF}"/>
                </a:ext>
              </a:extLst>
            </p:cNvPr>
            <p:cNvSpPr txBox="1"/>
            <p:nvPr/>
          </p:nvSpPr>
          <p:spPr>
            <a:xfrm>
              <a:off x="1828800" y="4191000"/>
              <a:ext cx="1676400" cy="400110"/>
            </a:xfrm>
            <a:prstGeom prst="rect">
              <a:avLst/>
            </a:prstGeom>
            <a:gradFill rotWithShape="1">
              <a:gsLst>
                <a:gs pos="0">
                  <a:srgbClr val="333399">
                    <a:shade val="51000"/>
                    <a:satMod val="130000"/>
                  </a:srgbClr>
                </a:gs>
                <a:gs pos="80000">
                  <a:srgbClr val="333399">
                    <a:shade val="93000"/>
                    <a:satMod val="130000"/>
                  </a:srgbClr>
                </a:gs>
                <a:gs pos="100000">
                  <a:srgbClr val="333399">
                    <a:shade val="94000"/>
                    <a:satMod val="135000"/>
                  </a:srgbClr>
                </a:gs>
              </a:gsLst>
              <a:lin ang="16200000" scaled="0"/>
            </a:gradFill>
            <a:ln w="9525" cap="flat" cmpd="sng" algn="ctr">
              <a:solidFill>
                <a:srgbClr val="333399">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rial"/>
                  <a:ea typeface="+mn-ea"/>
                  <a:cs typeface="+mn-cs"/>
                </a:rPr>
                <a:t>(Prof. Pang)</a:t>
              </a:r>
            </a:p>
          </p:txBody>
        </p:sp>
        <p:grpSp>
          <p:nvGrpSpPr>
            <p:cNvPr id="115" name="Group 114">
              <a:extLst>
                <a:ext uri="{FF2B5EF4-FFF2-40B4-BE49-F238E27FC236}">
                  <a16:creationId xmlns:a16="http://schemas.microsoft.com/office/drawing/2014/main" id="{E4DB039D-73F2-984B-A8EB-54E4EE6C3FBE}"/>
                </a:ext>
              </a:extLst>
            </p:cNvPr>
            <p:cNvGrpSpPr/>
            <p:nvPr/>
          </p:nvGrpSpPr>
          <p:grpSpPr>
            <a:xfrm>
              <a:off x="3810000" y="3124200"/>
              <a:ext cx="1706857" cy="2381310"/>
              <a:chOff x="2590800" y="3124200"/>
              <a:chExt cx="1706857" cy="2381310"/>
            </a:xfrm>
          </p:grpSpPr>
          <p:sp>
            <p:nvSpPr>
              <p:cNvPr id="116" name="TextBox 115">
                <a:extLst>
                  <a:ext uri="{FF2B5EF4-FFF2-40B4-BE49-F238E27FC236}">
                    <a16:creationId xmlns:a16="http://schemas.microsoft.com/office/drawing/2014/main" id="{C68ADC13-8726-4440-8AF8-C664AC3B24BD}"/>
                  </a:ext>
                </a:extLst>
              </p:cNvPr>
              <p:cNvSpPr txBox="1"/>
              <p:nvPr/>
            </p:nvSpPr>
            <p:spPr>
              <a:xfrm>
                <a:off x="3223324" y="3124200"/>
                <a:ext cx="1074333" cy="461665"/>
              </a:xfrm>
              <a:prstGeom prst="rect">
                <a:avLst/>
              </a:prstGeom>
              <a:gradFill rotWithShape="1">
                <a:gsLst>
                  <a:gs pos="0">
                    <a:srgbClr val="BBE0E3">
                      <a:tint val="50000"/>
                      <a:satMod val="300000"/>
                    </a:srgbClr>
                  </a:gs>
                  <a:gs pos="35000">
                    <a:srgbClr val="BBE0E3">
                      <a:tint val="37000"/>
                      <a:satMod val="300000"/>
                    </a:srgbClr>
                  </a:gs>
                  <a:gs pos="100000">
                    <a:srgbClr val="BBE0E3">
                      <a:tint val="15000"/>
                      <a:satMod val="350000"/>
                    </a:srgbClr>
                  </a:gs>
                </a:gsLst>
                <a:lin ang="16200000" scaled="1"/>
              </a:gradFill>
              <a:ln w="9525" cap="flat" cmpd="sng" algn="ctr">
                <a:solidFill>
                  <a:srgbClr val="BBE0E3">
                    <a:shade val="95000"/>
                    <a:satMod val="105000"/>
                  </a:srgbClr>
                </a:solidFill>
                <a:prstDash val="solid"/>
              </a:ln>
              <a:effectLst>
                <a:outerShdw blurRad="40000" dist="20000" dir="5400000" rotWithShape="0">
                  <a:srgbClr val="000000">
                    <a:alpha val="38000"/>
                  </a:srgbClr>
                </a:outerShdw>
              </a:effectLst>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ea typeface="+mn-ea"/>
                    <a:cs typeface="+mn-cs"/>
                  </a:rPr>
                  <a:t>faculty</a:t>
                </a:r>
              </a:p>
            </p:txBody>
          </p:sp>
          <p:sp>
            <p:nvSpPr>
              <p:cNvPr id="117" name="TextBox 116">
                <a:extLst>
                  <a:ext uri="{FF2B5EF4-FFF2-40B4-BE49-F238E27FC236}">
                    <a16:creationId xmlns:a16="http://schemas.microsoft.com/office/drawing/2014/main" id="{D0E44CF4-F52C-4943-A228-D1BF124E63EE}"/>
                  </a:ext>
                </a:extLst>
              </p:cNvPr>
              <p:cNvSpPr txBox="1"/>
              <p:nvPr/>
            </p:nvSpPr>
            <p:spPr>
              <a:xfrm>
                <a:off x="2590800" y="5105400"/>
                <a:ext cx="1468672" cy="400110"/>
              </a:xfrm>
              <a:prstGeom prst="rect">
                <a:avLst/>
              </a:prstGeom>
              <a:gradFill rotWithShape="1">
                <a:gsLst>
                  <a:gs pos="0">
                    <a:srgbClr val="BBE0E3">
                      <a:tint val="50000"/>
                      <a:satMod val="300000"/>
                    </a:srgbClr>
                  </a:gs>
                  <a:gs pos="35000">
                    <a:srgbClr val="BBE0E3">
                      <a:tint val="37000"/>
                      <a:satMod val="300000"/>
                    </a:srgbClr>
                  </a:gs>
                  <a:gs pos="100000">
                    <a:srgbClr val="BBE0E3">
                      <a:tint val="15000"/>
                      <a:satMod val="350000"/>
                    </a:srgbClr>
                  </a:gs>
                </a:gsLst>
                <a:lin ang="16200000" scaled="1"/>
              </a:gradFill>
              <a:ln w="9525" cap="flat" cmpd="sng" algn="ctr">
                <a:solidFill>
                  <a:srgbClr val="BBE0E3">
                    <a:shade val="95000"/>
                    <a:satMod val="105000"/>
                  </a:srgbClr>
                </a:solidFill>
                <a:prstDash val="solid"/>
              </a:ln>
              <a:effectLst>
                <a:outerShdw blurRad="40000" dist="20000" dir="5400000" rotWithShape="0">
                  <a:srgbClr val="000000">
                    <a:alpha val="38000"/>
                  </a:srgbClr>
                </a:outerShdw>
              </a:effectLst>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a:ea typeface="+mn-ea"/>
                    <a:cs typeface="+mn-cs"/>
                  </a:rPr>
                  <a:t>SCIS Dean</a:t>
                </a:r>
              </a:p>
            </p:txBody>
          </p:sp>
        </p:grpSp>
        <p:grpSp>
          <p:nvGrpSpPr>
            <p:cNvPr id="118" name="Group 117">
              <a:extLst>
                <a:ext uri="{FF2B5EF4-FFF2-40B4-BE49-F238E27FC236}">
                  <a16:creationId xmlns:a16="http://schemas.microsoft.com/office/drawing/2014/main" id="{CE6294F1-0E62-844B-A399-A360B3E00ECA}"/>
                </a:ext>
              </a:extLst>
            </p:cNvPr>
            <p:cNvGrpSpPr/>
            <p:nvPr/>
          </p:nvGrpSpPr>
          <p:grpSpPr>
            <a:xfrm>
              <a:off x="7772400" y="2667001"/>
              <a:ext cx="1467184" cy="2595265"/>
              <a:chOff x="6248400" y="2667000"/>
              <a:chExt cx="1467184" cy="2595265"/>
            </a:xfrm>
          </p:grpSpPr>
          <p:sp>
            <p:nvSpPr>
              <p:cNvPr id="119" name="TextBox 118">
                <a:extLst>
                  <a:ext uri="{FF2B5EF4-FFF2-40B4-BE49-F238E27FC236}">
                    <a16:creationId xmlns:a16="http://schemas.microsoft.com/office/drawing/2014/main" id="{A198228C-6DE6-9D47-9BBA-9F26616BE183}"/>
                  </a:ext>
                </a:extLst>
              </p:cNvPr>
              <p:cNvSpPr txBox="1"/>
              <p:nvPr/>
            </p:nvSpPr>
            <p:spPr>
              <a:xfrm>
                <a:off x="6248400" y="2667000"/>
                <a:ext cx="1314784" cy="461665"/>
              </a:xfrm>
              <a:prstGeom prst="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ln>
              <a:effectLst>
                <a:outerShdw blurRad="40000" dist="20000" dir="5400000" rotWithShape="0">
                  <a:srgbClr val="000000">
                    <a:alpha val="38000"/>
                  </a:srgbClr>
                </a:outerShdw>
              </a:effectLst>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ea typeface="+mn-ea"/>
                    <a:cs typeface="+mn-cs"/>
                  </a:rPr>
                  <a:t>Browser</a:t>
                </a:r>
              </a:p>
            </p:txBody>
          </p:sp>
          <p:sp>
            <p:nvSpPr>
              <p:cNvPr id="120" name="TextBox 119">
                <a:extLst>
                  <a:ext uri="{FF2B5EF4-FFF2-40B4-BE49-F238E27FC236}">
                    <a16:creationId xmlns:a16="http://schemas.microsoft.com/office/drawing/2014/main" id="{A761B143-63D9-0C4A-AF8F-34AF5CF383EE}"/>
                  </a:ext>
                </a:extLst>
              </p:cNvPr>
              <p:cNvSpPr txBox="1"/>
              <p:nvPr/>
            </p:nvSpPr>
            <p:spPr>
              <a:xfrm>
                <a:off x="6248400" y="3352800"/>
                <a:ext cx="800219" cy="461665"/>
              </a:xfrm>
              <a:prstGeom prst="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ln>
              <a:effectLst>
                <a:outerShdw blurRad="40000" dist="20000" dir="5400000" rotWithShape="0">
                  <a:srgbClr val="000000">
                    <a:alpha val="38000"/>
                  </a:srgbClr>
                </a:outerShdw>
              </a:effectLst>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ea typeface="+mn-ea"/>
                    <a:cs typeface="+mn-cs"/>
                  </a:rPr>
                  <a:t>SAP</a:t>
                </a:r>
              </a:p>
            </p:txBody>
          </p:sp>
          <p:sp>
            <p:nvSpPr>
              <p:cNvPr id="121" name="TextBox 120">
                <a:extLst>
                  <a:ext uri="{FF2B5EF4-FFF2-40B4-BE49-F238E27FC236}">
                    <a16:creationId xmlns:a16="http://schemas.microsoft.com/office/drawing/2014/main" id="{28AD3947-2F14-B346-92C5-C817F194C86E}"/>
                  </a:ext>
                </a:extLst>
              </p:cNvPr>
              <p:cNvSpPr txBox="1"/>
              <p:nvPr/>
            </p:nvSpPr>
            <p:spPr>
              <a:xfrm>
                <a:off x="6400800" y="4800600"/>
                <a:ext cx="1314784" cy="461665"/>
              </a:xfrm>
              <a:prstGeom prst="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ln>
              <a:effectLst>
                <a:outerShdw blurRad="40000" dist="20000" dir="5400000" rotWithShape="0">
                  <a:srgbClr val="000000">
                    <a:alpha val="38000"/>
                  </a:srgbClr>
                </a:outerShdw>
              </a:effectLst>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ea typeface="+mn-ea"/>
                    <a:cs typeface="+mn-cs"/>
                  </a:rPr>
                  <a:t>Browser</a:t>
                </a:r>
              </a:p>
            </p:txBody>
          </p:sp>
        </p:grpSp>
      </p:grpSp>
    </p:spTree>
    <p:extLst>
      <p:ext uri="{BB962C8B-B14F-4D97-AF65-F5344CB8AC3E}">
        <p14:creationId xmlns:p14="http://schemas.microsoft.com/office/powerpoint/2010/main" val="976715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a:lstStyle/>
          <a:p>
            <a:r>
              <a:rPr lang="en-US" dirty="0"/>
              <a:t>User - Principals</a:t>
            </a:r>
          </a:p>
        </p:txBody>
      </p:sp>
      <p:sp>
        <p:nvSpPr>
          <p:cNvPr id="335887" name="Rectangle 15"/>
          <p:cNvSpPr>
            <a:spLocks noGrp="1" noChangeArrowheads="1"/>
          </p:cNvSpPr>
          <p:nvPr>
            <p:ph type="body" idx="11"/>
          </p:nvPr>
        </p:nvSpPr>
        <p:spPr/>
        <p:txBody>
          <a:bodyPr>
            <a:normAutofit/>
          </a:bodyPr>
          <a:lstStyle/>
          <a:p>
            <a:r>
              <a:rPr lang="en-US" dirty="0"/>
              <a:t> </a:t>
            </a:r>
          </a:p>
        </p:txBody>
      </p:sp>
      <p:sp>
        <p:nvSpPr>
          <p:cNvPr id="335886" name="Rectangle 14"/>
          <p:cNvSpPr>
            <a:spLocks noGrp="1" noChangeArrowheads="1"/>
          </p:cNvSpPr>
          <p:nvPr>
            <p:ph idx="1"/>
          </p:nvPr>
        </p:nvSpPr>
        <p:spPr>
          <a:xfrm>
            <a:off x="513349" y="1268243"/>
            <a:ext cx="5582651" cy="4723318"/>
          </a:xfrm>
          <a:noFill/>
          <a:ln/>
        </p:spPr>
        <p:txBody>
          <a:bodyPr>
            <a:normAutofit/>
          </a:bodyPr>
          <a:lstStyle/>
          <a:p>
            <a:r>
              <a:rPr lang="en-US" dirty="0">
                <a:solidFill>
                  <a:srgbClr val="002060"/>
                </a:solidFill>
              </a:rPr>
              <a:t>One to many mapping </a:t>
            </a:r>
            <a:r>
              <a:rPr lang="en-US" dirty="0"/>
              <a:t>between user and principals</a:t>
            </a:r>
          </a:p>
          <a:p>
            <a:endParaRPr lang="en-US" dirty="0"/>
          </a:p>
          <a:p>
            <a:r>
              <a:rPr lang="en-US" dirty="0">
                <a:solidFill>
                  <a:srgbClr val="002060"/>
                </a:solidFill>
              </a:rPr>
              <a:t>System authenticates user </a:t>
            </a:r>
            <a:r>
              <a:rPr lang="en-US" dirty="0"/>
              <a:t>in the context of principal</a:t>
            </a:r>
          </a:p>
          <a:p>
            <a:endParaRPr lang="en-US" dirty="0"/>
          </a:p>
          <a:p>
            <a:r>
              <a:rPr lang="en-US" dirty="0">
                <a:solidFill>
                  <a:srgbClr val="002060"/>
                </a:solidFill>
              </a:rPr>
              <a:t>Shared principals (accounts) are not good</a:t>
            </a:r>
            <a:r>
              <a:rPr lang="en-US" dirty="0"/>
              <a:t> for accountability</a:t>
            </a:r>
          </a:p>
        </p:txBody>
      </p:sp>
      <p:grpSp>
        <p:nvGrpSpPr>
          <p:cNvPr id="5" name="Group 4">
            <a:extLst>
              <a:ext uri="{FF2B5EF4-FFF2-40B4-BE49-F238E27FC236}">
                <a16:creationId xmlns:a16="http://schemas.microsoft.com/office/drawing/2014/main" id="{34A645A4-6405-1949-A31A-7135D175D19A}"/>
              </a:ext>
            </a:extLst>
          </p:cNvPr>
          <p:cNvGrpSpPr/>
          <p:nvPr/>
        </p:nvGrpSpPr>
        <p:grpSpPr>
          <a:xfrm>
            <a:off x="6713517" y="1365878"/>
            <a:ext cx="4114800" cy="4505326"/>
            <a:chOff x="6713517" y="1365878"/>
            <a:chExt cx="4114800" cy="4505326"/>
          </a:xfrm>
        </p:grpSpPr>
        <p:sp>
          <p:nvSpPr>
            <p:cNvPr id="51" name="Line 4">
              <a:extLst>
                <a:ext uri="{FF2B5EF4-FFF2-40B4-BE49-F238E27FC236}">
                  <a16:creationId xmlns:a16="http://schemas.microsoft.com/office/drawing/2014/main" id="{7BCF284B-38DC-624A-969B-D97E73900D67}"/>
                </a:ext>
              </a:extLst>
            </p:cNvPr>
            <p:cNvSpPr>
              <a:spLocks noChangeShapeType="1"/>
            </p:cNvSpPr>
            <p:nvPr/>
          </p:nvSpPr>
          <p:spPr bwMode="auto">
            <a:xfrm flipV="1">
              <a:off x="7018317" y="3118478"/>
              <a:ext cx="2057400" cy="9144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52" name="Line 5">
              <a:extLst>
                <a:ext uri="{FF2B5EF4-FFF2-40B4-BE49-F238E27FC236}">
                  <a16:creationId xmlns:a16="http://schemas.microsoft.com/office/drawing/2014/main" id="{376BA9DB-1EB9-8648-9DBD-B81C406DA61C}"/>
                </a:ext>
              </a:extLst>
            </p:cNvPr>
            <p:cNvSpPr>
              <a:spLocks noChangeShapeType="1"/>
            </p:cNvSpPr>
            <p:nvPr/>
          </p:nvSpPr>
          <p:spPr bwMode="auto">
            <a:xfrm>
              <a:off x="7018317" y="4032878"/>
              <a:ext cx="1981200" cy="9144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53" name="Line 6">
              <a:extLst>
                <a:ext uri="{FF2B5EF4-FFF2-40B4-BE49-F238E27FC236}">
                  <a16:creationId xmlns:a16="http://schemas.microsoft.com/office/drawing/2014/main" id="{053BD09E-503B-BE48-9BE9-6A5F178B2AA7}"/>
                </a:ext>
              </a:extLst>
            </p:cNvPr>
            <p:cNvSpPr>
              <a:spLocks noChangeShapeType="1"/>
            </p:cNvSpPr>
            <p:nvPr/>
          </p:nvSpPr>
          <p:spPr bwMode="auto">
            <a:xfrm>
              <a:off x="7018317" y="4032878"/>
              <a:ext cx="20574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54" name="Oval 7">
              <a:extLst>
                <a:ext uri="{FF2B5EF4-FFF2-40B4-BE49-F238E27FC236}">
                  <a16:creationId xmlns:a16="http://schemas.microsoft.com/office/drawing/2014/main" id="{604195FF-1C20-C44E-85D1-A88E0D09166B}"/>
                </a:ext>
              </a:extLst>
            </p:cNvPr>
            <p:cNvSpPr>
              <a:spLocks noChangeArrowheads="1"/>
            </p:cNvSpPr>
            <p:nvPr/>
          </p:nvSpPr>
          <p:spPr bwMode="auto">
            <a:xfrm flipV="1">
              <a:off x="6942117" y="3956678"/>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55" name="Oval 8">
              <a:extLst>
                <a:ext uri="{FF2B5EF4-FFF2-40B4-BE49-F238E27FC236}">
                  <a16:creationId xmlns:a16="http://schemas.microsoft.com/office/drawing/2014/main" id="{175FE015-8C5B-9D4A-8073-9BDF82F9350A}"/>
                </a:ext>
              </a:extLst>
            </p:cNvPr>
            <p:cNvSpPr>
              <a:spLocks noChangeArrowheads="1"/>
            </p:cNvSpPr>
            <p:nvPr/>
          </p:nvSpPr>
          <p:spPr bwMode="auto">
            <a:xfrm flipV="1">
              <a:off x="8999517" y="4871078"/>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56" name="Oval 9">
              <a:extLst>
                <a:ext uri="{FF2B5EF4-FFF2-40B4-BE49-F238E27FC236}">
                  <a16:creationId xmlns:a16="http://schemas.microsoft.com/office/drawing/2014/main" id="{09AF18FB-0E06-3345-BEBD-B203F057190F}"/>
                </a:ext>
              </a:extLst>
            </p:cNvPr>
            <p:cNvSpPr>
              <a:spLocks noChangeArrowheads="1"/>
            </p:cNvSpPr>
            <p:nvPr/>
          </p:nvSpPr>
          <p:spPr bwMode="auto">
            <a:xfrm flipV="1">
              <a:off x="9075717" y="3956678"/>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57" name="Oval 10">
              <a:extLst>
                <a:ext uri="{FF2B5EF4-FFF2-40B4-BE49-F238E27FC236}">
                  <a16:creationId xmlns:a16="http://schemas.microsoft.com/office/drawing/2014/main" id="{2A33223F-28B8-404A-B5A7-4B865E517083}"/>
                </a:ext>
              </a:extLst>
            </p:cNvPr>
            <p:cNvSpPr>
              <a:spLocks noChangeArrowheads="1"/>
            </p:cNvSpPr>
            <p:nvPr/>
          </p:nvSpPr>
          <p:spPr bwMode="auto">
            <a:xfrm flipV="1">
              <a:off x="9075717" y="3042278"/>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58" name="Text Box 12">
              <a:extLst>
                <a:ext uri="{FF2B5EF4-FFF2-40B4-BE49-F238E27FC236}">
                  <a16:creationId xmlns:a16="http://schemas.microsoft.com/office/drawing/2014/main" id="{B6551F16-D747-E84A-94EB-7FA1B6567169}"/>
                </a:ext>
              </a:extLst>
            </p:cNvPr>
            <p:cNvSpPr txBox="1">
              <a:spLocks noChangeArrowheads="1"/>
            </p:cNvSpPr>
            <p:nvPr/>
          </p:nvSpPr>
          <p:spPr bwMode="auto">
            <a:xfrm>
              <a:off x="6789717" y="5404479"/>
              <a:ext cx="838200" cy="466725"/>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user</a:t>
              </a:r>
            </a:p>
          </p:txBody>
        </p:sp>
        <p:sp>
          <p:nvSpPr>
            <p:cNvPr id="59" name="Text Box 13">
              <a:extLst>
                <a:ext uri="{FF2B5EF4-FFF2-40B4-BE49-F238E27FC236}">
                  <a16:creationId xmlns:a16="http://schemas.microsoft.com/office/drawing/2014/main" id="{92E116EA-D830-E04A-8A97-45CF97FC8688}"/>
                </a:ext>
              </a:extLst>
            </p:cNvPr>
            <p:cNvSpPr txBox="1">
              <a:spLocks noChangeArrowheads="1"/>
            </p:cNvSpPr>
            <p:nvPr/>
          </p:nvSpPr>
          <p:spPr bwMode="auto">
            <a:xfrm>
              <a:off x="8542317" y="5404479"/>
              <a:ext cx="1447800" cy="466725"/>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principals</a:t>
              </a:r>
            </a:p>
          </p:txBody>
        </p:sp>
        <p:sp>
          <p:nvSpPr>
            <p:cNvPr id="60" name="Line 17">
              <a:extLst>
                <a:ext uri="{FF2B5EF4-FFF2-40B4-BE49-F238E27FC236}">
                  <a16:creationId xmlns:a16="http://schemas.microsoft.com/office/drawing/2014/main" id="{49F6779F-D2D9-B449-8A42-E35F6A8F7008}"/>
                </a:ext>
              </a:extLst>
            </p:cNvPr>
            <p:cNvSpPr>
              <a:spLocks noChangeShapeType="1"/>
            </p:cNvSpPr>
            <p:nvPr/>
          </p:nvSpPr>
          <p:spPr bwMode="auto">
            <a:xfrm flipV="1">
              <a:off x="7018317" y="1594478"/>
              <a:ext cx="2057400" cy="9144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61" name="Line 18">
              <a:extLst>
                <a:ext uri="{FF2B5EF4-FFF2-40B4-BE49-F238E27FC236}">
                  <a16:creationId xmlns:a16="http://schemas.microsoft.com/office/drawing/2014/main" id="{FC191477-A940-EC46-AA88-B4EE528C49FF}"/>
                </a:ext>
              </a:extLst>
            </p:cNvPr>
            <p:cNvSpPr>
              <a:spLocks noChangeShapeType="1"/>
            </p:cNvSpPr>
            <p:nvPr/>
          </p:nvSpPr>
          <p:spPr bwMode="auto">
            <a:xfrm>
              <a:off x="7018317" y="2508878"/>
              <a:ext cx="20574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62" name="Oval 19">
              <a:extLst>
                <a:ext uri="{FF2B5EF4-FFF2-40B4-BE49-F238E27FC236}">
                  <a16:creationId xmlns:a16="http://schemas.microsoft.com/office/drawing/2014/main" id="{44FF7927-9D4F-BD42-AC38-12F42307841A}"/>
                </a:ext>
              </a:extLst>
            </p:cNvPr>
            <p:cNvSpPr>
              <a:spLocks noChangeArrowheads="1"/>
            </p:cNvSpPr>
            <p:nvPr/>
          </p:nvSpPr>
          <p:spPr bwMode="auto">
            <a:xfrm flipV="1">
              <a:off x="6942117" y="2432678"/>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63" name="Oval 20">
              <a:extLst>
                <a:ext uri="{FF2B5EF4-FFF2-40B4-BE49-F238E27FC236}">
                  <a16:creationId xmlns:a16="http://schemas.microsoft.com/office/drawing/2014/main" id="{042C6C09-FA99-BB43-8D07-B2277E6EBB70}"/>
                </a:ext>
              </a:extLst>
            </p:cNvPr>
            <p:cNvSpPr>
              <a:spLocks noChangeArrowheads="1"/>
            </p:cNvSpPr>
            <p:nvPr/>
          </p:nvSpPr>
          <p:spPr bwMode="auto">
            <a:xfrm flipV="1">
              <a:off x="9075717" y="2432678"/>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64" name="Oval 21">
              <a:extLst>
                <a:ext uri="{FF2B5EF4-FFF2-40B4-BE49-F238E27FC236}">
                  <a16:creationId xmlns:a16="http://schemas.microsoft.com/office/drawing/2014/main" id="{7F441192-093D-444D-A07D-4DB9F3FD9E39}"/>
                </a:ext>
              </a:extLst>
            </p:cNvPr>
            <p:cNvSpPr>
              <a:spLocks noChangeArrowheads="1"/>
            </p:cNvSpPr>
            <p:nvPr/>
          </p:nvSpPr>
          <p:spPr bwMode="auto">
            <a:xfrm flipV="1">
              <a:off x="9075717" y="1518278"/>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65" name="Text Box 22">
              <a:extLst>
                <a:ext uri="{FF2B5EF4-FFF2-40B4-BE49-F238E27FC236}">
                  <a16:creationId xmlns:a16="http://schemas.microsoft.com/office/drawing/2014/main" id="{F605748A-B531-8D49-A941-3186C4A13668}"/>
                </a:ext>
              </a:extLst>
            </p:cNvPr>
            <p:cNvSpPr txBox="1">
              <a:spLocks noChangeArrowheads="1"/>
            </p:cNvSpPr>
            <p:nvPr/>
          </p:nvSpPr>
          <p:spPr bwMode="auto">
            <a:xfrm>
              <a:off x="6713517" y="1975478"/>
              <a:ext cx="9144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Alice</a:t>
              </a:r>
            </a:p>
          </p:txBody>
        </p:sp>
        <p:sp>
          <p:nvSpPr>
            <p:cNvPr id="66" name="Text Box 24">
              <a:extLst>
                <a:ext uri="{FF2B5EF4-FFF2-40B4-BE49-F238E27FC236}">
                  <a16:creationId xmlns:a16="http://schemas.microsoft.com/office/drawing/2014/main" id="{69AC9715-D4BB-3442-9D36-DCE6C7D40205}"/>
                </a:ext>
              </a:extLst>
            </p:cNvPr>
            <p:cNvSpPr txBox="1">
              <a:spLocks noChangeArrowheads="1"/>
            </p:cNvSpPr>
            <p:nvPr/>
          </p:nvSpPr>
          <p:spPr bwMode="auto">
            <a:xfrm>
              <a:off x="9151917" y="1365878"/>
              <a:ext cx="1676400" cy="33655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1600">
                  <a:solidFill>
                    <a:srgbClr val="000000"/>
                  </a:solidFill>
                  <a:latin typeface="Times New Roman" pitchFamily="18" charset="0"/>
                </a:rPr>
                <a:t>Alice.Top-secret</a:t>
              </a:r>
            </a:p>
          </p:txBody>
        </p:sp>
        <p:sp>
          <p:nvSpPr>
            <p:cNvPr id="67" name="Text Box 25">
              <a:extLst>
                <a:ext uri="{FF2B5EF4-FFF2-40B4-BE49-F238E27FC236}">
                  <a16:creationId xmlns:a16="http://schemas.microsoft.com/office/drawing/2014/main" id="{61C0998F-EACA-424A-8FA8-CF8BFB93A7EC}"/>
                </a:ext>
              </a:extLst>
            </p:cNvPr>
            <p:cNvSpPr txBox="1">
              <a:spLocks noChangeArrowheads="1"/>
            </p:cNvSpPr>
            <p:nvPr/>
          </p:nvSpPr>
          <p:spPr bwMode="auto">
            <a:xfrm>
              <a:off x="9151917" y="2324728"/>
              <a:ext cx="1371600" cy="33655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1600">
                  <a:solidFill>
                    <a:srgbClr val="000000"/>
                  </a:solidFill>
                  <a:latin typeface="Times New Roman" pitchFamily="18" charset="0"/>
                </a:rPr>
                <a:t>Alice.Secret</a:t>
              </a:r>
            </a:p>
          </p:txBody>
        </p:sp>
        <p:sp>
          <p:nvSpPr>
            <p:cNvPr id="68" name="Text Box 26">
              <a:extLst>
                <a:ext uri="{FF2B5EF4-FFF2-40B4-BE49-F238E27FC236}">
                  <a16:creationId xmlns:a16="http://schemas.microsoft.com/office/drawing/2014/main" id="{47762FB0-A559-DC4A-9457-02924B3E72E8}"/>
                </a:ext>
              </a:extLst>
            </p:cNvPr>
            <p:cNvSpPr txBox="1">
              <a:spLocks noChangeArrowheads="1"/>
            </p:cNvSpPr>
            <p:nvPr/>
          </p:nvSpPr>
          <p:spPr bwMode="auto">
            <a:xfrm>
              <a:off x="6713517" y="3499478"/>
              <a:ext cx="7620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Bob</a:t>
              </a:r>
            </a:p>
          </p:txBody>
        </p:sp>
        <p:sp>
          <p:nvSpPr>
            <p:cNvPr id="69" name="Text Box 27">
              <a:extLst>
                <a:ext uri="{FF2B5EF4-FFF2-40B4-BE49-F238E27FC236}">
                  <a16:creationId xmlns:a16="http://schemas.microsoft.com/office/drawing/2014/main" id="{B0B8839A-559D-4748-9C74-1F527FFE9FAF}"/>
                </a:ext>
              </a:extLst>
            </p:cNvPr>
            <p:cNvSpPr txBox="1">
              <a:spLocks noChangeArrowheads="1"/>
            </p:cNvSpPr>
            <p:nvPr/>
          </p:nvSpPr>
          <p:spPr bwMode="auto">
            <a:xfrm>
              <a:off x="9151917" y="2889878"/>
              <a:ext cx="1295400" cy="33655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1600" dirty="0" err="1">
                  <a:solidFill>
                    <a:srgbClr val="000000"/>
                  </a:solidFill>
                  <a:latin typeface="Times New Roman" pitchFamily="18" charset="0"/>
                </a:rPr>
                <a:t>Bob.Dean</a:t>
              </a:r>
              <a:endParaRPr lang="en-US" sz="1600" dirty="0">
                <a:solidFill>
                  <a:srgbClr val="000000"/>
                </a:solidFill>
                <a:latin typeface="Times New Roman" pitchFamily="18" charset="0"/>
              </a:endParaRPr>
            </a:p>
          </p:txBody>
        </p:sp>
        <p:sp>
          <p:nvSpPr>
            <p:cNvPr id="70" name="Text Box 28">
              <a:extLst>
                <a:ext uri="{FF2B5EF4-FFF2-40B4-BE49-F238E27FC236}">
                  <a16:creationId xmlns:a16="http://schemas.microsoft.com/office/drawing/2014/main" id="{24BBC7D8-F7A1-724B-94FC-FB4B03CE7ED0}"/>
                </a:ext>
              </a:extLst>
            </p:cNvPr>
            <p:cNvSpPr txBox="1">
              <a:spLocks noChangeArrowheads="1"/>
            </p:cNvSpPr>
            <p:nvPr/>
          </p:nvSpPr>
          <p:spPr bwMode="auto">
            <a:xfrm>
              <a:off x="9151917" y="3848728"/>
              <a:ext cx="1295400" cy="33655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1600">
                  <a:solidFill>
                    <a:srgbClr val="000000"/>
                  </a:solidFill>
                  <a:latin typeface="Times New Roman" pitchFamily="18" charset="0"/>
                </a:rPr>
                <a:t>Bob.Faculty</a:t>
              </a:r>
            </a:p>
          </p:txBody>
        </p:sp>
        <p:sp>
          <p:nvSpPr>
            <p:cNvPr id="71" name="Text Box 29">
              <a:extLst>
                <a:ext uri="{FF2B5EF4-FFF2-40B4-BE49-F238E27FC236}">
                  <a16:creationId xmlns:a16="http://schemas.microsoft.com/office/drawing/2014/main" id="{EE7E833A-1086-4D41-A492-510775BAB6CA}"/>
                </a:ext>
              </a:extLst>
            </p:cNvPr>
            <p:cNvSpPr txBox="1">
              <a:spLocks noChangeArrowheads="1"/>
            </p:cNvSpPr>
            <p:nvPr/>
          </p:nvSpPr>
          <p:spPr bwMode="auto">
            <a:xfrm>
              <a:off x="9151917" y="4763128"/>
              <a:ext cx="1524000" cy="33655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1600">
                  <a:solidFill>
                    <a:srgbClr val="000000"/>
                  </a:solidFill>
                  <a:latin typeface="Times New Roman" pitchFamily="18" charset="0"/>
                </a:rPr>
                <a:t>Bob.Super-user</a:t>
              </a:r>
            </a:p>
          </p:txBody>
        </p:sp>
      </p:grpSp>
    </p:spTree>
    <p:extLst>
      <p:ext uri="{BB962C8B-B14F-4D97-AF65-F5344CB8AC3E}">
        <p14:creationId xmlns:p14="http://schemas.microsoft.com/office/powerpoint/2010/main" val="795399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p:txBody>
          <a:bodyPr/>
          <a:lstStyle/>
          <a:p>
            <a:r>
              <a:rPr lang="en-US" dirty="0"/>
              <a:t>Principal - Subjects</a:t>
            </a:r>
          </a:p>
        </p:txBody>
      </p:sp>
      <p:sp>
        <p:nvSpPr>
          <p:cNvPr id="343044" name="Rectangle 4"/>
          <p:cNvSpPr>
            <a:spLocks noGrp="1" noChangeArrowheads="1"/>
          </p:cNvSpPr>
          <p:nvPr>
            <p:ph type="body" idx="11"/>
          </p:nvPr>
        </p:nvSpPr>
        <p:spPr/>
        <p:txBody>
          <a:bodyPr>
            <a:normAutofit/>
          </a:bodyPr>
          <a:lstStyle/>
          <a:p>
            <a:r>
              <a:rPr lang="en-US"/>
              <a:t> </a:t>
            </a:r>
          </a:p>
        </p:txBody>
      </p:sp>
      <p:sp>
        <p:nvSpPr>
          <p:cNvPr id="343043" name="Rectangle 3"/>
          <p:cNvSpPr>
            <a:spLocks noGrp="1" noChangeArrowheads="1"/>
          </p:cNvSpPr>
          <p:nvPr>
            <p:ph idx="1"/>
          </p:nvPr>
        </p:nvSpPr>
        <p:spPr>
          <a:xfrm>
            <a:off x="513350" y="1268243"/>
            <a:ext cx="5713500" cy="4723318"/>
          </a:xfrm>
          <a:noFill/>
          <a:ln/>
        </p:spPr>
        <p:txBody>
          <a:bodyPr>
            <a:normAutofit/>
          </a:bodyPr>
          <a:lstStyle/>
          <a:p>
            <a:r>
              <a:rPr lang="en-US" dirty="0">
                <a:solidFill>
                  <a:srgbClr val="002060"/>
                </a:solidFill>
              </a:rPr>
              <a:t>One to many mapping </a:t>
            </a:r>
            <a:r>
              <a:rPr lang="en-US" dirty="0"/>
              <a:t>between principal and subjects</a:t>
            </a:r>
          </a:p>
          <a:p>
            <a:r>
              <a:rPr lang="en-US" dirty="0">
                <a:solidFill>
                  <a:srgbClr val="002060"/>
                </a:solidFill>
              </a:rPr>
              <a:t>A subject is a program or application </a:t>
            </a:r>
            <a:r>
              <a:rPr lang="en-US" dirty="0"/>
              <a:t>run on behalf of principal</a:t>
            </a:r>
          </a:p>
          <a:p>
            <a:r>
              <a:rPr lang="en-US" dirty="0"/>
              <a:t>If all subjects of a principal have the same rights, they are often treated the same as principal </a:t>
            </a:r>
          </a:p>
        </p:txBody>
      </p:sp>
      <p:grpSp>
        <p:nvGrpSpPr>
          <p:cNvPr id="5" name="Group 4">
            <a:extLst>
              <a:ext uri="{FF2B5EF4-FFF2-40B4-BE49-F238E27FC236}">
                <a16:creationId xmlns:a16="http://schemas.microsoft.com/office/drawing/2014/main" id="{FA7D4A7A-BACF-644F-9ED4-AA9B64AD4D99}"/>
              </a:ext>
            </a:extLst>
          </p:cNvPr>
          <p:cNvGrpSpPr/>
          <p:nvPr/>
        </p:nvGrpSpPr>
        <p:grpSpPr>
          <a:xfrm>
            <a:off x="6270729" y="2209800"/>
            <a:ext cx="5301679" cy="3065462"/>
            <a:chOff x="6270729" y="2209800"/>
            <a:chExt cx="5301679" cy="3065462"/>
          </a:xfrm>
        </p:grpSpPr>
        <p:sp>
          <p:nvSpPr>
            <p:cNvPr id="35" name="Line 5">
              <a:extLst>
                <a:ext uri="{FF2B5EF4-FFF2-40B4-BE49-F238E27FC236}">
                  <a16:creationId xmlns:a16="http://schemas.microsoft.com/office/drawing/2014/main" id="{7F2E3B2F-73C8-E740-9E52-892E7FF02BF2}"/>
                </a:ext>
              </a:extLst>
            </p:cNvPr>
            <p:cNvSpPr>
              <a:spLocks noChangeShapeType="1"/>
            </p:cNvSpPr>
            <p:nvPr/>
          </p:nvSpPr>
          <p:spPr bwMode="auto">
            <a:xfrm flipV="1">
              <a:off x="7418784" y="2438400"/>
              <a:ext cx="2057400" cy="9144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36" name="Line 6">
              <a:extLst>
                <a:ext uri="{FF2B5EF4-FFF2-40B4-BE49-F238E27FC236}">
                  <a16:creationId xmlns:a16="http://schemas.microsoft.com/office/drawing/2014/main" id="{40FAF226-ABEF-264C-8978-28E4521CE03D}"/>
                </a:ext>
              </a:extLst>
            </p:cNvPr>
            <p:cNvSpPr>
              <a:spLocks noChangeShapeType="1"/>
            </p:cNvSpPr>
            <p:nvPr/>
          </p:nvSpPr>
          <p:spPr bwMode="auto">
            <a:xfrm>
              <a:off x="7418784" y="3352800"/>
              <a:ext cx="1981200" cy="9144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37" name="Line 7">
              <a:extLst>
                <a:ext uri="{FF2B5EF4-FFF2-40B4-BE49-F238E27FC236}">
                  <a16:creationId xmlns:a16="http://schemas.microsoft.com/office/drawing/2014/main" id="{22A396FD-706F-4B4E-B064-06779A1C7855}"/>
                </a:ext>
              </a:extLst>
            </p:cNvPr>
            <p:cNvSpPr>
              <a:spLocks noChangeShapeType="1"/>
            </p:cNvSpPr>
            <p:nvPr/>
          </p:nvSpPr>
          <p:spPr bwMode="auto">
            <a:xfrm>
              <a:off x="7418784" y="3352800"/>
              <a:ext cx="20574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38" name="Oval 8">
              <a:extLst>
                <a:ext uri="{FF2B5EF4-FFF2-40B4-BE49-F238E27FC236}">
                  <a16:creationId xmlns:a16="http://schemas.microsoft.com/office/drawing/2014/main" id="{F75F4DBE-0151-9648-967A-0BB563764970}"/>
                </a:ext>
              </a:extLst>
            </p:cNvPr>
            <p:cNvSpPr>
              <a:spLocks noChangeArrowheads="1"/>
            </p:cNvSpPr>
            <p:nvPr/>
          </p:nvSpPr>
          <p:spPr bwMode="auto">
            <a:xfrm flipV="1">
              <a:off x="7342584" y="32766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39" name="Oval 9">
              <a:extLst>
                <a:ext uri="{FF2B5EF4-FFF2-40B4-BE49-F238E27FC236}">
                  <a16:creationId xmlns:a16="http://schemas.microsoft.com/office/drawing/2014/main" id="{74D66EAD-0B61-7B49-BF81-69F88025ABBC}"/>
                </a:ext>
              </a:extLst>
            </p:cNvPr>
            <p:cNvSpPr>
              <a:spLocks noChangeArrowheads="1"/>
            </p:cNvSpPr>
            <p:nvPr/>
          </p:nvSpPr>
          <p:spPr bwMode="auto">
            <a:xfrm flipV="1">
              <a:off x="9399984" y="41910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40" name="Oval 10">
              <a:extLst>
                <a:ext uri="{FF2B5EF4-FFF2-40B4-BE49-F238E27FC236}">
                  <a16:creationId xmlns:a16="http://schemas.microsoft.com/office/drawing/2014/main" id="{23B1C90F-4BDE-224C-9C4D-3A5ED3D935AD}"/>
                </a:ext>
              </a:extLst>
            </p:cNvPr>
            <p:cNvSpPr>
              <a:spLocks noChangeArrowheads="1"/>
            </p:cNvSpPr>
            <p:nvPr/>
          </p:nvSpPr>
          <p:spPr bwMode="auto">
            <a:xfrm flipV="1">
              <a:off x="9476184" y="32766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41" name="Oval 11">
              <a:extLst>
                <a:ext uri="{FF2B5EF4-FFF2-40B4-BE49-F238E27FC236}">
                  <a16:creationId xmlns:a16="http://schemas.microsoft.com/office/drawing/2014/main" id="{097907DA-15AE-004D-97F4-5F68430B6A94}"/>
                </a:ext>
              </a:extLst>
            </p:cNvPr>
            <p:cNvSpPr>
              <a:spLocks noChangeArrowheads="1"/>
            </p:cNvSpPr>
            <p:nvPr/>
          </p:nvSpPr>
          <p:spPr bwMode="auto">
            <a:xfrm flipV="1">
              <a:off x="9476184" y="2362200"/>
              <a:ext cx="76200" cy="152400"/>
            </a:xfrm>
            <a:prstGeom prst="ellipse">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42" name="Text Box 12">
              <a:extLst>
                <a:ext uri="{FF2B5EF4-FFF2-40B4-BE49-F238E27FC236}">
                  <a16:creationId xmlns:a16="http://schemas.microsoft.com/office/drawing/2014/main" id="{03137178-1C6B-5D42-9CFC-2E426854568E}"/>
                </a:ext>
              </a:extLst>
            </p:cNvPr>
            <p:cNvSpPr txBox="1">
              <a:spLocks noChangeArrowheads="1"/>
            </p:cNvSpPr>
            <p:nvPr/>
          </p:nvSpPr>
          <p:spPr bwMode="auto">
            <a:xfrm>
              <a:off x="9649112" y="4808537"/>
              <a:ext cx="1219200" cy="466725"/>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subjects</a:t>
              </a:r>
            </a:p>
          </p:txBody>
        </p:sp>
        <p:sp>
          <p:nvSpPr>
            <p:cNvPr id="43" name="Text Box 13">
              <a:extLst>
                <a:ext uri="{FF2B5EF4-FFF2-40B4-BE49-F238E27FC236}">
                  <a16:creationId xmlns:a16="http://schemas.microsoft.com/office/drawing/2014/main" id="{2577E70F-F488-0B4E-B670-2CD864E425BD}"/>
                </a:ext>
              </a:extLst>
            </p:cNvPr>
            <p:cNvSpPr txBox="1">
              <a:spLocks noChangeArrowheads="1"/>
            </p:cNvSpPr>
            <p:nvPr/>
          </p:nvSpPr>
          <p:spPr bwMode="auto">
            <a:xfrm>
              <a:off x="6270729" y="3774048"/>
              <a:ext cx="1295400" cy="466725"/>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imes New Roman" pitchFamily="18" charset="0"/>
                </a:rPr>
                <a:t>principal</a:t>
              </a:r>
            </a:p>
          </p:txBody>
        </p:sp>
        <p:sp>
          <p:nvSpPr>
            <p:cNvPr id="44" name="Text Box 22">
              <a:extLst>
                <a:ext uri="{FF2B5EF4-FFF2-40B4-BE49-F238E27FC236}">
                  <a16:creationId xmlns:a16="http://schemas.microsoft.com/office/drawing/2014/main" id="{8F8E2320-2D76-264C-8A24-9072548CAA2E}"/>
                </a:ext>
              </a:extLst>
            </p:cNvPr>
            <p:cNvSpPr txBox="1">
              <a:spLocks noChangeArrowheads="1"/>
            </p:cNvSpPr>
            <p:nvPr/>
          </p:nvSpPr>
          <p:spPr bwMode="auto">
            <a:xfrm>
              <a:off x="6418073" y="3130717"/>
              <a:ext cx="1000711" cy="461665"/>
            </a:xfrm>
            <a:prstGeom prst="rect">
              <a:avLst/>
            </a:prstGeom>
            <a:noFill/>
            <a:ln w="9525">
              <a:noFill/>
              <a:miter lim="800000"/>
              <a:headEnd/>
              <a:tailEnd/>
            </a:ln>
            <a:effectLst/>
          </p:spPr>
          <p:txBody>
            <a:bodyPr wrap="square">
              <a:spAutoFit/>
            </a:bodyPr>
            <a:lstStyle/>
            <a:p>
              <a:pPr defTabSz="914400" fontAlgn="base">
                <a:spcBef>
                  <a:spcPct val="50000"/>
                </a:spcBef>
                <a:spcAft>
                  <a:spcPct val="0"/>
                </a:spcAft>
              </a:pPr>
              <a:r>
                <a:rPr lang="en-US" sz="2400" dirty="0">
                  <a:solidFill>
                    <a:srgbClr val="000000"/>
                  </a:solidFill>
                  <a:latin typeface="Arial"/>
                </a:rPr>
                <a:t>Alice</a:t>
              </a:r>
            </a:p>
          </p:txBody>
        </p:sp>
        <p:sp>
          <p:nvSpPr>
            <p:cNvPr id="45" name="Text Box 23">
              <a:extLst>
                <a:ext uri="{FF2B5EF4-FFF2-40B4-BE49-F238E27FC236}">
                  <a16:creationId xmlns:a16="http://schemas.microsoft.com/office/drawing/2014/main" id="{1603C454-ED82-F340-94EC-E6EC71249CAB}"/>
                </a:ext>
              </a:extLst>
            </p:cNvPr>
            <p:cNvSpPr txBox="1">
              <a:spLocks noChangeArrowheads="1"/>
            </p:cNvSpPr>
            <p:nvPr/>
          </p:nvSpPr>
          <p:spPr bwMode="auto">
            <a:xfrm>
              <a:off x="9591208" y="2209800"/>
              <a:ext cx="1981200" cy="461665"/>
            </a:xfrm>
            <a:prstGeom prst="rect">
              <a:avLst/>
            </a:prstGeom>
            <a:noFill/>
            <a:ln w="9525">
              <a:noFill/>
              <a:miter lim="800000"/>
              <a:headEnd/>
              <a:tailEnd/>
            </a:ln>
            <a:effectLst/>
          </p:spPr>
          <p:txBody>
            <a:bodyPr wrap="square">
              <a:spAutoFit/>
            </a:bodyPr>
            <a:lstStyle/>
            <a:p>
              <a:pPr defTabSz="914400" fontAlgn="base">
                <a:spcBef>
                  <a:spcPct val="50000"/>
                </a:spcBef>
                <a:spcAft>
                  <a:spcPct val="0"/>
                </a:spcAft>
              </a:pPr>
              <a:r>
                <a:rPr lang="en-US" sz="2400" dirty="0">
                  <a:solidFill>
                    <a:srgbClr val="000000"/>
                  </a:solidFill>
                  <a:latin typeface="Arial"/>
                </a:rPr>
                <a:t>Email</a:t>
              </a:r>
            </a:p>
          </p:txBody>
        </p:sp>
        <p:sp>
          <p:nvSpPr>
            <p:cNvPr id="46" name="Text Box 24">
              <a:extLst>
                <a:ext uri="{FF2B5EF4-FFF2-40B4-BE49-F238E27FC236}">
                  <a16:creationId xmlns:a16="http://schemas.microsoft.com/office/drawing/2014/main" id="{50AF7587-2B60-7346-8DDD-DDD4BCD4C9F9}"/>
                </a:ext>
              </a:extLst>
            </p:cNvPr>
            <p:cNvSpPr txBox="1">
              <a:spLocks noChangeArrowheads="1"/>
            </p:cNvSpPr>
            <p:nvPr/>
          </p:nvSpPr>
          <p:spPr bwMode="auto">
            <a:xfrm>
              <a:off x="9591208" y="3168650"/>
              <a:ext cx="1981200" cy="461665"/>
            </a:xfrm>
            <a:prstGeom prst="rect">
              <a:avLst/>
            </a:prstGeom>
            <a:noFill/>
            <a:ln w="9525">
              <a:noFill/>
              <a:miter lim="800000"/>
              <a:headEnd/>
              <a:tailEnd/>
            </a:ln>
            <a:effectLst/>
          </p:spPr>
          <p:txBody>
            <a:bodyPr wrap="square">
              <a:spAutoFit/>
            </a:bodyPr>
            <a:lstStyle/>
            <a:p>
              <a:pPr defTabSz="914400" fontAlgn="base">
                <a:spcBef>
                  <a:spcPct val="50000"/>
                </a:spcBef>
                <a:spcAft>
                  <a:spcPct val="0"/>
                </a:spcAft>
              </a:pPr>
              <a:r>
                <a:rPr lang="en-US" sz="2400">
                  <a:solidFill>
                    <a:srgbClr val="000000"/>
                  </a:solidFill>
                  <a:latin typeface="Arial"/>
                </a:rPr>
                <a:t>Word</a:t>
              </a:r>
            </a:p>
          </p:txBody>
        </p:sp>
        <p:sp>
          <p:nvSpPr>
            <p:cNvPr id="47" name="Text Box 25">
              <a:extLst>
                <a:ext uri="{FF2B5EF4-FFF2-40B4-BE49-F238E27FC236}">
                  <a16:creationId xmlns:a16="http://schemas.microsoft.com/office/drawing/2014/main" id="{F7ACE04E-6CF2-DB41-9F4C-5C94000859EA}"/>
                </a:ext>
              </a:extLst>
            </p:cNvPr>
            <p:cNvSpPr txBox="1">
              <a:spLocks noChangeArrowheads="1"/>
            </p:cNvSpPr>
            <p:nvPr/>
          </p:nvSpPr>
          <p:spPr bwMode="auto">
            <a:xfrm>
              <a:off x="9515008" y="4083050"/>
              <a:ext cx="1942376" cy="461665"/>
            </a:xfrm>
            <a:prstGeom prst="rect">
              <a:avLst/>
            </a:prstGeom>
            <a:noFill/>
            <a:ln w="9525">
              <a:noFill/>
              <a:miter lim="800000"/>
              <a:headEnd/>
              <a:tailEnd/>
            </a:ln>
            <a:effectLst/>
          </p:spPr>
          <p:txBody>
            <a:bodyPr wrap="square">
              <a:spAutoFit/>
            </a:bodyPr>
            <a:lstStyle/>
            <a:p>
              <a:pPr defTabSz="914400" fontAlgn="base">
                <a:spcBef>
                  <a:spcPct val="50000"/>
                </a:spcBef>
                <a:spcAft>
                  <a:spcPct val="0"/>
                </a:spcAft>
              </a:pPr>
              <a:r>
                <a:rPr lang="en-US" sz="2400" dirty="0">
                  <a:solidFill>
                    <a:srgbClr val="000000"/>
                  </a:solidFill>
                  <a:latin typeface="Arial"/>
                </a:rPr>
                <a:t>Database</a:t>
              </a:r>
            </a:p>
          </p:txBody>
        </p:sp>
      </p:grpSp>
    </p:spTree>
    <p:extLst>
      <p:ext uri="{BB962C8B-B14F-4D97-AF65-F5344CB8AC3E}">
        <p14:creationId xmlns:p14="http://schemas.microsoft.com/office/powerpoint/2010/main" val="1924553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noChangeArrowheads="1"/>
          </p:cNvSpPr>
          <p:nvPr>
            <p:ph type="title"/>
          </p:nvPr>
        </p:nvSpPr>
        <p:spPr/>
        <p:txBody>
          <a:bodyPr/>
          <a:lstStyle/>
          <a:p>
            <a:r>
              <a:rPr lang="en-US" dirty="0"/>
              <a:t>Objects</a:t>
            </a:r>
          </a:p>
        </p:txBody>
      </p:sp>
      <p:sp>
        <p:nvSpPr>
          <p:cNvPr id="4" name="Text Placeholder 3">
            <a:extLst>
              <a:ext uri="{FF2B5EF4-FFF2-40B4-BE49-F238E27FC236}">
                <a16:creationId xmlns:a16="http://schemas.microsoft.com/office/drawing/2014/main" id="{5FBEBA4B-B6E5-6B43-9F1C-538A1515AF2B}"/>
              </a:ext>
            </a:extLst>
          </p:cNvPr>
          <p:cNvSpPr>
            <a:spLocks noGrp="1"/>
          </p:cNvSpPr>
          <p:nvPr>
            <p:ph type="body" idx="11"/>
          </p:nvPr>
        </p:nvSpPr>
        <p:spPr/>
        <p:txBody>
          <a:bodyPr/>
          <a:lstStyle/>
          <a:p>
            <a:endParaRPr lang="en-US"/>
          </a:p>
        </p:txBody>
      </p:sp>
      <p:sp>
        <p:nvSpPr>
          <p:cNvPr id="334851" name="Rectangle 3"/>
          <p:cNvSpPr>
            <a:spLocks noGrp="1" noChangeArrowheads="1"/>
          </p:cNvSpPr>
          <p:nvPr>
            <p:ph idx="1"/>
          </p:nvPr>
        </p:nvSpPr>
        <p:spPr/>
        <p:txBody>
          <a:bodyPr>
            <a:normAutofit/>
          </a:bodyPr>
          <a:lstStyle/>
          <a:p>
            <a:r>
              <a:rPr lang="en-US" dirty="0">
                <a:solidFill>
                  <a:srgbClr val="002060"/>
                </a:solidFill>
              </a:rPr>
              <a:t>An object is anything on which a subject can perform operations (mediated by rights)</a:t>
            </a:r>
          </a:p>
          <a:p>
            <a:r>
              <a:rPr lang="en-US" dirty="0"/>
              <a:t>Usually objects are passive, for example</a:t>
            </a:r>
          </a:p>
          <a:p>
            <a:pPr lvl="1"/>
            <a:r>
              <a:rPr lang="en-US" dirty="0"/>
              <a:t>File </a:t>
            </a:r>
          </a:p>
          <a:p>
            <a:pPr lvl="1"/>
            <a:r>
              <a:rPr lang="en-US" dirty="0"/>
              <a:t>Directory (or Folder)</a:t>
            </a:r>
          </a:p>
          <a:p>
            <a:pPr lvl="1"/>
            <a:r>
              <a:rPr lang="en-US" dirty="0"/>
              <a:t>Memory segment</a:t>
            </a:r>
          </a:p>
          <a:p>
            <a:r>
              <a:rPr lang="en-US" dirty="0"/>
              <a:t>But, subjects can also be objects, with operations</a:t>
            </a:r>
          </a:p>
          <a:p>
            <a:pPr lvl="1"/>
            <a:r>
              <a:rPr lang="en-US" dirty="0"/>
              <a:t>Kill</a:t>
            </a:r>
          </a:p>
          <a:p>
            <a:pPr lvl="1"/>
            <a:r>
              <a:rPr lang="en-US" dirty="0"/>
              <a:t>Suspend </a:t>
            </a:r>
          </a:p>
          <a:p>
            <a:pPr lvl="1"/>
            <a:r>
              <a:rPr lang="en-US" dirty="0"/>
              <a:t>Resume </a:t>
            </a:r>
          </a:p>
        </p:txBody>
      </p:sp>
    </p:spTree>
    <p:extLst>
      <p:ext uri="{BB962C8B-B14F-4D97-AF65-F5344CB8AC3E}">
        <p14:creationId xmlns:p14="http://schemas.microsoft.com/office/powerpoint/2010/main" val="2586950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p:txBody>
          <a:bodyPr/>
          <a:lstStyle/>
          <a:p>
            <a:r>
              <a:rPr lang="en-US" dirty="0"/>
              <a:t>Rights</a:t>
            </a:r>
          </a:p>
        </p:txBody>
      </p:sp>
      <p:sp>
        <p:nvSpPr>
          <p:cNvPr id="4" name="Text Placeholder 3">
            <a:extLst>
              <a:ext uri="{FF2B5EF4-FFF2-40B4-BE49-F238E27FC236}">
                <a16:creationId xmlns:a16="http://schemas.microsoft.com/office/drawing/2014/main" id="{B73593E9-D759-6047-AA48-7CA03AFD234D}"/>
              </a:ext>
            </a:extLst>
          </p:cNvPr>
          <p:cNvSpPr>
            <a:spLocks noGrp="1"/>
          </p:cNvSpPr>
          <p:nvPr>
            <p:ph type="body" idx="11"/>
          </p:nvPr>
        </p:nvSpPr>
        <p:spPr/>
        <p:txBody>
          <a:bodyPr/>
          <a:lstStyle/>
          <a:p>
            <a:endParaRPr lang="en-US"/>
          </a:p>
        </p:txBody>
      </p:sp>
      <p:sp>
        <p:nvSpPr>
          <p:cNvPr id="344067" name="Rectangle 3"/>
          <p:cNvSpPr>
            <a:spLocks noGrp="1" noChangeArrowheads="1"/>
          </p:cNvSpPr>
          <p:nvPr>
            <p:ph idx="1"/>
          </p:nvPr>
        </p:nvSpPr>
        <p:spPr>
          <a:xfrm>
            <a:off x="513349" y="1268243"/>
            <a:ext cx="7015607" cy="4723318"/>
          </a:xfrm>
        </p:spPr>
        <p:txBody>
          <a:bodyPr>
            <a:normAutofit/>
          </a:bodyPr>
          <a:lstStyle/>
          <a:p>
            <a:r>
              <a:rPr lang="en-US" dirty="0"/>
              <a:t>A Right specifies what kind of access a subject can perform on an object. Typical rights include:</a:t>
            </a:r>
          </a:p>
          <a:p>
            <a:pPr lvl="1"/>
            <a:r>
              <a:rPr lang="en-US" dirty="0"/>
              <a:t>Own</a:t>
            </a:r>
          </a:p>
          <a:p>
            <a:pPr lvl="1"/>
            <a:r>
              <a:rPr lang="en-US" dirty="0"/>
              <a:t>Read</a:t>
            </a:r>
          </a:p>
          <a:p>
            <a:pPr lvl="1"/>
            <a:r>
              <a:rPr lang="en-US" dirty="0"/>
              <a:t>Write</a:t>
            </a:r>
          </a:p>
          <a:p>
            <a:pPr lvl="1"/>
            <a:r>
              <a:rPr lang="en-US" dirty="0"/>
              <a:t>Execute</a:t>
            </a:r>
          </a:p>
          <a:p>
            <a:pPr lvl="1"/>
            <a:r>
              <a:rPr lang="en-US" dirty="0"/>
              <a:t>Create</a:t>
            </a:r>
          </a:p>
          <a:p>
            <a:pPr lvl="1"/>
            <a:r>
              <a:rPr lang="en-US" dirty="0"/>
              <a:t>Delete</a:t>
            </a:r>
          </a:p>
          <a:p>
            <a:pPr lvl="1"/>
            <a:r>
              <a:rPr lang="en-US" dirty="0"/>
              <a:t>Transfer</a:t>
            </a:r>
          </a:p>
          <a:p>
            <a:pPr lvl="1"/>
            <a:r>
              <a:rPr lang="en-US" dirty="0"/>
              <a:t>….</a:t>
            </a:r>
          </a:p>
        </p:txBody>
      </p:sp>
      <p:sp>
        <p:nvSpPr>
          <p:cNvPr id="10" name="TextBox 9">
            <a:extLst>
              <a:ext uri="{FF2B5EF4-FFF2-40B4-BE49-F238E27FC236}">
                <a16:creationId xmlns:a16="http://schemas.microsoft.com/office/drawing/2014/main" id="{7A0BA235-A10F-5146-9F7A-B64014665740}"/>
              </a:ext>
            </a:extLst>
          </p:cNvPr>
          <p:cNvSpPr txBox="1"/>
          <p:nvPr/>
        </p:nvSpPr>
        <p:spPr>
          <a:xfrm>
            <a:off x="5105400" y="3581400"/>
            <a:ext cx="4572000" cy="1524000"/>
          </a:xfrm>
          <a:prstGeom prst="rect">
            <a:avLst/>
          </a:prstGeom>
          <a:solidFill>
            <a:srgbClr val="2D2D8A"/>
          </a:solidFill>
          <a:ln w="38100" cap="flat" cmpd="sng" algn="ctr">
            <a:solidFill>
              <a:srgbClr val="FFFFFF"/>
            </a:solidFill>
            <a:prstDash val="solid"/>
          </a:ln>
          <a:effectLst>
            <a:outerShdw blurRad="40000" dist="20000" dir="5400000" rotWithShape="0">
              <a:srgbClr val="000000">
                <a:alpha val="38000"/>
              </a:srgbClr>
            </a:outerShdw>
          </a:effectLst>
        </p:spPr>
        <p:txBody>
          <a:bodyPr wrap="square" rtlCol="0">
            <a:no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FFFFFF"/>
                </a:solidFill>
                <a:effectLst/>
                <a:uLnTx/>
                <a:uFillTx/>
                <a:latin typeface="Arial"/>
                <a:ea typeface="+mn-ea"/>
                <a:cs typeface="+mn-cs"/>
              </a:rPr>
              <a:t>This list is dependent on the nature of the objects and the applications</a:t>
            </a:r>
          </a:p>
        </p:txBody>
      </p:sp>
    </p:spTree>
    <p:extLst>
      <p:ext uri="{BB962C8B-B14F-4D97-AF65-F5344CB8AC3E}">
        <p14:creationId xmlns:p14="http://schemas.microsoft.com/office/powerpoint/2010/main" val="2054326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p:cNvSpPr>
            <a:spLocks noGrp="1" noChangeArrowheads="1"/>
          </p:cNvSpPr>
          <p:nvPr>
            <p:ph type="title"/>
          </p:nvPr>
        </p:nvSpPr>
        <p:spPr/>
        <p:txBody>
          <a:bodyPr/>
          <a:lstStyle/>
          <a:p>
            <a:r>
              <a:rPr lang="en-US" dirty="0"/>
              <a:t>Logical Representation of DAC Policy</a:t>
            </a:r>
          </a:p>
        </p:txBody>
      </p:sp>
      <p:sp>
        <p:nvSpPr>
          <p:cNvPr id="4" name="Text Placeholder 3">
            <a:extLst>
              <a:ext uri="{FF2B5EF4-FFF2-40B4-BE49-F238E27FC236}">
                <a16:creationId xmlns:a16="http://schemas.microsoft.com/office/drawing/2014/main" id="{A9A6C638-9352-9342-BD09-08861A17F5D6}"/>
              </a:ext>
            </a:extLst>
          </p:cNvPr>
          <p:cNvSpPr>
            <a:spLocks noGrp="1"/>
          </p:cNvSpPr>
          <p:nvPr>
            <p:ph type="body" idx="11"/>
          </p:nvPr>
        </p:nvSpPr>
        <p:spPr/>
        <p:txBody>
          <a:bodyPr/>
          <a:lstStyle/>
          <a:p>
            <a:endParaRPr lang="en-US"/>
          </a:p>
        </p:txBody>
      </p:sp>
      <p:grpSp>
        <p:nvGrpSpPr>
          <p:cNvPr id="63" name="Group 62">
            <a:extLst>
              <a:ext uri="{FF2B5EF4-FFF2-40B4-BE49-F238E27FC236}">
                <a16:creationId xmlns:a16="http://schemas.microsoft.com/office/drawing/2014/main" id="{D1AC8DC3-8D39-D640-98A1-D5FF4D73C1DF}"/>
              </a:ext>
            </a:extLst>
          </p:cNvPr>
          <p:cNvGrpSpPr/>
          <p:nvPr/>
        </p:nvGrpSpPr>
        <p:grpSpPr>
          <a:xfrm>
            <a:off x="2019300" y="1338895"/>
            <a:ext cx="8153400" cy="4652666"/>
            <a:chOff x="1981200" y="1676400"/>
            <a:chExt cx="8153400" cy="4652666"/>
          </a:xfrm>
        </p:grpSpPr>
        <p:sp>
          <p:nvSpPr>
            <p:cNvPr id="64" name="Rectangle 4">
              <a:extLst>
                <a:ext uri="{FF2B5EF4-FFF2-40B4-BE49-F238E27FC236}">
                  <a16:creationId xmlns:a16="http://schemas.microsoft.com/office/drawing/2014/main" id="{98D323A5-4C83-3946-A180-C635746FB48A}"/>
                </a:ext>
              </a:extLst>
            </p:cNvPr>
            <p:cNvSpPr>
              <a:spLocks noChangeArrowheads="1"/>
            </p:cNvSpPr>
            <p:nvPr/>
          </p:nvSpPr>
          <p:spPr bwMode="auto">
            <a:xfrm>
              <a:off x="3810000" y="2514600"/>
              <a:ext cx="4724400" cy="2895600"/>
            </a:xfrm>
            <a:prstGeom prst="rect">
              <a:avLst/>
            </a:prstGeom>
            <a:solidFill>
              <a:srgbClr val="DDDDDD"/>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65" name="Line 5">
              <a:extLst>
                <a:ext uri="{FF2B5EF4-FFF2-40B4-BE49-F238E27FC236}">
                  <a16:creationId xmlns:a16="http://schemas.microsoft.com/office/drawing/2014/main" id="{1C552368-F3EC-B048-9BC8-620D83060CD9}"/>
                </a:ext>
              </a:extLst>
            </p:cNvPr>
            <p:cNvSpPr>
              <a:spLocks noChangeShapeType="1"/>
            </p:cNvSpPr>
            <p:nvPr/>
          </p:nvSpPr>
          <p:spPr bwMode="auto">
            <a:xfrm>
              <a:off x="3810000" y="2895600"/>
              <a:ext cx="4724400" cy="0"/>
            </a:xfrm>
            <a:prstGeom prst="line">
              <a:avLst/>
            </a:prstGeom>
            <a:noFill/>
            <a:ln w="9525">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66" name="Line 6">
              <a:extLst>
                <a:ext uri="{FF2B5EF4-FFF2-40B4-BE49-F238E27FC236}">
                  <a16:creationId xmlns:a16="http://schemas.microsoft.com/office/drawing/2014/main" id="{33B40F90-B335-1049-BA1C-3DFFC5448174}"/>
                </a:ext>
              </a:extLst>
            </p:cNvPr>
            <p:cNvSpPr>
              <a:spLocks noChangeShapeType="1"/>
            </p:cNvSpPr>
            <p:nvPr/>
          </p:nvSpPr>
          <p:spPr bwMode="auto">
            <a:xfrm>
              <a:off x="3810000" y="3505200"/>
              <a:ext cx="4724400" cy="0"/>
            </a:xfrm>
            <a:prstGeom prst="line">
              <a:avLst/>
            </a:prstGeom>
            <a:noFill/>
            <a:ln w="9525">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67" name="Line 7">
              <a:extLst>
                <a:ext uri="{FF2B5EF4-FFF2-40B4-BE49-F238E27FC236}">
                  <a16:creationId xmlns:a16="http://schemas.microsoft.com/office/drawing/2014/main" id="{16EA9F37-9E84-7C43-B010-89BB65C3AB22}"/>
                </a:ext>
              </a:extLst>
            </p:cNvPr>
            <p:cNvSpPr>
              <a:spLocks noChangeShapeType="1"/>
            </p:cNvSpPr>
            <p:nvPr/>
          </p:nvSpPr>
          <p:spPr bwMode="auto">
            <a:xfrm>
              <a:off x="3810000" y="4343400"/>
              <a:ext cx="4724400" cy="0"/>
            </a:xfrm>
            <a:prstGeom prst="line">
              <a:avLst/>
            </a:prstGeom>
            <a:noFill/>
            <a:ln w="9525">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68" name="Line 8">
              <a:extLst>
                <a:ext uri="{FF2B5EF4-FFF2-40B4-BE49-F238E27FC236}">
                  <a16:creationId xmlns:a16="http://schemas.microsoft.com/office/drawing/2014/main" id="{49383F6C-9B54-FF45-83CD-C93450A19D41}"/>
                </a:ext>
              </a:extLst>
            </p:cNvPr>
            <p:cNvSpPr>
              <a:spLocks noChangeShapeType="1"/>
            </p:cNvSpPr>
            <p:nvPr/>
          </p:nvSpPr>
          <p:spPr bwMode="auto">
            <a:xfrm>
              <a:off x="3810000" y="4953000"/>
              <a:ext cx="4724400" cy="0"/>
            </a:xfrm>
            <a:prstGeom prst="line">
              <a:avLst/>
            </a:prstGeom>
            <a:noFill/>
            <a:ln w="9525">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69" name="Line 9">
              <a:extLst>
                <a:ext uri="{FF2B5EF4-FFF2-40B4-BE49-F238E27FC236}">
                  <a16:creationId xmlns:a16="http://schemas.microsoft.com/office/drawing/2014/main" id="{2A1B5B55-B928-F943-A97E-E9747C045D91}"/>
                </a:ext>
              </a:extLst>
            </p:cNvPr>
            <p:cNvSpPr>
              <a:spLocks noChangeShapeType="1"/>
            </p:cNvSpPr>
            <p:nvPr/>
          </p:nvSpPr>
          <p:spPr bwMode="auto">
            <a:xfrm>
              <a:off x="4876800" y="2514600"/>
              <a:ext cx="0" cy="2895600"/>
            </a:xfrm>
            <a:prstGeom prst="line">
              <a:avLst/>
            </a:prstGeom>
            <a:noFill/>
            <a:ln w="9525">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0" name="Line 10">
              <a:extLst>
                <a:ext uri="{FF2B5EF4-FFF2-40B4-BE49-F238E27FC236}">
                  <a16:creationId xmlns:a16="http://schemas.microsoft.com/office/drawing/2014/main" id="{F20F877C-6A6C-A942-A694-4616FABE1A12}"/>
                </a:ext>
              </a:extLst>
            </p:cNvPr>
            <p:cNvSpPr>
              <a:spLocks noChangeShapeType="1"/>
            </p:cNvSpPr>
            <p:nvPr/>
          </p:nvSpPr>
          <p:spPr bwMode="auto">
            <a:xfrm>
              <a:off x="5715000" y="2514600"/>
              <a:ext cx="0" cy="2895600"/>
            </a:xfrm>
            <a:prstGeom prst="line">
              <a:avLst/>
            </a:prstGeom>
            <a:noFill/>
            <a:ln w="9525">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1" name="Line 11">
              <a:extLst>
                <a:ext uri="{FF2B5EF4-FFF2-40B4-BE49-F238E27FC236}">
                  <a16:creationId xmlns:a16="http://schemas.microsoft.com/office/drawing/2014/main" id="{4AA3A061-5692-5F43-BBB8-69DFC3DCFDD6}"/>
                </a:ext>
              </a:extLst>
            </p:cNvPr>
            <p:cNvSpPr>
              <a:spLocks noChangeShapeType="1"/>
            </p:cNvSpPr>
            <p:nvPr/>
          </p:nvSpPr>
          <p:spPr bwMode="auto">
            <a:xfrm>
              <a:off x="6705600" y="2514600"/>
              <a:ext cx="0" cy="2895600"/>
            </a:xfrm>
            <a:prstGeom prst="line">
              <a:avLst/>
            </a:prstGeom>
            <a:noFill/>
            <a:ln w="9525">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2" name="Line 12">
              <a:extLst>
                <a:ext uri="{FF2B5EF4-FFF2-40B4-BE49-F238E27FC236}">
                  <a16:creationId xmlns:a16="http://schemas.microsoft.com/office/drawing/2014/main" id="{90C8D8E8-1D06-4947-959A-4EADB3A246C3}"/>
                </a:ext>
              </a:extLst>
            </p:cNvPr>
            <p:cNvSpPr>
              <a:spLocks noChangeShapeType="1"/>
            </p:cNvSpPr>
            <p:nvPr/>
          </p:nvSpPr>
          <p:spPr bwMode="auto">
            <a:xfrm>
              <a:off x="7543800" y="2514600"/>
              <a:ext cx="0" cy="2895600"/>
            </a:xfrm>
            <a:prstGeom prst="line">
              <a:avLst/>
            </a:prstGeom>
            <a:noFill/>
            <a:ln w="9525">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3" name="Text Box 13">
              <a:extLst>
                <a:ext uri="{FF2B5EF4-FFF2-40B4-BE49-F238E27FC236}">
                  <a16:creationId xmlns:a16="http://schemas.microsoft.com/office/drawing/2014/main" id="{1DC255E3-288F-4D46-B665-51DE058734CD}"/>
                </a:ext>
              </a:extLst>
            </p:cNvPr>
            <p:cNvSpPr txBox="1">
              <a:spLocks noChangeArrowheads="1"/>
            </p:cNvSpPr>
            <p:nvPr/>
          </p:nvSpPr>
          <p:spPr bwMode="auto">
            <a:xfrm>
              <a:off x="3352800" y="2971800"/>
              <a:ext cx="3810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U</a:t>
              </a:r>
            </a:p>
          </p:txBody>
        </p:sp>
        <p:sp>
          <p:nvSpPr>
            <p:cNvPr id="74" name="Text Box 14">
              <a:extLst>
                <a:ext uri="{FF2B5EF4-FFF2-40B4-BE49-F238E27FC236}">
                  <a16:creationId xmlns:a16="http://schemas.microsoft.com/office/drawing/2014/main" id="{9E14A979-2B47-C04C-9820-1667911FCE57}"/>
                </a:ext>
              </a:extLst>
            </p:cNvPr>
            <p:cNvSpPr txBox="1">
              <a:spLocks noChangeArrowheads="1"/>
            </p:cNvSpPr>
            <p:nvPr/>
          </p:nvSpPr>
          <p:spPr bwMode="auto">
            <a:xfrm>
              <a:off x="3352800" y="4419600"/>
              <a:ext cx="3810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V</a:t>
              </a:r>
            </a:p>
          </p:txBody>
        </p:sp>
        <p:sp>
          <p:nvSpPr>
            <p:cNvPr id="75" name="Text Box 15">
              <a:extLst>
                <a:ext uri="{FF2B5EF4-FFF2-40B4-BE49-F238E27FC236}">
                  <a16:creationId xmlns:a16="http://schemas.microsoft.com/office/drawing/2014/main" id="{695C91AD-BB7C-044D-AC8B-AE3D1F6A08EA}"/>
                </a:ext>
              </a:extLst>
            </p:cNvPr>
            <p:cNvSpPr txBox="1">
              <a:spLocks noChangeArrowheads="1"/>
            </p:cNvSpPr>
            <p:nvPr/>
          </p:nvSpPr>
          <p:spPr bwMode="auto">
            <a:xfrm>
              <a:off x="5029200" y="2057400"/>
              <a:ext cx="3810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F</a:t>
              </a:r>
            </a:p>
          </p:txBody>
        </p:sp>
        <p:sp>
          <p:nvSpPr>
            <p:cNvPr id="76" name="Text Box 16">
              <a:extLst>
                <a:ext uri="{FF2B5EF4-FFF2-40B4-BE49-F238E27FC236}">
                  <a16:creationId xmlns:a16="http://schemas.microsoft.com/office/drawing/2014/main" id="{2665CD0C-EC28-E54C-B4CE-A36EEA79D7E2}"/>
                </a:ext>
              </a:extLst>
            </p:cNvPr>
            <p:cNvSpPr txBox="1">
              <a:spLocks noChangeArrowheads="1"/>
            </p:cNvSpPr>
            <p:nvPr/>
          </p:nvSpPr>
          <p:spPr bwMode="auto">
            <a:xfrm>
              <a:off x="6934200" y="2057400"/>
              <a:ext cx="3810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G</a:t>
              </a:r>
            </a:p>
          </p:txBody>
        </p:sp>
        <p:sp>
          <p:nvSpPr>
            <p:cNvPr id="77" name="Text Box 17">
              <a:extLst>
                <a:ext uri="{FF2B5EF4-FFF2-40B4-BE49-F238E27FC236}">
                  <a16:creationId xmlns:a16="http://schemas.microsoft.com/office/drawing/2014/main" id="{6E629329-9DB8-D445-A421-078A6CFAC64B}"/>
                </a:ext>
              </a:extLst>
            </p:cNvPr>
            <p:cNvSpPr txBox="1">
              <a:spLocks noChangeArrowheads="1"/>
            </p:cNvSpPr>
            <p:nvPr/>
          </p:nvSpPr>
          <p:spPr bwMode="auto">
            <a:xfrm>
              <a:off x="4953000" y="2971800"/>
              <a:ext cx="7620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orw</a:t>
              </a:r>
            </a:p>
          </p:txBody>
        </p:sp>
        <p:sp>
          <p:nvSpPr>
            <p:cNvPr id="78" name="Text Box 18">
              <a:extLst>
                <a:ext uri="{FF2B5EF4-FFF2-40B4-BE49-F238E27FC236}">
                  <a16:creationId xmlns:a16="http://schemas.microsoft.com/office/drawing/2014/main" id="{5C0EEB48-AC89-4E4E-AE25-559964DCB552}"/>
                </a:ext>
              </a:extLst>
            </p:cNvPr>
            <p:cNvSpPr txBox="1">
              <a:spLocks noChangeArrowheads="1"/>
            </p:cNvSpPr>
            <p:nvPr/>
          </p:nvSpPr>
          <p:spPr bwMode="auto">
            <a:xfrm>
              <a:off x="6781800" y="4343400"/>
              <a:ext cx="7620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orw</a:t>
              </a:r>
            </a:p>
          </p:txBody>
        </p:sp>
        <p:sp>
          <p:nvSpPr>
            <p:cNvPr id="79" name="Text Box 19">
              <a:extLst>
                <a:ext uri="{FF2B5EF4-FFF2-40B4-BE49-F238E27FC236}">
                  <a16:creationId xmlns:a16="http://schemas.microsoft.com/office/drawing/2014/main" id="{B227DB59-D794-3F48-AC84-725BB28FFA55}"/>
                </a:ext>
              </a:extLst>
            </p:cNvPr>
            <p:cNvSpPr txBox="1">
              <a:spLocks noChangeArrowheads="1"/>
            </p:cNvSpPr>
            <p:nvPr/>
          </p:nvSpPr>
          <p:spPr bwMode="auto">
            <a:xfrm>
              <a:off x="5105400" y="4419600"/>
              <a:ext cx="4572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r</a:t>
              </a:r>
            </a:p>
          </p:txBody>
        </p:sp>
        <p:sp>
          <p:nvSpPr>
            <p:cNvPr id="80" name="AutoShape 20">
              <a:extLst>
                <a:ext uri="{FF2B5EF4-FFF2-40B4-BE49-F238E27FC236}">
                  <a16:creationId xmlns:a16="http://schemas.microsoft.com/office/drawing/2014/main" id="{B4B6B982-15E3-344D-BE71-D231DEAF33BC}"/>
                </a:ext>
              </a:extLst>
            </p:cNvPr>
            <p:cNvSpPr>
              <a:spLocks/>
            </p:cNvSpPr>
            <p:nvPr/>
          </p:nvSpPr>
          <p:spPr bwMode="auto">
            <a:xfrm>
              <a:off x="3124200" y="2590800"/>
              <a:ext cx="152400" cy="2743200"/>
            </a:xfrm>
            <a:prstGeom prst="leftBrace">
              <a:avLst>
                <a:gd name="adj1" fmla="val 150000"/>
                <a:gd name="adj2" fmla="val 50000"/>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1" name="Text Box 21">
              <a:extLst>
                <a:ext uri="{FF2B5EF4-FFF2-40B4-BE49-F238E27FC236}">
                  <a16:creationId xmlns:a16="http://schemas.microsoft.com/office/drawing/2014/main" id="{212BA789-AF26-6C4E-9DB6-272297AFAB97}"/>
                </a:ext>
              </a:extLst>
            </p:cNvPr>
            <p:cNvSpPr txBox="1">
              <a:spLocks noChangeArrowheads="1"/>
            </p:cNvSpPr>
            <p:nvPr/>
          </p:nvSpPr>
          <p:spPr bwMode="auto">
            <a:xfrm>
              <a:off x="1981200" y="3733800"/>
              <a:ext cx="12192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CC0000"/>
                  </a:solidFill>
                  <a:effectLst/>
                  <a:uLnTx/>
                  <a:uFillTx/>
                  <a:latin typeface="Times New Roman" pitchFamily="18" charset="0"/>
                </a:rPr>
                <a:t>subjects</a:t>
              </a:r>
            </a:p>
          </p:txBody>
        </p:sp>
        <p:sp>
          <p:nvSpPr>
            <p:cNvPr id="82" name="Text Box 26">
              <a:extLst>
                <a:ext uri="{FF2B5EF4-FFF2-40B4-BE49-F238E27FC236}">
                  <a16:creationId xmlns:a16="http://schemas.microsoft.com/office/drawing/2014/main" id="{04252F6B-4FC5-DA4A-B265-76DC2372DD6D}"/>
                </a:ext>
              </a:extLst>
            </p:cNvPr>
            <p:cNvSpPr txBox="1">
              <a:spLocks noChangeArrowheads="1"/>
            </p:cNvSpPr>
            <p:nvPr/>
          </p:nvSpPr>
          <p:spPr bwMode="auto">
            <a:xfrm>
              <a:off x="5486400" y="1676400"/>
              <a:ext cx="1524000" cy="457200"/>
            </a:xfrm>
            <a:prstGeom prst="rect">
              <a:avLst/>
            </a:prstGeom>
            <a:noFill/>
            <a:ln w="9525">
              <a:noFill/>
              <a:miter lim="800000"/>
              <a:headEnd/>
              <a:tailEnd/>
            </a:ln>
            <a:effectLst/>
          </p:spPr>
          <p:txBody>
            <a:bodyPr wrap="square">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imes New Roman" pitchFamily="18" charset="0"/>
                </a:rPr>
                <a:t>objects</a:t>
              </a:r>
              <a:r>
                <a:rPr kumimoji="0" lang="en-US" sz="2400" b="0" i="0" u="none" strike="noStrike" kern="0" cap="none" spc="0" normalizeH="0" baseline="0" noProof="0" dirty="0">
                  <a:ln>
                    <a:noFill/>
                  </a:ln>
                  <a:solidFill>
                    <a:srgbClr val="000000"/>
                  </a:solidFill>
                  <a:effectLst/>
                  <a:uLnTx/>
                  <a:uFillTx/>
                  <a:latin typeface="Times New Roman" pitchFamily="18" charset="0"/>
                </a:rPr>
                <a:t> </a:t>
              </a:r>
            </a:p>
          </p:txBody>
        </p:sp>
        <p:sp>
          <p:nvSpPr>
            <p:cNvPr id="83" name="Line 27">
              <a:extLst>
                <a:ext uri="{FF2B5EF4-FFF2-40B4-BE49-F238E27FC236}">
                  <a16:creationId xmlns:a16="http://schemas.microsoft.com/office/drawing/2014/main" id="{633884E7-E1A2-7A4A-A21A-0D66183C178A}"/>
                </a:ext>
              </a:extLst>
            </p:cNvPr>
            <p:cNvSpPr>
              <a:spLocks noChangeShapeType="1"/>
            </p:cNvSpPr>
            <p:nvPr/>
          </p:nvSpPr>
          <p:spPr bwMode="auto">
            <a:xfrm>
              <a:off x="7543800" y="1905000"/>
              <a:ext cx="9144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4" name="Line 28">
              <a:extLst>
                <a:ext uri="{FF2B5EF4-FFF2-40B4-BE49-F238E27FC236}">
                  <a16:creationId xmlns:a16="http://schemas.microsoft.com/office/drawing/2014/main" id="{F0EA2AB3-74FF-BF4D-A21D-F603357CA70E}"/>
                </a:ext>
              </a:extLst>
            </p:cNvPr>
            <p:cNvSpPr>
              <a:spLocks noChangeShapeType="1"/>
            </p:cNvSpPr>
            <p:nvPr/>
          </p:nvSpPr>
          <p:spPr bwMode="auto">
            <a:xfrm flipH="1">
              <a:off x="3810000" y="1905000"/>
              <a:ext cx="10668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5" name="Text Box 30">
              <a:extLst>
                <a:ext uri="{FF2B5EF4-FFF2-40B4-BE49-F238E27FC236}">
                  <a16:creationId xmlns:a16="http://schemas.microsoft.com/office/drawing/2014/main" id="{4E4669B1-1D04-BF4B-B1CA-EE14A5C3501B}"/>
                </a:ext>
              </a:extLst>
            </p:cNvPr>
            <p:cNvSpPr txBox="1">
              <a:spLocks noChangeArrowheads="1"/>
            </p:cNvSpPr>
            <p:nvPr/>
          </p:nvSpPr>
          <p:spPr bwMode="auto">
            <a:xfrm>
              <a:off x="8915400" y="3733800"/>
              <a:ext cx="9906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CC0000"/>
                  </a:solidFill>
                  <a:effectLst/>
                  <a:uLnTx/>
                  <a:uFillTx/>
                  <a:latin typeface="Times New Roman" pitchFamily="18" charset="0"/>
                </a:rPr>
                <a:t>rights</a:t>
              </a:r>
            </a:p>
          </p:txBody>
        </p:sp>
        <p:sp>
          <p:nvSpPr>
            <p:cNvPr id="86" name="Line 31">
              <a:extLst>
                <a:ext uri="{FF2B5EF4-FFF2-40B4-BE49-F238E27FC236}">
                  <a16:creationId xmlns:a16="http://schemas.microsoft.com/office/drawing/2014/main" id="{D721C7E2-B35C-9240-91B4-FBD44D280EA3}"/>
                </a:ext>
              </a:extLst>
            </p:cNvPr>
            <p:cNvSpPr>
              <a:spLocks noChangeShapeType="1"/>
            </p:cNvSpPr>
            <p:nvPr/>
          </p:nvSpPr>
          <p:spPr bwMode="auto">
            <a:xfrm flipH="1" flipV="1">
              <a:off x="5638800" y="3200400"/>
              <a:ext cx="3200400" cy="7620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7" name="Line 32">
              <a:extLst>
                <a:ext uri="{FF2B5EF4-FFF2-40B4-BE49-F238E27FC236}">
                  <a16:creationId xmlns:a16="http://schemas.microsoft.com/office/drawing/2014/main" id="{F95CB356-E222-C345-A52B-371775C85366}"/>
                </a:ext>
              </a:extLst>
            </p:cNvPr>
            <p:cNvSpPr>
              <a:spLocks noChangeShapeType="1"/>
            </p:cNvSpPr>
            <p:nvPr/>
          </p:nvSpPr>
          <p:spPr bwMode="auto">
            <a:xfrm flipH="1">
              <a:off x="5410200" y="3962400"/>
              <a:ext cx="3429000" cy="6096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8" name="Line 33">
              <a:extLst>
                <a:ext uri="{FF2B5EF4-FFF2-40B4-BE49-F238E27FC236}">
                  <a16:creationId xmlns:a16="http://schemas.microsoft.com/office/drawing/2014/main" id="{54231683-A0AE-1F40-BB02-A020C27DFB03}"/>
                </a:ext>
              </a:extLst>
            </p:cNvPr>
            <p:cNvSpPr>
              <a:spLocks noChangeShapeType="1"/>
            </p:cNvSpPr>
            <p:nvPr/>
          </p:nvSpPr>
          <p:spPr bwMode="auto">
            <a:xfrm flipH="1">
              <a:off x="7467600" y="3962400"/>
              <a:ext cx="1371600" cy="6096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9" name="Text Box 34">
              <a:extLst>
                <a:ext uri="{FF2B5EF4-FFF2-40B4-BE49-F238E27FC236}">
                  <a16:creationId xmlns:a16="http://schemas.microsoft.com/office/drawing/2014/main" id="{880ED03F-A659-FE48-951A-4A1539FDB526}"/>
                </a:ext>
              </a:extLst>
            </p:cNvPr>
            <p:cNvSpPr txBox="1">
              <a:spLocks noChangeArrowheads="1"/>
            </p:cNvSpPr>
            <p:nvPr/>
          </p:nvSpPr>
          <p:spPr bwMode="auto">
            <a:xfrm>
              <a:off x="8915400" y="4343400"/>
              <a:ext cx="1219200" cy="10668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0" i="0" u="none" strike="noStrike" kern="0" cap="none" spc="0" normalizeH="0" baseline="0" noProof="0">
                  <a:ln>
                    <a:noFill/>
                  </a:ln>
                  <a:solidFill>
                    <a:srgbClr val="333399"/>
                  </a:solidFill>
                  <a:effectLst/>
                  <a:uLnTx/>
                  <a:uFillTx/>
                  <a:latin typeface="Times New Roman" pitchFamily="18" charset="0"/>
                </a:rPr>
                <a:t>o – own   r – read  w – write</a:t>
              </a:r>
              <a:r>
                <a:rPr kumimoji="0" lang="en-US" sz="2400" b="0" i="0" u="none" strike="noStrike" kern="0" cap="none" spc="0" normalizeH="0" baseline="0" noProof="0">
                  <a:ln>
                    <a:noFill/>
                  </a:ln>
                  <a:solidFill>
                    <a:srgbClr val="333399"/>
                  </a:solidFill>
                  <a:effectLst/>
                  <a:uLnTx/>
                  <a:uFillTx/>
                  <a:latin typeface="Times New Roman" pitchFamily="18" charset="0"/>
                </a:rPr>
                <a:t> </a:t>
              </a:r>
            </a:p>
          </p:txBody>
        </p:sp>
        <p:sp>
          <p:nvSpPr>
            <p:cNvPr id="90" name="TextBox 89">
              <a:extLst>
                <a:ext uri="{FF2B5EF4-FFF2-40B4-BE49-F238E27FC236}">
                  <a16:creationId xmlns:a16="http://schemas.microsoft.com/office/drawing/2014/main" id="{3FE9FC56-8C3F-5446-8406-71D611E72169}"/>
                </a:ext>
              </a:extLst>
            </p:cNvPr>
            <p:cNvSpPr txBox="1"/>
            <p:nvPr/>
          </p:nvSpPr>
          <p:spPr>
            <a:xfrm>
              <a:off x="2895600" y="5867401"/>
              <a:ext cx="6858000" cy="461665"/>
            </a:xfrm>
            <a:prstGeom prst="rect">
              <a:avLst/>
            </a:prstGeom>
            <a:gradFill rotWithShape="1">
              <a:gsLst>
                <a:gs pos="0">
                  <a:srgbClr val="BBE0E3">
                    <a:tint val="50000"/>
                    <a:satMod val="300000"/>
                  </a:srgbClr>
                </a:gs>
                <a:gs pos="35000">
                  <a:srgbClr val="BBE0E3">
                    <a:tint val="37000"/>
                    <a:satMod val="300000"/>
                  </a:srgbClr>
                </a:gs>
                <a:gs pos="100000">
                  <a:srgbClr val="BBE0E3">
                    <a:tint val="15000"/>
                    <a:satMod val="350000"/>
                  </a:srgbClr>
                </a:gs>
              </a:gsLst>
              <a:lin ang="16200000" scaled="1"/>
            </a:gradFill>
            <a:ln w="9525" cap="flat" cmpd="sng" algn="ctr">
              <a:solidFill>
                <a:srgbClr val="BBE0E3">
                  <a:shade val="95000"/>
                  <a:satMod val="105000"/>
                </a:srgbClr>
              </a:solidFill>
              <a:prstDash val="solid"/>
            </a:ln>
            <a:effectLst>
              <a:outerShdw blurRad="50800" dist="38100" dir="2700000" algn="br" rotWithShape="0">
                <a:srgbClr val="000000">
                  <a:alpha val="43000"/>
                </a:srgbClr>
              </a:outerShdw>
            </a:effectLst>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ea typeface="+mn-ea"/>
                  <a:cs typeface="+mn-cs"/>
                </a:rPr>
                <a:t>Logically, DAC can be represented as a matrix!</a:t>
              </a:r>
            </a:p>
          </p:txBody>
        </p:sp>
      </p:grpSp>
    </p:spTree>
    <p:extLst>
      <p:ext uri="{BB962C8B-B14F-4D97-AF65-F5344CB8AC3E}">
        <p14:creationId xmlns:p14="http://schemas.microsoft.com/office/powerpoint/2010/main" val="368550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r>
              <a:rPr lang="en-US" dirty="0"/>
              <a:t>Two Types of Implementation</a:t>
            </a:r>
          </a:p>
        </p:txBody>
      </p:sp>
      <p:sp>
        <p:nvSpPr>
          <p:cNvPr id="7" name="Text Placeholder 6">
            <a:extLst>
              <a:ext uri="{FF2B5EF4-FFF2-40B4-BE49-F238E27FC236}">
                <a16:creationId xmlns:a16="http://schemas.microsoft.com/office/drawing/2014/main" id="{345979B8-80AF-C64E-A064-F7236FD3CCF7}"/>
              </a:ext>
            </a:extLst>
          </p:cNvPr>
          <p:cNvSpPr>
            <a:spLocks noGrp="1"/>
          </p:cNvSpPr>
          <p:nvPr>
            <p:ph type="body" idx="11"/>
          </p:nvPr>
        </p:nvSpPr>
        <p:spPr/>
        <p:txBody>
          <a:bodyPr/>
          <a:lstStyle/>
          <a:p>
            <a:endParaRPr lang="en-US"/>
          </a:p>
        </p:txBody>
      </p:sp>
      <p:sp>
        <p:nvSpPr>
          <p:cNvPr id="353283" name="Rectangle 3"/>
          <p:cNvSpPr>
            <a:spLocks noGrp="1" noChangeArrowheads="1"/>
          </p:cNvSpPr>
          <p:nvPr>
            <p:ph idx="1"/>
          </p:nvPr>
        </p:nvSpPr>
        <p:spPr>
          <a:xfrm>
            <a:off x="513349" y="1268243"/>
            <a:ext cx="10840451" cy="609600"/>
          </a:xfrm>
        </p:spPr>
        <p:txBody>
          <a:bodyPr/>
          <a:lstStyle/>
          <a:p>
            <a:r>
              <a:rPr lang="en-US" dirty="0"/>
              <a:t> Design Issues:  </a:t>
            </a:r>
            <a:r>
              <a:rPr lang="en-US" dirty="0">
                <a:solidFill>
                  <a:srgbClr val="FF0000"/>
                </a:solidFill>
              </a:rPr>
              <a:t>where to store</a:t>
            </a:r>
            <a:r>
              <a:rPr lang="en-US" dirty="0"/>
              <a:t>, </a:t>
            </a:r>
            <a:r>
              <a:rPr lang="en-US" dirty="0">
                <a:solidFill>
                  <a:srgbClr val="FF0000"/>
                </a:solidFill>
              </a:rPr>
              <a:t>in which form</a:t>
            </a:r>
            <a:r>
              <a:rPr lang="en-US" dirty="0"/>
              <a:t>, and </a:t>
            </a:r>
            <a:r>
              <a:rPr lang="en-US" dirty="0">
                <a:solidFill>
                  <a:srgbClr val="FF0000"/>
                </a:solidFill>
              </a:rPr>
              <a:t>how to enforce</a:t>
            </a:r>
          </a:p>
        </p:txBody>
      </p:sp>
      <p:grpSp>
        <p:nvGrpSpPr>
          <p:cNvPr id="82" name="Group 81">
            <a:extLst>
              <a:ext uri="{FF2B5EF4-FFF2-40B4-BE49-F238E27FC236}">
                <a16:creationId xmlns:a16="http://schemas.microsoft.com/office/drawing/2014/main" id="{E527D90C-684F-8D4D-AA9D-101D766E4B27}"/>
              </a:ext>
            </a:extLst>
          </p:cNvPr>
          <p:cNvGrpSpPr/>
          <p:nvPr/>
        </p:nvGrpSpPr>
        <p:grpSpPr>
          <a:xfrm>
            <a:off x="1447800" y="1814250"/>
            <a:ext cx="8686800" cy="4271664"/>
            <a:chOff x="1447800" y="1976736"/>
            <a:chExt cx="8686800" cy="4271664"/>
          </a:xfrm>
        </p:grpSpPr>
        <p:grpSp>
          <p:nvGrpSpPr>
            <p:cNvPr id="83" name="Group 82">
              <a:extLst>
                <a:ext uri="{FF2B5EF4-FFF2-40B4-BE49-F238E27FC236}">
                  <a16:creationId xmlns:a16="http://schemas.microsoft.com/office/drawing/2014/main" id="{6939F2E6-5627-DC4D-B6A6-BA87FFC594A5}"/>
                </a:ext>
              </a:extLst>
            </p:cNvPr>
            <p:cNvGrpSpPr/>
            <p:nvPr/>
          </p:nvGrpSpPr>
          <p:grpSpPr>
            <a:xfrm>
              <a:off x="5257800" y="2667000"/>
              <a:ext cx="2667000" cy="3581400"/>
              <a:chOff x="3733800" y="2667000"/>
              <a:chExt cx="2667000" cy="3581400"/>
            </a:xfrm>
          </p:grpSpPr>
          <p:sp>
            <p:nvSpPr>
              <p:cNvPr id="117" name="Rectangle 40">
                <a:extLst>
                  <a:ext uri="{FF2B5EF4-FFF2-40B4-BE49-F238E27FC236}">
                    <a16:creationId xmlns:a16="http://schemas.microsoft.com/office/drawing/2014/main" id="{B3F4A441-4D31-D74F-9645-DB1CBC12F8C6}"/>
                  </a:ext>
                </a:extLst>
              </p:cNvPr>
              <p:cNvSpPr>
                <a:spLocks noChangeArrowheads="1"/>
              </p:cNvSpPr>
              <p:nvPr/>
            </p:nvSpPr>
            <p:spPr bwMode="auto">
              <a:xfrm>
                <a:off x="5562600" y="2667000"/>
                <a:ext cx="838200" cy="358140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18" name="Rectangle 39">
                <a:extLst>
                  <a:ext uri="{FF2B5EF4-FFF2-40B4-BE49-F238E27FC236}">
                    <a16:creationId xmlns:a16="http://schemas.microsoft.com/office/drawing/2014/main" id="{35B6B634-98FF-884A-9722-AB11160E0E72}"/>
                  </a:ext>
                </a:extLst>
              </p:cNvPr>
              <p:cNvSpPr>
                <a:spLocks noChangeArrowheads="1"/>
              </p:cNvSpPr>
              <p:nvPr/>
            </p:nvSpPr>
            <p:spPr bwMode="auto">
              <a:xfrm>
                <a:off x="3733800" y="2667000"/>
                <a:ext cx="838200" cy="358140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grpSp>
        <p:grpSp>
          <p:nvGrpSpPr>
            <p:cNvPr id="84" name="Group 83">
              <a:extLst>
                <a:ext uri="{FF2B5EF4-FFF2-40B4-BE49-F238E27FC236}">
                  <a16:creationId xmlns:a16="http://schemas.microsoft.com/office/drawing/2014/main" id="{3EC6BB32-08FE-024E-8D54-E789B1AFBCAC}"/>
                </a:ext>
              </a:extLst>
            </p:cNvPr>
            <p:cNvGrpSpPr/>
            <p:nvPr/>
          </p:nvGrpSpPr>
          <p:grpSpPr>
            <a:xfrm>
              <a:off x="3200400" y="3733800"/>
              <a:ext cx="5715000" cy="2057400"/>
              <a:chOff x="1676400" y="3733800"/>
              <a:chExt cx="5715000" cy="2057400"/>
            </a:xfrm>
          </p:grpSpPr>
          <p:sp>
            <p:nvSpPr>
              <p:cNvPr id="115" name="Rectangle 37">
                <a:extLst>
                  <a:ext uri="{FF2B5EF4-FFF2-40B4-BE49-F238E27FC236}">
                    <a16:creationId xmlns:a16="http://schemas.microsoft.com/office/drawing/2014/main" id="{B383D96E-02B7-634F-B818-A04DE8694630}"/>
                  </a:ext>
                </a:extLst>
              </p:cNvPr>
              <p:cNvSpPr>
                <a:spLocks noChangeArrowheads="1"/>
              </p:cNvSpPr>
              <p:nvPr/>
            </p:nvSpPr>
            <p:spPr bwMode="auto">
              <a:xfrm>
                <a:off x="1676400" y="3733800"/>
                <a:ext cx="5715000" cy="609600"/>
              </a:xfrm>
              <a:prstGeom prst="rect">
                <a:avLst/>
              </a:prstGeom>
              <a:solidFill>
                <a:srgbClr val="009999"/>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16" name="Rectangle 38">
                <a:extLst>
                  <a:ext uri="{FF2B5EF4-FFF2-40B4-BE49-F238E27FC236}">
                    <a16:creationId xmlns:a16="http://schemas.microsoft.com/office/drawing/2014/main" id="{5E033A62-DC3F-4A41-A2AB-08A0B2B1F096}"/>
                  </a:ext>
                </a:extLst>
              </p:cNvPr>
              <p:cNvSpPr>
                <a:spLocks noChangeArrowheads="1"/>
              </p:cNvSpPr>
              <p:nvPr/>
            </p:nvSpPr>
            <p:spPr bwMode="auto">
              <a:xfrm>
                <a:off x="1676400" y="5181600"/>
                <a:ext cx="5715000" cy="609600"/>
              </a:xfrm>
              <a:prstGeom prst="rect">
                <a:avLst/>
              </a:prstGeom>
              <a:solidFill>
                <a:srgbClr val="009999"/>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grpSp>
        <p:sp>
          <p:nvSpPr>
            <p:cNvPr id="85" name="Rectangle 4">
              <a:extLst>
                <a:ext uri="{FF2B5EF4-FFF2-40B4-BE49-F238E27FC236}">
                  <a16:creationId xmlns:a16="http://schemas.microsoft.com/office/drawing/2014/main" id="{DB224331-8134-2346-BAE4-62D75215CBF2}"/>
                </a:ext>
              </a:extLst>
            </p:cNvPr>
            <p:cNvSpPr>
              <a:spLocks noChangeArrowheads="1"/>
            </p:cNvSpPr>
            <p:nvPr/>
          </p:nvSpPr>
          <p:spPr bwMode="auto">
            <a:xfrm>
              <a:off x="4191000" y="3352800"/>
              <a:ext cx="4724400" cy="2895600"/>
            </a:xfrm>
            <a:prstGeom prst="rect">
              <a:avLst/>
            </a:prstGeom>
            <a:no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6" name="Line 5">
              <a:extLst>
                <a:ext uri="{FF2B5EF4-FFF2-40B4-BE49-F238E27FC236}">
                  <a16:creationId xmlns:a16="http://schemas.microsoft.com/office/drawing/2014/main" id="{DE315930-E374-384F-87C1-6921761F25A7}"/>
                </a:ext>
              </a:extLst>
            </p:cNvPr>
            <p:cNvSpPr>
              <a:spLocks noChangeShapeType="1"/>
            </p:cNvSpPr>
            <p:nvPr/>
          </p:nvSpPr>
          <p:spPr bwMode="auto">
            <a:xfrm>
              <a:off x="4191000" y="3733800"/>
              <a:ext cx="4724400" cy="0"/>
            </a:xfrm>
            <a:prstGeom prst="line">
              <a:avLst/>
            </a:prstGeom>
            <a:noFill/>
            <a:ln w="9525">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7" name="Line 6">
              <a:extLst>
                <a:ext uri="{FF2B5EF4-FFF2-40B4-BE49-F238E27FC236}">
                  <a16:creationId xmlns:a16="http://schemas.microsoft.com/office/drawing/2014/main" id="{1C0C90CE-8B89-5D4B-8249-189794FCBB60}"/>
                </a:ext>
              </a:extLst>
            </p:cNvPr>
            <p:cNvSpPr>
              <a:spLocks noChangeShapeType="1"/>
            </p:cNvSpPr>
            <p:nvPr/>
          </p:nvSpPr>
          <p:spPr bwMode="auto">
            <a:xfrm>
              <a:off x="4191000" y="4343400"/>
              <a:ext cx="4724400" cy="0"/>
            </a:xfrm>
            <a:prstGeom prst="line">
              <a:avLst/>
            </a:prstGeom>
            <a:noFill/>
            <a:ln w="9525">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8" name="Line 7">
              <a:extLst>
                <a:ext uri="{FF2B5EF4-FFF2-40B4-BE49-F238E27FC236}">
                  <a16:creationId xmlns:a16="http://schemas.microsoft.com/office/drawing/2014/main" id="{A3D7823D-B216-044F-B295-B02BD48FAA94}"/>
                </a:ext>
              </a:extLst>
            </p:cNvPr>
            <p:cNvSpPr>
              <a:spLocks noChangeShapeType="1"/>
            </p:cNvSpPr>
            <p:nvPr/>
          </p:nvSpPr>
          <p:spPr bwMode="auto">
            <a:xfrm>
              <a:off x="4191000" y="5181600"/>
              <a:ext cx="4724400" cy="0"/>
            </a:xfrm>
            <a:prstGeom prst="line">
              <a:avLst/>
            </a:prstGeom>
            <a:noFill/>
            <a:ln w="9525">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9" name="Line 8">
              <a:extLst>
                <a:ext uri="{FF2B5EF4-FFF2-40B4-BE49-F238E27FC236}">
                  <a16:creationId xmlns:a16="http://schemas.microsoft.com/office/drawing/2014/main" id="{EE2FBBE1-8DEC-1348-B2C6-DC9AB70494BB}"/>
                </a:ext>
              </a:extLst>
            </p:cNvPr>
            <p:cNvSpPr>
              <a:spLocks noChangeShapeType="1"/>
            </p:cNvSpPr>
            <p:nvPr/>
          </p:nvSpPr>
          <p:spPr bwMode="auto">
            <a:xfrm>
              <a:off x="4191000" y="5791200"/>
              <a:ext cx="4724400" cy="0"/>
            </a:xfrm>
            <a:prstGeom prst="line">
              <a:avLst/>
            </a:prstGeom>
            <a:noFill/>
            <a:ln w="9525">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0" name="Line 9">
              <a:extLst>
                <a:ext uri="{FF2B5EF4-FFF2-40B4-BE49-F238E27FC236}">
                  <a16:creationId xmlns:a16="http://schemas.microsoft.com/office/drawing/2014/main" id="{5D5B370E-7D0F-E04A-9A80-EA02BD275623}"/>
                </a:ext>
              </a:extLst>
            </p:cNvPr>
            <p:cNvSpPr>
              <a:spLocks noChangeShapeType="1"/>
            </p:cNvSpPr>
            <p:nvPr/>
          </p:nvSpPr>
          <p:spPr bwMode="auto">
            <a:xfrm>
              <a:off x="5257800" y="3352800"/>
              <a:ext cx="0" cy="2895600"/>
            </a:xfrm>
            <a:prstGeom prst="line">
              <a:avLst/>
            </a:prstGeom>
            <a:noFill/>
            <a:ln w="9525">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1" name="Line 10">
              <a:extLst>
                <a:ext uri="{FF2B5EF4-FFF2-40B4-BE49-F238E27FC236}">
                  <a16:creationId xmlns:a16="http://schemas.microsoft.com/office/drawing/2014/main" id="{6D621DF5-7636-BA43-9E7B-94A1DEF01CF2}"/>
                </a:ext>
              </a:extLst>
            </p:cNvPr>
            <p:cNvSpPr>
              <a:spLocks noChangeShapeType="1"/>
            </p:cNvSpPr>
            <p:nvPr/>
          </p:nvSpPr>
          <p:spPr bwMode="auto">
            <a:xfrm>
              <a:off x="6096000" y="3352800"/>
              <a:ext cx="0" cy="2895600"/>
            </a:xfrm>
            <a:prstGeom prst="line">
              <a:avLst/>
            </a:prstGeom>
            <a:noFill/>
            <a:ln w="9525">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2" name="Line 11">
              <a:extLst>
                <a:ext uri="{FF2B5EF4-FFF2-40B4-BE49-F238E27FC236}">
                  <a16:creationId xmlns:a16="http://schemas.microsoft.com/office/drawing/2014/main" id="{3DD4B088-0C0B-D547-A1CD-035ABD42A98A}"/>
                </a:ext>
              </a:extLst>
            </p:cNvPr>
            <p:cNvSpPr>
              <a:spLocks noChangeShapeType="1"/>
            </p:cNvSpPr>
            <p:nvPr/>
          </p:nvSpPr>
          <p:spPr bwMode="auto">
            <a:xfrm>
              <a:off x="7086600" y="3352800"/>
              <a:ext cx="0" cy="2895600"/>
            </a:xfrm>
            <a:prstGeom prst="line">
              <a:avLst/>
            </a:prstGeom>
            <a:noFill/>
            <a:ln w="9525">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3" name="Line 12">
              <a:extLst>
                <a:ext uri="{FF2B5EF4-FFF2-40B4-BE49-F238E27FC236}">
                  <a16:creationId xmlns:a16="http://schemas.microsoft.com/office/drawing/2014/main" id="{D58A7469-130E-E64A-AB78-7AA29BF01D6E}"/>
                </a:ext>
              </a:extLst>
            </p:cNvPr>
            <p:cNvSpPr>
              <a:spLocks noChangeShapeType="1"/>
            </p:cNvSpPr>
            <p:nvPr/>
          </p:nvSpPr>
          <p:spPr bwMode="auto">
            <a:xfrm>
              <a:off x="7924800" y="3352800"/>
              <a:ext cx="0" cy="2895600"/>
            </a:xfrm>
            <a:prstGeom prst="line">
              <a:avLst/>
            </a:prstGeom>
            <a:noFill/>
            <a:ln w="9525">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4" name="Text Box 13">
              <a:extLst>
                <a:ext uri="{FF2B5EF4-FFF2-40B4-BE49-F238E27FC236}">
                  <a16:creationId xmlns:a16="http://schemas.microsoft.com/office/drawing/2014/main" id="{D59EB4FE-BDCD-C743-97BA-B7F9E478ECF4}"/>
                </a:ext>
              </a:extLst>
            </p:cNvPr>
            <p:cNvSpPr txBox="1">
              <a:spLocks noChangeArrowheads="1"/>
            </p:cNvSpPr>
            <p:nvPr/>
          </p:nvSpPr>
          <p:spPr bwMode="auto">
            <a:xfrm>
              <a:off x="3733800" y="3810000"/>
              <a:ext cx="3810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U</a:t>
              </a:r>
            </a:p>
          </p:txBody>
        </p:sp>
        <p:sp>
          <p:nvSpPr>
            <p:cNvPr id="95" name="Text Box 14">
              <a:extLst>
                <a:ext uri="{FF2B5EF4-FFF2-40B4-BE49-F238E27FC236}">
                  <a16:creationId xmlns:a16="http://schemas.microsoft.com/office/drawing/2014/main" id="{CB12C4E9-EB89-CA44-B462-81427671F126}"/>
                </a:ext>
              </a:extLst>
            </p:cNvPr>
            <p:cNvSpPr txBox="1">
              <a:spLocks noChangeArrowheads="1"/>
            </p:cNvSpPr>
            <p:nvPr/>
          </p:nvSpPr>
          <p:spPr bwMode="auto">
            <a:xfrm>
              <a:off x="3733800" y="5257800"/>
              <a:ext cx="3810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V</a:t>
              </a:r>
            </a:p>
          </p:txBody>
        </p:sp>
        <p:sp>
          <p:nvSpPr>
            <p:cNvPr id="96" name="Text Box 15">
              <a:extLst>
                <a:ext uri="{FF2B5EF4-FFF2-40B4-BE49-F238E27FC236}">
                  <a16:creationId xmlns:a16="http://schemas.microsoft.com/office/drawing/2014/main" id="{D80EA646-D2C1-E84E-9127-D1B36ACB1699}"/>
                </a:ext>
              </a:extLst>
            </p:cNvPr>
            <p:cNvSpPr txBox="1">
              <a:spLocks noChangeArrowheads="1"/>
            </p:cNvSpPr>
            <p:nvPr/>
          </p:nvSpPr>
          <p:spPr bwMode="auto">
            <a:xfrm>
              <a:off x="5410200" y="2895600"/>
              <a:ext cx="3810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F</a:t>
              </a:r>
            </a:p>
          </p:txBody>
        </p:sp>
        <p:sp>
          <p:nvSpPr>
            <p:cNvPr id="97" name="Text Box 16">
              <a:extLst>
                <a:ext uri="{FF2B5EF4-FFF2-40B4-BE49-F238E27FC236}">
                  <a16:creationId xmlns:a16="http://schemas.microsoft.com/office/drawing/2014/main" id="{1938E036-99F5-B645-88E5-A62A025DCBDB}"/>
                </a:ext>
              </a:extLst>
            </p:cNvPr>
            <p:cNvSpPr txBox="1">
              <a:spLocks noChangeArrowheads="1"/>
            </p:cNvSpPr>
            <p:nvPr/>
          </p:nvSpPr>
          <p:spPr bwMode="auto">
            <a:xfrm>
              <a:off x="7315200" y="2895600"/>
              <a:ext cx="3810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G</a:t>
              </a:r>
            </a:p>
          </p:txBody>
        </p:sp>
        <p:sp>
          <p:nvSpPr>
            <p:cNvPr id="98" name="Text Box 17">
              <a:extLst>
                <a:ext uri="{FF2B5EF4-FFF2-40B4-BE49-F238E27FC236}">
                  <a16:creationId xmlns:a16="http://schemas.microsoft.com/office/drawing/2014/main" id="{56E494E8-C97D-C245-932E-DA160A7F5696}"/>
                </a:ext>
              </a:extLst>
            </p:cNvPr>
            <p:cNvSpPr txBox="1">
              <a:spLocks noChangeArrowheads="1"/>
            </p:cNvSpPr>
            <p:nvPr/>
          </p:nvSpPr>
          <p:spPr bwMode="auto">
            <a:xfrm>
              <a:off x="5334000" y="3810000"/>
              <a:ext cx="7620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orw</a:t>
              </a:r>
            </a:p>
          </p:txBody>
        </p:sp>
        <p:sp>
          <p:nvSpPr>
            <p:cNvPr id="99" name="Text Box 18">
              <a:extLst>
                <a:ext uri="{FF2B5EF4-FFF2-40B4-BE49-F238E27FC236}">
                  <a16:creationId xmlns:a16="http://schemas.microsoft.com/office/drawing/2014/main" id="{4A7D9130-AD7A-6F4E-9206-246632BA4591}"/>
                </a:ext>
              </a:extLst>
            </p:cNvPr>
            <p:cNvSpPr txBox="1">
              <a:spLocks noChangeArrowheads="1"/>
            </p:cNvSpPr>
            <p:nvPr/>
          </p:nvSpPr>
          <p:spPr bwMode="auto">
            <a:xfrm>
              <a:off x="7162800" y="5181600"/>
              <a:ext cx="7620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orw</a:t>
              </a:r>
            </a:p>
          </p:txBody>
        </p:sp>
        <p:sp>
          <p:nvSpPr>
            <p:cNvPr id="100" name="Text Box 19">
              <a:extLst>
                <a:ext uri="{FF2B5EF4-FFF2-40B4-BE49-F238E27FC236}">
                  <a16:creationId xmlns:a16="http://schemas.microsoft.com/office/drawing/2014/main" id="{09FFDA89-FDF7-9043-95A2-3E1E910FD314}"/>
                </a:ext>
              </a:extLst>
            </p:cNvPr>
            <p:cNvSpPr txBox="1">
              <a:spLocks noChangeArrowheads="1"/>
            </p:cNvSpPr>
            <p:nvPr/>
          </p:nvSpPr>
          <p:spPr bwMode="auto">
            <a:xfrm>
              <a:off x="5486400" y="5257800"/>
              <a:ext cx="4572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r</a:t>
              </a:r>
            </a:p>
          </p:txBody>
        </p:sp>
        <p:sp>
          <p:nvSpPr>
            <p:cNvPr id="101" name="Text Box 21">
              <a:extLst>
                <a:ext uri="{FF2B5EF4-FFF2-40B4-BE49-F238E27FC236}">
                  <a16:creationId xmlns:a16="http://schemas.microsoft.com/office/drawing/2014/main" id="{49BACE8B-C53B-BB41-A041-C63FE3F414C4}"/>
                </a:ext>
              </a:extLst>
            </p:cNvPr>
            <p:cNvSpPr txBox="1">
              <a:spLocks noChangeArrowheads="1"/>
            </p:cNvSpPr>
            <p:nvPr/>
          </p:nvSpPr>
          <p:spPr bwMode="auto">
            <a:xfrm>
              <a:off x="2819400" y="3048000"/>
              <a:ext cx="12192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333399"/>
                  </a:solidFill>
                  <a:effectLst/>
                  <a:uLnTx/>
                  <a:uFillTx/>
                  <a:latin typeface="Times New Roman" pitchFamily="18" charset="0"/>
                </a:rPr>
                <a:t>subjects</a:t>
              </a:r>
            </a:p>
          </p:txBody>
        </p:sp>
        <p:sp>
          <p:nvSpPr>
            <p:cNvPr id="102" name="Text Box 22">
              <a:extLst>
                <a:ext uri="{FF2B5EF4-FFF2-40B4-BE49-F238E27FC236}">
                  <a16:creationId xmlns:a16="http://schemas.microsoft.com/office/drawing/2014/main" id="{4763A247-C317-7D46-8D7F-D10AF19D7BD6}"/>
                </a:ext>
              </a:extLst>
            </p:cNvPr>
            <p:cNvSpPr txBox="1">
              <a:spLocks noChangeArrowheads="1"/>
            </p:cNvSpPr>
            <p:nvPr/>
          </p:nvSpPr>
          <p:spPr bwMode="auto">
            <a:xfrm>
              <a:off x="8077200" y="2438400"/>
              <a:ext cx="11430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333399"/>
                  </a:solidFill>
                  <a:effectLst/>
                  <a:uLnTx/>
                  <a:uFillTx/>
                  <a:latin typeface="Times New Roman" pitchFamily="18" charset="0"/>
                </a:rPr>
                <a:t>objects</a:t>
              </a:r>
            </a:p>
          </p:txBody>
        </p:sp>
        <p:sp>
          <p:nvSpPr>
            <p:cNvPr id="103" name="Text Box 25">
              <a:extLst>
                <a:ext uri="{FF2B5EF4-FFF2-40B4-BE49-F238E27FC236}">
                  <a16:creationId xmlns:a16="http://schemas.microsoft.com/office/drawing/2014/main" id="{7F569162-4E8F-E746-A86D-E3221D752F45}"/>
                </a:ext>
              </a:extLst>
            </p:cNvPr>
            <p:cNvSpPr txBox="1">
              <a:spLocks noChangeArrowheads="1"/>
            </p:cNvSpPr>
            <p:nvPr/>
          </p:nvSpPr>
          <p:spPr bwMode="auto">
            <a:xfrm>
              <a:off x="9144000" y="4495800"/>
              <a:ext cx="9906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333399"/>
                  </a:solidFill>
                  <a:effectLst/>
                  <a:uLnTx/>
                  <a:uFillTx/>
                  <a:latin typeface="Times New Roman" pitchFamily="18" charset="0"/>
                </a:rPr>
                <a:t>rights</a:t>
              </a:r>
            </a:p>
          </p:txBody>
        </p:sp>
        <p:sp>
          <p:nvSpPr>
            <p:cNvPr id="104" name="Line 26">
              <a:extLst>
                <a:ext uri="{FF2B5EF4-FFF2-40B4-BE49-F238E27FC236}">
                  <a16:creationId xmlns:a16="http://schemas.microsoft.com/office/drawing/2014/main" id="{5A05B4E5-B34D-2549-B5DA-1B2157FCEFD3}"/>
                </a:ext>
              </a:extLst>
            </p:cNvPr>
            <p:cNvSpPr>
              <a:spLocks noChangeShapeType="1"/>
            </p:cNvSpPr>
            <p:nvPr/>
          </p:nvSpPr>
          <p:spPr bwMode="auto">
            <a:xfrm flipH="1" flipV="1">
              <a:off x="6019800" y="4038600"/>
              <a:ext cx="3200400" cy="762000"/>
            </a:xfrm>
            <a:prstGeom prst="line">
              <a:avLst/>
            </a:prstGeom>
            <a:noFill/>
            <a:ln w="9525">
              <a:solidFill>
                <a:srgbClr val="000000"/>
              </a:solidFill>
              <a:prstDash val="dash"/>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05" name="Line 27">
              <a:extLst>
                <a:ext uri="{FF2B5EF4-FFF2-40B4-BE49-F238E27FC236}">
                  <a16:creationId xmlns:a16="http://schemas.microsoft.com/office/drawing/2014/main" id="{B77FE614-137C-0C45-8CC0-D76F1E435184}"/>
                </a:ext>
              </a:extLst>
            </p:cNvPr>
            <p:cNvSpPr>
              <a:spLocks noChangeShapeType="1"/>
            </p:cNvSpPr>
            <p:nvPr/>
          </p:nvSpPr>
          <p:spPr bwMode="auto">
            <a:xfrm flipH="1">
              <a:off x="5791200" y="4800600"/>
              <a:ext cx="3429000" cy="609600"/>
            </a:xfrm>
            <a:prstGeom prst="line">
              <a:avLst/>
            </a:prstGeom>
            <a:noFill/>
            <a:ln w="9525">
              <a:solidFill>
                <a:srgbClr val="000000"/>
              </a:solidFill>
              <a:prstDash val="dash"/>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06" name="Line 28">
              <a:extLst>
                <a:ext uri="{FF2B5EF4-FFF2-40B4-BE49-F238E27FC236}">
                  <a16:creationId xmlns:a16="http://schemas.microsoft.com/office/drawing/2014/main" id="{6CD8367A-F9B6-D747-AC87-FF2422F2B873}"/>
                </a:ext>
              </a:extLst>
            </p:cNvPr>
            <p:cNvSpPr>
              <a:spLocks noChangeShapeType="1"/>
            </p:cNvSpPr>
            <p:nvPr/>
          </p:nvSpPr>
          <p:spPr bwMode="auto">
            <a:xfrm flipH="1">
              <a:off x="7848600" y="4800600"/>
              <a:ext cx="1371600" cy="609600"/>
            </a:xfrm>
            <a:prstGeom prst="line">
              <a:avLst/>
            </a:prstGeom>
            <a:noFill/>
            <a:ln w="9525">
              <a:solidFill>
                <a:srgbClr val="000000"/>
              </a:solidFill>
              <a:prstDash val="dash"/>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07" name="Line 32">
              <a:extLst>
                <a:ext uri="{FF2B5EF4-FFF2-40B4-BE49-F238E27FC236}">
                  <a16:creationId xmlns:a16="http://schemas.microsoft.com/office/drawing/2014/main" id="{C1F40983-6618-A340-A511-727C5D859C72}"/>
                </a:ext>
              </a:extLst>
            </p:cNvPr>
            <p:cNvSpPr>
              <a:spLocks noChangeShapeType="1"/>
            </p:cNvSpPr>
            <p:nvPr/>
          </p:nvSpPr>
          <p:spPr bwMode="auto">
            <a:xfrm flipH="1">
              <a:off x="7620000" y="2743200"/>
              <a:ext cx="533400" cy="304800"/>
            </a:xfrm>
            <a:prstGeom prst="line">
              <a:avLst/>
            </a:prstGeom>
            <a:noFill/>
            <a:ln w="9525">
              <a:solidFill>
                <a:srgbClr val="000000"/>
              </a:solidFill>
              <a:prstDash val="dash"/>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08" name="Line 33">
              <a:extLst>
                <a:ext uri="{FF2B5EF4-FFF2-40B4-BE49-F238E27FC236}">
                  <a16:creationId xmlns:a16="http://schemas.microsoft.com/office/drawing/2014/main" id="{1FDF313F-290F-5B4A-901B-D7563933CBC6}"/>
                </a:ext>
              </a:extLst>
            </p:cNvPr>
            <p:cNvSpPr>
              <a:spLocks noChangeShapeType="1"/>
            </p:cNvSpPr>
            <p:nvPr/>
          </p:nvSpPr>
          <p:spPr bwMode="auto">
            <a:xfrm flipH="1">
              <a:off x="5715000" y="2743200"/>
              <a:ext cx="2438400" cy="381000"/>
            </a:xfrm>
            <a:prstGeom prst="line">
              <a:avLst/>
            </a:prstGeom>
            <a:noFill/>
            <a:ln w="9525">
              <a:solidFill>
                <a:srgbClr val="000000"/>
              </a:solidFill>
              <a:prstDash val="dash"/>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09" name="Line 34">
              <a:extLst>
                <a:ext uri="{FF2B5EF4-FFF2-40B4-BE49-F238E27FC236}">
                  <a16:creationId xmlns:a16="http://schemas.microsoft.com/office/drawing/2014/main" id="{09878FD1-8941-2341-8EE2-6BA1E2E43B44}"/>
                </a:ext>
              </a:extLst>
            </p:cNvPr>
            <p:cNvSpPr>
              <a:spLocks noChangeShapeType="1"/>
            </p:cNvSpPr>
            <p:nvPr/>
          </p:nvSpPr>
          <p:spPr bwMode="auto">
            <a:xfrm>
              <a:off x="3352800" y="3429000"/>
              <a:ext cx="381000" cy="533400"/>
            </a:xfrm>
            <a:prstGeom prst="line">
              <a:avLst/>
            </a:prstGeom>
            <a:noFill/>
            <a:ln w="9525">
              <a:solidFill>
                <a:srgbClr val="000000"/>
              </a:solidFill>
              <a:prstDash val="dash"/>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10" name="Line 35">
              <a:extLst>
                <a:ext uri="{FF2B5EF4-FFF2-40B4-BE49-F238E27FC236}">
                  <a16:creationId xmlns:a16="http://schemas.microsoft.com/office/drawing/2014/main" id="{487962C0-CC01-A640-B24C-8BFE3D7B446E}"/>
                </a:ext>
              </a:extLst>
            </p:cNvPr>
            <p:cNvSpPr>
              <a:spLocks noChangeShapeType="1"/>
            </p:cNvSpPr>
            <p:nvPr/>
          </p:nvSpPr>
          <p:spPr bwMode="auto">
            <a:xfrm>
              <a:off x="3352800" y="3429000"/>
              <a:ext cx="533400" cy="1905000"/>
            </a:xfrm>
            <a:prstGeom prst="line">
              <a:avLst/>
            </a:prstGeom>
            <a:noFill/>
            <a:ln w="9525">
              <a:solidFill>
                <a:srgbClr val="000000"/>
              </a:solidFill>
              <a:prstDash val="dash"/>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11" name="Text Box 41">
              <a:extLst>
                <a:ext uri="{FF2B5EF4-FFF2-40B4-BE49-F238E27FC236}">
                  <a16:creationId xmlns:a16="http://schemas.microsoft.com/office/drawing/2014/main" id="{6CFCE72C-EFA9-584A-9C7E-EB637ED12C2C}"/>
                </a:ext>
              </a:extLst>
            </p:cNvPr>
            <p:cNvSpPr txBox="1">
              <a:spLocks noChangeArrowheads="1"/>
            </p:cNvSpPr>
            <p:nvPr/>
          </p:nvSpPr>
          <p:spPr bwMode="auto">
            <a:xfrm>
              <a:off x="1447800" y="4419601"/>
              <a:ext cx="1752600" cy="461665"/>
            </a:xfrm>
            <a:prstGeom prst="rect">
              <a:avLst/>
            </a:prstGeom>
            <a:noFill/>
            <a:ln w="9525">
              <a:noFill/>
              <a:miter lim="800000"/>
              <a:headEnd/>
              <a:tailEnd/>
            </a:ln>
            <a:effectLst/>
          </p:spPr>
          <p:txBody>
            <a:bodyPr wrap="square">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1" i="0" u="none" strike="noStrike" kern="0" cap="none" spc="0" normalizeH="0" baseline="0" noProof="0" dirty="0">
                  <a:ln>
                    <a:noFill/>
                  </a:ln>
                  <a:solidFill>
                    <a:srgbClr val="CC0000"/>
                  </a:solidFill>
                  <a:effectLst/>
                  <a:uLnTx/>
                  <a:uFillTx/>
                  <a:latin typeface="Times New Roman" pitchFamily="18" charset="0"/>
                </a:rPr>
                <a:t>Capability</a:t>
              </a:r>
            </a:p>
          </p:txBody>
        </p:sp>
        <p:sp>
          <p:nvSpPr>
            <p:cNvPr id="112" name="Text Box 42">
              <a:extLst>
                <a:ext uri="{FF2B5EF4-FFF2-40B4-BE49-F238E27FC236}">
                  <a16:creationId xmlns:a16="http://schemas.microsoft.com/office/drawing/2014/main" id="{EA37B423-3D1B-5144-B81D-401116B1F79F}"/>
                </a:ext>
              </a:extLst>
            </p:cNvPr>
            <p:cNvSpPr txBox="1">
              <a:spLocks noChangeArrowheads="1"/>
            </p:cNvSpPr>
            <p:nvPr/>
          </p:nvSpPr>
          <p:spPr bwMode="auto">
            <a:xfrm>
              <a:off x="6172200" y="1976736"/>
              <a:ext cx="838200" cy="461665"/>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1" i="0" u="none" strike="noStrike" kern="0" cap="none" spc="0" normalizeH="0" baseline="0" noProof="0" dirty="0">
                  <a:ln>
                    <a:noFill/>
                  </a:ln>
                  <a:solidFill>
                    <a:srgbClr val="CC0000"/>
                  </a:solidFill>
                  <a:effectLst/>
                  <a:uLnTx/>
                  <a:uFillTx/>
                  <a:latin typeface="Times New Roman" pitchFamily="18" charset="0"/>
                </a:rPr>
                <a:t>ACL</a:t>
              </a:r>
            </a:p>
          </p:txBody>
        </p:sp>
        <p:sp>
          <p:nvSpPr>
            <p:cNvPr id="113" name="AutoShape 51">
              <a:extLst>
                <a:ext uri="{FF2B5EF4-FFF2-40B4-BE49-F238E27FC236}">
                  <a16:creationId xmlns:a16="http://schemas.microsoft.com/office/drawing/2014/main" id="{9E4066C8-E027-F145-A389-6DDE32523E3B}"/>
                </a:ext>
              </a:extLst>
            </p:cNvPr>
            <p:cNvSpPr>
              <a:spLocks/>
            </p:cNvSpPr>
            <p:nvPr/>
          </p:nvSpPr>
          <p:spPr bwMode="auto">
            <a:xfrm>
              <a:off x="2971800" y="3886200"/>
              <a:ext cx="228600" cy="1676400"/>
            </a:xfrm>
            <a:prstGeom prst="leftBrace">
              <a:avLst>
                <a:gd name="adj1" fmla="val 61111"/>
                <a:gd name="adj2" fmla="val 50000"/>
              </a:avLst>
            </a:prstGeom>
            <a:no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114" name="Left Brace 113">
              <a:extLst>
                <a:ext uri="{FF2B5EF4-FFF2-40B4-BE49-F238E27FC236}">
                  <a16:creationId xmlns:a16="http://schemas.microsoft.com/office/drawing/2014/main" id="{7AFF39F9-91FF-5A46-A89A-7D6A1E035DE4}"/>
                </a:ext>
              </a:extLst>
            </p:cNvPr>
            <p:cNvSpPr/>
            <p:nvPr/>
          </p:nvSpPr>
          <p:spPr>
            <a:xfrm rot="5400000">
              <a:off x="6438900" y="1943100"/>
              <a:ext cx="304800" cy="1143000"/>
            </a:xfrm>
            <a:prstGeom prst="leftBrace">
              <a:avLst>
                <a:gd name="adj1" fmla="val 34142"/>
                <a:gd name="adj2" fmla="val 50000"/>
              </a:avLst>
            </a:prstGeom>
            <a:noFill/>
            <a:ln w="25400" cap="flat" cmpd="sng" algn="ctr">
              <a:solidFill>
                <a:srgbClr val="BBE0E3"/>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4282266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p:txBody>
          <a:bodyPr/>
          <a:lstStyle/>
          <a:p>
            <a:r>
              <a:rPr lang="en-US"/>
              <a:t>Access Control List (ACL)</a:t>
            </a:r>
          </a:p>
        </p:txBody>
      </p:sp>
      <p:sp>
        <p:nvSpPr>
          <p:cNvPr id="4" name="Text Placeholder 3">
            <a:extLst>
              <a:ext uri="{FF2B5EF4-FFF2-40B4-BE49-F238E27FC236}">
                <a16:creationId xmlns:a16="http://schemas.microsoft.com/office/drawing/2014/main" id="{9112BF19-69D2-D842-9011-2F09916E4D31}"/>
              </a:ext>
            </a:extLst>
          </p:cNvPr>
          <p:cNvSpPr>
            <a:spLocks noGrp="1"/>
          </p:cNvSpPr>
          <p:nvPr>
            <p:ph type="body" idx="11"/>
          </p:nvPr>
        </p:nvSpPr>
        <p:spPr/>
        <p:txBody>
          <a:bodyPr/>
          <a:lstStyle/>
          <a:p>
            <a:endParaRPr lang="en-US"/>
          </a:p>
        </p:txBody>
      </p:sp>
      <p:sp>
        <p:nvSpPr>
          <p:cNvPr id="355331" name="Rectangle 3"/>
          <p:cNvSpPr>
            <a:spLocks noGrp="1" noChangeArrowheads="1"/>
          </p:cNvSpPr>
          <p:nvPr>
            <p:ph idx="1"/>
          </p:nvPr>
        </p:nvSpPr>
        <p:spPr>
          <a:xfrm>
            <a:off x="513349" y="1268243"/>
            <a:ext cx="10840451" cy="4716921"/>
          </a:xfrm>
        </p:spPr>
        <p:txBody>
          <a:bodyPr>
            <a:normAutofit/>
          </a:bodyPr>
          <a:lstStyle/>
          <a:p>
            <a:r>
              <a:rPr lang="en-US" dirty="0"/>
              <a:t>ACL – Each column of access control matrix is stored with corresponding objects.</a:t>
            </a:r>
          </a:p>
          <a:p>
            <a:endParaRPr lang="en-US" dirty="0"/>
          </a:p>
          <a:p>
            <a:endParaRPr lang="en-US" dirty="0"/>
          </a:p>
          <a:p>
            <a:endParaRPr lang="en-US" dirty="0"/>
          </a:p>
          <a:p>
            <a:endParaRPr lang="en-US" dirty="0"/>
          </a:p>
          <a:p>
            <a:endParaRPr lang="en-US" dirty="0"/>
          </a:p>
          <a:p>
            <a:endParaRPr lang="en-US" dirty="0"/>
          </a:p>
          <a:p>
            <a:r>
              <a:rPr lang="en-US" dirty="0"/>
              <a:t>ACL requires subjects to be authenticated before making the decision.</a:t>
            </a:r>
          </a:p>
        </p:txBody>
      </p:sp>
      <p:grpSp>
        <p:nvGrpSpPr>
          <p:cNvPr id="5" name="Group 4">
            <a:extLst>
              <a:ext uri="{FF2B5EF4-FFF2-40B4-BE49-F238E27FC236}">
                <a16:creationId xmlns:a16="http://schemas.microsoft.com/office/drawing/2014/main" id="{39E7EBC6-03C7-5A4A-85D9-597582B8E5EA}"/>
              </a:ext>
            </a:extLst>
          </p:cNvPr>
          <p:cNvGrpSpPr/>
          <p:nvPr/>
        </p:nvGrpSpPr>
        <p:grpSpPr>
          <a:xfrm>
            <a:off x="2275974" y="2057400"/>
            <a:ext cx="7315200" cy="2743199"/>
            <a:chOff x="2667000" y="2209801"/>
            <a:chExt cx="7315200" cy="2743199"/>
          </a:xfrm>
        </p:grpSpPr>
        <p:sp>
          <p:nvSpPr>
            <p:cNvPr id="64" name="Text Box 36">
              <a:extLst>
                <a:ext uri="{FF2B5EF4-FFF2-40B4-BE49-F238E27FC236}">
                  <a16:creationId xmlns:a16="http://schemas.microsoft.com/office/drawing/2014/main" id="{5F69DCC9-7E1E-3343-A101-DAD80780A5D6}"/>
                </a:ext>
              </a:extLst>
            </p:cNvPr>
            <p:cNvSpPr txBox="1">
              <a:spLocks noChangeArrowheads="1"/>
            </p:cNvSpPr>
            <p:nvPr/>
          </p:nvSpPr>
          <p:spPr bwMode="auto">
            <a:xfrm>
              <a:off x="2667000" y="2743200"/>
              <a:ext cx="762000" cy="2109788"/>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U:o</a:t>
              </a:r>
            </a:p>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U:r</a:t>
              </a:r>
            </a:p>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U:w</a:t>
              </a:r>
            </a:p>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V:r</a:t>
              </a:r>
            </a:p>
          </p:txBody>
        </p:sp>
        <p:sp>
          <p:nvSpPr>
            <p:cNvPr id="65" name="Text Box 37">
              <a:extLst>
                <a:ext uri="{FF2B5EF4-FFF2-40B4-BE49-F238E27FC236}">
                  <a16:creationId xmlns:a16="http://schemas.microsoft.com/office/drawing/2014/main" id="{C0B72F5F-1EE3-1E4B-9287-954AF0900168}"/>
                </a:ext>
              </a:extLst>
            </p:cNvPr>
            <p:cNvSpPr txBox="1">
              <a:spLocks noChangeArrowheads="1"/>
            </p:cNvSpPr>
            <p:nvPr/>
          </p:nvSpPr>
          <p:spPr bwMode="auto">
            <a:xfrm>
              <a:off x="4038600" y="2743200"/>
              <a:ext cx="762000" cy="1562100"/>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V:o</a:t>
              </a:r>
            </a:p>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V:r</a:t>
              </a:r>
            </a:p>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V:w</a:t>
              </a:r>
            </a:p>
          </p:txBody>
        </p:sp>
        <p:sp>
          <p:nvSpPr>
            <p:cNvPr id="66" name="Text Box 38">
              <a:extLst>
                <a:ext uri="{FF2B5EF4-FFF2-40B4-BE49-F238E27FC236}">
                  <a16:creationId xmlns:a16="http://schemas.microsoft.com/office/drawing/2014/main" id="{574260A3-00D0-C243-8B50-30979C98C175}"/>
                </a:ext>
              </a:extLst>
            </p:cNvPr>
            <p:cNvSpPr txBox="1">
              <a:spLocks noChangeArrowheads="1"/>
            </p:cNvSpPr>
            <p:nvPr/>
          </p:nvSpPr>
          <p:spPr bwMode="auto">
            <a:xfrm>
              <a:off x="2895600" y="2286000"/>
              <a:ext cx="3810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F</a:t>
              </a:r>
            </a:p>
          </p:txBody>
        </p:sp>
        <p:sp>
          <p:nvSpPr>
            <p:cNvPr id="67" name="Text Box 39">
              <a:extLst>
                <a:ext uri="{FF2B5EF4-FFF2-40B4-BE49-F238E27FC236}">
                  <a16:creationId xmlns:a16="http://schemas.microsoft.com/office/drawing/2014/main" id="{4F4F5ABB-AEC0-594D-B378-0936DA596B73}"/>
                </a:ext>
              </a:extLst>
            </p:cNvPr>
            <p:cNvSpPr txBox="1">
              <a:spLocks noChangeArrowheads="1"/>
            </p:cNvSpPr>
            <p:nvPr/>
          </p:nvSpPr>
          <p:spPr bwMode="auto">
            <a:xfrm>
              <a:off x="4267200" y="2286000"/>
              <a:ext cx="3810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G</a:t>
              </a:r>
            </a:p>
          </p:txBody>
        </p:sp>
        <p:sp>
          <p:nvSpPr>
            <p:cNvPr id="68" name="Rectangle 40">
              <a:extLst>
                <a:ext uri="{FF2B5EF4-FFF2-40B4-BE49-F238E27FC236}">
                  <a16:creationId xmlns:a16="http://schemas.microsoft.com/office/drawing/2014/main" id="{4737AC21-1017-8F4B-8785-9DBC89F5DE75}"/>
                </a:ext>
              </a:extLst>
            </p:cNvPr>
            <p:cNvSpPr>
              <a:spLocks noChangeArrowheads="1"/>
            </p:cNvSpPr>
            <p:nvPr/>
          </p:nvSpPr>
          <p:spPr bwMode="auto">
            <a:xfrm>
              <a:off x="5486400" y="2743200"/>
              <a:ext cx="914400" cy="457200"/>
            </a:xfrm>
            <a:prstGeom prst="rect">
              <a:avLst/>
            </a:prstGeom>
            <a:solidFill>
              <a:srgbClr val="DDDDDD"/>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69" name="Rectangle 41">
              <a:extLst>
                <a:ext uri="{FF2B5EF4-FFF2-40B4-BE49-F238E27FC236}">
                  <a16:creationId xmlns:a16="http://schemas.microsoft.com/office/drawing/2014/main" id="{53E34042-81BE-6F4C-9FF9-0EA446E16C06}"/>
                </a:ext>
              </a:extLst>
            </p:cNvPr>
            <p:cNvSpPr>
              <a:spLocks noChangeArrowheads="1"/>
            </p:cNvSpPr>
            <p:nvPr/>
          </p:nvSpPr>
          <p:spPr bwMode="auto">
            <a:xfrm>
              <a:off x="6400800" y="2743200"/>
              <a:ext cx="609600" cy="457200"/>
            </a:xfrm>
            <a:prstGeom prst="rect">
              <a:avLst/>
            </a:prstGeom>
            <a:solidFill>
              <a:srgbClr val="DDDDDD"/>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0" name="Text Box 42">
              <a:extLst>
                <a:ext uri="{FF2B5EF4-FFF2-40B4-BE49-F238E27FC236}">
                  <a16:creationId xmlns:a16="http://schemas.microsoft.com/office/drawing/2014/main" id="{4FEABD77-340D-0D4C-AEF5-F62228A0905F}"/>
                </a:ext>
              </a:extLst>
            </p:cNvPr>
            <p:cNvSpPr txBox="1">
              <a:spLocks noChangeArrowheads="1"/>
            </p:cNvSpPr>
            <p:nvPr/>
          </p:nvSpPr>
          <p:spPr bwMode="auto">
            <a:xfrm>
              <a:off x="5486400" y="2286000"/>
              <a:ext cx="8382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File</a:t>
              </a:r>
            </a:p>
          </p:txBody>
        </p:sp>
        <p:sp>
          <p:nvSpPr>
            <p:cNvPr id="71" name="Text Box 43">
              <a:extLst>
                <a:ext uri="{FF2B5EF4-FFF2-40B4-BE49-F238E27FC236}">
                  <a16:creationId xmlns:a16="http://schemas.microsoft.com/office/drawing/2014/main" id="{F03B4273-7657-BE40-9D89-591B236FB8EA}"/>
                </a:ext>
              </a:extLst>
            </p:cNvPr>
            <p:cNvSpPr txBox="1">
              <a:spLocks noChangeArrowheads="1"/>
            </p:cNvSpPr>
            <p:nvPr/>
          </p:nvSpPr>
          <p:spPr bwMode="auto">
            <a:xfrm>
              <a:off x="6324600" y="2286000"/>
              <a:ext cx="11430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Pointer</a:t>
              </a:r>
            </a:p>
          </p:txBody>
        </p:sp>
        <p:sp>
          <p:nvSpPr>
            <p:cNvPr id="72" name="Text Box 44">
              <a:extLst>
                <a:ext uri="{FF2B5EF4-FFF2-40B4-BE49-F238E27FC236}">
                  <a16:creationId xmlns:a16="http://schemas.microsoft.com/office/drawing/2014/main" id="{25132014-07D4-DC42-8B9A-F43CA42166F6}"/>
                </a:ext>
              </a:extLst>
            </p:cNvPr>
            <p:cNvSpPr txBox="1">
              <a:spLocks noChangeArrowheads="1"/>
            </p:cNvSpPr>
            <p:nvPr/>
          </p:nvSpPr>
          <p:spPr bwMode="auto">
            <a:xfrm>
              <a:off x="8001000" y="2590800"/>
              <a:ext cx="7620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User</a:t>
              </a:r>
            </a:p>
          </p:txBody>
        </p:sp>
        <p:sp>
          <p:nvSpPr>
            <p:cNvPr id="73" name="Rectangle 45">
              <a:extLst>
                <a:ext uri="{FF2B5EF4-FFF2-40B4-BE49-F238E27FC236}">
                  <a16:creationId xmlns:a16="http://schemas.microsoft.com/office/drawing/2014/main" id="{C839E194-2292-0744-9BEC-40E43CF4E5DA}"/>
                </a:ext>
              </a:extLst>
            </p:cNvPr>
            <p:cNvSpPr>
              <a:spLocks noChangeArrowheads="1"/>
            </p:cNvSpPr>
            <p:nvPr/>
          </p:nvSpPr>
          <p:spPr bwMode="auto">
            <a:xfrm>
              <a:off x="8001000" y="3048000"/>
              <a:ext cx="914400" cy="457200"/>
            </a:xfrm>
            <a:prstGeom prst="rect">
              <a:avLst/>
            </a:prstGeom>
            <a:solidFill>
              <a:srgbClr val="DDDDDD"/>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4" name="Rectangle 46">
              <a:extLst>
                <a:ext uri="{FF2B5EF4-FFF2-40B4-BE49-F238E27FC236}">
                  <a16:creationId xmlns:a16="http://schemas.microsoft.com/office/drawing/2014/main" id="{B3630AA3-0CD1-1B48-B0AA-B03BD555233C}"/>
                </a:ext>
              </a:extLst>
            </p:cNvPr>
            <p:cNvSpPr>
              <a:spLocks noChangeArrowheads="1"/>
            </p:cNvSpPr>
            <p:nvPr/>
          </p:nvSpPr>
          <p:spPr bwMode="auto">
            <a:xfrm>
              <a:off x="8915400" y="3048000"/>
              <a:ext cx="838200" cy="457200"/>
            </a:xfrm>
            <a:prstGeom prst="rect">
              <a:avLst/>
            </a:prstGeom>
            <a:solidFill>
              <a:srgbClr val="DDDDDD"/>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5" name="Text Box 47">
              <a:extLst>
                <a:ext uri="{FF2B5EF4-FFF2-40B4-BE49-F238E27FC236}">
                  <a16:creationId xmlns:a16="http://schemas.microsoft.com/office/drawing/2014/main" id="{DF78EA26-B36B-D147-87EE-8177FA9D4B26}"/>
                </a:ext>
              </a:extLst>
            </p:cNvPr>
            <p:cNvSpPr txBox="1">
              <a:spLocks noChangeArrowheads="1"/>
            </p:cNvSpPr>
            <p:nvPr/>
          </p:nvSpPr>
          <p:spPr bwMode="auto">
            <a:xfrm>
              <a:off x="8915400" y="2209801"/>
              <a:ext cx="1066800" cy="830997"/>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Access right</a:t>
              </a:r>
            </a:p>
          </p:txBody>
        </p:sp>
        <p:sp>
          <p:nvSpPr>
            <p:cNvPr id="76" name="Rectangle 48">
              <a:extLst>
                <a:ext uri="{FF2B5EF4-FFF2-40B4-BE49-F238E27FC236}">
                  <a16:creationId xmlns:a16="http://schemas.microsoft.com/office/drawing/2014/main" id="{9E581473-5B5A-E546-8505-FAA8A115A685}"/>
                </a:ext>
              </a:extLst>
            </p:cNvPr>
            <p:cNvSpPr>
              <a:spLocks noChangeArrowheads="1"/>
            </p:cNvSpPr>
            <p:nvPr/>
          </p:nvSpPr>
          <p:spPr bwMode="auto">
            <a:xfrm>
              <a:off x="8001000" y="3505200"/>
              <a:ext cx="914400" cy="457200"/>
            </a:xfrm>
            <a:prstGeom prst="rect">
              <a:avLst/>
            </a:prstGeom>
            <a:solidFill>
              <a:srgbClr val="DDDDDD"/>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7" name="Rectangle 49">
              <a:extLst>
                <a:ext uri="{FF2B5EF4-FFF2-40B4-BE49-F238E27FC236}">
                  <a16:creationId xmlns:a16="http://schemas.microsoft.com/office/drawing/2014/main" id="{88B70B11-2EEB-1748-83FF-F56FCABA3D2B}"/>
                </a:ext>
              </a:extLst>
            </p:cNvPr>
            <p:cNvSpPr>
              <a:spLocks noChangeArrowheads="1"/>
            </p:cNvSpPr>
            <p:nvPr/>
          </p:nvSpPr>
          <p:spPr bwMode="auto">
            <a:xfrm>
              <a:off x="8915400" y="3505200"/>
              <a:ext cx="838200" cy="457200"/>
            </a:xfrm>
            <a:prstGeom prst="rect">
              <a:avLst/>
            </a:prstGeom>
            <a:solidFill>
              <a:srgbClr val="DDDDDD"/>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8" name="Rectangle 50">
              <a:extLst>
                <a:ext uri="{FF2B5EF4-FFF2-40B4-BE49-F238E27FC236}">
                  <a16:creationId xmlns:a16="http://schemas.microsoft.com/office/drawing/2014/main" id="{80F1C7BC-ABDC-D345-995D-6F4BCFC99A01}"/>
                </a:ext>
              </a:extLst>
            </p:cNvPr>
            <p:cNvSpPr>
              <a:spLocks noChangeArrowheads="1"/>
            </p:cNvSpPr>
            <p:nvPr/>
          </p:nvSpPr>
          <p:spPr bwMode="auto">
            <a:xfrm>
              <a:off x="8001000" y="4495800"/>
              <a:ext cx="914400" cy="457200"/>
            </a:xfrm>
            <a:prstGeom prst="rect">
              <a:avLst/>
            </a:prstGeom>
            <a:solidFill>
              <a:srgbClr val="DDDDDD"/>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9" name="Rectangle 51">
              <a:extLst>
                <a:ext uri="{FF2B5EF4-FFF2-40B4-BE49-F238E27FC236}">
                  <a16:creationId xmlns:a16="http://schemas.microsoft.com/office/drawing/2014/main" id="{4A97D318-6D5D-E649-9D3B-6D3F5B1A8FFD}"/>
                </a:ext>
              </a:extLst>
            </p:cNvPr>
            <p:cNvSpPr>
              <a:spLocks noChangeArrowheads="1"/>
            </p:cNvSpPr>
            <p:nvPr/>
          </p:nvSpPr>
          <p:spPr bwMode="auto">
            <a:xfrm>
              <a:off x="8915400" y="4495800"/>
              <a:ext cx="838200" cy="457200"/>
            </a:xfrm>
            <a:prstGeom prst="rect">
              <a:avLst/>
            </a:prstGeom>
            <a:solidFill>
              <a:srgbClr val="DDDDDD"/>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0" name="Text Box 52">
              <a:extLst>
                <a:ext uri="{FF2B5EF4-FFF2-40B4-BE49-F238E27FC236}">
                  <a16:creationId xmlns:a16="http://schemas.microsoft.com/office/drawing/2014/main" id="{C05D54AC-F052-2743-B5D9-597880D15D20}"/>
                </a:ext>
              </a:extLst>
            </p:cNvPr>
            <p:cNvSpPr txBox="1">
              <a:spLocks noChangeArrowheads="1"/>
            </p:cNvSpPr>
            <p:nvPr/>
          </p:nvSpPr>
          <p:spPr bwMode="auto">
            <a:xfrm>
              <a:off x="5791200" y="2743200"/>
              <a:ext cx="6096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F</a:t>
              </a:r>
            </a:p>
          </p:txBody>
        </p:sp>
        <p:sp>
          <p:nvSpPr>
            <p:cNvPr id="81" name="Rectangle 53">
              <a:extLst>
                <a:ext uri="{FF2B5EF4-FFF2-40B4-BE49-F238E27FC236}">
                  <a16:creationId xmlns:a16="http://schemas.microsoft.com/office/drawing/2014/main" id="{DA8245D8-65C1-344C-B6D6-32023B995C65}"/>
                </a:ext>
              </a:extLst>
            </p:cNvPr>
            <p:cNvSpPr>
              <a:spLocks noChangeArrowheads="1"/>
            </p:cNvSpPr>
            <p:nvPr/>
          </p:nvSpPr>
          <p:spPr bwMode="auto">
            <a:xfrm>
              <a:off x="5486400" y="3200400"/>
              <a:ext cx="914400" cy="457200"/>
            </a:xfrm>
            <a:prstGeom prst="rect">
              <a:avLst/>
            </a:prstGeom>
            <a:solidFill>
              <a:srgbClr val="DDDDDD"/>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2" name="Rectangle 54">
              <a:extLst>
                <a:ext uri="{FF2B5EF4-FFF2-40B4-BE49-F238E27FC236}">
                  <a16:creationId xmlns:a16="http://schemas.microsoft.com/office/drawing/2014/main" id="{9AEF90B1-EF3D-904B-BF8C-81D76D831E5A}"/>
                </a:ext>
              </a:extLst>
            </p:cNvPr>
            <p:cNvSpPr>
              <a:spLocks noChangeArrowheads="1"/>
            </p:cNvSpPr>
            <p:nvPr/>
          </p:nvSpPr>
          <p:spPr bwMode="auto">
            <a:xfrm>
              <a:off x="6400800" y="3200400"/>
              <a:ext cx="609600" cy="457200"/>
            </a:xfrm>
            <a:prstGeom prst="rect">
              <a:avLst/>
            </a:prstGeom>
            <a:solidFill>
              <a:srgbClr val="DDDDDD"/>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3" name="Text Box 55">
              <a:extLst>
                <a:ext uri="{FF2B5EF4-FFF2-40B4-BE49-F238E27FC236}">
                  <a16:creationId xmlns:a16="http://schemas.microsoft.com/office/drawing/2014/main" id="{09E9A3EB-043D-DD4F-A58D-9A42EF208B46}"/>
                </a:ext>
              </a:extLst>
            </p:cNvPr>
            <p:cNvSpPr txBox="1">
              <a:spLocks noChangeArrowheads="1"/>
            </p:cNvSpPr>
            <p:nvPr/>
          </p:nvSpPr>
          <p:spPr bwMode="auto">
            <a:xfrm>
              <a:off x="5791200" y="3200400"/>
              <a:ext cx="6096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G</a:t>
              </a:r>
            </a:p>
          </p:txBody>
        </p:sp>
        <p:sp>
          <p:nvSpPr>
            <p:cNvPr id="84" name="Text Box 56">
              <a:extLst>
                <a:ext uri="{FF2B5EF4-FFF2-40B4-BE49-F238E27FC236}">
                  <a16:creationId xmlns:a16="http://schemas.microsoft.com/office/drawing/2014/main" id="{E3997A6E-E05F-4942-A0B4-7AC647D82FA6}"/>
                </a:ext>
              </a:extLst>
            </p:cNvPr>
            <p:cNvSpPr txBox="1">
              <a:spLocks noChangeArrowheads="1"/>
            </p:cNvSpPr>
            <p:nvPr/>
          </p:nvSpPr>
          <p:spPr bwMode="auto">
            <a:xfrm>
              <a:off x="8229600" y="3048000"/>
              <a:ext cx="5334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U</a:t>
              </a:r>
            </a:p>
          </p:txBody>
        </p:sp>
        <p:sp>
          <p:nvSpPr>
            <p:cNvPr id="85" name="Text Box 57">
              <a:extLst>
                <a:ext uri="{FF2B5EF4-FFF2-40B4-BE49-F238E27FC236}">
                  <a16:creationId xmlns:a16="http://schemas.microsoft.com/office/drawing/2014/main" id="{23892910-DC2C-934F-869D-EB39D64585CB}"/>
                </a:ext>
              </a:extLst>
            </p:cNvPr>
            <p:cNvSpPr txBox="1">
              <a:spLocks noChangeArrowheads="1"/>
            </p:cNvSpPr>
            <p:nvPr/>
          </p:nvSpPr>
          <p:spPr bwMode="auto">
            <a:xfrm>
              <a:off x="8229600" y="3505200"/>
              <a:ext cx="5334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dirty="0">
                  <a:solidFill>
                    <a:srgbClr val="000000"/>
                  </a:solidFill>
                  <a:latin typeface="Times New Roman" pitchFamily="18" charset="0"/>
                </a:rPr>
                <a:t>V</a:t>
              </a:r>
            </a:p>
          </p:txBody>
        </p:sp>
        <p:sp>
          <p:nvSpPr>
            <p:cNvPr id="86" name="Text Box 58">
              <a:extLst>
                <a:ext uri="{FF2B5EF4-FFF2-40B4-BE49-F238E27FC236}">
                  <a16:creationId xmlns:a16="http://schemas.microsoft.com/office/drawing/2014/main" id="{916A9FB5-8B0E-9E4F-8C4A-B1224FB1B564}"/>
                </a:ext>
              </a:extLst>
            </p:cNvPr>
            <p:cNvSpPr txBox="1">
              <a:spLocks noChangeArrowheads="1"/>
            </p:cNvSpPr>
            <p:nvPr/>
          </p:nvSpPr>
          <p:spPr bwMode="auto">
            <a:xfrm>
              <a:off x="8229600" y="4495800"/>
              <a:ext cx="5334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V</a:t>
              </a:r>
            </a:p>
          </p:txBody>
        </p:sp>
        <p:sp>
          <p:nvSpPr>
            <p:cNvPr id="87" name="Text Box 59">
              <a:extLst>
                <a:ext uri="{FF2B5EF4-FFF2-40B4-BE49-F238E27FC236}">
                  <a16:creationId xmlns:a16="http://schemas.microsoft.com/office/drawing/2014/main" id="{F82B473C-A09A-BF4B-ADEE-4C4CC15EB949}"/>
                </a:ext>
              </a:extLst>
            </p:cNvPr>
            <p:cNvSpPr txBox="1">
              <a:spLocks noChangeArrowheads="1"/>
            </p:cNvSpPr>
            <p:nvPr/>
          </p:nvSpPr>
          <p:spPr bwMode="auto">
            <a:xfrm>
              <a:off x="8991600" y="3048000"/>
              <a:ext cx="9906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orw</a:t>
              </a:r>
            </a:p>
          </p:txBody>
        </p:sp>
        <p:sp>
          <p:nvSpPr>
            <p:cNvPr id="88" name="Text Box 60">
              <a:extLst>
                <a:ext uri="{FF2B5EF4-FFF2-40B4-BE49-F238E27FC236}">
                  <a16:creationId xmlns:a16="http://schemas.microsoft.com/office/drawing/2014/main" id="{C3998C97-789B-2242-8DCA-4A8224D4E4F9}"/>
                </a:ext>
              </a:extLst>
            </p:cNvPr>
            <p:cNvSpPr txBox="1">
              <a:spLocks noChangeArrowheads="1"/>
            </p:cNvSpPr>
            <p:nvPr/>
          </p:nvSpPr>
          <p:spPr bwMode="auto">
            <a:xfrm>
              <a:off x="8991600" y="3505200"/>
              <a:ext cx="9906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r</a:t>
              </a:r>
            </a:p>
          </p:txBody>
        </p:sp>
        <p:sp>
          <p:nvSpPr>
            <p:cNvPr id="89" name="Text Box 61">
              <a:extLst>
                <a:ext uri="{FF2B5EF4-FFF2-40B4-BE49-F238E27FC236}">
                  <a16:creationId xmlns:a16="http://schemas.microsoft.com/office/drawing/2014/main" id="{C11B8CF3-1380-7043-8F69-887E629619ED}"/>
                </a:ext>
              </a:extLst>
            </p:cNvPr>
            <p:cNvSpPr txBox="1">
              <a:spLocks noChangeArrowheads="1"/>
            </p:cNvSpPr>
            <p:nvPr/>
          </p:nvSpPr>
          <p:spPr bwMode="auto">
            <a:xfrm>
              <a:off x="8991600" y="4495800"/>
              <a:ext cx="9906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orw</a:t>
              </a:r>
            </a:p>
          </p:txBody>
        </p:sp>
        <p:sp>
          <p:nvSpPr>
            <p:cNvPr id="90" name="Line 62">
              <a:extLst>
                <a:ext uri="{FF2B5EF4-FFF2-40B4-BE49-F238E27FC236}">
                  <a16:creationId xmlns:a16="http://schemas.microsoft.com/office/drawing/2014/main" id="{29D20B13-2E49-714E-8492-AD5142040BB6}"/>
                </a:ext>
              </a:extLst>
            </p:cNvPr>
            <p:cNvSpPr>
              <a:spLocks noChangeShapeType="1"/>
            </p:cNvSpPr>
            <p:nvPr/>
          </p:nvSpPr>
          <p:spPr bwMode="auto">
            <a:xfrm>
              <a:off x="6705600" y="2971800"/>
              <a:ext cx="1295400" cy="3048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1" name="Line 63">
              <a:extLst>
                <a:ext uri="{FF2B5EF4-FFF2-40B4-BE49-F238E27FC236}">
                  <a16:creationId xmlns:a16="http://schemas.microsoft.com/office/drawing/2014/main" id="{4FC3E923-FB6E-A441-8E82-0B5D3724E896}"/>
                </a:ext>
              </a:extLst>
            </p:cNvPr>
            <p:cNvSpPr>
              <a:spLocks noChangeShapeType="1"/>
            </p:cNvSpPr>
            <p:nvPr/>
          </p:nvSpPr>
          <p:spPr bwMode="auto">
            <a:xfrm>
              <a:off x="6705600" y="3429000"/>
              <a:ext cx="1295400" cy="12954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grpSp>
    </p:spTree>
    <p:extLst>
      <p:ext uri="{BB962C8B-B14F-4D97-AF65-F5344CB8AC3E}">
        <p14:creationId xmlns:p14="http://schemas.microsoft.com/office/powerpoint/2010/main" val="4104970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66783-179E-9E45-8AB9-E42788411C08}"/>
              </a:ext>
            </a:extLst>
          </p:cNvPr>
          <p:cNvSpPr>
            <a:spLocks noGrp="1"/>
          </p:cNvSpPr>
          <p:nvPr>
            <p:ph type="title" idx="4294967295"/>
          </p:nvPr>
        </p:nvSpPr>
        <p:spPr>
          <a:xfrm>
            <a:off x="1175656" y="30163"/>
            <a:ext cx="9665381" cy="1325562"/>
          </a:xfrm>
        </p:spPr>
        <p:txBody>
          <a:bodyPr/>
          <a:lstStyle/>
          <a:p>
            <a:r>
              <a:rPr lang="en-GB" dirty="0"/>
              <a:t>Examples of ACL</a:t>
            </a:r>
          </a:p>
        </p:txBody>
      </p:sp>
      <p:sp>
        <p:nvSpPr>
          <p:cNvPr id="3" name="Content Placeholder 2">
            <a:extLst>
              <a:ext uri="{FF2B5EF4-FFF2-40B4-BE49-F238E27FC236}">
                <a16:creationId xmlns:a16="http://schemas.microsoft.com/office/drawing/2014/main" id="{A01E1460-08FF-F44E-8122-83AD93FF0483}"/>
              </a:ext>
            </a:extLst>
          </p:cNvPr>
          <p:cNvSpPr>
            <a:spLocks noGrp="1"/>
          </p:cNvSpPr>
          <p:nvPr>
            <p:ph sz="half" idx="4294967295"/>
          </p:nvPr>
        </p:nvSpPr>
        <p:spPr>
          <a:xfrm>
            <a:off x="498763" y="1284514"/>
            <a:ext cx="3479471" cy="632318"/>
          </a:xfrm>
        </p:spPr>
        <p:txBody>
          <a:bodyPr/>
          <a:lstStyle/>
          <a:p>
            <a:r>
              <a:rPr lang="en-GB" dirty="0"/>
              <a:t>File system in OS</a:t>
            </a:r>
          </a:p>
        </p:txBody>
      </p:sp>
      <p:pic>
        <p:nvPicPr>
          <p:cNvPr id="6" name="Picture 5">
            <a:extLst>
              <a:ext uri="{FF2B5EF4-FFF2-40B4-BE49-F238E27FC236}">
                <a16:creationId xmlns:a16="http://schemas.microsoft.com/office/drawing/2014/main" id="{EE1D5FC4-744F-E941-9286-3EE4F85D8E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158" y="1809954"/>
            <a:ext cx="5569137" cy="3944764"/>
          </a:xfrm>
          <a:prstGeom prst="rect">
            <a:avLst/>
          </a:prstGeom>
        </p:spPr>
      </p:pic>
    </p:spTree>
    <p:extLst>
      <p:ext uri="{BB962C8B-B14F-4D97-AF65-F5344CB8AC3E}">
        <p14:creationId xmlns:p14="http://schemas.microsoft.com/office/powerpoint/2010/main" val="28963530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normAutofit fontScale="90000"/>
          </a:bodyPr>
          <a:lstStyle/>
          <a:p>
            <a:pPr eaLnBrk="1" hangingPunct="1"/>
            <a:r>
              <a:rPr lang="en-US" altLang="en-US" sz="4000" dirty="0"/>
              <a:t>Case Study of ACL: UNIX File System</a:t>
            </a:r>
          </a:p>
        </p:txBody>
      </p:sp>
      <p:sp>
        <p:nvSpPr>
          <p:cNvPr id="2" name="Content Placeholder 1">
            <a:extLst>
              <a:ext uri="{FF2B5EF4-FFF2-40B4-BE49-F238E27FC236}">
                <a16:creationId xmlns:a16="http://schemas.microsoft.com/office/drawing/2014/main" id="{6DF8BB55-A8C7-6441-8C69-3BA424B22F1A}"/>
              </a:ext>
            </a:extLst>
          </p:cNvPr>
          <p:cNvSpPr>
            <a:spLocks noGrp="1"/>
          </p:cNvSpPr>
          <p:nvPr>
            <p:ph idx="1"/>
          </p:nvPr>
        </p:nvSpPr>
        <p:spPr/>
        <p:txBody>
          <a:bodyPr>
            <a:normAutofit fontScale="92500" lnSpcReduction="10000"/>
          </a:bodyPr>
          <a:lstStyle/>
          <a:p>
            <a:pPr>
              <a:lnSpc>
                <a:spcPct val="90000"/>
              </a:lnSpc>
            </a:pPr>
            <a:r>
              <a:rPr lang="en-US" altLang="en-US" dirty="0"/>
              <a:t>Given a file/directory (</a:t>
            </a:r>
            <a:r>
              <a:rPr lang="en-US" altLang="en-US" dirty="0">
                <a:solidFill>
                  <a:srgbClr val="FF0000"/>
                </a:solidFill>
              </a:rPr>
              <a:t>object</a:t>
            </a:r>
            <a:r>
              <a:rPr lang="en-US" altLang="en-US" dirty="0"/>
              <a:t>), 3 permissions are set on/off for 3 types of users by its owner</a:t>
            </a:r>
          </a:p>
          <a:p>
            <a:pPr lvl="1">
              <a:lnSpc>
                <a:spcPct val="90000"/>
              </a:lnSpc>
            </a:pPr>
            <a:r>
              <a:rPr lang="en-US" altLang="en-US" dirty="0"/>
              <a:t>user/owner     group     others (world users) </a:t>
            </a:r>
          </a:p>
          <a:p>
            <a:pPr lvl="1">
              <a:lnSpc>
                <a:spcPct val="90000"/>
              </a:lnSpc>
            </a:pPr>
            <a:r>
              <a:rPr lang="en-US" altLang="en-US" dirty="0"/>
              <a:t>r w x    		r w x        r w x </a:t>
            </a:r>
          </a:p>
          <a:p>
            <a:pPr lvl="1">
              <a:lnSpc>
                <a:spcPct val="90000"/>
              </a:lnSpc>
            </a:pPr>
            <a:endParaRPr lang="en-US" altLang="en-US" dirty="0">
              <a:solidFill>
                <a:srgbClr val="CC0000"/>
              </a:solidFill>
            </a:endParaRPr>
          </a:p>
          <a:p>
            <a:pPr marL="279400" indent="0">
              <a:lnSpc>
                <a:spcPct val="90000"/>
              </a:lnSpc>
              <a:buNone/>
            </a:pPr>
            <a:r>
              <a:rPr lang="en-US" altLang="en-US" b="1" dirty="0"/>
              <a:t>ls -l file1</a:t>
            </a:r>
            <a:r>
              <a:rPr lang="en-US" altLang="en-US" dirty="0"/>
              <a:t> </a:t>
            </a:r>
          </a:p>
          <a:p>
            <a:pPr marL="279400" indent="0">
              <a:lnSpc>
                <a:spcPct val="90000"/>
              </a:lnSpc>
              <a:buNone/>
            </a:pPr>
            <a:r>
              <a:rPr lang="en-US" altLang="en-US" dirty="0">
                <a:solidFill>
                  <a:srgbClr val="CC0000"/>
                </a:solidFill>
              </a:rPr>
              <a:t>-</a:t>
            </a:r>
            <a:r>
              <a:rPr lang="en-US" altLang="en-US" dirty="0" err="1">
                <a:solidFill>
                  <a:srgbClr val="CC0000"/>
                </a:solidFill>
              </a:rPr>
              <a:t>rwx</a:t>
            </a:r>
            <a:r>
              <a:rPr lang="en-US" altLang="en-US" dirty="0">
                <a:solidFill>
                  <a:srgbClr val="CC0000"/>
                </a:solidFill>
              </a:rPr>
              <a:t>--x--x 2 Alice staff 2048 Jan 1 12:10 file1</a:t>
            </a:r>
          </a:p>
          <a:p>
            <a:pPr marL="279400" indent="0">
              <a:lnSpc>
                <a:spcPct val="90000"/>
              </a:lnSpc>
              <a:buNone/>
            </a:pPr>
            <a:endParaRPr lang="en-US" altLang="en-US" dirty="0">
              <a:solidFill>
                <a:srgbClr val="CC0000"/>
              </a:solidFill>
            </a:endParaRPr>
          </a:p>
          <a:p>
            <a:pPr marL="279400" indent="0">
              <a:lnSpc>
                <a:spcPct val="90000"/>
              </a:lnSpc>
              <a:buNone/>
            </a:pPr>
            <a:r>
              <a:rPr lang="en-US" altLang="en-US" b="1" dirty="0"/>
              <a:t>ls -l dir1</a:t>
            </a:r>
          </a:p>
          <a:p>
            <a:pPr marL="279400" indent="0">
              <a:lnSpc>
                <a:spcPct val="90000"/>
              </a:lnSpc>
              <a:buNone/>
            </a:pPr>
            <a:r>
              <a:rPr lang="en-US" altLang="en-US" dirty="0" err="1">
                <a:solidFill>
                  <a:srgbClr val="CC0000"/>
                </a:solidFill>
              </a:rPr>
              <a:t>drwxr</a:t>
            </a:r>
            <a:r>
              <a:rPr lang="en-US" altLang="en-US" dirty="0">
                <a:solidFill>
                  <a:srgbClr val="CC0000"/>
                </a:solidFill>
              </a:rPr>
              <a:t>-</a:t>
            </a:r>
            <a:r>
              <a:rPr lang="en-US" altLang="en-US" dirty="0" err="1">
                <a:solidFill>
                  <a:srgbClr val="CC0000"/>
                </a:solidFill>
              </a:rPr>
              <a:t>xr</a:t>
            </a:r>
            <a:r>
              <a:rPr lang="en-US" altLang="en-US" dirty="0">
                <a:solidFill>
                  <a:srgbClr val="CC0000"/>
                </a:solidFill>
              </a:rPr>
              <a:t>-x 3 Alice user 1024 Jan 1 09:27  dir1</a:t>
            </a:r>
          </a:p>
          <a:p>
            <a:pPr marL="279400" indent="0">
              <a:lnSpc>
                <a:spcPct val="90000"/>
              </a:lnSpc>
              <a:buNone/>
            </a:pPr>
            <a:endParaRPr lang="en-US" altLang="en-US" dirty="0">
              <a:solidFill>
                <a:srgbClr val="CC0000"/>
              </a:solidFill>
            </a:endParaRPr>
          </a:p>
          <a:p>
            <a:pPr marL="279400" indent="0">
              <a:lnSpc>
                <a:spcPct val="90000"/>
              </a:lnSpc>
              <a:buNone/>
            </a:pPr>
            <a:r>
              <a:rPr lang="en-US" altLang="en-US" b="1" dirty="0"/>
              <a:t> </a:t>
            </a:r>
          </a:p>
        </p:txBody>
      </p:sp>
      <p:sp>
        <p:nvSpPr>
          <p:cNvPr id="5" name="Text Placeholder 4">
            <a:extLst>
              <a:ext uri="{FF2B5EF4-FFF2-40B4-BE49-F238E27FC236}">
                <a16:creationId xmlns:a16="http://schemas.microsoft.com/office/drawing/2014/main" id="{19E89D2A-EC22-CECF-EF80-E79D95325DFD}"/>
              </a:ext>
            </a:extLst>
          </p:cNvPr>
          <p:cNvSpPr>
            <a:spLocks noGrp="1"/>
          </p:cNvSpPr>
          <p:nvPr>
            <p:ph type="body" idx="11"/>
          </p:nvPr>
        </p:nvSpPr>
        <p:spPr/>
        <p:txBody>
          <a:bodyPr>
            <a:normAutofit/>
          </a:bodyPr>
          <a:lstStyle/>
          <a:p>
            <a:r>
              <a:rPr lang="en-US" sz="1600" dirty="0">
                <a:highlight>
                  <a:srgbClr val="FFFF00"/>
                </a:highlight>
              </a:rPr>
              <a:t>Non-Examinable</a:t>
            </a:r>
          </a:p>
        </p:txBody>
      </p:sp>
    </p:spTree>
    <p:extLst>
      <p:ext uri="{BB962C8B-B14F-4D97-AF65-F5344CB8AC3E}">
        <p14:creationId xmlns:p14="http://schemas.microsoft.com/office/powerpoint/2010/main" val="4164210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C1623-22BD-2849-9D4C-7F02136C01B1}"/>
              </a:ext>
            </a:extLst>
          </p:cNvPr>
          <p:cNvSpPr>
            <a:spLocks noGrp="1"/>
          </p:cNvSpPr>
          <p:nvPr>
            <p:ph type="title"/>
          </p:nvPr>
        </p:nvSpPr>
        <p:spPr/>
        <p:txBody>
          <a:bodyPr/>
          <a:lstStyle/>
          <a:p>
            <a:r>
              <a:rPr lang="en-US" dirty="0"/>
              <a:t>Example: ACL commands</a:t>
            </a:r>
          </a:p>
        </p:txBody>
      </p:sp>
      <p:sp>
        <p:nvSpPr>
          <p:cNvPr id="4" name="Content Placeholder 3">
            <a:extLst>
              <a:ext uri="{FF2B5EF4-FFF2-40B4-BE49-F238E27FC236}">
                <a16:creationId xmlns:a16="http://schemas.microsoft.com/office/drawing/2014/main" id="{8B1AA82D-AD7B-B140-A027-6A07653EC167}"/>
              </a:ext>
            </a:extLst>
          </p:cNvPr>
          <p:cNvSpPr>
            <a:spLocks noGrp="1"/>
          </p:cNvSpPr>
          <p:nvPr>
            <p:ph idx="1"/>
          </p:nvPr>
        </p:nvSpPr>
        <p:spPr>
          <a:xfrm>
            <a:off x="513349" y="1260073"/>
            <a:ext cx="6468771" cy="4723318"/>
          </a:xfrm>
        </p:spPr>
        <p:txBody>
          <a:bodyPr/>
          <a:lstStyle/>
          <a:p>
            <a:r>
              <a:rPr lang="pt" sz="2000" b="1" dirty="0" err="1"/>
              <a:t>rwx</a:t>
            </a:r>
            <a:r>
              <a:rPr lang="pt" sz="2000" b="1" dirty="0"/>
              <a:t> </a:t>
            </a:r>
            <a:r>
              <a:rPr lang="pt" sz="2000" b="1" dirty="0" err="1"/>
              <a:t>rwx</a:t>
            </a:r>
            <a:r>
              <a:rPr lang="pt" sz="2000" b="1" dirty="0"/>
              <a:t> </a:t>
            </a:r>
            <a:r>
              <a:rPr lang="pt" sz="2000" b="1" dirty="0" err="1"/>
              <a:t>r</a:t>
            </a:r>
            <a:r>
              <a:rPr lang="pt" sz="2000" b="1" dirty="0"/>
              <a:t>--</a:t>
            </a:r>
            <a:br>
              <a:rPr lang="pt" sz="2000" b="1" dirty="0"/>
            </a:br>
            <a:r>
              <a:rPr lang="pt" sz="2000" b="1" dirty="0"/>
              <a:t>111 111 100 </a:t>
            </a:r>
            <a:br>
              <a:rPr lang="pt" sz="2000" b="1" dirty="0"/>
            </a:br>
            <a:r>
              <a:rPr lang="pt" sz="2000" b="1" dirty="0"/>
              <a:t>   7 	  7     4</a:t>
            </a:r>
          </a:p>
          <a:p>
            <a:r>
              <a:rPr lang="en-US" sz="2000" dirty="0"/>
              <a:t>Command: </a:t>
            </a:r>
            <a:r>
              <a:rPr lang="en-US" sz="2000" dirty="0" err="1">
                <a:solidFill>
                  <a:srgbClr val="C00000"/>
                </a:solidFill>
              </a:rPr>
              <a:t>chmod</a:t>
            </a:r>
            <a:r>
              <a:rPr lang="en-US" sz="2000" dirty="0">
                <a:solidFill>
                  <a:srgbClr val="C00000"/>
                </a:solidFill>
              </a:rPr>
              <a:t> 774 file1</a:t>
            </a:r>
          </a:p>
          <a:p>
            <a:endParaRPr lang="en-US" sz="2000" i="1" dirty="0"/>
          </a:p>
          <a:p>
            <a:r>
              <a:rPr lang="en-US" sz="2000" dirty="0"/>
              <a:t>mode may also be specified symbolically as </a:t>
            </a:r>
            <a:r>
              <a:rPr lang="en-US" sz="2000" b="1" dirty="0"/>
              <a:t>+r</a:t>
            </a:r>
            <a:r>
              <a:rPr lang="en-US" sz="2000" dirty="0"/>
              <a:t> which would add read permissions to everyone</a:t>
            </a:r>
          </a:p>
          <a:p>
            <a:r>
              <a:rPr lang="en-US" altLang="en-US" sz="2000" b="1" dirty="0" err="1"/>
              <a:t>chmod</a:t>
            </a:r>
            <a:r>
              <a:rPr lang="en-US" altLang="en-US" sz="2000" b="1" dirty="0"/>
              <a:t> </a:t>
            </a:r>
            <a:r>
              <a:rPr lang="en-US" altLang="en-US" sz="2000" b="1" dirty="0" err="1"/>
              <a:t>g+r</a:t>
            </a:r>
            <a:r>
              <a:rPr lang="en-US" altLang="en-US" sz="2000" b="1" dirty="0"/>
              <a:t> file1</a:t>
            </a:r>
          </a:p>
          <a:p>
            <a:pPr lvl="1"/>
            <a:r>
              <a:rPr lang="en-US" dirty="0"/>
              <a:t>Add read permission to group regarding file1</a:t>
            </a:r>
          </a:p>
        </p:txBody>
      </p:sp>
      <p:sp>
        <p:nvSpPr>
          <p:cNvPr id="5" name="Content Placeholder 3">
            <a:extLst>
              <a:ext uri="{FF2B5EF4-FFF2-40B4-BE49-F238E27FC236}">
                <a16:creationId xmlns:a16="http://schemas.microsoft.com/office/drawing/2014/main" id="{8C35930C-5705-D84C-AC7F-A987F6D57937}"/>
              </a:ext>
            </a:extLst>
          </p:cNvPr>
          <p:cNvSpPr txBox="1">
            <a:spLocks/>
          </p:cNvSpPr>
          <p:nvPr/>
        </p:nvSpPr>
        <p:spPr>
          <a:xfrm>
            <a:off x="7119280" y="1294363"/>
            <a:ext cx="4909685" cy="4432067"/>
          </a:xfrm>
          <a:prstGeom prst="rect">
            <a:avLst/>
          </a:prstGeom>
        </p:spPr>
        <p:txBody>
          <a:bodyPr vert="horz" lIns="91440" tIns="45720" rIns="91440" bIns="45720" rtlCol="0">
            <a:normAutofit/>
          </a:bodyPr>
          <a:lstStyle>
            <a:lvl1pPr marL="171450" indent="-171450" algn="l" defTabSz="685800" rtl="0" eaLnBrk="1" latinLnBrk="0" hangingPunct="1">
              <a:lnSpc>
                <a:spcPct val="100000"/>
              </a:lnSpc>
              <a:spcBef>
                <a:spcPts val="450"/>
              </a:spcBef>
              <a:spcAft>
                <a:spcPts val="450"/>
              </a:spcAft>
              <a:buFont typeface="Arial" panose="020B0604020202020204" pitchFamily="34" charset="0"/>
              <a:buChar char="•"/>
              <a:defRPr sz="2200" b="0"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a:lvl2pPr marL="514350" indent="-171450" algn="l" defTabSz="685800" rtl="0" eaLnBrk="1" latinLnBrk="0" hangingPunct="1">
              <a:lnSpc>
                <a:spcPct val="100000"/>
              </a:lnSpc>
              <a:spcBef>
                <a:spcPts val="450"/>
              </a:spcBef>
              <a:spcAft>
                <a:spcPts val="450"/>
              </a:spcAft>
              <a:buFont typeface="Arial" panose="020B0604020202020204" pitchFamily="34" charset="0"/>
              <a:buChar char="•"/>
              <a:defRPr sz="200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2pPr>
            <a:lvl3pPr marL="857250" indent="-171450" algn="l" defTabSz="685800" rtl="0" eaLnBrk="1" latinLnBrk="0" hangingPunct="1">
              <a:lnSpc>
                <a:spcPct val="100000"/>
              </a:lnSpc>
              <a:spcBef>
                <a:spcPts val="450"/>
              </a:spcBef>
              <a:spcAft>
                <a:spcPts val="450"/>
              </a:spcAft>
              <a:buFont typeface="Arial" panose="020B0604020202020204" pitchFamily="34" charset="0"/>
              <a:buChar char="•"/>
              <a:defRPr sz="1600" kern="1200">
                <a:solidFill>
                  <a:schemeClr val="tx1"/>
                </a:solidFill>
                <a:latin typeface="Arial Nova" panose="020B0504020202020204" pitchFamily="34" charset="0"/>
                <a:ea typeface="Arial Nova Light" panose="020B0304020202020204" pitchFamily="34" charset="0"/>
                <a:cs typeface="Arial Nova Light" panose="020B0304020202020204" pitchFamily="34" charset="0"/>
              </a:defRPr>
            </a:lvl3pPr>
            <a:lvl4pPr marL="1200150" indent="-171450" algn="l" defTabSz="685800" rtl="0" eaLnBrk="1" latinLnBrk="0" hangingPunct="1">
              <a:lnSpc>
                <a:spcPct val="100000"/>
              </a:lnSpc>
              <a:spcBef>
                <a:spcPts val="450"/>
              </a:spcBef>
              <a:spcAft>
                <a:spcPts val="450"/>
              </a:spcAft>
              <a:buFont typeface="Arial" panose="020B0604020202020204" pitchFamily="34" charset="0"/>
              <a:buChar char="•"/>
              <a:defRPr sz="1400" b="0" i="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4pPr>
            <a:lvl5pPr marL="1543050" indent="-171450" algn="l" defTabSz="685800" rtl="0" eaLnBrk="1" latinLnBrk="0" hangingPunct="1">
              <a:lnSpc>
                <a:spcPct val="100000"/>
              </a:lnSpc>
              <a:spcBef>
                <a:spcPts val="450"/>
              </a:spcBef>
              <a:spcAft>
                <a:spcPts val="450"/>
              </a:spcAft>
              <a:buFont typeface="Arial" panose="020B0604020202020204" pitchFamily="34" charset="0"/>
              <a:buChar char="•"/>
              <a:defRPr sz="1350" b="0" i="0" kern="1200">
                <a:solidFill>
                  <a:schemeClr val="tx1"/>
                </a:solidFill>
                <a:latin typeface="Arial Nova Light" panose="020B03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ct val="30000"/>
              </a:spcBef>
              <a:defRPr/>
            </a:pPr>
            <a:r>
              <a:rPr lang="en-US" sz="2000" dirty="0" err="1">
                <a:solidFill>
                  <a:srgbClr val="C00000"/>
                </a:solidFill>
              </a:rPr>
              <a:t>chmod</a:t>
            </a:r>
            <a:r>
              <a:rPr lang="en-US" sz="2000" dirty="0">
                <a:solidFill>
                  <a:srgbClr val="C00000"/>
                </a:solidFill>
              </a:rPr>
              <a:t> </a:t>
            </a:r>
            <a:r>
              <a:rPr lang="en-US" sz="2000" dirty="0" err="1">
                <a:solidFill>
                  <a:srgbClr val="C00000"/>
                </a:solidFill>
              </a:rPr>
              <a:t>go+w</a:t>
            </a:r>
            <a:r>
              <a:rPr lang="en-US" sz="2000" dirty="0">
                <a:solidFill>
                  <a:srgbClr val="C00000"/>
                </a:solidFill>
              </a:rPr>
              <a:t> </a:t>
            </a:r>
            <a:r>
              <a:rPr lang="en-US" sz="2000" dirty="0" err="1">
                <a:solidFill>
                  <a:srgbClr val="C00000"/>
                </a:solidFill>
              </a:rPr>
              <a:t>phone.numbers</a:t>
            </a:r>
            <a:r>
              <a:rPr lang="en-US" sz="2000" dirty="0">
                <a:solidFill>
                  <a:srgbClr val="C00000"/>
                </a:solidFill>
              </a:rPr>
              <a:t> </a:t>
            </a:r>
          </a:p>
          <a:p>
            <a:pPr marL="0" indent="0">
              <a:spcBef>
                <a:spcPct val="30000"/>
              </a:spcBef>
              <a:buNone/>
              <a:defRPr/>
            </a:pPr>
            <a:r>
              <a:rPr lang="en-US" dirty="0"/>
              <a:t>which means “group others add write”</a:t>
            </a:r>
          </a:p>
          <a:p>
            <a:pPr marL="577850" lvl="1" indent="0">
              <a:spcBef>
                <a:spcPct val="30000"/>
              </a:spcBef>
              <a:buNone/>
              <a:defRPr/>
            </a:pPr>
            <a:endParaRPr lang="en-US" dirty="0"/>
          </a:p>
          <a:p>
            <a:pPr>
              <a:spcBef>
                <a:spcPct val="30000"/>
              </a:spcBef>
              <a:defRPr/>
            </a:pPr>
            <a:r>
              <a:rPr lang="en-US" sz="2000" dirty="0"/>
              <a:t>The general syntax, using the conventional method:</a:t>
            </a:r>
          </a:p>
          <a:p>
            <a:pPr marL="177800" indent="0">
              <a:spcBef>
                <a:spcPct val="30000"/>
              </a:spcBef>
              <a:buNone/>
              <a:defRPr/>
            </a:pPr>
            <a:r>
              <a:rPr lang="en-US" sz="2000" dirty="0" err="1">
                <a:solidFill>
                  <a:srgbClr val="C00000"/>
                </a:solidFill>
              </a:rPr>
              <a:t>chmod</a:t>
            </a:r>
            <a:r>
              <a:rPr lang="en-US" sz="2000" dirty="0">
                <a:solidFill>
                  <a:srgbClr val="C00000"/>
                </a:solidFill>
              </a:rPr>
              <a:t> [</a:t>
            </a:r>
            <a:r>
              <a:rPr lang="en-US" sz="2000" dirty="0" err="1">
                <a:solidFill>
                  <a:srgbClr val="C00000"/>
                </a:solidFill>
              </a:rPr>
              <a:t>ugo</a:t>
            </a:r>
            <a:r>
              <a:rPr lang="en-US" sz="2000" dirty="0">
                <a:solidFill>
                  <a:srgbClr val="C00000"/>
                </a:solidFill>
              </a:rPr>
              <a:t>]+-[</a:t>
            </a:r>
            <a:r>
              <a:rPr lang="en-US" sz="2000" dirty="0" err="1">
                <a:solidFill>
                  <a:srgbClr val="C00000"/>
                </a:solidFill>
              </a:rPr>
              <a:t>rwx</a:t>
            </a:r>
            <a:r>
              <a:rPr lang="en-US" sz="2000" dirty="0">
                <a:solidFill>
                  <a:srgbClr val="C00000"/>
                </a:solidFill>
              </a:rPr>
              <a:t>] filename(s)</a:t>
            </a:r>
          </a:p>
          <a:p>
            <a:pPr marL="177800" indent="0">
              <a:spcBef>
                <a:spcPct val="30000"/>
              </a:spcBef>
              <a:buNone/>
              <a:defRPr/>
            </a:pPr>
            <a:endParaRPr lang="en-US" sz="2000" dirty="0">
              <a:solidFill>
                <a:srgbClr val="C00000"/>
              </a:solidFill>
            </a:endParaRPr>
          </a:p>
          <a:p>
            <a:pPr marL="0" indent="0">
              <a:buNone/>
            </a:pPr>
            <a:r>
              <a:rPr lang="en-US" sz="2000" dirty="0" err="1"/>
              <a:t>rwx</a:t>
            </a:r>
            <a:r>
              <a:rPr lang="en-US" sz="2000" dirty="0"/>
              <a:t> </a:t>
            </a:r>
            <a:r>
              <a:rPr lang="en-US" sz="2000" dirty="0" err="1"/>
              <a:t>rwx</a:t>
            </a:r>
            <a:r>
              <a:rPr lang="en-US" sz="2000" dirty="0"/>
              <a:t> </a:t>
            </a:r>
            <a:r>
              <a:rPr lang="en-US" sz="2000" dirty="0" err="1"/>
              <a:t>rwx</a:t>
            </a:r>
            <a:endParaRPr lang="en-US" sz="2000" dirty="0"/>
          </a:p>
          <a:p>
            <a:pPr marL="0" indent="0">
              <a:buNone/>
            </a:pPr>
            <a:r>
              <a:rPr lang="en-US" sz="2000" dirty="0"/>
              <a:t>110 100 000 =   640</a:t>
            </a:r>
          </a:p>
        </p:txBody>
      </p:sp>
      <p:sp>
        <p:nvSpPr>
          <p:cNvPr id="7" name="Text Placeholder 6">
            <a:extLst>
              <a:ext uri="{FF2B5EF4-FFF2-40B4-BE49-F238E27FC236}">
                <a16:creationId xmlns:a16="http://schemas.microsoft.com/office/drawing/2014/main" id="{E41B80E3-1D76-1D26-C4B9-7726964008B7}"/>
              </a:ext>
            </a:extLst>
          </p:cNvPr>
          <p:cNvSpPr>
            <a:spLocks noGrp="1"/>
          </p:cNvSpPr>
          <p:nvPr>
            <p:ph type="body" idx="11"/>
          </p:nvPr>
        </p:nvSpPr>
        <p:spPr/>
        <p:txBody>
          <a:bodyPr>
            <a:normAutofit/>
          </a:bodyPr>
          <a:lstStyle/>
          <a:p>
            <a:r>
              <a:rPr lang="en-US" sz="1600" dirty="0">
                <a:highlight>
                  <a:srgbClr val="FFFF00"/>
                </a:highlight>
              </a:rPr>
              <a:t>Non-Examinable</a:t>
            </a:r>
          </a:p>
        </p:txBody>
      </p:sp>
    </p:spTree>
    <p:extLst>
      <p:ext uri="{BB962C8B-B14F-4D97-AF65-F5344CB8AC3E}">
        <p14:creationId xmlns:p14="http://schemas.microsoft.com/office/powerpoint/2010/main" val="2535421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ChangeArrowheads="1"/>
          </p:cNvSpPr>
          <p:nvPr>
            <p:ph type="title"/>
          </p:nvPr>
        </p:nvSpPr>
        <p:spPr/>
        <p:txBody>
          <a:bodyPr/>
          <a:lstStyle/>
          <a:p>
            <a:r>
              <a:rPr lang="en-US" dirty="0"/>
              <a:t>Capabilities </a:t>
            </a:r>
          </a:p>
        </p:txBody>
      </p:sp>
      <p:sp>
        <p:nvSpPr>
          <p:cNvPr id="5" name="Text Placeholder 4">
            <a:extLst>
              <a:ext uri="{FF2B5EF4-FFF2-40B4-BE49-F238E27FC236}">
                <a16:creationId xmlns:a16="http://schemas.microsoft.com/office/drawing/2014/main" id="{4AD9C521-91C4-0D42-B315-6830F7CF7D6C}"/>
              </a:ext>
            </a:extLst>
          </p:cNvPr>
          <p:cNvSpPr>
            <a:spLocks noGrp="1"/>
          </p:cNvSpPr>
          <p:nvPr>
            <p:ph type="body" idx="11"/>
          </p:nvPr>
        </p:nvSpPr>
        <p:spPr/>
        <p:txBody>
          <a:bodyPr/>
          <a:lstStyle/>
          <a:p>
            <a:endParaRPr lang="en-US"/>
          </a:p>
        </p:txBody>
      </p:sp>
      <p:sp>
        <p:nvSpPr>
          <p:cNvPr id="356355" name="Rectangle 3"/>
          <p:cNvSpPr>
            <a:spLocks noGrp="1" noChangeArrowheads="1"/>
          </p:cNvSpPr>
          <p:nvPr>
            <p:ph idx="1"/>
          </p:nvPr>
        </p:nvSpPr>
        <p:spPr>
          <a:xfrm>
            <a:off x="513349" y="1268243"/>
            <a:ext cx="10840451" cy="3196879"/>
          </a:xfrm>
        </p:spPr>
        <p:txBody>
          <a:bodyPr>
            <a:normAutofit/>
          </a:bodyPr>
          <a:lstStyle/>
          <a:p>
            <a:r>
              <a:rPr lang="en-US" dirty="0"/>
              <a:t>Capabilities – Each </a:t>
            </a:r>
            <a:r>
              <a:rPr lang="en-US" dirty="0">
                <a:solidFill>
                  <a:srgbClr val="002060"/>
                </a:solidFill>
              </a:rPr>
              <a:t>row</a:t>
            </a:r>
            <a:r>
              <a:rPr lang="en-US" dirty="0"/>
              <a:t> of access control matrix is </a:t>
            </a:r>
            <a:r>
              <a:rPr lang="en-US" dirty="0">
                <a:solidFill>
                  <a:srgbClr val="002060"/>
                </a:solidFill>
              </a:rPr>
              <a:t>stored with the corresponding subject.</a:t>
            </a:r>
          </a:p>
          <a:p>
            <a:pPr lvl="1"/>
            <a:r>
              <a:rPr lang="en-US" dirty="0"/>
              <a:t>i.e., a capability is a token held by the user to specify the user’s access rights in the system.</a:t>
            </a:r>
          </a:p>
          <a:p>
            <a:r>
              <a:rPr lang="en-US" dirty="0"/>
              <a:t>Capabilities require:</a:t>
            </a:r>
          </a:p>
          <a:p>
            <a:pPr lvl="1"/>
            <a:r>
              <a:rPr lang="en-US" dirty="0">
                <a:solidFill>
                  <a:srgbClr val="002060"/>
                </a:solidFill>
              </a:rPr>
              <a:t>They are unforgeable </a:t>
            </a:r>
          </a:p>
          <a:p>
            <a:pPr lvl="1"/>
            <a:r>
              <a:rPr lang="en-US" dirty="0">
                <a:solidFill>
                  <a:srgbClr val="002060"/>
                </a:solidFill>
              </a:rPr>
              <a:t>Propagation of capabilities are under control</a:t>
            </a:r>
          </a:p>
        </p:txBody>
      </p:sp>
      <p:sp>
        <p:nvSpPr>
          <p:cNvPr id="17" name="Text Box 54">
            <a:extLst>
              <a:ext uri="{FF2B5EF4-FFF2-40B4-BE49-F238E27FC236}">
                <a16:creationId xmlns:a16="http://schemas.microsoft.com/office/drawing/2014/main" id="{7A57F7D1-A40B-044C-AF4C-6DEB5CE72FA3}"/>
              </a:ext>
            </a:extLst>
          </p:cNvPr>
          <p:cNvSpPr txBox="1">
            <a:spLocks noChangeArrowheads="1"/>
          </p:cNvSpPr>
          <p:nvPr/>
        </p:nvSpPr>
        <p:spPr bwMode="auto">
          <a:xfrm>
            <a:off x="1031776" y="5517006"/>
            <a:ext cx="1828800" cy="466725"/>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F/o, F/r, F/w</a:t>
            </a:r>
          </a:p>
        </p:txBody>
      </p:sp>
      <p:sp>
        <p:nvSpPr>
          <p:cNvPr id="18" name="Text Box 55">
            <a:extLst>
              <a:ext uri="{FF2B5EF4-FFF2-40B4-BE49-F238E27FC236}">
                <a16:creationId xmlns:a16="http://schemas.microsoft.com/office/drawing/2014/main" id="{8E9A06AC-0115-BD4A-A0E4-1365B09CBE12}"/>
              </a:ext>
            </a:extLst>
          </p:cNvPr>
          <p:cNvSpPr txBox="1">
            <a:spLocks noChangeArrowheads="1"/>
          </p:cNvSpPr>
          <p:nvPr/>
        </p:nvSpPr>
        <p:spPr bwMode="auto">
          <a:xfrm>
            <a:off x="4079776" y="5507482"/>
            <a:ext cx="2438400" cy="466725"/>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imes New Roman" pitchFamily="18" charset="0"/>
              </a:rPr>
              <a:t>F/r, G/o, G/r, G/w</a:t>
            </a:r>
          </a:p>
        </p:txBody>
      </p:sp>
      <p:sp>
        <p:nvSpPr>
          <p:cNvPr id="19" name="Text Box 56">
            <a:extLst>
              <a:ext uri="{FF2B5EF4-FFF2-40B4-BE49-F238E27FC236}">
                <a16:creationId xmlns:a16="http://schemas.microsoft.com/office/drawing/2014/main" id="{D1ECC125-E1E2-934A-B275-4DD4FBC289A4}"/>
              </a:ext>
            </a:extLst>
          </p:cNvPr>
          <p:cNvSpPr txBox="1">
            <a:spLocks noChangeArrowheads="1"/>
          </p:cNvSpPr>
          <p:nvPr/>
        </p:nvSpPr>
        <p:spPr bwMode="auto">
          <a:xfrm>
            <a:off x="498376" y="5517005"/>
            <a:ext cx="457200" cy="457200"/>
          </a:xfrm>
          <a:prstGeom prst="rect">
            <a:avLst/>
          </a:prstGeom>
          <a:noFill/>
          <a:ln w="9525">
            <a:noFill/>
            <a:miter lim="800000"/>
            <a:headEnd/>
            <a:tailEnd/>
          </a:ln>
          <a:effectLst/>
        </p:spPr>
        <p:txBody>
          <a:bodyPr>
            <a:spAutoFit/>
          </a:bodyPr>
          <a:lstStyle/>
          <a:p>
            <a:pPr defTabSz="914400" fontAlgn="base">
              <a:spcBef>
                <a:spcPct val="0"/>
              </a:spcBef>
              <a:spcAft>
                <a:spcPct val="0"/>
              </a:spcAft>
            </a:pPr>
            <a:r>
              <a:rPr lang="en-US" sz="2400" dirty="0">
                <a:solidFill>
                  <a:srgbClr val="000000"/>
                </a:solidFill>
                <a:latin typeface="Times New Roman" pitchFamily="18" charset="0"/>
              </a:rPr>
              <a:t>U</a:t>
            </a:r>
          </a:p>
        </p:txBody>
      </p:sp>
      <p:sp>
        <p:nvSpPr>
          <p:cNvPr id="20" name="Text Box 57">
            <a:extLst>
              <a:ext uri="{FF2B5EF4-FFF2-40B4-BE49-F238E27FC236}">
                <a16:creationId xmlns:a16="http://schemas.microsoft.com/office/drawing/2014/main" id="{A9FA9E80-45FB-164D-86A6-FDF654E05E50}"/>
              </a:ext>
            </a:extLst>
          </p:cNvPr>
          <p:cNvSpPr txBox="1">
            <a:spLocks noChangeArrowheads="1"/>
          </p:cNvSpPr>
          <p:nvPr/>
        </p:nvSpPr>
        <p:spPr bwMode="auto">
          <a:xfrm>
            <a:off x="3546376" y="5517006"/>
            <a:ext cx="457200" cy="457200"/>
          </a:xfrm>
          <a:prstGeom prst="rect">
            <a:avLst/>
          </a:prstGeom>
          <a:noFill/>
          <a:ln w="9525">
            <a:noFill/>
            <a:miter lim="800000"/>
            <a:headEnd/>
            <a:tailEnd/>
          </a:ln>
          <a:effectLst/>
        </p:spPr>
        <p:txBody>
          <a:bodyPr>
            <a:spAutoFit/>
          </a:bodyPr>
          <a:lstStyle/>
          <a:p>
            <a:pPr defTabSz="914400" fontAlgn="base">
              <a:spcBef>
                <a:spcPct val="0"/>
              </a:spcBef>
              <a:spcAft>
                <a:spcPct val="0"/>
              </a:spcAft>
            </a:pPr>
            <a:r>
              <a:rPr lang="en-US" sz="2400">
                <a:solidFill>
                  <a:srgbClr val="000000"/>
                </a:solidFill>
                <a:latin typeface="Times New Roman" pitchFamily="18" charset="0"/>
              </a:rPr>
              <a:t>V</a:t>
            </a:r>
          </a:p>
        </p:txBody>
      </p:sp>
    </p:spTree>
    <p:extLst>
      <p:ext uri="{BB962C8B-B14F-4D97-AF65-F5344CB8AC3E}">
        <p14:creationId xmlns:p14="http://schemas.microsoft.com/office/powerpoint/2010/main" val="2786440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p:txBody>
          <a:bodyPr/>
          <a:lstStyle/>
          <a:p>
            <a:r>
              <a:rPr lang="en-US" dirty="0"/>
              <a:t>Comparison of ACL and Capabilities</a:t>
            </a:r>
          </a:p>
        </p:txBody>
      </p:sp>
      <p:sp>
        <p:nvSpPr>
          <p:cNvPr id="357384" name="Rectangle 8"/>
          <p:cNvSpPr>
            <a:spLocks noGrp="1" noChangeArrowheads="1"/>
          </p:cNvSpPr>
          <p:nvPr>
            <p:ph idx="1"/>
          </p:nvPr>
        </p:nvSpPr>
        <p:spPr>
          <a:xfrm>
            <a:off x="513350" y="1268243"/>
            <a:ext cx="5234308" cy="4723318"/>
          </a:xfrm>
        </p:spPr>
        <p:txBody>
          <a:bodyPr>
            <a:normAutofit/>
          </a:bodyPr>
          <a:lstStyle/>
          <a:p>
            <a:r>
              <a:rPr lang="en-US" dirty="0"/>
              <a:t>ACL</a:t>
            </a:r>
          </a:p>
          <a:p>
            <a:pPr lvl="1"/>
            <a:r>
              <a:rPr lang="en-US" dirty="0"/>
              <a:t>Access rights stored with objects</a:t>
            </a:r>
          </a:p>
          <a:p>
            <a:pPr lvl="1"/>
            <a:r>
              <a:rPr lang="en-US" dirty="0"/>
              <a:t>Requires authentication of subjects</a:t>
            </a:r>
          </a:p>
          <a:p>
            <a:pPr lvl="1"/>
            <a:r>
              <a:rPr lang="en-US" dirty="0"/>
              <a:t>Provides access review on a per-object basis</a:t>
            </a:r>
          </a:p>
          <a:p>
            <a:pPr lvl="1"/>
            <a:r>
              <a:rPr lang="en-US" dirty="0"/>
              <a:t>Most operating systems such as UNIX and Windows use ACL to protect files</a:t>
            </a:r>
          </a:p>
        </p:txBody>
      </p:sp>
      <p:sp>
        <p:nvSpPr>
          <p:cNvPr id="6" name="Text Placeholder 5">
            <a:extLst>
              <a:ext uri="{FF2B5EF4-FFF2-40B4-BE49-F238E27FC236}">
                <a16:creationId xmlns:a16="http://schemas.microsoft.com/office/drawing/2014/main" id="{68A8D736-9230-714C-905B-B07A1BDBA968}"/>
              </a:ext>
            </a:extLst>
          </p:cNvPr>
          <p:cNvSpPr>
            <a:spLocks noGrp="1"/>
          </p:cNvSpPr>
          <p:nvPr>
            <p:ph type="body" idx="11"/>
          </p:nvPr>
        </p:nvSpPr>
        <p:spPr/>
        <p:txBody>
          <a:bodyPr/>
          <a:lstStyle/>
          <a:p>
            <a:endParaRPr lang="en-US"/>
          </a:p>
        </p:txBody>
      </p:sp>
      <p:sp>
        <p:nvSpPr>
          <p:cNvPr id="11" name="Rectangle 9">
            <a:extLst>
              <a:ext uri="{FF2B5EF4-FFF2-40B4-BE49-F238E27FC236}">
                <a16:creationId xmlns:a16="http://schemas.microsoft.com/office/drawing/2014/main" id="{09C568CA-D94A-124F-AB5B-F1E2A696082A}"/>
              </a:ext>
            </a:extLst>
          </p:cNvPr>
          <p:cNvSpPr txBox="1">
            <a:spLocks noChangeArrowheads="1"/>
          </p:cNvSpPr>
          <p:nvPr/>
        </p:nvSpPr>
        <p:spPr>
          <a:xfrm>
            <a:off x="6444344" y="1403925"/>
            <a:ext cx="5384800" cy="3773341"/>
          </a:xfrm>
          <a:prstGeom prst="rect">
            <a:avLst/>
          </a:prstGeom>
        </p:spPr>
        <p:txBody>
          <a:bodyPr/>
          <a:lstStyle>
            <a:lvl1pPr marL="171450" indent="-171450" algn="l" defTabSz="685800" rtl="0" eaLnBrk="1" latinLnBrk="0" hangingPunct="1">
              <a:lnSpc>
                <a:spcPct val="100000"/>
              </a:lnSpc>
              <a:spcBef>
                <a:spcPts val="450"/>
              </a:spcBef>
              <a:spcAft>
                <a:spcPts val="450"/>
              </a:spcAft>
              <a:buFont typeface="Arial" panose="020B0604020202020204" pitchFamily="34" charset="0"/>
              <a:buChar char="•"/>
              <a:defRPr sz="2400" b="0"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a:lvl2pPr marL="514350" indent="-171450" algn="l" defTabSz="685800" rtl="0" eaLnBrk="1" latinLnBrk="0" hangingPunct="1">
              <a:lnSpc>
                <a:spcPct val="100000"/>
              </a:lnSpc>
              <a:spcBef>
                <a:spcPts val="450"/>
              </a:spcBef>
              <a:spcAft>
                <a:spcPts val="450"/>
              </a:spcAft>
              <a:buFont typeface="Arial" panose="020B0604020202020204" pitchFamily="34" charset="0"/>
              <a:buChar char="•"/>
              <a:defRPr sz="220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2pPr>
            <a:lvl3pPr marL="857250" indent="-171450" algn="l" defTabSz="685800" rtl="0" eaLnBrk="1" latinLnBrk="0" hangingPunct="1">
              <a:lnSpc>
                <a:spcPct val="100000"/>
              </a:lnSpc>
              <a:spcBef>
                <a:spcPts val="450"/>
              </a:spcBef>
              <a:spcAft>
                <a:spcPts val="450"/>
              </a:spcAft>
              <a:buFont typeface="Arial" panose="020B0604020202020204" pitchFamily="34" charset="0"/>
              <a:buChar char="•"/>
              <a:defRPr sz="200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3pPr>
            <a:lvl4pPr marL="1200150" indent="-171450" algn="l" defTabSz="685800" rtl="0" eaLnBrk="1" latinLnBrk="0" hangingPunct="1">
              <a:lnSpc>
                <a:spcPct val="100000"/>
              </a:lnSpc>
              <a:spcBef>
                <a:spcPts val="450"/>
              </a:spcBef>
              <a:spcAft>
                <a:spcPts val="450"/>
              </a:spcAft>
              <a:buFont typeface="Arial" panose="020B0604020202020204" pitchFamily="34" charset="0"/>
              <a:buChar char="•"/>
              <a:defRPr sz="1800" b="0" i="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4pPr>
            <a:lvl5pPr marL="1543050" indent="-171450" algn="l" defTabSz="685800" rtl="0" eaLnBrk="1" latinLnBrk="0" hangingPunct="1">
              <a:lnSpc>
                <a:spcPct val="100000"/>
              </a:lnSpc>
              <a:spcBef>
                <a:spcPts val="450"/>
              </a:spcBef>
              <a:spcAft>
                <a:spcPts val="450"/>
              </a:spcAft>
              <a:buFont typeface="Arial" panose="020B0604020202020204" pitchFamily="34" charset="0"/>
              <a:buChar char="•"/>
              <a:defRPr sz="1600" b="0" i="0" kern="1200">
                <a:solidFill>
                  <a:schemeClr val="tx1"/>
                </a:solidFill>
                <a:latin typeface="Arial Nova Light" panose="020B03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Capabilities</a:t>
            </a:r>
          </a:p>
          <a:p>
            <a:pPr lvl="1"/>
            <a:r>
              <a:rPr lang="en-US" dirty="0"/>
              <a:t>Access rights stored with subjects</a:t>
            </a:r>
          </a:p>
          <a:p>
            <a:pPr lvl="1"/>
            <a:r>
              <a:rPr lang="en-US" dirty="0"/>
              <a:t>Requires unforgeability and control of propagation of capabilities</a:t>
            </a:r>
          </a:p>
          <a:p>
            <a:pPr lvl="1"/>
            <a:r>
              <a:rPr lang="en-US" dirty="0"/>
              <a:t>Lays ground work for Kerberos (a well-known authorization system)</a:t>
            </a:r>
          </a:p>
        </p:txBody>
      </p:sp>
    </p:spTree>
    <p:extLst>
      <p:ext uri="{BB962C8B-B14F-4D97-AF65-F5344CB8AC3E}">
        <p14:creationId xmlns:p14="http://schemas.microsoft.com/office/powerpoint/2010/main" val="3957251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type="title"/>
          </p:nvPr>
        </p:nvSpPr>
        <p:spPr/>
        <p:txBody>
          <a:bodyPr/>
          <a:lstStyle/>
          <a:p>
            <a:r>
              <a:rPr lang="en-US"/>
              <a:t>Summary of DAC</a:t>
            </a:r>
          </a:p>
        </p:txBody>
      </p:sp>
      <p:sp>
        <p:nvSpPr>
          <p:cNvPr id="4" name="Text Placeholder 3">
            <a:extLst>
              <a:ext uri="{FF2B5EF4-FFF2-40B4-BE49-F238E27FC236}">
                <a16:creationId xmlns:a16="http://schemas.microsoft.com/office/drawing/2014/main" id="{7044E98C-60CD-4A49-9B5A-B334718CBCE4}"/>
              </a:ext>
            </a:extLst>
          </p:cNvPr>
          <p:cNvSpPr>
            <a:spLocks noGrp="1"/>
          </p:cNvSpPr>
          <p:nvPr>
            <p:ph type="body" idx="11"/>
          </p:nvPr>
        </p:nvSpPr>
        <p:spPr/>
        <p:txBody>
          <a:bodyPr/>
          <a:lstStyle/>
          <a:p>
            <a:endParaRPr lang="en-US"/>
          </a:p>
        </p:txBody>
      </p:sp>
      <p:sp>
        <p:nvSpPr>
          <p:cNvPr id="370691" name="Rectangle 3"/>
          <p:cNvSpPr>
            <a:spLocks noGrp="1" noChangeArrowheads="1"/>
          </p:cNvSpPr>
          <p:nvPr>
            <p:ph idx="1"/>
          </p:nvPr>
        </p:nvSpPr>
        <p:spPr/>
        <p:txBody>
          <a:bodyPr/>
          <a:lstStyle/>
          <a:p>
            <a:r>
              <a:rPr lang="en-US" dirty="0"/>
              <a:t>DAC</a:t>
            </a:r>
          </a:p>
          <a:p>
            <a:pPr lvl="1"/>
            <a:r>
              <a:rPr lang="en-US" dirty="0"/>
              <a:t>Access control is based on an access matrix </a:t>
            </a:r>
          </a:p>
          <a:p>
            <a:pPr lvl="2"/>
            <a:endParaRPr lang="en-US" dirty="0"/>
          </a:p>
          <a:p>
            <a:pPr lvl="1"/>
            <a:r>
              <a:rPr lang="en-US" dirty="0"/>
              <a:t>Allows propagation of access rights from one subject to another</a:t>
            </a:r>
          </a:p>
          <a:p>
            <a:pPr lvl="2"/>
            <a:r>
              <a:rPr lang="en-US" dirty="0"/>
              <a:t>The owner of an object has full control over the propagation of access rights for the object</a:t>
            </a:r>
          </a:p>
          <a:p>
            <a:pPr lvl="2"/>
            <a:r>
              <a:rPr lang="en-US" dirty="0"/>
              <a:t>Can have propagation. But it should be controlled.</a:t>
            </a:r>
          </a:p>
          <a:p>
            <a:pPr lvl="1"/>
            <a:r>
              <a:rPr lang="en-US" dirty="0"/>
              <a:t>Used in a wide variety of implementations (in commercial and industry)</a:t>
            </a:r>
          </a:p>
        </p:txBody>
      </p:sp>
    </p:spTree>
    <p:extLst>
      <p:ext uri="{BB962C8B-B14F-4D97-AF65-F5344CB8AC3E}">
        <p14:creationId xmlns:p14="http://schemas.microsoft.com/office/powerpoint/2010/main" val="24555148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82F146F-8DB6-4948-9AF9-3D3A838C5709}"/>
              </a:ext>
            </a:extLst>
          </p:cNvPr>
          <p:cNvSpPr>
            <a:spLocks noGrp="1"/>
          </p:cNvSpPr>
          <p:nvPr>
            <p:ph type="title"/>
          </p:nvPr>
        </p:nvSpPr>
        <p:spPr/>
        <p:txBody>
          <a:bodyPr/>
          <a:lstStyle/>
          <a:p>
            <a:r>
              <a:rPr lang="en-US" dirty="0"/>
              <a:t>Mandatory Access Control (MAC)</a:t>
            </a:r>
          </a:p>
        </p:txBody>
      </p:sp>
      <p:sp>
        <p:nvSpPr>
          <p:cNvPr id="6" name="Text Placeholder 5">
            <a:extLst>
              <a:ext uri="{FF2B5EF4-FFF2-40B4-BE49-F238E27FC236}">
                <a16:creationId xmlns:a16="http://schemas.microsoft.com/office/drawing/2014/main" id="{C577D9C4-6E66-3941-9C9A-D874838CA879}"/>
              </a:ext>
            </a:extLst>
          </p:cNvPr>
          <p:cNvSpPr>
            <a:spLocks noGrp="1"/>
          </p:cNvSpPr>
          <p:nvPr>
            <p:ph type="body" idx="10"/>
          </p:nvPr>
        </p:nvSpPr>
        <p:spPr/>
        <p:txBody>
          <a:bodyPr/>
          <a:lstStyle/>
          <a:p>
            <a:endParaRPr lang="en-US"/>
          </a:p>
        </p:txBody>
      </p:sp>
    </p:spTree>
    <p:extLst>
      <p:ext uri="{BB962C8B-B14F-4D97-AF65-F5344CB8AC3E}">
        <p14:creationId xmlns:p14="http://schemas.microsoft.com/office/powerpoint/2010/main" val="740595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ChangeArrowheads="1"/>
          </p:cNvSpPr>
          <p:nvPr>
            <p:ph type="title"/>
          </p:nvPr>
        </p:nvSpPr>
        <p:spPr/>
        <p:txBody>
          <a:bodyPr/>
          <a:lstStyle/>
          <a:p>
            <a:r>
              <a:rPr lang="en-US" altLang="zh-CN" dirty="0"/>
              <a:t>Security Problems of DAC (1)</a:t>
            </a:r>
            <a:endParaRPr lang="en-US" dirty="0"/>
          </a:p>
        </p:txBody>
      </p:sp>
      <p:sp>
        <p:nvSpPr>
          <p:cNvPr id="6" name="Text Placeholder 5">
            <a:extLst>
              <a:ext uri="{FF2B5EF4-FFF2-40B4-BE49-F238E27FC236}">
                <a16:creationId xmlns:a16="http://schemas.microsoft.com/office/drawing/2014/main" id="{C52F10A6-5536-9941-B8B0-3C764BB98327}"/>
              </a:ext>
            </a:extLst>
          </p:cNvPr>
          <p:cNvSpPr>
            <a:spLocks noGrp="1"/>
          </p:cNvSpPr>
          <p:nvPr>
            <p:ph type="body" idx="11"/>
          </p:nvPr>
        </p:nvSpPr>
        <p:spPr/>
        <p:txBody>
          <a:bodyPr/>
          <a:lstStyle/>
          <a:p>
            <a:endParaRPr lang="en-US"/>
          </a:p>
        </p:txBody>
      </p:sp>
      <p:sp>
        <p:nvSpPr>
          <p:cNvPr id="535555" name="Rectangle 3"/>
          <p:cNvSpPr>
            <a:spLocks noGrp="1" noChangeArrowheads="1"/>
          </p:cNvSpPr>
          <p:nvPr>
            <p:ph idx="1"/>
          </p:nvPr>
        </p:nvSpPr>
        <p:spPr>
          <a:xfrm>
            <a:off x="513349" y="1268243"/>
            <a:ext cx="10840451" cy="1813545"/>
          </a:xfrm>
        </p:spPr>
        <p:txBody>
          <a:bodyPr>
            <a:normAutofit/>
          </a:bodyPr>
          <a:lstStyle/>
          <a:p>
            <a:r>
              <a:rPr lang="en-US" altLang="zh-CN" dirty="0"/>
              <a:t>Access control policies in DAC are defined according to the owner’s </a:t>
            </a:r>
            <a:r>
              <a:rPr lang="en-US" altLang="zh-CN" dirty="0">
                <a:solidFill>
                  <a:srgbClr val="C00000"/>
                </a:solidFill>
              </a:rPr>
              <a:t>discretion without rigorous security checking</a:t>
            </a:r>
            <a:r>
              <a:rPr lang="en-US" altLang="zh-CN" dirty="0"/>
              <a:t>.</a:t>
            </a:r>
          </a:p>
          <a:p>
            <a:pPr lvl="1"/>
            <a:r>
              <a:rPr lang="en-US" altLang="zh-CN" dirty="0"/>
              <a:t>It may have security loopholes leading to trojan horse attack that leaks confidential information.</a:t>
            </a:r>
          </a:p>
        </p:txBody>
      </p:sp>
      <p:sp>
        <p:nvSpPr>
          <p:cNvPr id="535568" name="Text Box 16"/>
          <p:cNvSpPr txBox="1">
            <a:spLocks noChangeArrowheads="1"/>
          </p:cNvSpPr>
          <p:nvPr/>
        </p:nvSpPr>
        <p:spPr bwMode="auto">
          <a:xfrm>
            <a:off x="2549529" y="5855641"/>
            <a:ext cx="7854941" cy="369332"/>
          </a:xfrm>
          <a:prstGeom prst="rect">
            <a:avLst/>
          </a:prstGeom>
          <a:noFill/>
          <a:ln w="9525">
            <a:noFill/>
            <a:miter lim="800000"/>
            <a:headEnd/>
            <a:tailEnd/>
          </a:ln>
          <a:effectLst/>
        </p:spPr>
        <p:txBody>
          <a:bodyPr wrap="square">
            <a:spAutoFit/>
          </a:bodyPr>
          <a:lstStyle/>
          <a:p>
            <a:pPr>
              <a:spcBef>
                <a:spcPct val="50000"/>
              </a:spcBef>
            </a:pPr>
            <a:r>
              <a:rPr lang="en-US" dirty="0">
                <a:solidFill>
                  <a:srgbClr val="CC0000"/>
                </a:solidFill>
                <a:latin typeface="Arial Nova" panose="020B0504020202020204" pitchFamily="34" charset="0"/>
              </a:rPr>
              <a:t>Suppose that Principal V is a bad guy who wants to read file F</a:t>
            </a:r>
          </a:p>
        </p:txBody>
      </p:sp>
      <p:grpSp>
        <p:nvGrpSpPr>
          <p:cNvPr id="7" name="Group 6">
            <a:extLst>
              <a:ext uri="{FF2B5EF4-FFF2-40B4-BE49-F238E27FC236}">
                <a16:creationId xmlns:a16="http://schemas.microsoft.com/office/drawing/2014/main" id="{4EBC1E05-85EE-5440-AB7A-8C1CB9EFA84E}"/>
              </a:ext>
            </a:extLst>
          </p:cNvPr>
          <p:cNvGrpSpPr/>
          <p:nvPr/>
        </p:nvGrpSpPr>
        <p:grpSpPr>
          <a:xfrm>
            <a:off x="1674879" y="2895600"/>
            <a:ext cx="7164321" cy="2667000"/>
            <a:chOff x="1674879" y="2895600"/>
            <a:chExt cx="7164321" cy="2667000"/>
          </a:xfrm>
        </p:grpSpPr>
        <p:sp>
          <p:nvSpPr>
            <p:cNvPr id="47" name="Text Box 4">
              <a:extLst>
                <a:ext uri="{FF2B5EF4-FFF2-40B4-BE49-F238E27FC236}">
                  <a16:creationId xmlns:a16="http://schemas.microsoft.com/office/drawing/2014/main" id="{3909B44F-5CA5-804F-B477-9FF969138DC0}"/>
                </a:ext>
              </a:extLst>
            </p:cNvPr>
            <p:cNvSpPr txBox="1">
              <a:spLocks noChangeArrowheads="1"/>
            </p:cNvSpPr>
            <p:nvPr/>
          </p:nvSpPr>
          <p:spPr bwMode="auto">
            <a:xfrm>
              <a:off x="6477000" y="3581401"/>
              <a:ext cx="990600" cy="466725"/>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File F</a:t>
              </a:r>
            </a:p>
          </p:txBody>
        </p:sp>
        <p:sp>
          <p:nvSpPr>
            <p:cNvPr id="48" name="Text Box 5">
              <a:extLst>
                <a:ext uri="{FF2B5EF4-FFF2-40B4-BE49-F238E27FC236}">
                  <a16:creationId xmlns:a16="http://schemas.microsoft.com/office/drawing/2014/main" id="{0CA03200-B44C-2D48-A9DA-54858D2FDB98}"/>
                </a:ext>
              </a:extLst>
            </p:cNvPr>
            <p:cNvSpPr txBox="1">
              <a:spLocks noChangeArrowheads="1"/>
            </p:cNvSpPr>
            <p:nvPr/>
          </p:nvSpPr>
          <p:spPr bwMode="auto">
            <a:xfrm>
              <a:off x="6477000" y="4800601"/>
              <a:ext cx="990600" cy="466725"/>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File G</a:t>
              </a:r>
            </a:p>
          </p:txBody>
        </p:sp>
        <p:sp>
          <p:nvSpPr>
            <p:cNvPr id="49" name="Text Box 6">
              <a:extLst>
                <a:ext uri="{FF2B5EF4-FFF2-40B4-BE49-F238E27FC236}">
                  <a16:creationId xmlns:a16="http://schemas.microsoft.com/office/drawing/2014/main" id="{DB45D5A9-A6C8-DB48-A936-14AAE70AA53D}"/>
                </a:ext>
              </a:extLst>
            </p:cNvPr>
            <p:cNvSpPr txBox="1">
              <a:spLocks noChangeArrowheads="1"/>
            </p:cNvSpPr>
            <p:nvPr/>
          </p:nvSpPr>
          <p:spPr bwMode="auto">
            <a:xfrm>
              <a:off x="8077200" y="3429000"/>
              <a:ext cx="762000" cy="831850"/>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U:r U:w</a:t>
              </a:r>
            </a:p>
          </p:txBody>
        </p:sp>
        <p:sp>
          <p:nvSpPr>
            <p:cNvPr id="50" name="Text Box 7">
              <a:extLst>
                <a:ext uri="{FF2B5EF4-FFF2-40B4-BE49-F238E27FC236}">
                  <a16:creationId xmlns:a16="http://schemas.microsoft.com/office/drawing/2014/main" id="{B4E9D259-9F1E-B944-897E-3FC087FD684A}"/>
                </a:ext>
              </a:extLst>
            </p:cNvPr>
            <p:cNvSpPr txBox="1">
              <a:spLocks noChangeArrowheads="1"/>
            </p:cNvSpPr>
            <p:nvPr/>
          </p:nvSpPr>
          <p:spPr bwMode="auto">
            <a:xfrm>
              <a:off x="8077200" y="4730750"/>
              <a:ext cx="762000" cy="831850"/>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U:w V:r</a:t>
              </a:r>
            </a:p>
          </p:txBody>
        </p:sp>
        <p:sp>
          <p:nvSpPr>
            <p:cNvPr id="51" name="Text Box 8">
              <a:extLst>
                <a:ext uri="{FF2B5EF4-FFF2-40B4-BE49-F238E27FC236}">
                  <a16:creationId xmlns:a16="http://schemas.microsoft.com/office/drawing/2014/main" id="{2A5956E9-9513-3D45-8C90-C8CB439EE30B}"/>
                </a:ext>
              </a:extLst>
            </p:cNvPr>
            <p:cNvSpPr txBox="1">
              <a:spLocks noChangeArrowheads="1"/>
            </p:cNvSpPr>
            <p:nvPr/>
          </p:nvSpPr>
          <p:spPr bwMode="auto">
            <a:xfrm>
              <a:off x="8001000" y="2895600"/>
              <a:ext cx="8382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ACL</a:t>
              </a:r>
            </a:p>
          </p:txBody>
        </p:sp>
        <p:sp>
          <p:nvSpPr>
            <p:cNvPr id="52" name="Text Box 9">
              <a:extLst>
                <a:ext uri="{FF2B5EF4-FFF2-40B4-BE49-F238E27FC236}">
                  <a16:creationId xmlns:a16="http://schemas.microsoft.com/office/drawing/2014/main" id="{752418DF-BB48-5C4D-BF3C-2D79C55E93BB}"/>
                </a:ext>
              </a:extLst>
            </p:cNvPr>
            <p:cNvSpPr txBox="1">
              <a:spLocks noChangeArrowheads="1"/>
            </p:cNvSpPr>
            <p:nvPr/>
          </p:nvSpPr>
          <p:spPr bwMode="auto">
            <a:xfrm>
              <a:off x="3657600" y="3581400"/>
              <a:ext cx="16002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Principal U</a:t>
              </a:r>
            </a:p>
          </p:txBody>
        </p:sp>
        <p:sp>
          <p:nvSpPr>
            <p:cNvPr id="53" name="Text Box 10">
              <a:extLst>
                <a:ext uri="{FF2B5EF4-FFF2-40B4-BE49-F238E27FC236}">
                  <a16:creationId xmlns:a16="http://schemas.microsoft.com/office/drawing/2014/main" id="{15E62A66-AD0C-1243-9582-F846DD9345DB}"/>
                </a:ext>
              </a:extLst>
            </p:cNvPr>
            <p:cNvSpPr txBox="1">
              <a:spLocks noChangeArrowheads="1"/>
            </p:cNvSpPr>
            <p:nvPr/>
          </p:nvSpPr>
          <p:spPr bwMode="auto">
            <a:xfrm>
              <a:off x="3657600" y="4800600"/>
              <a:ext cx="16002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Principal V</a:t>
              </a:r>
            </a:p>
          </p:txBody>
        </p:sp>
        <p:sp>
          <p:nvSpPr>
            <p:cNvPr id="54" name="Line 11">
              <a:extLst>
                <a:ext uri="{FF2B5EF4-FFF2-40B4-BE49-F238E27FC236}">
                  <a16:creationId xmlns:a16="http://schemas.microsoft.com/office/drawing/2014/main" id="{21D8AE1C-9DE7-5642-8459-8432AD542445}"/>
                </a:ext>
              </a:extLst>
            </p:cNvPr>
            <p:cNvSpPr>
              <a:spLocks noChangeShapeType="1"/>
            </p:cNvSpPr>
            <p:nvPr/>
          </p:nvSpPr>
          <p:spPr bwMode="auto">
            <a:xfrm>
              <a:off x="5181600" y="3886200"/>
              <a:ext cx="12954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55" name="Text Box 12">
              <a:extLst>
                <a:ext uri="{FF2B5EF4-FFF2-40B4-BE49-F238E27FC236}">
                  <a16:creationId xmlns:a16="http://schemas.microsoft.com/office/drawing/2014/main" id="{C85EA946-EF1B-EB4B-964A-A7954151C923}"/>
                </a:ext>
              </a:extLst>
            </p:cNvPr>
            <p:cNvSpPr txBox="1">
              <a:spLocks noChangeArrowheads="1"/>
            </p:cNvSpPr>
            <p:nvPr/>
          </p:nvSpPr>
          <p:spPr bwMode="auto">
            <a:xfrm>
              <a:off x="5638800" y="3733800"/>
              <a:ext cx="3810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w</a:t>
              </a:r>
            </a:p>
          </p:txBody>
        </p:sp>
        <p:sp>
          <p:nvSpPr>
            <p:cNvPr id="56" name="Line 13">
              <a:extLst>
                <a:ext uri="{FF2B5EF4-FFF2-40B4-BE49-F238E27FC236}">
                  <a16:creationId xmlns:a16="http://schemas.microsoft.com/office/drawing/2014/main" id="{539FFC0E-CC14-B34B-8BCF-7ACCD1EC22B1}"/>
                </a:ext>
              </a:extLst>
            </p:cNvPr>
            <p:cNvSpPr>
              <a:spLocks noChangeShapeType="1"/>
            </p:cNvSpPr>
            <p:nvPr/>
          </p:nvSpPr>
          <p:spPr bwMode="auto">
            <a:xfrm>
              <a:off x="5257800" y="3962400"/>
              <a:ext cx="1219200" cy="99060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57" name="Text Box 14">
              <a:extLst>
                <a:ext uri="{FF2B5EF4-FFF2-40B4-BE49-F238E27FC236}">
                  <a16:creationId xmlns:a16="http://schemas.microsoft.com/office/drawing/2014/main" id="{C259B348-775B-534A-80EB-A63E9D741056}"/>
                </a:ext>
              </a:extLst>
            </p:cNvPr>
            <p:cNvSpPr txBox="1">
              <a:spLocks noChangeArrowheads="1"/>
            </p:cNvSpPr>
            <p:nvPr/>
          </p:nvSpPr>
          <p:spPr bwMode="auto">
            <a:xfrm rot="2750801">
              <a:off x="5791200" y="4114800"/>
              <a:ext cx="3810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w</a:t>
              </a:r>
            </a:p>
          </p:txBody>
        </p:sp>
        <p:sp>
          <p:nvSpPr>
            <p:cNvPr id="58" name="Text Box 15">
              <a:extLst>
                <a:ext uri="{FF2B5EF4-FFF2-40B4-BE49-F238E27FC236}">
                  <a16:creationId xmlns:a16="http://schemas.microsoft.com/office/drawing/2014/main" id="{6EB8DF86-7929-2041-A9D6-12B3F2DE3E81}"/>
                </a:ext>
              </a:extLst>
            </p:cNvPr>
            <p:cNvSpPr txBox="1">
              <a:spLocks noChangeArrowheads="1"/>
            </p:cNvSpPr>
            <p:nvPr/>
          </p:nvSpPr>
          <p:spPr bwMode="auto">
            <a:xfrm>
              <a:off x="5715000" y="4648200"/>
              <a:ext cx="3810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r</a:t>
              </a:r>
            </a:p>
          </p:txBody>
        </p:sp>
        <p:sp>
          <p:nvSpPr>
            <p:cNvPr id="59" name="Line 17">
              <a:extLst>
                <a:ext uri="{FF2B5EF4-FFF2-40B4-BE49-F238E27FC236}">
                  <a16:creationId xmlns:a16="http://schemas.microsoft.com/office/drawing/2014/main" id="{7DE6F94B-E06D-9E47-BC6C-0D18A6702E64}"/>
                </a:ext>
              </a:extLst>
            </p:cNvPr>
            <p:cNvSpPr>
              <a:spLocks noChangeShapeType="1"/>
            </p:cNvSpPr>
            <p:nvPr/>
          </p:nvSpPr>
          <p:spPr bwMode="auto">
            <a:xfrm flipH="1">
              <a:off x="5181600" y="3810000"/>
              <a:ext cx="12954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60" name="Text Box 18">
              <a:extLst>
                <a:ext uri="{FF2B5EF4-FFF2-40B4-BE49-F238E27FC236}">
                  <a16:creationId xmlns:a16="http://schemas.microsoft.com/office/drawing/2014/main" id="{E6E4416F-9333-5D47-929C-D51D5A778743}"/>
                </a:ext>
              </a:extLst>
            </p:cNvPr>
            <p:cNvSpPr txBox="1">
              <a:spLocks noChangeArrowheads="1"/>
            </p:cNvSpPr>
            <p:nvPr/>
          </p:nvSpPr>
          <p:spPr bwMode="auto">
            <a:xfrm>
              <a:off x="5638800" y="3429000"/>
              <a:ext cx="3810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r</a:t>
              </a:r>
            </a:p>
          </p:txBody>
        </p:sp>
        <p:sp>
          <p:nvSpPr>
            <p:cNvPr id="61" name="Line 19">
              <a:extLst>
                <a:ext uri="{FF2B5EF4-FFF2-40B4-BE49-F238E27FC236}">
                  <a16:creationId xmlns:a16="http://schemas.microsoft.com/office/drawing/2014/main" id="{B0EE9BB7-6C8E-D046-A8EB-39B43D707287}"/>
                </a:ext>
              </a:extLst>
            </p:cNvPr>
            <p:cNvSpPr>
              <a:spLocks noChangeShapeType="1"/>
            </p:cNvSpPr>
            <p:nvPr/>
          </p:nvSpPr>
          <p:spPr bwMode="auto">
            <a:xfrm flipH="1">
              <a:off x="5181600" y="5029200"/>
              <a:ext cx="12954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62" name="AutoShape 20">
              <a:extLst>
                <a:ext uri="{FF2B5EF4-FFF2-40B4-BE49-F238E27FC236}">
                  <a16:creationId xmlns:a16="http://schemas.microsoft.com/office/drawing/2014/main" id="{296AC44E-7F47-D84D-840B-C089BE16E2FB}"/>
                </a:ext>
              </a:extLst>
            </p:cNvPr>
            <p:cNvSpPr>
              <a:spLocks noChangeArrowheads="1"/>
            </p:cNvSpPr>
            <p:nvPr/>
          </p:nvSpPr>
          <p:spPr bwMode="auto">
            <a:xfrm>
              <a:off x="7620000" y="3733800"/>
              <a:ext cx="228600" cy="228600"/>
            </a:xfrm>
            <a:prstGeom prst="leftArrow">
              <a:avLst>
                <a:gd name="adj1" fmla="val 50000"/>
                <a:gd name="adj2" fmla="val 25000"/>
              </a:avLst>
            </a:prstGeom>
            <a:solidFill>
              <a:srgbClr val="BBE0E3"/>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63" name="AutoShape 21">
              <a:extLst>
                <a:ext uri="{FF2B5EF4-FFF2-40B4-BE49-F238E27FC236}">
                  <a16:creationId xmlns:a16="http://schemas.microsoft.com/office/drawing/2014/main" id="{22484750-9D0D-C84B-95C5-84B27560C644}"/>
                </a:ext>
              </a:extLst>
            </p:cNvPr>
            <p:cNvSpPr>
              <a:spLocks noChangeArrowheads="1"/>
            </p:cNvSpPr>
            <p:nvPr/>
          </p:nvSpPr>
          <p:spPr bwMode="auto">
            <a:xfrm>
              <a:off x="7620000" y="4953000"/>
              <a:ext cx="228600" cy="228600"/>
            </a:xfrm>
            <a:prstGeom prst="leftArrow">
              <a:avLst>
                <a:gd name="adj1" fmla="val 50000"/>
                <a:gd name="adj2" fmla="val 25000"/>
              </a:avLst>
            </a:prstGeom>
            <a:solidFill>
              <a:srgbClr val="BBE0E3"/>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64" name="TextBox 63">
              <a:extLst>
                <a:ext uri="{FF2B5EF4-FFF2-40B4-BE49-F238E27FC236}">
                  <a16:creationId xmlns:a16="http://schemas.microsoft.com/office/drawing/2014/main" id="{FB558019-11CD-4E40-8E8C-41063898F929}"/>
                </a:ext>
              </a:extLst>
            </p:cNvPr>
            <p:cNvSpPr txBox="1"/>
            <p:nvPr/>
          </p:nvSpPr>
          <p:spPr>
            <a:xfrm>
              <a:off x="1674879" y="3608494"/>
              <a:ext cx="989373" cy="461665"/>
            </a:xfrm>
            <a:prstGeom prst="rect">
              <a:avLst/>
            </a:prstGeom>
            <a:noFill/>
          </p:spPr>
          <p:txBody>
            <a:bodyPr wrap="none" rtlCol="0">
              <a:spAutoFit/>
            </a:bodyPr>
            <a:lstStyle/>
            <a:p>
              <a:pPr defTabSz="914400" fontAlgn="base">
                <a:spcBef>
                  <a:spcPct val="0"/>
                </a:spcBef>
                <a:spcAft>
                  <a:spcPct val="0"/>
                </a:spcAft>
              </a:pPr>
              <a:r>
                <a:rPr lang="en-GB" sz="2400" dirty="0">
                  <a:solidFill>
                    <a:srgbClr val="000000"/>
                  </a:solidFill>
                  <a:latin typeface="Times New Roman" pitchFamily="18" charset="0"/>
                </a:rPr>
                <a:t>(CFO)</a:t>
              </a:r>
            </a:p>
          </p:txBody>
        </p:sp>
        <p:sp>
          <p:nvSpPr>
            <p:cNvPr id="65" name="TextBox 64">
              <a:extLst>
                <a:ext uri="{FF2B5EF4-FFF2-40B4-BE49-F238E27FC236}">
                  <a16:creationId xmlns:a16="http://schemas.microsoft.com/office/drawing/2014/main" id="{7522100A-5D76-B848-A902-722AB1E47AEA}"/>
                </a:ext>
              </a:extLst>
            </p:cNvPr>
            <p:cNvSpPr txBox="1"/>
            <p:nvPr/>
          </p:nvSpPr>
          <p:spPr>
            <a:xfrm>
              <a:off x="1674879" y="4820400"/>
              <a:ext cx="1560042" cy="461665"/>
            </a:xfrm>
            <a:prstGeom prst="rect">
              <a:avLst/>
            </a:prstGeom>
            <a:noFill/>
          </p:spPr>
          <p:txBody>
            <a:bodyPr wrap="none" rtlCol="0">
              <a:spAutoFit/>
            </a:bodyPr>
            <a:lstStyle/>
            <a:p>
              <a:pPr defTabSz="914400" fontAlgn="base">
                <a:spcBef>
                  <a:spcPct val="0"/>
                </a:spcBef>
                <a:spcAft>
                  <a:spcPct val="0"/>
                </a:spcAft>
              </a:pPr>
              <a:r>
                <a:rPr lang="en-GB" sz="2400" dirty="0">
                  <a:solidFill>
                    <a:srgbClr val="000000"/>
                  </a:solidFill>
                  <a:latin typeface="Times New Roman" pitchFamily="18" charset="0"/>
                </a:rPr>
                <a:t>(Manager) </a:t>
              </a:r>
            </a:p>
          </p:txBody>
        </p:sp>
      </p:grpSp>
    </p:spTree>
    <p:extLst>
      <p:ext uri="{BB962C8B-B14F-4D97-AF65-F5344CB8AC3E}">
        <p14:creationId xmlns:p14="http://schemas.microsoft.com/office/powerpoint/2010/main" val="3234474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p:cNvSpPr>
            <a:spLocks noGrp="1" noChangeArrowheads="1"/>
          </p:cNvSpPr>
          <p:nvPr>
            <p:ph type="title"/>
          </p:nvPr>
        </p:nvSpPr>
        <p:spPr/>
        <p:txBody>
          <a:bodyPr/>
          <a:lstStyle/>
          <a:p>
            <a:r>
              <a:rPr lang="en-US" altLang="zh-CN"/>
              <a:t>Security Problems of DAC (2)</a:t>
            </a:r>
            <a:endParaRPr lang="en-US"/>
          </a:p>
        </p:txBody>
      </p:sp>
      <p:sp>
        <p:nvSpPr>
          <p:cNvPr id="4" name="Text Placeholder 3">
            <a:extLst>
              <a:ext uri="{FF2B5EF4-FFF2-40B4-BE49-F238E27FC236}">
                <a16:creationId xmlns:a16="http://schemas.microsoft.com/office/drawing/2014/main" id="{954B1E53-65CD-9745-B771-4121CF3D363D}"/>
              </a:ext>
            </a:extLst>
          </p:cNvPr>
          <p:cNvSpPr>
            <a:spLocks noGrp="1"/>
          </p:cNvSpPr>
          <p:nvPr>
            <p:ph type="body" idx="11"/>
          </p:nvPr>
        </p:nvSpPr>
        <p:spPr/>
        <p:txBody>
          <a:bodyPr/>
          <a:lstStyle/>
          <a:p>
            <a:endParaRPr lang="en-US"/>
          </a:p>
        </p:txBody>
      </p:sp>
      <p:sp>
        <p:nvSpPr>
          <p:cNvPr id="537603" name="Rectangle 3"/>
          <p:cNvSpPr>
            <a:spLocks noGrp="1" noChangeArrowheads="1"/>
          </p:cNvSpPr>
          <p:nvPr>
            <p:ph idx="1"/>
          </p:nvPr>
        </p:nvSpPr>
        <p:spPr>
          <a:xfrm>
            <a:off x="513349" y="1268243"/>
            <a:ext cx="10840451" cy="1332081"/>
          </a:xfrm>
        </p:spPr>
        <p:txBody>
          <a:bodyPr>
            <a:normAutofit/>
          </a:bodyPr>
          <a:lstStyle/>
          <a:p>
            <a:r>
              <a:rPr lang="en-US" altLang="zh-CN" dirty="0"/>
              <a:t>Principal V sends U a benign software with Trojan horse embedded</a:t>
            </a:r>
          </a:p>
          <a:p>
            <a:r>
              <a:rPr lang="en-US" altLang="zh-CN" dirty="0"/>
              <a:t>U executes the software </a:t>
            </a:r>
            <a:r>
              <a:rPr lang="en-US" altLang="zh-CN" dirty="0">
                <a:sym typeface="Wingdings" pitchFamily="2" charset="2"/>
              </a:rPr>
              <a:t></a:t>
            </a:r>
            <a:r>
              <a:rPr lang="en-US" altLang="zh-CN" dirty="0"/>
              <a:t> Trojan horse has U’s privileges</a:t>
            </a:r>
          </a:p>
        </p:txBody>
      </p:sp>
      <p:sp>
        <p:nvSpPr>
          <p:cNvPr id="537611" name="Text Box 11"/>
          <p:cNvSpPr txBox="1">
            <a:spLocks noChangeArrowheads="1"/>
          </p:cNvSpPr>
          <p:nvPr/>
        </p:nvSpPr>
        <p:spPr bwMode="auto">
          <a:xfrm>
            <a:off x="2590800" y="5715001"/>
            <a:ext cx="7620000" cy="369332"/>
          </a:xfrm>
          <a:prstGeom prst="rect">
            <a:avLst/>
          </a:prstGeom>
          <a:noFill/>
          <a:ln w="9525">
            <a:noFill/>
            <a:miter lim="800000"/>
            <a:headEnd/>
            <a:tailEnd/>
          </a:ln>
          <a:effectLst/>
        </p:spPr>
        <p:txBody>
          <a:bodyPr wrap="square">
            <a:spAutoFit/>
          </a:bodyPr>
          <a:lstStyle/>
          <a:p>
            <a:pPr>
              <a:spcBef>
                <a:spcPct val="50000"/>
              </a:spcBef>
            </a:pPr>
            <a:r>
              <a:rPr lang="en-US" dirty="0">
                <a:solidFill>
                  <a:srgbClr val="CC0000"/>
                </a:solidFill>
                <a:latin typeface="Arial Nova" panose="020B0504020202020204" pitchFamily="34" charset="0"/>
              </a:rPr>
              <a:t>Principal V can read file F with the help of Trojan horse!!</a:t>
            </a:r>
          </a:p>
        </p:txBody>
      </p:sp>
      <p:grpSp>
        <p:nvGrpSpPr>
          <p:cNvPr id="56" name="Group 55">
            <a:extLst>
              <a:ext uri="{FF2B5EF4-FFF2-40B4-BE49-F238E27FC236}">
                <a16:creationId xmlns:a16="http://schemas.microsoft.com/office/drawing/2014/main" id="{D87227C7-331C-F94B-9DB2-D55388ACDC22}"/>
              </a:ext>
            </a:extLst>
          </p:cNvPr>
          <p:cNvGrpSpPr/>
          <p:nvPr/>
        </p:nvGrpSpPr>
        <p:grpSpPr>
          <a:xfrm>
            <a:off x="1816963" y="2676724"/>
            <a:ext cx="7620000" cy="2667000"/>
            <a:chOff x="2057400" y="2895600"/>
            <a:chExt cx="7620000" cy="2667000"/>
          </a:xfrm>
        </p:grpSpPr>
        <p:sp>
          <p:nvSpPr>
            <p:cNvPr id="57" name="Text Box 4">
              <a:extLst>
                <a:ext uri="{FF2B5EF4-FFF2-40B4-BE49-F238E27FC236}">
                  <a16:creationId xmlns:a16="http://schemas.microsoft.com/office/drawing/2014/main" id="{D87EF0AE-AD84-EF47-9EC2-5C78E095EFE7}"/>
                </a:ext>
              </a:extLst>
            </p:cNvPr>
            <p:cNvSpPr txBox="1">
              <a:spLocks noChangeArrowheads="1"/>
            </p:cNvSpPr>
            <p:nvPr/>
          </p:nvSpPr>
          <p:spPr bwMode="auto">
            <a:xfrm>
              <a:off x="7315200" y="3581401"/>
              <a:ext cx="990600" cy="466725"/>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File F</a:t>
              </a:r>
            </a:p>
          </p:txBody>
        </p:sp>
        <p:sp>
          <p:nvSpPr>
            <p:cNvPr id="58" name="Text Box 5">
              <a:extLst>
                <a:ext uri="{FF2B5EF4-FFF2-40B4-BE49-F238E27FC236}">
                  <a16:creationId xmlns:a16="http://schemas.microsoft.com/office/drawing/2014/main" id="{2B538612-790C-794A-BF83-3B660B9100C7}"/>
                </a:ext>
              </a:extLst>
            </p:cNvPr>
            <p:cNvSpPr txBox="1">
              <a:spLocks noChangeArrowheads="1"/>
            </p:cNvSpPr>
            <p:nvPr/>
          </p:nvSpPr>
          <p:spPr bwMode="auto">
            <a:xfrm>
              <a:off x="7315200" y="4800601"/>
              <a:ext cx="990600" cy="466725"/>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File G</a:t>
              </a:r>
            </a:p>
          </p:txBody>
        </p:sp>
        <p:sp>
          <p:nvSpPr>
            <p:cNvPr id="59" name="Text Box 6">
              <a:extLst>
                <a:ext uri="{FF2B5EF4-FFF2-40B4-BE49-F238E27FC236}">
                  <a16:creationId xmlns:a16="http://schemas.microsoft.com/office/drawing/2014/main" id="{18072B97-32DF-0943-8969-D5A256FD2A5E}"/>
                </a:ext>
              </a:extLst>
            </p:cNvPr>
            <p:cNvSpPr txBox="1">
              <a:spLocks noChangeArrowheads="1"/>
            </p:cNvSpPr>
            <p:nvPr/>
          </p:nvSpPr>
          <p:spPr bwMode="auto">
            <a:xfrm>
              <a:off x="8915400" y="3429000"/>
              <a:ext cx="762000" cy="831850"/>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U:r U:w</a:t>
              </a:r>
            </a:p>
          </p:txBody>
        </p:sp>
        <p:sp>
          <p:nvSpPr>
            <p:cNvPr id="60" name="Text Box 7">
              <a:extLst>
                <a:ext uri="{FF2B5EF4-FFF2-40B4-BE49-F238E27FC236}">
                  <a16:creationId xmlns:a16="http://schemas.microsoft.com/office/drawing/2014/main" id="{634A3362-6338-1945-A1DC-B2226B60FBB3}"/>
                </a:ext>
              </a:extLst>
            </p:cNvPr>
            <p:cNvSpPr txBox="1">
              <a:spLocks noChangeArrowheads="1"/>
            </p:cNvSpPr>
            <p:nvPr/>
          </p:nvSpPr>
          <p:spPr bwMode="auto">
            <a:xfrm>
              <a:off x="8915400" y="4730750"/>
              <a:ext cx="762000" cy="831850"/>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U:w V:r</a:t>
              </a:r>
            </a:p>
          </p:txBody>
        </p:sp>
        <p:sp>
          <p:nvSpPr>
            <p:cNvPr id="61" name="Text Box 8">
              <a:extLst>
                <a:ext uri="{FF2B5EF4-FFF2-40B4-BE49-F238E27FC236}">
                  <a16:creationId xmlns:a16="http://schemas.microsoft.com/office/drawing/2014/main" id="{4C96BDDA-F239-FC4C-8CD4-E300BF4222DE}"/>
                </a:ext>
              </a:extLst>
            </p:cNvPr>
            <p:cNvSpPr txBox="1">
              <a:spLocks noChangeArrowheads="1"/>
            </p:cNvSpPr>
            <p:nvPr/>
          </p:nvSpPr>
          <p:spPr bwMode="auto">
            <a:xfrm>
              <a:off x="8839200" y="2895600"/>
              <a:ext cx="8382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ACL</a:t>
              </a:r>
            </a:p>
          </p:txBody>
        </p:sp>
        <p:sp>
          <p:nvSpPr>
            <p:cNvPr id="62" name="Text Box 9">
              <a:extLst>
                <a:ext uri="{FF2B5EF4-FFF2-40B4-BE49-F238E27FC236}">
                  <a16:creationId xmlns:a16="http://schemas.microsoft.com/office/drawing/2014/main" id="{A79218ED-7F58-6240-AD6F-4FF2A1C0E7AD}"/>
                </a:ext>
              </a:extLst>
            </p:cNvPr>
            <p:cNvSpPr txBox="1">
              <a:spLocks noChangeArrowheads="1"/>
            </p:cNvSpPr>
            <p:nvPr/>
          </p:nvSpPr>
          <p:spPr bwMode="auto">
            <a:xfrm>
              <a:off x="2057400" y="3505200"/>
              <a:ext cx="16002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Principal U</a:t>
              </a:r>
            </a:p>
          </p:txBody>
        </p:sp>
        <p:sp>
          <p:nvSpPr>
            <p:cNvPr id="63" name="Text Box 10">
              <a:extLst>
                <a:ext uri="{FF2B5EF4-FFF2-40B4-BE49-F238E27FC236}">
                  <a16:creationId xmlns:a16="http://schemas.microsoft.com/office/drawing/2014/main" id="{1159E478-3F76-594C-842C-C7AC4F765C56}"/>
                </a:ext>
              </a:extLst>
            </p:cNvPr>
            <p:cNvSpPr txBox="1">
              <a:spLocks noChangeArrowheads="1"/>
            </p:cNvSpPr>
            <p:nvPr/>
          </p:nvSpPr>
          <p:spPr bwMode="auto">
            <a:xfrm>
              <a:off x="4495800" y="4800600"/>
              <a:ext cx="16002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Principal V</a:t>
              </a:r>
            </a:p>
          </p:txBody>
        </p:sp>
        <p:grpSp>
          <p:nvGrpSpPr>
            <p:cNvPr id="64" name="Group 63">
              <a:extLst>
                <a:ext uri="{FF2B5EF4-FFF2-40B4-BE49-F238E27FC236}">
                  <a16:creationId xmlns:a16="http://schemas.microsoft.com/office/drawing/2014/main" id="{6EDEF769-1E56-F945-B495-857D89C77073}"/>
                </a:ext>
              </a:extLst>
            </p:cNvPr>
            <p:cNvGrpSpPr/>
            <p:nvPr/>
          </p:nvGrpSpPr>
          <p:grpSpPr>
            <a:xfrm>
              <a:off x="6096000" y="3962400"/>
              <a:ext cx="1219200" cy="990600"/>
              <a:chOff x="4572000" y="3962400"/>
              <a:chExt cx="1219200" cy="990600"/>
            </a:xfrm>
          </p:grpSpPr>
          <p:sp>
            <p:nvSpPr>
              <p:cNvPr id="78" name="Line 12">
                <a:extLst>
                  <a:ext uri="{FF2B5EF4-FFF2-40B4-BE49-F238E27FC236}">
                    <a16:creationId xmlns:a16="http://schemas.microsoft.com/office/drawing/2014/main" id="{67F546EA-5693-BD4F-8BC8-D5D03B2D7ABC}"/>
                  </a:ext>
                </a:extLst>
              </p:cNvPr>
              <p:cNvSpPr>
                <a:spLocks noChangeShapeType="1"/>
              </p:cNvSpPr>
              <p:nvPr/>
            </p:nvSpPr>
            <p:spPr bwMode="auto">
              <a:xfrm>
                <a:off x="4572000" y="3962400"/>
                <a:ext cx="1219200" cy="990600"/>
              </a:xfrm>
              <a:prstGeom prst="line">
                <a:avLst/>
              </a:prstGeom>
              <a:noFill/>
              <a:ln w="9525">
                <a:solidFill>
                  <a:srgbClr val="CC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9" name="Text Box 13">
                <a:extLst>
                  <a:ext uri="{FF2B5EF4-FFF2-40B4-BE49-F238E27FC236}">
                    <a16:creationId xmlns:a16="http://schemas.microsoft.com/office/drawing/2014/main" id="{93AEA137-6E7A-E04E-AC16-EF9953464623}"/>
                  </a:ext>
                </a:extLst>
              </p:cNvPr>
              <p:cNvSpPr txBox="1">
                <a:spLocks noChangeArrowheads="1"/>
              </p:cNvSpPr>
              <p:nvPr/>
            </p:nvSpPr>
            <p:spPr bwMode="auto">
              <a:xfrm rot="2750801">
                <a:off x="5105400" y="4114800"/>
                <a:ext cx="3810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dirty="0" err="1">
                    <a:ln>
                      <a:noFill/>
                    </a:ln>
                    <a:solidFill>
                      <a:srgbClr val="CC0000"/>
                    </a:solidFill>
                    <a:effectLst/>
                    <a:uLnTx/>
                    <a:uFillTx/>
                    <a:latin typeface="Times New Roman" pitchFamily="18" charset="0"/>
                  </a:rPr>
                  <a:t>w</a:t>
                </a:r>
                <a:endParaRPr kumimoji="0" lang="en-US" sz="2400" b="0" i="0" u="none" strike="noStrike" kern="0" cap="none" spc="0" normalizeH="0" baseline="0" noProof="0" dirty="0">
                  <a:ln>
                    <a:noFill/>
                  </a:ln>
                  <a:solidFill>
                    <a:srgbClr val="CC0000"/>
                  </a:solidFill>
                  <a:effectLst/>
                  <a:uLnTx/>
                  <a:uFillTx/>
                  <a:latin typeface="Times New Roman" pitchFamily="18" charset="0"/>
                </a:endParaRPr>
              </a:p>
            </p:txBody>
          </p:sp>
        </p:grpSp>
        <p:grpSp>
          <p:nvGrpSpPr>
            <p:cNvPr id="65" name="Group 64">
              <a:extLst>
                <a:ext uri="{FF2B5EF4-FFF2-40B4-BE49-F238E27FC236}">
                  <a16:creationId xmlns:a16="http://schemas.microsoft.com/office/drawing/2014/main" id="{622C7192-0321-254B-8A2B-B4255ED7AABB}"/>
                </a:ext>
              </a:extLst>
            </p:cNvPr>
            <p:cNvGrpSpPr/>
            <p:nvPr/>
          </p:nvGrpSpPr>
          <p:grpSpPr>
            <a:xfrm>
              <a:off x="6019800" y="3429000"/>
              <a:ext cx="1295400" cy="457200"/>
              <a:chOff x="4495800" y="3429000"/>
              <a:chExt cx="1295400" cy="457200"/>
            </a:xfrm>
          </p:grpSpPr>
          <p:sp>
            <p:nvSpPr>
              <p:cNvPr id="76" name="Line 15">
                <a:extLst>
                  <a:ext uri="{FF2B5EF4-FFF2-40B4-BE49-F238E27FC236}">
                    <a16:creationId xmlns:a16="http://schemas.microsoft.com/office/drawing/2014/main" id="{6A8C073E-26F3-F548-A035-9478227BFB42}"/>
                  </a:ext>
                </a:extLst>
              </p:cNvPr>
              <p:cNvSpPr>
                <a:spLocks noChangeShapeType="1"/>
              </p:cNvSpPr>
              <p:nvPr/>
            </p:nvSpPr>
            <p:spPr bwMode="auto">
              <a:xfrm flipH="1">
                <a:off x="4495800" y="3810000"/>
                <a:ext cx="1295400" cy="0"/>
              </a:xfrm>
              <a:prstGeom prst="line">
                <a:avLst/>
              </a:prstGeom>
              <a:noFill/>
              <a:ln w="9525">
                <a:solidFill>
                  <a:srgbClr val="CC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7" name="Text Box 16">
                <a:extLst>
                  <a:ext uri="{FF2B5EF4-FFF2-40B4-BE49-F238E27FC236}">
                    <a16:creationId xmlns:a16="http://schemas.microsoft.com/office/drawing/2014/main" id="{4C21420A-6F51-714B-BBCE-E7BD246B7FC7}"/>
                  </a:ext>
                </a:extLst>
              </p:cNvPr>
              <p:cNvSpPr txBox="1">
                <a:spLocks noChangeArrowheads="1"/>
              </p:cNvSpPr>
              <p:nvPr/>
            </p:nvSpPr>
            <p:spPr bwMode="auto">
              <a:xfrm>
                <a:off x="4953000" y="3429000"/>
                <a:ext cx="3810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CC0000"/>
                    </a:solidFill>
                    <a:effectLst/>
                    <a:uLnTx/>
                    <a:uFillTx/>
                    <a:latin typeface="Times New Roman" pitchFamily="18" charset="0"/>
                  </a:rPr>
                  <a:t>r</a:t>
                </a:r>
              </a:p>
            </p:txBody>
          </p:sp>
        </p:grpSp>
        <p:grpSp>
          <p:nvGrpSpPr>
            <p:cNvPr id="66" name="Group 65">
              <a:extLst>
                <a:ext uri="{FF2B5EF4-FFF2-40B4-BE49-F238E27FC236}">
                  <a16:creationId xmlns:a16="http://schemas.microsoft.com/office/drawing/2014/main" id="{338FE27D-96F6-944B-ABFA-BFE657783F0C}"/>
                </a:ext>
              </a:extLst>
            </p:cNvPr>
            <p:cNvGrpSpPr/>
            <p:nvPr/>
          </p:nvGrpSpPr>
          <p:grpSpPr>
            <a:xfrm>
              <a:off x="6019800" y="4648200"/>
              <a:ext cx="1295400" cy="457200"/>
              <a:chOff x="4495800" y="4648200"/>
              <a:chExt cx="1295400" cy="457200"/>
            </a:xfrm>
          </p:grpSpPr>
          <p:sp>
            <p:nvSpPr>
              <p:cNvPr id="74" name="Text Box 14">
                <a:extLst>
                  <a:ext uri="{FF2B5EF4-FFF2-40B4-BE49-F238E27FC236}">
                    <a16:creationId xmlns:a16="http://schemas.microsoft.com/office/drawing/2014/main" id="{F7FF2ACF-5B3F-C546-94A4-20E545EC9711}"/>
                  </a:ext>
                </a:extLst>
              </p:cNvPr>
              <p:cNvSpPr txBox="1">
                <a:spLocks noChangeArrowheads="1"/>
              </p:cNvSpPr>
              <p:nvPr/>
            </p:nvSpPr>
            <p:spPr bwMode="auto">
              <a:xfrm>
                <a:off x="5029200" y="4648200"/>
                <a:ext cx="3810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r</a:t>
                </a:r>
              </a:p>
            </p:txBody>
          </p:sp>
          <p:sp>
            <p:nvSpPr>
              <p:cNvPr id="75" name="Line 17">
                <a:extLst>
                  <a:ext uri="{FF2B5EF4-FFF2-40B4-BE49-F238E27FC236}">
                    <a16:creationId xmlns:a16="http://schemas.microsoft.com/office/drawing/2014/main" id="{824585F7-1BAA-EB41-BCBA-BE3BCB6363E6}"/>
                  </a:ext>
                </a:extLst>
              </p:cNvPr>
              <p:cNvSpPr>
                <a:spLocks noChangeShapeType="1"/>
              </p:cNvSpPr>
              <p:nvPr/>
            </p:nvSpPr>
            <p:spPr bwMode="auto">
              <a:xfrm flipH="1">
                <a:off x="4495800" y="5029200"/>
                <a:ext cx="12954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grpSp>
        <p:sp>
          <p:nvSpPr>
            <p:cNvPr id="67" name="Text Box 18">
              <a:extLst>
                <a:ext uri="{FF2B5EF4-FFF2-40B4-BE49-F238E27FC236}">
                  <a16:creationId xmlns:a16="http://schemas.microsoft.com/office/drawing/2014/main" id="{F8A7D022-6FA9-AC4F-8BF1-D5C8C3990FEC}"/>
                </a:ext>
              </a:extLst>
            </p:cNvPr>
            <p:cNvSpPr txBox="1">
              <a:spLocks noChangeArrowheads="1"/>
            </p:cNvSpPr>
            <p:nvPr/>
          </p:nvSpPr>
          <p:spPr bwMode="auto">
            <a:xfrm>
              <a:off x="4267200" y="4114800"/>
              <a:ext cx="1676400" cy="33655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imes New Roman" pitchFamily="18" charset="0"/>
                </a:rPr>
                <a:t>Benign software</a:t>
              </a:r>
            </a:p>
          </p:txBody>
        </p:sp>
        <p:sp>
          <p:nvSpPr>
            <p:cNvPr id="68" name="Rectangle 19">
              <a:extLst>
                <a:ext uri="{FF2B5EF4-FFF2-40B4-BE49-F238E27FC236}">
                  <a16:creationId xmlns:a16="http://schemas.microsoft.com/office/drawing/2014/main" id="{5E2731A0-4235-604D-BB2D-9D48420AA53B}"/>
                </a:ext>
              </a:extLst>
            </p:cNvPr>
            <p:cNvSpPr>
              <a:spLocks noChangeArrowheads="1"/>
            </p:cNvSpPr>
            <p:nvPr/>
          </p:nvSpPr>
          <p:spPr bwMode="auto">
            <a:xfrm>
              <a:off x="4267200" y="3505200"/>
              <a:ext cx="1676400" cy="990600"/>
            </a:xfrm>
            <a:prstGeom prst="rect">
              <a:avLst/>
            </a:prstGeom>
            <a:no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69" name="Text Box 20">
              <a:extLst>
                <a:ext uri="{FF2B5EF4-FFF2-40B4-BE49-F238E27FC236}">
                  <a16:creationId xmlns:a16="http://schemas.microsoft.com/office/drawing/2014/main" id="{BE276664-E9C3-4A43-BE82-78049BE83BEF}"/>
                </a:ext>
              </a:extLst>
            </p:cNvPr>
            <p:cNvSpPr txBox="1">
              <a:spLocks noChangeArrowheads="1"/>
            </p:cNvSpPr>
            <p:nvPr/>
          </p:nvSpPr>
          <p:spPr bwMode="auto">
            <a:xfrm>
              <a:off x="4648200" y="3692526"/>
              <a:ext cx="1295400" cy="346075"/>
            </a:xfrm>
            <a:prstGeom prst="rect">
              <a:avLst/>
            </a:prstGeom>
            <a:noFill/>
            <a:ln w="9525">
              <a:solidFill>
                <a:srgbClr val="CC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600" b="0" i="0" u="none" strike="noStrike" kern="0" cap="none" spc="0" normalizeH="0" baseline="0" noProof="0">
                  <a:ln>
                    <a:noFill/>
                  </a:ln>
                  <a:solidFill>
                    <a:srgbClr val="CC0000"/>
                  </a:solidFill>
                  <a:effectLst/>
                  <a:uLnTx/>
                  <a:uFillTx/>
                  <a:latin typeface="Times New Roman" pitchFamily="18" charset="0"/>
                </a:rPr>
                <a:t>Trojan horse</a:t>
              </a:r>
            </a:p>
          </p:txBody>
        </p:sp>
        <p:sp>
          <p:nvSpPr>
            <p:cNvPr id="70" name="Line 21">
              <a:extLst>
                <a:ext uri="{FF2B5EF4-FFF2-40B4-BE49-F238E27FC236}">
                  <a16:creationId xmlns:a16="http://schemas.microsoft.com/office/drawing/2014/main" id="{08F4F10E-6500-B148-8246-9C7DC353DD8C}"/>
                </a:ext>
              </a:extLst>
            </p:cNvPr>
            <p:cNvSpPr>
              <a:spLocks noChangeShapeType="1"/>
            </p:cNvSpPr>
            <p:nvPr/>
          </p:nvSpPr>
          <p:spPr bwMode="auto">
            <a:xfrm>
              <a:off x="3581400" y="3733800"/>
              <a:ext cx="6858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1" name="Text Box 22">
              <a:extLst>
                <a:ext uri="{FF2B5EF4-FFF2-40B4-BE49-F238E27FC236}">
                  <a16:creationId xmlns:a16="http://schemas.microsoft.com/office/drawing/2014/main" id="{B615EA84-868D-9141-A670-02F238C0B12F}"/>
                </a:ext>
              </a:extLst>
            </p:cNvPr>
            <p:cNvSpPr txBox="1">
              <a:spLocks noChangeArrowheads="1"/>
            </p:cNvSpPr>
            <p:nvPr/>
          </p:nvSpPr>
          <p:spPr bwMode="auto">
            <a:xfrm>
              <a:off x="3657600" y="3352800"/>
              <a:ext cx="609600" cy="457200"/>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pitchFamily="18" charset="0"/>
                </a:rPr>
                <a:t>exe</a:t>
              </a:r>
            </a:p>
          </p:txBody>
        </p:sp>
        <p:sp>
          <p:nvSpPr>
            <p:cNvPr id="72" name="AutoShape 23">
              <a:extLst>
                <a:ext uri="{FF2B5EF4-FFF2-40B4-BE49-F238E27FC236}">
                  <a16:creationId xmlns:a16="http://schemas.microsoft.com/office/drawing/2014/main" id="{9451044C-12D7-DF49-94AB-F26A6627E046}"/>
                </a:ext>
              </a:extLst>
            </p:cNvPr>
            <p:cNvSpPr>
              <a:spLocks noChangeArrowheads="1"/>
            </p:cNvSpPr>
            <p:nvPr/>
          </p:nvSpPr>
          <p:spPr bwMode="auto">
            <a:xfrm>
              <a:off x="8458200" y="3733800"/>
              <a:ext cx="228600" cy="228600"/>
            </a:xfrm>
            <a:prstGeom prst="leftArrow">
              <a:avLst>
                <a:gd name="adj1" fmla="val 50000"/>
                <a:gd name="adj2" fmla="val 25000"/>
              </a:avLst>
            </a:prstGeom>
            <a:solidFill>
              <a:srgbClr val="BBE0E3"/>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3" name="AutoShape 24">
              <a:extLst>
                <a:ext uri="{FF2B5EF4-FFF2-40B4-BE49-F238E27FC236}">
                  <a16:creationId xmlns:a16="http://schemas.microsoft.com/office/drawing/2014/main" id="{DCA1475E-DA12-B243-BC45-34D658554653}"/>
                </a:ext>
              </a:extLst>
            </p:cNvPr>
            <p:cNvSpPr>
              <a:spLocks noChangeArrowheads="1"/>
            </p:cNvSpPr>
            <p:nvPr/>
          </p:nvSpPr>
          <p:spPr bwMode="auto">
            <a:xfrm>
              <a:off x="8458200" y="4953000"/>
              <a:ext cx="228600" cy="228600"/>
            </a:xfrm>
            <a:prstGeom prst="leftArrow">
              <a:avLst>
                <a:gd name="adj1" fmla="val 50000"/>
                <a:gd name="adj2" fmla="val 25000"/>
              </a:avLst>
            </a:prstGeom>
            <a:solidFill>
              <a:srgbClr val="BBE0E3"/>
            </a:solidFill>
            <a:ln w="9525">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grpSp>
    </p:spTree>
    <p:extLst>
      <p:ext uri="{BB962C8B-B14F-4D97-AF65-F5344CB8AC3E}">
        <p14:creationId xmlns:p14="http://schemas.microsoft.com/office/powerpoint/2010/main" val="2762284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2"/>
          <p:cNvSpPr>
            <a:spLocks noGrp="1" noChangeArrowheads="1"/>
          </p:cNvSpPr>
          <p:nvPr>
            <p:ph type="title"/>
          </p:nvPr>
        </p:nvSpPr>
        <p:spPr/>
        <p:txBody>
          <a:bodyPr/>
          <a:lstStyle/>
          <a:p>
            <a:r>
              <a:rPr lang="en-US" dirty="0"/>
              <a:t>Mandatory Access Control (MAC)</a:t>
            </a:r>
          </a:p>
        </p:txBody>
      </p:sp>
      <p:sp>
        <p:nvSpPr>
          <p:cNvPr id="5" name="Text Placeholder 4">
            <a:extLst>
              <a:ext uri="{FF2B5EF4-FFF2-40B4-BE49-F238E27FC236}">
                <a16:creationId xmlns:a16="http://schemas.microsoft.com/office/drawing/2014/main" id="{81726669-D08F-FC42-A925-8E622EA87EBB}"/>
              </a:ext>
            </a:extLst>
          </p:cNvPr>
          <p:cNvSpPr>
            <a:spLocks noGrp="1"/>
          </p:cNvSpPr>
          <p:nvPr>
            <p:ph type="body" idx="11"/>
          </p:nvPr>
        </p:nvSpPr>
        <p:spPr/>
        <p:txBody>
          <a:bodyPr/>
          <a:lstStyle/>
          <a:p>
            <a:endParaRPr lang="en-US"/>
          </a:p>
        </p:txBody>
      </p:sp>
      <p:sp>
        <p:nvSpPr>
          <p:cNvPr id="539651" name="Rectangle 3"/>
          <p:cNvSpPr>
            <a:spLocks noGrp="1" noChangeArrowheads="1"/>
          </p:cNvSpPr>
          <p:nvPr>
            <p:ph idx="1"/>
          </p:nvPr>
        </p:nvSpPr>
        <p:spPr>
          <a:xfrm>
            <a:off x="513349" y="1268243"/>
            <a:ext cx="10840451" cy="3149378"/>
          </a:xfrm>
        </p:spPr>
        <p:txBody>
          <a:bodyPr>
            <a:normAutofit/>
          </a:bodyPr>
          <a:lstStyle/>
          <a:p>
            <a:r>
              <a:rPr lang="en-US" b="1" dirty="0">
                <a:sym typeface="Wingdings" pitchFamily="2" charset="2"/>
              </a:rPr>
              <a:t>Basic Idea</a:t>
            </a:r>
            <a:r>
              <a:rPr lang="en-US" dirty="0">
                <a:sym typeface="Wingdings" pitchFamily="2" charset="2"/>
              </a:rPr>
              <a:t>: to enforce information flows so that they </a:t>
            </a:r>
            <a:r>
              <a:rPr lang="en-US" dirty="0">
                <a:solidFill>
                  <a:srgbClr val="002060"/>
                </a:solidFill>
                <a:sym typeface="Wingdings" pitchFamily="2" charset="2"/>
              </a:rPr>
              <a:t>strictly </a:t>
            </a:r>
            <a:r>
              <a:rPr lang="en-US" dirty="0">
                <a:sym typeface="Wingdings" pitchFamily="2" charset="2"/>
              </a:rPr>
              <a:t>follow only those paths satisfying the predefined policies. </a:t>
            </a:r>
          </a:p>
          <a:p>
            <a:r>
              <a:rPr lang="en-US" dirty="0"/>
              <a:t>MAC uses </a:t>
            </a:r>
            <a:r>
              <a:rPr lang="en-US" dirty="0">
                <a:solidFill>
                  <a:srgbClr val="002060"/>
                </a:solidFill>
              </a:rPr>
              <a:t>security labels </a:t>
            </a:r>
            <a:r>
              <a:rPr lang="en-US" dirty="0"/>
              <a:t>attached to subjects and objects and define policies according to labels.</a:t>
            </a:r>
          </a:p>
          <a:p>
            <a:pPr lvl="1"/>
            <a:r>
              <a:rPr lang="en-US" dirty="0"/>
              <a:t>The labels allow objects/subjects to form a hierarchy. </a:t>
            </a:r>
          </a:p>
          <a:p>
            <a:pPr lvl="1"/>
            <a:r>
              <a:rPr lang="en-US" dirty="0"/>
              <a:t>Policies are defined upon information flow directions in the hierarchy.</a:t>
            </a:r>
          </a:p>
          <a:p>
            <a:r>
              <a:rPr lang="en-US" dirty="0">
                <a:sym typeface="Wingdings" pitchFamily="2" charset="2"/>
              </a:rPr>
              <a:t>Users cannot create/modify security labels which are assigned by Admin only. </a:t>
            </a:r>
          </a:p>
        </p:txBody>
      </p:sp>
    </p:spTree>
    <p:extLst>
      <p:ext uri="{BB962C8B-B14F-4D97-AF65-F5344CB8AC3E}">
        <p14:creationId xmlns:p14="http://schemas.microsoft.com/office/powerpoint/2010/main" val="401543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Hierarchy Defined Based on Labels</a:t>
            </a:r>
          </a:p>
        </p:txBody>
      </p:sp>
      <p:sp>
        <p:nvSpPr>
          <p:cNvPr id="3" name="Content Placeholder 2"/>
          <p:cNvSpPr>
            <a:spLocks noGrp="1"/>
          </p:cNvSpPr>
          <p:nvPr>
            <p:ph idx="1"/>
          </p:nvPr>
        </p:nvSpPr>
        <p:spPr>
          <a:xfrm>
            <a:off x="513349" y="1220996"/>
            <a:ext cx="4734851" cy="705666"/>
          </a:xfrm>
        </p:spPr>
        <p:txBody>
          <a:bodyPr/>
          <a:lstStyle/>
          <a:p>
            <a:r>
              <a:rPr lang="en-US" dirty="0">
                <a:solidFill>
                  <a:srgbClr val="002060"/>
                </a:solidFill>
              </a:rPr>
              <a:t>Use Security classes</a:t>
            </a:r>
          </a:p>
        </p:txBody>
      </p:sp>
      <p:sp>
        <p:nvSpPr>
          <p:cNvPr id="4" name="TextBox 3">
            <a:extLst>
              <a:ext uri="{FF2B5EF4-FFF2-40B4-BE49-F238E27FC236}">
                <a16:creationId xmlns:a16="http://schemas.microsoft.com/office/drawing/2014/main" id="{046E7C53-056A-234A-B072-119E77B78514}"/>
              </a:ext>
            </a:extLst>
          </p:cNvPr>
          <p:cNvSpPr txBox="1"/>
          <p:nvPr/>
        </p:nvSpPr>
        <p:spPr>
          <a:xfrm>
            <a:off x="239097" y="5646777"/>
            <a:ext cx="11542206" cy="707886"/>
          </a:xfrm>
          <a:prstGeom prst="rect">
            <a:avLst/>
          </a:prstGeom>
          <a:noFill/>
        </p:spPr>
        <p:txBody>
          <a:bodyPr wrap="square" rtlCol="0">
            <a:spAutoFit/>
          </a:bodyPr>
          <a:lstStyle/>
          <a:p>
            <a:r>
              <a:rPr lang="en-GB" sz="2000" dirty="0">
                <a:latin typeface="Arial Nova" panose="020B0504020202020204" pitchFamily="34" charset="0"/>
              </a:rPr>
              <a:t>There is an order among labels. It’s a </a:t>
            </a:r>
            <a:r>
              <a:rPr lang="en-GB" sz="2000" b="1" dirty="0">
                <a:latin typeface="Arial Nova" panose="020B0504020202020204" pitchFamily="34" charset="0"/>
              </a:rPr>
              <a:t>total</a:t>
            </a:r>
            <a:r>
              <a:rPr lang="en-GB" sz="2000" dirty="0">
                <a:latin typeface="Arial Nova" panose="020B0504020202020204" pitchFamily="34" charset="0"/>
              </a:rPr>
              <a:t> order if any two labels are comparable; otherwise, it is </a:t>
            </a:r>
            <a:r>
              <a:rPr lang="en-GB" sz="2000" b="1" dirty="0">
                <a:latin typeface="Arial Nova" panose="020B0504020202020204" pitchFamily="34" charset="0"/>
              </a:rPr>
              <a:t>partial</a:t>
            </a:r>
            <a:r>
              <a:rPr lang="en-GB" sz="2000" dirty="0">
                <a:latin typeface="Arial Nova" panose="020B0504020202020204" pitchFamily="34" charset="0"/>
              </a:rPr>
              <a:t> order.</a:t>
            </a:r>
          </a:p>
        </p:txBody>
      </p:sp>
      <p:sp>
        <p:nvSpPr>
          <p:cNvPr id="36" name="Text Placeholder 35">
            <a:extLst>
              <a:ext uri="{FF2B5EF4-FFF2-40B4-BE49-F238E27FC236}">
                <a16:creationId xmlns:a16="http://schemas.microsoft.com/office/drawing/2014/main" id="{5C7D3675-7B13-114C-8235-439B600F07EB}"/>
              </a:ext>
            </a:extLst>
          </p:cNvPr>
          <p:cNvSpPr>
            <a:spLocks noGrp="1"/>
          </p:cNvSpPr>
          <p:nvPr>
            <p:ph type="body" idx="11"/>
          </p:nvPr>
        </p:nvSpPr>
        <p:spPr/>
        <p:txBody>
          <a:bodyPr/>
          <a:lstStyle/>
          <a:p>
            <a:endParaRPr lang="en-US"/>
          </a:p>
        </p:txBody>
      </p:sp>
      <p:sp>
        <p:nvSpPr>
          <p:cNvPr id="39" name="Content Placeholder 5">
            <a:extLst>
              <a:ext uri="{FF2B5EF4-FFF2-40B4-BE49-F238E27FC236}">
                <a16:creationId xmlns:a16="http://schemas.microsoft.com/office/drawing/2014/main" id="{1762E7BA-317C-F840-A221-C94421C3F1AD}"/>
              </a:ext>
            </a:extLst>
          </p:cNvPr>
          <p:cNvSpPr txBox="1">
            <a:spLocks/>
          </p:cNvSpPr>
          <p:nvPr/>
        </p:nvSpPr>
        <p:spPr>
          <a:xfrm>
            <a:off x="4486199" y="1177399"/>
            <a:ext cx="7295103" cy="523220"/>
          </a:xfrm>
          <a:prstGeom prst="rect">
            <a:avLst/>
          </a:prstGeom>
        </p:spPr>
        <p:txBody>
          <a:bodyPr/>
          <a:lstStyle>
            <a:lvl1pPr marL="171450" indent="-171450" algn="l" defTabSz="685800" rtl="0" eaLnBrk="1" latinLnBrk="0" hangingPunct="1">
              <a:lnSpc>
                <a:spcPct val="100000"/>
              </a:lnSpc>
              <a:spcBef>
                <a:spcPts val="450"/>
              </a:spcBef>
              <a:spcAft>
                <a:spcPts val="450"/>
              </a:spcAft>
              <a:buFont typeface="Arial" panose="020B0604020202020204" pitchFamily="34" charset="0"/>
              <a:buChar char="•"/>
              <a:defRPr sz="2400" b="0"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a:lvl2pPr marL="514350" indent="-171450" algn="l" defTabSz="685800" rtl="0" eaLnBrk="1" latinLnBrk="0" hangingPunct="1">
              <a:lnSpc>
                <a:spcPct val="100000"/>
              </a:lnSpc>
              <a:spcBef>
                <a:spcPts val="450"/>
              </a:spcBef>
              <a:spcAft>
                <a:spcPts val="450"/>
              </a:spcAft>
              <a:buFont typeface="Arial" panose="020B0604020202020204" pitchFamily="34" charset="0"/>
              <a:buChar char="•"/>
              <a:defRPr sz="220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2pPr>
            <a:lvl3pPr marL="857250" indent="-171450" algn="l" defTabSz="685800" rtl="0" eaLnBrk="1" latinLnBrk="0" hangingPunct="1">
              <a:lnSpc>
                <a:spcPct val="100000"/>
              </a:lnSpc>
              <a:spcBef>
                <a:spcPts val="450"/>
              </a:spcBef>
              <a:spcAft>
                <a:spcPts val="450"/>
              </a:spcAft>
              <a:buFont typeface="Arial" panose="020B0604020202020204" pitchFamily="34" charset="0"/>
              <a:buChar char="•"/>
              <a:defRPr sz="200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3pPr>
            <a:lvl4pPr marL="1200150" indent="-171450" algn="l" defTabSz="685800" rtl="0" eaLnBrk="1" latinLnBrk="0" hangingPunct="1">
              <a:lnSpc>
                <a:spcPct val="100000"/>
              </a:lnSpc>
              <a:spcBef>
                <a:spcPts val="450"/>
              </a:spcBef>
              <a:spcAft>
                <a:spcPts val="450"/>
              </a:spcAft>
              <a:buFont typeface="Arial" panose="020B0604020202020204" pitchFamily="34" charset="0"/>
              <a:buChar char="•"/>
              <a:defRPr sz="1800" b="0" i="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4pPr>
            <a:lvl5pPr marL="1543050" indent="-171450" algn="l" defTabSz="685800" rtl="0" eaLnBrk="1" latinLnBrk="0" hangingPunct="1">
              <a:lnSpc>
                <a:spcPct val="100000"/>
              </a:lnSpc>
              <a:spcBef>
                <a:spcPts val="450"/>
              </a:spcBef>
              <a:spcAft>
                <a:spcPts val="450"/>
              </a:spcAft>
              <a:buFont typeface="Arial" panose="020B0604020202020204" pitchFamily="34" charset="0"/>
              <a:buChar char="•"/>
              <a:defRPr sz="1600" b="0" i="0" kern="1200">
                <a:solidFill>
                  <a:schemeClr val="tx1"/>
                </a:solidFill>
                <a:latin typeface="Arial Nova Light" panose="020B03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2060"/>
                </a:solidFill>
              </a:rPr>
              <a:t>Use category sets</a:t>
            </a:r>
            <a:endParaRPr lang="en-US" dirty="0">
              <a:solidFill>
                <a:srgbClr val="002060"/>
              </a:solidFill>
              <a:highlight>
                <a:srgbClr val="FFFF00"/>
              </a:highlight>
            </a:endParaRPr>
          </a:p>
          <a:p>
            <a:pPr lvl="1"/>
            <a:r>
              <a:rPr lang="en-US" dirty="0">
                <a:solidFill>
                  <a:srgbClr val="002060"/>
                </a:solidFill>
              </a:rPr>
              <a:t>Set A is inferior to Set B if A⊂ B </a:t>
            </a:r>
          </a:p>
        </p:txBody>
      </p:sp>
      <p:grpSp>
        <p:nvGrpSpPr>
          <p:cNvPr id="37" name="Group 36">
            <a:extLst>
              <a:ext uri="{FF2B5EF4-FFF2-40B4-BE49-F238E27FC236}">
                <a16:creationId xmlns:a16="http://schemas.microsoft.com/office/drawing/2014/main" id="{CC90AD32-F599-D948-B5B0-5393A43ECCAE}"/>
              </a:ext>
            </a:extLst>
          </p:cNvPr>
          <p:cNvGrpSpPr/>
          <p:nvPr/>
        </p:nvGrpSpPr>
        <p:grpSpPr>
          <a:xfrm>
            <a:off x="838200" y="1791463"/>
            <a:ext cx="10125000" cy="3662537"/>
            <a:chOff x="695400" y="1737792"/>
            <a:chExt cx="10125000" cy="3662537"/>
          </a:xfrm>
        </p:grpSpPr>
        <p:sp>
          <p:nvSpPr>
            <p:cNvPr id="69" name="Text Box 4">
              <a:extLst>
                <a:ext uri="{FF2B5EF4-FFF2-40B4-BE49-F238E27FC236}">
                  <a16:creationId xmlns:a16="http://schemas.microsoft.com/office/drawing/2014/main" id="{F768A77F-AB73-544D-A78E-C806FCCA96F2}"/>
                </a:ext>
              </a:extLst>
            </p:cNvPr>
            <p:cNvSpPr txBox="1">
              <a:spLocks noChangeArrowheads="1"/>
            </p:cNvSpPr>
            <p:nvPr/>
          </p:nvSpPr>
          <p:spPr bwMode="auto">
            <a:xfrm>
              <a:off x="771600" y="1737792"/>
              <a:ext cx="15240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dirty="0">
                  <a:solidFill>
                    <a:srgbClr val="000000"/>
                  </a:solidFill>
                  <a:latin typeface="Times New Roman" pitchFamily="18" charset="0"/>
                </a:rPr>
                <a:t>Top secret</a:t>
              </a:r>
            </a:p>
          </p:txBody>
        </p:sp>
        <p:sp>
          <p:nvSpPr>
            <p:cNvPr id="70" name="Text Box 5">
              <a:extLst>
                <a:ext uri="{FF2B5EF4-FFF2-40B4-BE49-F238E27FC236}">
                  <a16:creationId xmlns:a16="http://schemas.microsoft.com/office/drawing/2014/main" id="{D465B6B1-6951-C648-8AF2-813AE22D4E96}"/>
                </a:ext>
              </a:extLst>
            </p:cNvPr>
            <p:cNvSpPr txBox="1">
              <a:spLocks noChangeArrowheads="1"/>
            </p:cNvSpPr>
            <p:nvPr/>
          </p:nvSpPr>
          <p:spPr bwMode="auto">
            <a:xfrm>
              <a:off x="771600" y="2652192"/>
              <a:ext cx="15240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Secret</a:t>
              </a:r>
            </a:p>
          </p:txBody>
        </p:sp>
        <p:sp>
          <p:nvSpPr>
            <p:cNvPr id="71" name="Text Box 6">
              <a:extLst>
                <a:ext uri="{FF2B5EF4-FFF2-40B4-BE49-F238E27FC236}">
                  <a16:creationId xmlns:a16="http://schemas.microsoft.com/office/drawing/2014/main" id="{319DF5E1-6AAC-7249-A76A-E0B97C99FB54}"/>
                </a:ext>
              </a:extLst>
            </p:cNvPr>
            <p:cNvSpPr txBox="1">
              <a:spLocks noChangeArrowheads="1"/>
            </p:cNvSpPr>
            <p:nvPr/>
          </p:nvSpPr>
          <p:spPr bwMode="auto">
            <a:xfrm>
              <a:off x="771600" y="3566592"/>
              <a:ext cx="17526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Confidential </a:t>
              </a:r>
            </a:p>
          </p:txBody>
        </p:sp>
        <p:sp>
          <p:nvSpPr>
            <p:cNvPr id="72" name="Text Box 7">
              <a:extLst>
                <a:ext uri="{FF2B5EF4-FFF2-40B4-BE49-F238E27FC236}">
                  <a16:creationId xmlns:a16="http://schemas.microsoft.com/office/drawing/2014/main" id="{B9F24B52-6A82-A340-B07D-FAD854E7E7EE}"/>
                </a:ext>
              </a:extLst>
            </p:cNvPr>
            <p:cNvSpPr txBox="1">
              <a:spLocks noChangeArrowheads="1"/>
            </p:cNvSpPr>
            <p:nvPr/>
          </p:nvSpPr>
          <p:spPr bwMode="auto">
            <a:xfrm>
              <a:off x="695400" y="4557192"/>
              <a:ext cx="18288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Unclassified</a:t>
              </a:r>
            </a:p>
          </p:txBody>
        </p:sp>
        <p:sp>
          <p:nvSpPr>
            <p:cNvPr id="73" name="Line 8">
              <a:extLst>
                <a:ext uri="{FF2B5EF4-FFF2-40B4-BE49-F238E27FC236}">
                  <a16:creationId xmlns:a16="http://schemas.microsoft.com/office/drawing/2014/main" id="{87C24DE8-176E-ED42-A47D-76866E5742B4}"/>
                </a:ext>
              </a:extLst>
            </p:cNvPr>
            <p:cNvSpPr>
              <a:spLocks noChangeShapeType="1"/>
            </p:cNvSpPr>
            <p:nvPr/>
          </p:nvSpPr>
          <p:spPr bwMode="auto">
            <a:xfrm flipV="1">
              <a:off x="1381200" y="4023792"/>
              <a:ext cx="0" cy="533400"/>
            </a:xfrm>
            <a:prstGeom prst="line">
              <a:avLst/>
            </a:prstGeom>
            <a:noFill/>
            <a:ln w="38100">
              <a:solidFill>
                <a:srgbClr val="000000"/>
              </a:solidFill>
              <a:round/>
              <a:headEnd/>
              <a:tailEnd type="triangle"/>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4" name="Line 9">
              <a:extLst>
                <a:ext uri="{FF2B5EF4-FFF2-40B4-BE49-F238E27FC236}">
                  <a16:creationId xmlns:a16="http://schemas.microsoft.com/office/drawing/2014/main" id="{571DE82B-EAF8-E24E-BB8F-7FB80012AC08}"/>
                </a:ext>
              </a:extLst>
            </p:cNvPr>
            <p:cNvSpPr>
              <a:spLocks noChangeShapeType="1"/>
            </p:cNvSpPr>
            <p:nvPr/>
          </p:nvSpPr>
          <p:spPr bwMode="auto">
            <a:xfrm flipV="1">
              <a:off x="1381200" y="3033192"/>
              <a:ext cx="0" cy="533400"/>
            </a:xfrm>
            <a:prstGeom prst="line">
              <a:avLst/>
            </a:prstGeom>
            <a:noFill/>
            <a:ln w="38100">
              <a:solidFill>
                <a:srgbClr val="000000"/>
              </a:solidFill>
              <a:round/>
              <a:headEnd/>
              <a:tailEnd type="triangle"/>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5" name="Line 10">
              <a:extLst>
                <a:ext uri="{FF2B5EF4-FFF2-40B4-BE49-F238E27FC236}">
                  <a16:creationId xmlns:a16="http://schemas.microsoft.com/office/drawing/2014/main" id="{DB6BF5E4-B09B-DA47-8496-A2B8F3D4265F}"/>
                </a:ext>
              </a:extLst>
            </p:cNvPr>
            <p:cNvSpPr>
              <a:spLocks noChangeShapeType="1"/>
            </p:cNvSpPr>
            <p:nvPr/>
          </p:nvSpPr>
          <p:spPr bwMode="auto">
            <a:xfrm flipV="1">
              <a:off x="1381200" y="2194992"/>
              <a:ext cx="0" cy="533400"/>
            </a:xfrm>
            <a:prstGeom prst="line">
              <a:avLst/>
            </a:prstGeom>
            <a:noFill/>
            <a:ln w="38100">
              <a:solidFill>
                <a:srgbClr val="000000"/>
              </a:solidFill>
              <a:round/>
              <a:headEnd/>
              <a:tailEnd type="triangle"/>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76" name="Text Box 4">
              <a:extLst>
                <a:ext uri="{FF2B5EF4-FFF2-40B4-BE49-F238E27FC236}">
                  <a16:creationId xmlns:a16="http://schemas.microsoft.com/office/drawing/2014/main" id="{2F0C2B61-4001-4C4F-8BDE-F30F7C60FFC4}"/>
                </a:ext>
              </a:extLst>
            </p:cNvPr>
            <p:cNvSpPr txBox="1">
              <a:spLocks noChangeArrowheads="1"/>
            </p:cNvSpPr>
            <p:nvPr/>
          </p:nvSpPr>
          <p:spPr bwMode="auto">
            <a:xfrm>
              <a:off x="4343400" y="4012854"/>
              <a:ext cx="1524000" cy="396875"/>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000">
                  <a:solidFill>
                    <a:srgbClr val="000000"/>
                  </a:solidFill>
                  <a:latin typeface="Times New Roman" pitchFamily="18" charset="0"/>
                </a:rPr>
                <a:t>{Defense}</a:t>
              </a:r>
            </a:p>
          </p:txBody>
        </p:sp>
        <p:sp>
          <p:nvSpPr>
            <p:cNvPr id="77" name="Text Box 5">
              <a:extLst>
                <a:ext uri="{FF2B5EF4-FFF2-40B4-BE49-F238E27FC236}">
                  <a16:creationId xmlns:a16="http://schemas.microsoft.com/office/drawing/2014/main" id="{5FF4B756-2BE4-834C-989F-D0D816539426}"/>
                </a:ext>
              </a:extLst>
            </p:cNvPr>
            <p:cNvSpPr txBox="1">
              <a:spLocks noChangeArrowheads="1"/>
            </p:cNvSpPr>
            <p:nvPr/>
          </p:nvSpPr>
          <p:spPr bwMode="auto">
            <a:xfrm>
              <a:off x="6858000" y="4089054"/>
              <a:ext cx="1981200" cy="396875"/>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000">
                  <a:solidFill>
                    <a:srgbClr val="000000"/>
                  </a:solidFill>
                  <a:latin typeface="Times New Roman" pitchFamily="18" charset="0"/>
                </a:rPr>
                <a:t>{Weapon.M.D.}</a:t>
              </a:r>
            </a:p>
          </p:txBody>
        </p:sp>
        <p:sp>
          <p:nvSpPr>
            <p:cNvPr id="78" name="Text Box 6">
              <a:extLst>
                <a:ext uri="{FF2B5EF4-FFF2-40B4-BE49-F238E27FC236}">
                  <a16:creationId xmlns:a16="http://schemas.microsoft.com/office/drawing/2014/main" id="{A8814232-9641-0F4E-B54E-34852E10C8C5}"/>
                </a:ext>
              </a:extLst>
            </p:cNvPr>
            <p:cNvSpPr txBox="1">
              <a:spLocks noChangeArrowheads="1"/>
            </p:cNvSpPr>
            <p:nvPr/>
          </p:nvSpPr>
          <p:spPr bwMode="auto">
            <a:xfrm>
              <a:off x="9372600" y="4089054"/>
              <a:ext cx="1447800" cy="396875"/>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000" dirty="0">
                  <a:solidFill>
                    <a:srgbClr val="000000"/>
                  </a:solidFill>
                  <a:latin typeface="Times New Roman" pitchFamily="18" charset="0"/>
                </a:rPr>
                <a:t>{Terrorist}</a:t>
              </a:r>
            </a:p>
          </p:txBody>
        </p:sp>
        <p:sp>
          <p:nvSpPr>
            <p:cNvPr id="79" name="Text Box 7">
              <a:extLst>
                <a:ext uri="{FF2B5EF4-FFF2-40B4-BE49-F238E27FC236}">
                  <a16:creationId xmlns:a16="http://schemas.microsoft.com/office/drawing/2014/main" id="{B68A28AF-7EF4-3D41-A79C-26B5422912A5}"/>
                </a:ext>
              </a:extLst>
            </p:cNvPr>
            <p:cNvSpPr txBox="1">
              <a:spLocks noChangeArrowheads="1"/>
            </p:cNvSpPr>
            <p:nvPr/>
          </p:nvSpPr>
          <p:spPr bwMode="auto">
            <a:xfrm>
              <a:off x="3810000" y="3105944"/>
              <a:ext cx="1981200" cy="396875"/>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000" dirty="0">
                  <a:solidFill>
                    <a:srgbClr val="000000"/>
                  </a:solidFill>
                  <a:latin typeface="Times New Roman" pitchFamily="18" charset="0"/>
                </a:rPr>
                <a:t>{</a:t>
              </a:r>
              <a:r>
                <a:rPr lang="en-US" sz="2000" dirty="0" err="1">
                  <a:solidFill>
                    <a:srgbClr val="000000"/>
                  </a:solidFill>
                  <a:latin typeface="Times New Roman" pitchFamily="18" charset="0"/>
                </a:rPr>
                <a:t>Defense,WMD</a:t>
              </a:r>
              <a:r>
                <a:rPr lang="en-US" sz="2000" dirty="0">
                  <a:solidFill>
                    <a:srgbClr val="000000"/>
                  </a:solidFill>
                  <a:latin typeface="Times New Roman" pitchFamily="18" charset="0"/>
                </a:rPr>
                <a:t>}</a:t>
              </a:r>
            </a:p>
          </p:txBody>
        </p:sp>
        <p:sp>
          <p:nvSpPr>
            <p:cNvPr id="80" name="Text Box 8">
              <a:extLst>
                <a:ext uri="{FF2B5EF4-FFF2-40B4-BE49-F238E27FC236}">
                  <a16:creationId xmlns:a16="http://schemas.microsoft.com/office/drawing/2014/main" id="{7F41D851-6757-794F-8F71-A931EDA13F5C}"/>
                </a:ext>
              </a:extLst>
            </p:cNvPr>
            <p:cNvSpPr txBox="1">
              <a:spLocks noChangeArrowheads="1"/>
            </p:cNvSpPr>
            <p:nvPr/>
          </p:nvSpPr>
          <p:spPr bwMode="auto">
            <a:xfrm>
              <a:off x="6629400" y="3082579"/>
              <a:ext cx="2209800" cy="396875"/>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000">
                  <a:solidFill>
                    <a:srgbClr val="000000"/>
                  </a:solidFill>
                  <a:latin typeface="Times New Roman" pitchFamily="18" charset="0"/>
                </a:rPr>
                <a:t>{Defense,Terrorist}</a:t>
              </a:r>
            </a:p>
          </p:txBody>
        </p:sp>
        <p:sp>
          <p:nvSpPr>
            <p:cNvPr id="81" name="Text Box 9">
              <a:extLst>
                <a:ext uri="{FF2B5EF4-FFF2-40B4-BE49-F238E27FC236}">
                  <a16:creationId xmlns:a16="http://schemas.microsoft.com/office/drawing/2014/main" id="{2FF93543-29A9-FC4C-A549-EA008337256B}"/>
                </a:ext>
              </a:extLst>
            </p:cNvPr>
            <p:cNvSpPr txBox="1">
              <a:spLocks noChangeArrowheads="1"/>
            </p:cNvSpPr>
            <p:nvPr/>
          </p:nvSpPr>
          <p:spPr bwMode="auto">
            <a:xfrm>
              <a:off x="8763000" y="3082578"/>
              <a:ext cx="2057400" cy="400110"/>
            </a:xfrm>
            <a:prstGeom prst="rect">
              <a:avLst/>
            </a:prstGeom>
            <a:noFill/>
            <a:ln w="9525">
              <a:noFill/>
              <a:miter lim="800000"/>
              <a:headEnd/>
              <a:tailEnd/>
            </a:ln>
            <a:effectLst/>
          </p:spPr>
          <p:txBody>
            <a:bodyPr wrap="square">
              <a:spAutoFit/>
            </a:bodyPr>
            <a:lstStyle/>
            <a:p>
              <a:pPr defTabSz="914400" fontAlgn="base">
                <a:spcBef>
                  <a:spcPct val="50000"/>
                </a:spcBef>
                <a:spcAft>
                  <a:spcPct val="0"/>
                </a:spcAft>
              </a:pPr>
              <a:r>
                <a:rPr lang="en-US" sz="2000" dirty="0">
                  <a:solidFill>
                    <a:srgbClr val="000000"/>
                  </a:solidFill>
                  <a:latin typeface="Times New Roman" pitchFamily="18" charset="0"/>
                </a:rPr>
                <a:t>{</a:t>
              </a:r>
              <a:r>
                <a:rPr lang="en-US" sz="2000" dirty="0" err="1">
                  <a:solidFill>
                    <a:srgbClr val="000000"/>
                  </a:solidFill>
                  <a:latin typeface="Times New Roman" pitchFamily="18" charset="0"/>
                </a:rPr>
                <a:t>WMD,Terrorist</a:t>
              </a:r>
              <a:r>
                <a:rPr lang="en-US" sz="2000" dirty="0">
                  <a:solidFill>
                    <a:srgbClr val="000000"/>
                  </a:solidFill>
                  <a:latin typeface="Times New Roman" pitchFamily="18" charset="0"/>
                </a:rPr>
                <a:t>}</a:t>
              </a:r>
            </a:p>
          </p:txBody>
        </p:sp>
        <p:sp>
          <p:nvSpPr>
            <p:cNvPr id="82" name="Text Box 10">
              <a:extLst>
                <a:ext uri="{FF2B5EF4-FFF2-40B4-BE49-F238E27FC236}">
                  <a16:creationId xmlns:a16="http://schemas.microsoft.com/office/drawing/2014/main" id="{1DC03FAE-6C5D-BB4C-997B-7B0E2918526A}"/>
                </a:ext>
              </a:extLst>
            </p:cNvPr>
            <p:cNvSpPr txBox="1">
              <a:spLocks noChangeArrowheads="1"/>
            </p:cNvSpPr>
            <p:nvPr/>
          </p:nvSpPr>
          <p:spPr bwMode="auto">
            <a:xfrm>
              <a:off x="6324600" y="2091979"/>
              <a:ext cx="3200400" cy="396875"/>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000" dirty="0">
                  <a:solidFill>
                    <a:srgbClr val="000000"/>
                  </a:solidFill>
                  <a:latin typeface="Times New Roman" pitchFamily="18" charset="0"/>
                </a:rPr>
                <a:t>{</a:t>
              </a:r>
              <a:r>
                <a:rPr lang="en-US" sz="2000" dirty="0" err="1">
                  <a:solidFill>
                    <a:srgbClr val="000000"/>
                  </a:solidFill>
                  <a:latin typeface="Times New Roman" pitchFamily="18" charset="0"/>
                </a:rPr>
                <a:t>Defense,WMD,Terrorist</a:t>
              </a:r>
              <a:r>
                <a:rPr lang="en-US" sz="2000" dirty="0">
                  <a:solidFill>
                    <a:srgbClr val="000000"/>
                  </a:solidFill>
                  <a:latin typeface="Times New Roman" pitchFamily="18" charset="0"/>
                </a:rPr>
                <a:t>}</a:t>
              </a:r>
            </a:p>
          </p:txBody>
        </p:sp>
        <p:sp>
          <p:nvSpPr>
            <p:cNvPr id="83" name="Text Box 11">
              <a:extLst>
                <a:ext uri="{FF2B5EF4-FFF2-40B4-BE49-F238E27FC236}">
                  <a16:creationId xmlns:a16="http://schemas.microsoft.com/office/drawing/2014/main" id="{95635BFC-7F44-1A4B-AB97-3D944E6983C7}"/>
                </a:ext>
              </a:extLst>
            </p:cNvPr>
            <p:cNvSpPr txBox="1">
              <a:spLocks noChangeArrowheads="1"/>
            </p:cNvSpPr>
            <p:nvPr/>
          </p:nvSpPr>
          <p:spPr bwMode="auto">
            <a:xfrm>
              <a:off x="7543800" y="5003454"/>
              <a:ext cx="609600" cy="396875"/>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000">
                  <a:solidFill>
                    <a:srgbClr val="000000"/>
                  </a:solidFill>
                  <a:latin typeface="Times New Roman" pitchFamily="18" charset="0"/>
                </a:rPr>
                <a:t>{}</a:t>
              </a:r>
            </a:p>
          </p:txBody>
        </p:sp>
        <p:sp>
          <p:nvSpPr>
            <p:cNvPr id="84" name="Line 12">
              <a:extLst>
                <a:ext uri="{FF2B5EF4-FFF2-40B4-BE49-F238E27FC236}">
                  <a16:creationId xmlns:a16="http://schemas.microsoft.com/office/drawing/2014/main" id="{3AE453C9-445B-404A-ADB6-29A73482A366}"/>
                </a:ext>
              </a:extLst>
            </p:cNvPr>
            <p:cNvSpPr>
              <a:spLocks noChangeShapeType="1"/>
            </p:cNvSpPr>
            <p:nvPr/>
          </p:nvSpPr>
          <p:spPr bwMode="auto">
            <a:xfrm flipV="1">
              <a:off x="7772400" y="4546253"/>
              <a:ext cx="0" cy="457200"/>
            </a:xfrm>
            <a:prstGeom prst="line">
              <a:avLst/>
            </a:prstGeom>
            <a:noFill/>
            <a:ln w="38100">
              <a:solidFill>
                <a:srgbClr val="000000"/>
              </a:solidFill>
              <a:round/>
              <a:headEnd/>
              <a:tailEnd type="triangle"/>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5" name="Line 13">
              <a:extLst>
                <a:ext uri="{FF2B5EF4-FFF2-40B4-BE49-F238E27FC236}">
                  <a16:creationId xmlns:a16="http://schemas.microsoft.com/office/drawing/2014/main" id="{6F858660-8B4E-9349-89E4-532C9549C0A6}"/>
                </a:ext>
              </a:extLst>
            </p:cNvPr>
            <p:cNvSpPr>
              <a:spLocks noChangeShapeType="1"/>
            </p:cNvSpPr>
            <p:nvPr/>
          </p:nvSpPr>
          <p:spPr bwMode="auto">
            <a:xfrm flipV="1">
              <a:off x="7772400" y="4470053"/>
              <a:ext cx="2590800" cy="533400"/>
            </a:xfrm>
            <a:prstGeom prst="line">
              <a:avLst/>
            </a:prstGeom>
            <a:noFill/>
            <a:ln w="38100">
              <a:solidFill>
                <a:srgbClr val="000000"/>
              </a:solidFill>
              <a:round/>
              <a:headEnd/>
              <a:tailEnd type="triangle"/>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6" name="Line 14">
              <a:extLst>
                <a:ext uri="{FF2B5EF4-FFF2-40B4-BE49-F238E27FC236}">
                  <a16:creationId xmlns:a16="http://schemas.microsoft.com/office/drawing/2014/main" id="{7FD9E53F-5728-0F41-9D62-595588B7D08D}"/>
                </a:ext>
              </a:extLst>
            </p:cNvPr>
            <p:cNvSpPr>
              <a:spLocks noChangeShapeType="1"/>
            </p:cNvSpPr>
            <p:nvPr/>
          </p:nvSpPr>
          <p:spPr bwMode="auto">
            <a:xfrm flipH="1" flipV="1">
              <a:off x="5105400" y="4470053"/>
              <a:ext cx="2667000" cy="533400"/>
            </a:xfrm>
            <a:prstGeom prst="line">
              <a:avLst/>
            </a:prstGeom>
            <a:noFill/>
            <a:ln w="38100">
              <a:solidFill>
                <a:srgbClr val="000000"/>
              </a:solidFill>
              <a:round/>
              <a:headEnd/>
              <a:tailEnd type="triangle"/>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7" name="Line 15">
              <a:extLst>
                <a:ext uri="{FF2B5EF4-FFF2-40B4-BE49-F238E27FC236}">
                  <a16:creationId xmlns:a16="http://schemas.microsoft.com/office/drawing/2014/main" id="{8756AC5C-AA33-C64E-BE3A-96C914D1BCB1}"/>
                </a:ext>
              </a:extLst>
            </p:cNvPr>
            <p:cNvSpPr>
              <a:spLocks noChangeShapeType="1"/>
            </p:cNvSpPr>
            <p:nvPr/>
          </p:nvSpPr>
          <p:spPr bwMode="auto">
            <a:xfrm flipV="1">
              <a:off x="4876800" y="3403253"/>
              <a:ext cx="0" cy="609600"/>
            </a:xfrm>
            <a:prstGeom prst="line">
              <a:avLst/>
            </a:prstGeom>
            <a:noFill/>
            <a:ln w="38100">
              <a:solidFill>
                <a:srgbClr val="000000"/>
              </a:solidFill>
              <a:round/>
              <a:headEnd/>
              <a:tailEnd type="triangle"/>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8" name="Line 16">
              <a:extLst>
                <a:ext uri="{FF2B5EF4-FFF2-40B4-BE49-F238E27FC236}">
                  <a16:creationId xmlns:a16="http://schemas.microsoft.com/office/drawing/2014/main" id="{C4934BEC-5F85-A141-BF1F-A1AF748F0EC1}"/>
                </a:ext>
              </a:extLst>
            </p:cNvPr>
            <p:cNvSpPr>
              <a:spLocks noChangeShapeType="1"/>
            </p:cNvSpPr>
            <p:nvPr/>
          </p:nvSpPr>
          <p:spPr bwMode="auto">
            <a:xfrm flipV="1">
              <a:off x="5029200" y="3479453"/>
              <a:ext cx="2743200" cy="609600"/>
            </a:xfrm>
            <a:prstGeom prst="line">
              <a:avLst/>
            </a:prstGeom>
            <a:noFill/>
            <a:ln w="38100">
              <a:solidFill>
                <a:srgbClr val="000000"/>
              </a:solidFill>
              <a:round/>
              <a:headEnd/>
              <a:tailEnd type="triangle"/>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89" name="Line 17">
              <a:extLst>
                <a:ext uri="{FF2B5EF4-FFF2-40B4-BE49-F238E27FC236}">
                  <a16:creationId xmlns:a16="http://schemas.microsoft.com/office/drawing/2014/main" id="{E97367C4-2E22-CC4F-9AAB-42B616F50341}"/>
                </a:ext>
              </a:extLst>
            </p:cNvPr>
            <p:cNvSpPr>
              <a:spLocks noChangeShapeType="1"/>
            </p:cNvSpPr>
            <p:nvPr/>
          </p:nvSpPr>
          <p:spPr bwMode="auto">
            <a:xfrm flipH="1" flipV="1">
              <a:off x="5029200" y="3479453"/>
              <a:ext cx="2743200" cy="609600"/>
            </a:xfrm>
            <a:prstGeom prst="line">
              <a:avLst/>
            </a:prstGeom>
            <a:noFill/>
            <a:ln w="38100">
              <a:solidFill>
                <a:srgbClr val="000000"/>
              </a:solidFill>
              <a:round/>
              <a:headEnd/>
              <a:tailEnd type="triangle"/>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0" name="Line 18">
              <a:extLst>
                <a:ext uri="{FF2B5EF4-FFF2-40B4-BE49-F238E27FC236}">
                  <a16:creationId xmlns:a16="http://schemas.microsoft.com/office/drawing/2014/main" id="{8BDE73FE-65B7-C443-AADD-1B674E08A0E7}"/>
                </a:ext>
              </a:extLst>
            </p:cNvPr>
            <p:cNvSpPr>
              <a:spLocks noChangeShapeType="1"/>
            </p:cNvSpPr>
            <p:nvPr/>
          </p:nvSpPr>
          <p:spPr bwMode="auto">
            <a:xfrm flipV="1">
              <a:off x="7772400" y="3555653"/>
              <a:ext cx="2514600" cy="533400"/>
            </a:xfrm>
            <a:prstGeom prst="line">
              <a:avLst/>
            </a:prstGeom>
            <a:noFill/>
            <a:ln w="38100">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1" name="Line 19">
              <a:extLst>
                <a:ext uri="{FF2B5EF4-FFF2-40B4-BE49-F238E27FC236}">
                  <a16:creationId xmlns:a16="http://schemas.microsoft.com/office/drawing/2014/main" id="{D5015049-63EA-E642-A332-48DA5EC90095}"/>
                </a:ext>
              </a:extLst>
            </p:cNvPr>
            <p:cNvSpPr>
              <a:spLocks noChangeShapeType="1"/>
            </p:cNvSpPr>
            <p:nvPr/>
          </p:nvSpPr>
          <p:spPr bwMode="auto">
            <a:xfrm flipH="1" flipV="1">
              <a:off x="10287000" y="3555653"/>
              <a:ext cx="0" cy="533400"/>
            </a:xfrm>
            <a:prstGeom prst="line">
              <a:avLst/>
            </a:prstGeom>
            <a:noFill/>
            <a:ln w="38100">
              <a:solidFill>
                <a:srgbClr val="000000"/>
              </a:solidFill>
              <a:round/>
              <a:headEnd/>
              <a:tailEnd type="triangle"/>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2" name="Line 20">
              <a:extLst>
                <a:ext uri="{FF2B5EF4-FFF2-40B4-BE49-F238E27FC236}">
                  <a16:creationId xmlns:a16="http://schemas.microsoft.com/office/drawing/2014/main" id="{CE082D55-B942-BB42-98F4-5A28F91214FA}"/>
                </a:ext>
              </a:extLst>
            </p:cNvPr>
            <p:cNvSpPr>
              <a:spLocks noChangeShapeType="1"/>
            </p:cNvSpPr>
            <p:nvPr/>
          </p:nvSpPr>
          <p:spPr bwMode="auto">
            <a:xfrm flipH="1" flipV="1">
              <a:off x="7772400" y="3479453"/>
              <a:ext cx="2514600" cy="609600"/>
            </a:xfrm>
            <a:prstGeom prst="line">
              <a:avLst/>
            </a:prstGeom>
            <a:noFill/>
            <a:ln w="38100">
              <a:solidFill>
                <a:srgbClr val="000000"/>
              </a:solidFill>
              <a:round/>
              <a:headEnd/>
              <a:tailEnd type="triangle"/>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3" name="Line 21">
              <a:extLst>
                <a:ext uri="{FF2B5EF4-FFF2-40B4-BE49-F238E27FC236}">
                  <a16:creationId xmlns:a16="http://schemas.microsoft.com/office/drawing/2014/main" id="{17158D76-2614-0A4E-A126-D6D7AE57DA30}"/>
                </a:ext>
              </a:extLst>
            </p:cNvPr>
            <p:cNvSpPr>
              <a:spLocks noChangeShapeType="1"/>
            </p:cNvSpPr>
            <p:nvPr/>
          </p:nvSpPr>
          <p:spPr bwMode="auto">
            <a:xfrm flipV="1">
              <a:off x="7772400" y="2412653"/>
              <a:ext cx="0" cy="609600"/>
            </a:xfrm>
            <a:prstGeom prst="line">
              <a:avLst/>
            </a:prstGeom>
            <a:noFill/>
            <a:ln w="38100">
              <a:solidFill>
                <a:srgbClr val="000000"/>
              </a:solidFill>
              <a:round/>
              <a:headEnd/>
              <a:tailEnd type="triangle"/>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4" name="Line 16">
              <a:extLst>
                <a:ext uri="{FF2B5EF4-FFF2-40B4-BE49-F238E27FC236}">
                  <a16:creationId xmlns:a16="http://schemas.microsoft.com/office/drawing/2014/main" id="{E7E7F528-9A1F-FC43-9A61-9721829A7625}"/>
                </a:ext>
              </a:extLst>
            </p:cNvPr>
            <p:cNvSpPr>
              <a:spLocks noChangeShapeType="1"/>
            </p:cNvSpPr>
            <p:nvPr/>
          </p:nvSpPr>
          <p:spPr bwMode="auto">
            <a:xfrm flipV="1">
              <a:off x="5714999" y="2504728"/>
              <a:ext cx="1905001" cy="654050"/>
            </a:xfrm>
            <a:prstGeom prst="line">
              <a:avLst/>
            </a:prstGeom>
            <a:noFill/>
            <a:ln w="38100">
              <a:solidFill>
                <a:srgbClr val="000000"/>
              </a:solidFill>
              <a:round/>
              <a:headEnd/>
              <a:tailEnd type="triangle"/>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95" name="Line 20">
              <a:extLst>
                <a:ext uri="{FF2B5EF4-FFF2-40B4-BE49-F238E27FC236}">
                  <a16:creationId xmlns:a16="http://schemas.microsoft.com/office/drawing/2014/main" id="{ACD2586B-C70B-E54D-8C3A-84C016EA6B6E}"/>
                </a:ext>
              </a:extLst>
            </p:cNvPr>
            <p:cNvSpPr>
              <a:spLocks noChangeShapeType="1"/>
            </p:cNvSpPr>
            <p:nvPr/>
          </p:nvSpPr>
          <p:spPr bwMode="auto">
            <a:xfrm flipH="1" flipV="1">
              <a:off x="7924801" y="2501554"/>
              <a:ext cx="1828799" cy="593665"/>
            </a:xfrm>
            <a:prstGeom prst="line">
              <a:avLst/>
            </a:prstGeom>
            <a:noFill/>
            <a:ln w="38100">
              <a:solidFill>
                <a:srgbClr val="000000"/>
              </a:solidFill>
              <a:round/>
              <a:headEnd/>
              <a:tailEnd type="triangle"/>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grpSp>
    </p:spTree>
    <p:extLst>
      <p:ext uri="{BB962C8B-B14F-4D97-AF65-F5344CB8AC3E}">
        <p14:creationId xmlns:p14="http://schemas.microsoft.com/office/powerpoint/2010/main" val="3265305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p:txBody>
          <a:bodyPr/>
          <a:lstStyle/>
          <a:p>
            <a:r>
              <a:rPr lang="en-US" dirty="0"/>
              <a:t>BLP Model</a:t>
            </a:r>
          </a:p>
        </p:txBody>
      </p:sp>
      <p:sp>
        <p:nvSpPr>
          <p:cNvPr id="4" name="Text Placeholder 3">
            <a:extLst>
              <a:ext uri="{FF2B5EF4-FFF2-40B4-BE49-F238E27FC236}">
                <a16:creationId xmlns:a16="http://schemas.microsoft.com/office/drawing/2014/main" id="{D500E13E-D638-2A4A-B2E6-32F424A38786}"/>
              </a:ext>
            </a:extLst>
          </p:cNvPr>
          <p:cNvSpPr>
            <a:spLocks noGrp="1"/>
          </p:cNvSpPr>
          <p:nvPr>
            <p:ph type="body" idx="11"/>
          </p:nvPr>
        </p:nvSpPr>
        <p:spPr/>
        <p:txBody>
          <a:bodyPr/>
          <a:lstStyle/>
          <a:p>
            <a:endParaRPr lang="en-US"/>
          </a:p>
        </p:txBody>
      </p:sp>
      <p:sp>
        <p:nvSpPr>
          <p:cNvPr id="547843" name="Rectangle 3"/>
          <p:cNvSpPr>
            <a:spLocks noGrp="1" noChangeArrowheads="1"/>
          </p:cNvSpPr>
          <p:nvPr>
            <p:ph idx="1"/>
          </p:nvPr>
        </p:nvSpPr>
        <p:spPr/>
        <p:txBody>
          <a:bodyPr>
            <a:normAutofit/>
          </a:bodyPr>
          <a:lstStyle/>
          <a:p>
            <a:r>
              <a:rPr lang="en-US" dirty="0"/>
              <a:t>Bell and </a:t>
            </a:r>
            <a:r>
              <a:rPr lang="en-US" dirty="0" err="1"/>
              <a:t>LaPadula</a:t>
            </a:r>
            <a:r>
              <a:rPr lang="en-US" dirty="0"/>
              <a:t> model (BLP)</a:t>
            </a:r>
          </a:p>
          <a:p>
            <a:pPr lvl="1"/>
            <a:r>
              <a:rPr lang="en-US" dirty="0"/>
              <a:t>A formal MAC model which </a:t>
            </a:r>
            <a:r>
              <a:rPr lang="en-US" dirty="0">
                <a:solidFill>
                  <a:srgbClr val="002060"/>
                </a:solidFill>
              </a:rPr>
              <a:t>lays out the rules for concrete access policies based on security labels.</a:t>
            </a:r>
            <a:endParaRPr lang="en-US" altLang="zh-CN" dirty="0">
              <a:solidFill>
                <a:srgbClr val="002060"/>
              </a:solidFill>
            </a:endParaRPr>
          </a:p>
          <a:p>
            <a:pPr lvl="1"/>
            <a:r>
              <a:rPr lang="en-US" dirty="0"/>
              <a:t>Define allowable information flows in order to maintain data </a:t>
            </a:r>
            <a:r>
              <a:rPr lang="en-US" dirty="0">
                <a:solidFill>
                  <a:srgbClr val="002060"/>
                </a:solidFill>
              </a:rPr>
              <a:t>secrecy.</a:t>
            </a:r>
            <a:r>
              <a:rPr lang="en-US" dirty="0"/>
              <a:t> </a:t>
            </a:r>
          </a:p>
          <a:p>
            <a:pPr lvl="1"/>
            <a:r>
              <a:rPr lang="en-US" dirty="0"/>
              <a:t>Does not address integrity.</a:t>
            </a:r>
          </a:p>
          <a:p>
            <a:pPr lvl="1"/>
            <a:r>
              <a:rPr lang="en-US" dirty="0"/>
              <a:t>Key part in US </a:t>
            </a:r>
            <a:r>
              <a:rPr lang="en-US" dirty="0" err="1"/>
              <a:t>DoD</a:t>
            </a:r>
            <a:r>
              <a:rPr lang="en-US" dirty="0"/>
              <a:t> security evaluation criteria.</a:t>
            </a:r>
          </a:p>
        </p:txBody>
      </p:sp>
    </p:spTree>
    <p:extLst>
      <p:ext uri="{BB962C8B-B14F-4D97-AF65-F5344CB8AC3E}">
        <p14:creationId xmlns:p14="http://schemas.microsoft.com/office/powerpoint/2010/main" val="33080469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p:txBody>
          <a:bodyPr/>
          <a:lstStyle/>
          <a:p>
            <a:r>
              <a:rPr lang="en-US" dirty="0"/>
              <a:t>BLP Model (1): Two MAC Rules</a:t>
            </a:r>
          </a:p>
        </p:txBody>
      </p:sp>
      <p:sp>
        <p:nvSpPr>
          <p:cNvPr id="549892" name="Rectangle 4"/>
          <p:cNvSpPr>
            <a:spLocks noGrp="1" noChangeArrowheads="1"/>
          </p:cNvSpPr>
          <p:nvPr>
            <p:ph type="body" idx="11"/>
          </p:nvPr>
        </p:nvSpPr>
        <p:spPr/>
        <p:txBody>
          <a:bodyPr>
            <a:normAutofit/>
          </a:bodyPr>
          <a:lstStyle/>
          <a:p>
            <a:r>
              <a:rPr lang="en-US"/>
              <a:t> </a:t>
            </a:r>
          </a:p>
        </p:txBody>
      </p:sp>
      <p:sp>
        <p:nvSpPr>
          <p:cNvPr id="549891" name="Rectangle 3"/>
          <p:cNvSpPr>
            <a:spLocks noGrp="1" noChangeArrowheads="1"/>
          </p:cNvSpPr>
          <p:nvPr>
            <p:ph idx="1"/>
          </p:nvPr>
        </p:nvSpPr>
        <p:spPr>
          <a:xfrm>
            <a:off x="513350" y="1268243"/>
            <a:ext cx="5735050" cy="4723318"/>
          </a:xfrm>
        </p:spPr>
        <p:txBody>
          <a:bodyPr>
            <a:normAutofit/>
          </a:bodyPr>
          <a:lstStyle/>
          <a:p>
            <a:r>
              <a:rPr lang="en-US" dirty="0">
                <a:solidFill>
                  <a:srgbClr val="002060"/>
                </a:solidFill>
              </a:rPr>
              <a:t>Simple-security property (read-down)</a:t>
            </a:r>
          </a:p>
          <a:p>
            <a:pPr lvl="1"/>
            <a:r>
              <a:rPr lang="en-US" dirty="0"/>
              <a:t>Subject S can read object O only if </a:t>
            </a:r>
            <a:r>
              <a:rPr lang="en-US" dirty="0">
                <a:sym typeface="Wingdings" pitchFamily="2" charset="2"/>
              </a:rPr>
              <a:t>label(O) is lower than or the same as label(S). </a:t>
            </a:r>
          </a:p>
          <a:p>
            <a:pPr lvl="1"/>
            <a:endParaRPr lang="en-US" dirty="0">
              <a:sym typeface="Wingdings" pitchFamily="2" charset="2"/>
            </a:endParaRPr>
          </a:p>
          <a:p>
            <a:pPr lvl="1"/>
            <a:endParaRPr lang="en-US" dirty="0"/>
          </a:p>
          <a:p>
            <a:r>
              <a:rPr lang="en-US" dirty="0">
                <a:solidFill>
                  <a:srgbClr val="002060"/>
                </a:solidFill>
              </a:rPr>
              <a:t>Star-property (write-up)</a:t>
            </a:r>
          </a:p>
          <a:p>
            <a:pPr lvl="1"/>
            <a:r>
              <a:rPr lang="en-US" dirty="0"/>
              <a:t>Subject S can write object O only if </a:t>
            </a:r>
            <a:r>
              <a:rPr lang="en-US" dirty="0">
                <a:sym typeface="Wingdings" pitchFamily="2" charset="2"/>
              </a:rPr>
              <a:t> label(O) is higher than or the same as label(S).</a:t>
            </a:r>
            <a:endParaRPr lang="en-US" dirty="0"/>
          </a:p>
        </p:txBody>
      </p:sp>
      <p:grpSp>
        <p:nvGrpSpPr>
          <p:cNvPr id="6" name="Group 5">
            <a:extLst>
              <a:ext uri="{FF2B5EF4-FFF2-40B4-BE49-F238E27FC236}">
                <a16:creationId xmlns:a16="http://schemas.microsoft.com/office/drawing/2014/main" id="{BD008B7B-2DF6-E548-861F-D33BA0F6D11E}"/>
              </a:ext>
            </a:extLst>
          </p:cNvPr>
          <p:cNvGrpSpPr/>
          <p:nvPr/>
        </p:nvGrpSpPr>
        <p:grpSpPr>
          <a:xfrm>
            <a:off x="7113319" y="1339588"/>
            <a:ext cx="4146861" cy="4572001"/>
            <a:chOff x="6400800" y="1600200"/>
            <a:chExt cx="4146861" cy="4572001"/>
          </a:xfrm>
        </p:grpSpPr>
        <p:sp>
          <p:nvSpPr>
            <p:cNvPr id="37" name="Text Box 5">
              <a:extLst>
                <a:ext uri="{FF2B5EF4-FFF2-40B4-BE49-F238E27FC236}">
                  <a16:creationId xmlns:a16="http://schemas.microsoft.com/office/drawing/2014/main" id="{2F5DD725-A938-5348-A8E7-D4BA51C0A0E0}"/>
                </a:ext>
              </a:extLst>
            </p:cNvPr>
            <p:cNvSpPr txBox="1">
              <a:spLocks noChangeArrowheads="1"/>
            </p:cNvSpPr>
            <p:nvPr/>
          </p:nvSpPr>
          <p:spPr bwMode="auto">
            <a:xfrm>
              <a:off x="8077200" y="1600200"/>
              <a:ext cx="12954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Label(S)</a:t>
              </a:r>
            </a:p>
          </p:txBody>
        </p:sp>
        <p:sp>
          <p:nvSpPr>
            <p:cNvPr id="38" name="Text Box 6">
              <a:extLst>
                <a:ext uri="{FF2B5EF4-FFF2-40B4-BE49-F238E27FC236}">
                  <a16:creationId xmlns:a16="http://schemas.microsoft.com/office/drawing/2014/main" id="{2F69A4A5-1CCC-CE47-9C7A-6FFD69FD50E5}"/>
                </a:ext>
              </a:extLst>
            </p:cNvPr>
            <p:cNvSpPr txBox="1">
              <a:spLocks noChangeArrowheads="1"/>
            </p:cNvSpPr>
            <p:nvPr/>
          </p:nvSpPr>
          <p:spPr bwMode="auto">
            <a:xfrm>
              <a:off x="8077200" y="3124200"/>
              <a:ext cx="13716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Label(O)</a:t>
              </a:r>
            </a:p>
          </p:txBody>
        </p:sp>
        <p:sp>
          <p:nvSpPr>
            <p:cNvPr id="39" name="Line 7">
              <a:extLst>
                <a:ext uri="{FF2B5EF4-FFF2-40B4-BE49-F238E27FC236}">
                  <a16:creationId xmlns:a16="http://schemas.microsoft.com/office/drawing/2014/main" id="{965FDE9B-03D4-C149-B681-6D29CA3DAB1D}"/>
                </a:ext>
              </a:extLst>
            </p:cNvPr>
            <p:cNvSpPr>
              <a:spLocks noChangeShapeType="1"/>
            </p:cNvSpPr>
            <p:nvPr/>
          </p:nvSpPr>
          <p:spPr bwMode="auto">
            <a:xfrm flipV="1">
              <a:off x="8686800" y="2133600"/>
              <a:ext cx="0" cy="990600"/>
            </a:xfrm>
            <a:prstGeom prst="line">
              <a:avLst/>
            </a:prstGeom>
            <a:noFill/>
            <a:ln w="38100">
              <a:solidFill>
                <a:srgbClr val="008000"/>
              </a:solidFill>
              <a:round/>
              <a:headEnd/>
              <a:tailEnd type="triangle" w="med" len="med"/>
            </a:ln>
            <a:effectLst/>
          </p:spPr>
          <p:txBody>
            <a:bodyPr/>
            <a:lstStyle/>
            <a:p>
              <a:pPr defTabSz="914400" fontAlgn="base">
                <a:spcBef>
                  <a:spcPct val="0"/>
                </a:spcBef>
                <a:spcAft>
                  <a:spcPct val="0"/>
                </a:spcAft>
              </a:pPr>
              <a:endParaRPr lang="en-US" sz="2400">
                <a:solidFill>
                  <a:srgbClr val="000000"/>
                </a:solidFill>
                <a:latin typeface="Times New Roman" pitchFamily="18" charset="0"/>
              </a:endParaRPr>
            </a:p>
          </p:txBody>
        </p:sp>
        <p:sp>
          <p:nvSpPr>
            <p:cNvPr id="40" name="Text Box 8">
              <a:extLst>
                <a:ext uri="{FF2B5EF4-FFF2-40B4-BE49-F238E27FC236}">
                  <a16:creationId xmlns:a16="http://schemas.microsoft.com/office/drawing/2014/main" id="{77268D99-EDE9-E846-94DE-BF65CDED20ED}"/>
                </a:ext>
              </a:extLst>
            </p:cNvPr>
            <p:cNvSpPr txBox="1">
              <a:spLocks noChangeArrowheads="1"/>
            </p:cNvSpPr>
            <p:nvPr/>
          </p:nvSpPr>
          <p:spPr bwMode="auto">
            <a:xfrm>
              <a:off x="7162800" y="2362200"/>
              <a:ext cx="14478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dirty="0">
                  <a:solidFill>
                    <a:srgbClr val="339966"/>
                  </a:solidFill>
                  <a:latin typeface="Times New Roman" pitchFamily="18" charset="0"/>
                </a:rPr>
                <a:t>allowed</a:t>
              </a:r>
            </a:p>
          </p:txBody>
        </p:sp>
        <p:sp>
          <p:nvSpPr>
            <p:cNvPr id="41" name="Text Box 9">
              <a:extLst>
                <a:ext uri="{FF2B5EF4-FFF2-40B4-BE49-F238E27FC236}">
                  <a16:creationId xmlns:a16="http://schemas.microsoft.com/office/drawing/2014/main" id="{56A3C51D-8C5C-CA42-AFF5-1F75C96ECCCA}"/>
                </a:ext>
              </a:extLst>
            </p:cNvPr>
            <p:cNvSpPr txBox="1">
              <a:spLocks noChangeArrowheads="1"/>
            </p:cNvSpPr>
            <p:nvPr/>
          </p:nvSpPr>
          <p:spPr bwMode="auto">
            <a:xfrm>
              <a:off x="8077200" y="4191000"/>
              <a:ext cx="13716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Label(O)</a:t>
              </a:r>
            </a:p>
          </p:txBody>
        </p:sp>
        <p:sp>
          <p:nvSpPr>
            <p:cNvPr id="42" name="Text Box 10">
              <a:extLst>
                <a:ext uri="{FF2B5EF4-FFF2-40B4-BE49-F238E27FC236}">
                  <a16:creationId xmlns:a16="http://schemas.microsoft.com/office/drawing/2014/main" id="{ABF8B84B-953A-D348-A3D7-7BE11B3C8885}"/>
                </a:ext>
              </a:extLst>
            </p:cNvPr>
            <p:cNvSpPr txBox="1">
              <a:spLocks noChangeArrowheads="1"/>
            </p:cNvSpPr>
            <p:nvPr/>
          </p:nvSpPr>
          <p:spPr bwMode="auto">
            <a:xfrm>
              <a:off x="8077200" y="5715000"/>
              <a:ext cx="13716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a:solidFill>
                    <a:srgbClr val="000000"/>
                  </a:solidFill>
                  <a:latin typeface="Times New Roman" pitchFamily="18" charset="0"/>
                </a:rPr>
                <a:t>Label(S)</a:t>
              </a:r>
            </a:p>
          </p:txBody>
        </p:sp>
        <p:sp>
          <p:nvSpPr>
            <p:cNvPr id="43" name="Line 11">
              <a:extLst>
                <a:ext uri="{FF2B5EF4-FFF2-40B4-BE49-F238E27FC236}">
                  <a16:creationId xmlns:a16="http://schemas.microsoft.com/office/drawing/2014/main" id="{BEB7DCDB-BE21-0544-BB76-56DFE8A91A16}"/>
                </a:ext>
              </a:extLst>
            </p:cNvPr>
            <p:cNvSpPr>
              <a:spLocks noChangeShapeType="1"/>
            </p:cNvSpPr>
            <p:nvPr/>
          </p:nvSpPr>
          <p:spPr bwMode="auto">
            <a:xfrm flipV="1">
              <a:off x="8686800" y="4724400"/>
              <a:ext cx="0" cy="990600"/>
            </a:xfrm>
            <a:prstGeom prst="line">
              <a:avLst/>
            </a:prstGeom>
            <a:noFill/>
            <a:ln w="38100">
              <a:solidFill>
                <a:srgbClr val="008000"/>
              </a:solidFill>
              <a:round/>
              <a:headEnd/>
              <a:tailEnd type="triangle" w="med" len="med"/>
            </a:ln>
            <a:effectLst/>
          </p:spPr>
          <p:txBody>
            <a:bodyPr/>
            <a:lstStyle/>
            <a:p>
              <a:pPr defTabSz="914400" fontAlgn="base">
                <a:spcBef>
                  <a:spcPct val="0"/>
                </a:spcBef>
                <a:spcAft>
                  <a:spcPct val="0"/>
                </a:spcAft>
              </a:pPr>
              <a:endParaRPr lang="en-US" sz="2400">
                <a:solidFill>
                  <a:srgbClr val="000000"/>
                </a:solidFill>
                <a:latin typeface="Times New Roman" pitchFamily="18" charset="0"/>
              </a:endParaRPr>
            </a:p>
          </p:txBody>
        </p:sp>
        <p:sp>
          <p:nvSpPr>
            <p:cNvPr id="44" name="Text Box 12">
              <a:extLst>
                <a:ext uri="{FF2B5EF4-FFF2-40B4-BE49-F238E27FC236}">
                  <a16:creationId xmlns:a16="http://schemas.microsoft.com/office/drawing/2014/main" id="{F96F2711-8FAF-1642-8632-4B937DCB9158}"/>
                </a:ext>
              </a:extLst>
            </p:cNvPr>
            <p:cNvSpPr txBox="1">
              <a:spLocks noChangeArrowheads="1"/>
            </p:cNvSpPr>
            <p:nvPr/>
          </p:nvSpPr>
          <p:spPr bwMode="auto">
            <a:xfrm>
              <a:off x="7162800" y="4953000"/>
              <a:ext cx="1371600" cy="45720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sz="2400" dirty="0">
                  <a:solidFill>
                    <a:srgbClr val="339966"/>
                  </a:solidFill>
                  <a:latin typeface="Times New Roman" pitchFamily="18" charset="0"/>
                </a:rPr>
                <a:t>allowed </a:t>
              </a:r>
            </a:p>
          </p:txBody>
        </p:sp>
        <p:sp>
          <p:nvSpPr>
            <p:cNvPr id="45" name="Text Box 13">
              <a:extLst>
                <a:ext uri="{FF2B5EF4-FFF2-40B4-BE49-F238E27FC236}">
                  <a16:creationId xmlns:a16="http://schemas.microsoft.com/office/drawing/2014/main" id="{284B2033-5F65-3C41-87B3-1C35E2821D57}"/>
                </a:ext>
              </a:extLst>
            </p:cNvPr>
            <p:cNvSpPr txBox="1">
              <a:spLocks noChangeArrowheads="1"/>
            </p:cNvSpPr>
            <p:nvPr/>
          </p:nvSpPr>
          <p:spPr bwMode="auto">
            <a:xfrm>
              <a:off x="6400800" y="1600200"/>
              <a:ext cx="1371600" cy="406400"/>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imes New Roman" pitchFamily="18" charset="0"/>
                </a:rPr>
                <a:t>Read down</a:t>
              </a:r>
            </a:p>
          </p:txBody>
        </p:sp>
        <p:sp>
          <p:nvSpPr>
            <p:cNvPr id="46" name="Text Box 14">
              <a:extLst>
                <a:ext uri="{FF2B5EF4-FFF2-40B4-BE49-F238E27FC236}">
                  <a16:creationId xmlns:a16="http://schemas.microsoft.com/office/drawing/2014/main" id="{1DA0DD79-0953-5440-8B87-045E4DC880BE}"/>
                </a:ext>
              </a:extLst>
            </p:cNvPr>
            <p:cNvSpPr txBox="1">
              <a:spLocks noChangeArrowheads="1"/>
            </p:cNvSpPr>
            <p:nvPr/>
          </p:nvSpPr>
          <p:spPr bwMode="auto">
            <a:xfrm>
              <a:off x="6400800" y="4013200"/>
              <a:ext cx="1371600" cy="406400"/>
            </a:xfrm>
            <a:prstGeom prst="rect">
              <a:avLst/>
            </a:prstGeom>
            <a:noFill/>
            <a:ln w="9525">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imes New Roman" pitchFamily="18" charset="0"/>
                </a:rPr>
                <a:t>Write up</a:t>
              </a:r>
            </a:p>
          </p:txBody>
        </p:sp>
        <p:sp>
          <p:nvSpPr>
            <p:cNvPr id="47" name="TextBox 46">
              <a:extLst>
                <a:ext uri="{FF2B5EF4-FFF2-40B4-BE49-F238E27FC236}">
                  <a16:creationId xmlns:a16="http://schemas.microsoft.com/office/drawing/2014/main" id="{C0CD858E-D4D0-EA4D-8C07-DB1A5CC57574}"/>
                </a:ext>
              </a:extLst>
            </p:cNvPr>
            <p:cNvSpPr txBox="1"/>
            <p:nvPr/>
          </p:nvSpPr>
          <p:spPr>
            <a:xfrm>
              <a:off x="9753601" y="1676401"/>
              <a:ext cx="768159" cy="461665"/>
            </a:xfrm>
            <a:prstGeom prst="rect">
              <a:avLst/>
            </a:prstGeom>
            <a:gradFill rotWithShape="1">
              <a:gsLst>
                <a:gs pos="0">
                  <a:srgbClr val="2D2D8A">
                    <a:tint val="50000"/>
                    <a:satMod val="300000"/>
                  </a:srgbClr>
                </a:gs>
                <a:gs pos="35000">
                  <a:srgbClr val="2D2D8A">
                    <a:tint val="37000"/>
                    <a:satMod val="300000"/>
                  </a:srgbClr>
                </a:gs>
                <a:gs pos="100000">
                  <a:srgbClr val="2D2D8A">
                    <a:tint val="15000"/>
                    <a:satMod val="350000"/>
                  </a:srgbClr>
                </a:gs>
              </a:gsLst>
              <a:lin ang="16200000" scaled="1"/>
            </a:gradFill>
            <a:ln w="9525" cap="flat" cmpd="sng" algn="ctr">
              <a:solidFill>
                <a:srgbClr val="2D2D8A">
                  <a:shade val="95000"/>
                  <a:satMod val="105000"/>
                </a:srgbClr>
              </a:solidFill>
              <a:prstDash val="solid"/>
            </a:ln>
            <a:effectLst>
              <a:outerShdw blurRad="40000" dist="20000" dir="5400000" rotWithShape="0">
                <a:srgbClr val="000000">
                  <a:alpha val="38000"/>
                </a:srgbClr>
              </a:outerShdw>
            </a:effectLst>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ea typeface="+mn-ea"/>
                  <a:cs typeface="+mn-cs"/>
                </a:rPr>
                <a:t>high</a:t>
              </a:r>
            </a:p>
          </p:txBody>
        </p:sp>
        <p:sp>
          <p:nvSpPr>
            <p:cNvPr id="48" name="TextBox 47">
              <a:extLst>
                <a:ext uri="{FF2B5EF4-FFF2-40B4-BE49-F238E27FC236}">
                  <a16:creationId xmlns:a16="http://schemas.microsoft.com/office/drawing/2014/main" id="{E76F4930-223B-BA40-9F68-FAE30AE24B89}"/>
                </a:ext>
              </a:extLst>
            </p:cNvPr>
            <p:cNvSpPr txBox="1"/>
            <p:nvPr/>
          </p:nvSpPr>
          <p:spPr>
            <a:xfrm>
              <a:off x="9779502" y="4191001"/>
              <a:ext cx="768159" cy="461665"/>
            </a:xfrm>
            <a:prstGeom prst="rect">
              <a:avLst/>
            </a:prstGeom>
            <a:gradFill rotWithShape="1">
              <a:gsLst>
                <a:gs pos="0">
                  <a:srgbClr val="2D2D8A">
                    <a:tint val="50000"/>
                    <a:satMod val="300000"/>
                  </a:srgbClr>
                </a:gs>
                <a:gs pos="35000">
                  <a:srgbClr val="2D2D8A">
                    <a:tint val="37000"/>
                    <a:satMod val="300000"/>
                  </a:srgbClr>
                </a:gs>
                <a:gs pos="100000">
                  <a:srgbClr val="2D2D8A">
                    <a:tint val="15000"/>
                    <a:satMod val="350000"/>
                  </a:srgbClr>
                </a:gs>
              </a:gsLst>
              <a:lin ang="16200000" scaled="1"/>
            </a:gradFill>
            <a:ln w="9525" cap="flat" cmpd="sng" algn="ctr">
              <a:solidFill>
                <a:srgbClr val="2D2D8A">
                  <a:shade val="95000"/>
                  <a:satMod val="105000"/>
                </a:srgbClr>
              </a:solidFill>
              <a:prstDash val="solid"/>
            </a:ln>
            <a:effectLst>
              <a:outerShdw blurRad="40000" dist="20000" dir="5400000" rotWithShape="0">
                <a:srgbClr val="000000">
                  <a:alpha val="38000"/>
                </a:srgbClr>
              </a:outerShdw>
            </a:effectLst>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ea typeface="+mn-ea"/>
                  <a:cs typeface="+mn-cs"/>
                </a:rPr>
                <a:t>high</a:t>
              </a:r>
            </a:p>
          </p:txBody>
        </p:sp>
        <p:sp>
          <p:nvSpPr>
            <p:cNvPr id="49" name="TextBox 48">
              <a:extLst>
                <a:ext uri="{FF2B5EF4-FFF2-40B4-BE49-F238E27FC236}">
                  <a16:creationId xmlns:a16="http://schemas.microsoft.com/office/drawing/2014/main" id="{DA07AEC9-09FD-8C4B-A16B-544A43E154FA}"/>
                </a:ext>
              </a:extLst>
            </p:cNvPr>
            <p:cNvSpPr txBox="1"/>
            <p:nvPr/>
          </p:nvSpPr>
          <p:spPr>
            <a:xfrm>
              <a:off x="9779502" y="3124201"/>
              <a:ext cx="646331" cy="461665"/>
            </a:xfrm>
            <a:prstGeom prst="rect">
              <a:avLst/>
            </a:prstGeom>
            <a:gradFill rotWithShape="1">
              <a:gsLst>
                <a:gs pos="0">
                  <a:srgbClr val="DAEDEF">
                    <a:tint val="50000"/>
                    <a:satMod val="300000"/>
                  </a:srgbClr>
                </a:gs>
                <a:gs pos="35000">
                  <a:srgbClr val="DAEDEF">
                    <a:tint val="37000"/>
                    <a:satMod val="300000"/>
                  </a:srgbClr>
                </a:gs>
                <a:gs pos="100000">
                  <a:srgbClr val="DAEDEF">
                    <a:tint val="15000"/>
                    <a:satMod val="350000"/>
                  </a:srgbClr>
                </a:gs>
              </a:gsLst>
              <a:lin ang="16200000" scaled="1"/>
            </a:gradFill>
            <a:ln w="9525" cap="flat" cmpd="sng" algn="ctr">
              <a:solidFill>
                <a:srgbClr val="DAEDEF">
                  <a:shade val="95000"/>
                  <a:satMod val="105000"/>
                </a:srgbClr>
              </a:solidFill>
              <a:prstDash val="solid"/>
            </a:ln>
            <a:effectLst>
              <a:outerShdw blurRad="40000" dist="20000" dir="5400000" rotWithShape="0">
                <a:srgbClr val="000000">
                  <a:alpha val="38000"/>
                </a:srgbClr>
              </a:outerShdw>
            </a:effectLst>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ea typeface="+mn-ea"/>
                  <a:cs typeface="+mn-cs"/>
                </a:rPr>
                <a:t>low</a:t>
              </a:r>
            </a:p>
          </p:txBody>
        </p:sp>
        <p:sp>
          <p:nvSpPr>
            <p:cNvPr id="50" name="TextBox 49">
              <a:extLst>
                <a:ext uri="{FF2B5EF4-FFF2-40B4-BE49-F238E27FC236}">
                  <a16:creationId xmlns:a16="http://schemas.microsoft.com/office/drawing/2014/main" id="{A706F1D9-11A7-934A-B75C-8FAF0A2400CF}"/>
                </a:ext>
              </a:extLst>
            </p:cNvPr>
            <p:cNvSpPr txBox="1"/>
            <p:nvPr/>
          </p:nvSpPr>
          <p:spPr>
            <a:xfrm>
              <a:off x="9779502" y="5710536"/>
              <a:ext cx="646331" cy="461665"/>
            </a:xfrm>
            <a:prstGeom prst="rect">
              <a:avLst/>
            </a:prstGeom>
            <a:gradFill rotWithShape="1">
              <a:gsLst>
                <a:gs pos="0">
                  <a:srgbClr val="DAEDEF">
                    <a:tint val="50000"/>
                    <a:satMod val="300000"/>
                  </a:srgbClr>
                </a:gs>
                <a:gs pos="35000">
                  <a:srgbClr val="DAEDEF">
                    <a:tint val="37000"/>
                    <a:satMod val="300000"/>
                  </a:srgbClr>
                </a:gs>
                <a:gs pos="100000">
                  <a:srgbClr val="DAEDEF">
                    <a:tint val="15000"/>
                    <a:satMod val="350000"/>
                  </a:srgbClr>
                </a:gs>
              </a:gsLst>
              <a:lin ang="16200000" scaled="1"/>
            </a:gradFill>
            <a:ln w="9525" cap="flat" cmpd="sng" algn="ctr">
              <a:solidFill>
                <a:srgbClr val="DAEDEF">
                  <a:shade val="95000"/>
                  <a:satMod val="105000"/>
                </a:srgbClr>
              </a:solidFill>
              <a:prstDash val="solid"/>
            </a:ln>
            <a:effectLst>
              <a:outerShdw blurRad="40000" dist="20000" dir="5400000" rotWithShape="0">
                <a:srgbClr val="000000">
                  <a:alpha val="38000"/>
                </a:srgbClr>
              </a:outerShdw>
            </a:effectLst>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ea typeface="+mn-ea"/>
                  <a:cs typeface="+mn-cs"/>
                </a:rPr>
                <a:t>low</a:t>
              </a:r>
            </a:p>
          </p:txBody>
        </p:sp>
      </p:grpSp>
    </p:spTree>
    <p:extLst>
      <p:ext uri="{BB962C8B-B14F-4D97-AF65-F5344CB8AC3E}">
        <p14:creationId xmlns:p14="http://schemas.microsoft.com/office/powerpoint/2010/main" val="10397023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title"/>
          </p:nvPr>
        </p:nvSpPr>
        <p:spPr/>
        <p:txBody>
          <a:bodyPr/>
          <a:lstStyle/>
          <a:p>
            <a:r>
              <a:rPr lang="en-US" dirty="0"/>
              <a:t>BLP Model (2)</a:t>
            </a:r>
          </a:p>
        </p:txBody>
      </p:sp>
      <p:sp>
        <p:nvSpPr>
          <p:cNvPr id="4" name="Text Placeholder 3">
            <a:extLst>
              <a:ext uri="{FF2B5EF4-FFF2-40B4-BE49-F238E27FC236}">
                <a16:creationId xmlns:a16="http://schemas.microsoft.com/office/drawing/2014/main" id="{8152B68F-FC6D-664B-A874-2FC968AD1C42}"/>
              </a:ext>
            </a:extLst>
          </p:cNvPr>
          <p:cNvSpPr>
            <a:spLocks noGrp="1"/>
          </p:cNvSpPr>
          <p:nvPr>
            <p:ph type="body" idx="11"/>
          </p:nvPr>
        </p:nvSpPr>
        <p:spPr/>
        <p:txBody>
          <a:bodyPr/>
          <a:lstStyle/>
          <a:p>
            <a:endParaRPr lang="en-US"/>
          </a:p>
        </p:txBody>
      </p:sp>
      <p:sp>
        <p:nvSpPr>
          <p:cNvPr id="551939" name="Rectangle 3"/>
          <p:cNvSpPr>
            <a:spLocks noGrp="1" noChangeArrowheads="1"/>
          </p:cNvSpPr>
          <p:nvPr>
            <p:ph idx="1"/>
          </p:nvPr>
        </p:nvSpPr>
        <p:spPr/>
        <p:txBody>
          <a:bodyPr/>
          <a:lstStyle/>
          <a:p>
            <a:r>
              <a:rPr lang="en-US" dirty="0"/>
              <a:t>Note</a:t>
            </a:r>
          </a:p>
          <a:p>
            <a:pPr lvl="1"/>
            <a:r>
              <a:rPr lang="en-US" altLang="en-US" dirty="0">
                <a:ea typeface="Tahoma" panose="020B0604030504040204" pitchFamily="34" charset="0"/>
                <a:cs typeface="Tahoma" panose="020B0604030504040204" pitchFamily="34" charset="0"/>
              </a:rPr>
              <a:t>ACL: AC decisions are made based on principals</a:t>
            </a:r>
          </a:p>
          <a:p>
            <a:pPr lvl="1"/>
            <a:r>
              <a:rPr lang="en-US" altLang="en-US" dirty="0">
                <a:ea typeface="Tahoma" panose="020B0604030504040204" pitchFamily="34" charset="0"/>
                <a:cs typeface="Tahoma" panose="020B0604030504040204" pitchFamily="34" charset="0"/>
              </a:rPr>
              <a:t>ACL + BLP: AC decisions are made based on principals + security labels of subjects and objects</a:t>
            </a:r>
          </a:p>
          <a:p>
            <a:pPr lvl="2"/>
            <a:endParaRPr lang="en-US" dirty="0"/>
          </a:p>
          <a:p>
            <a:pPr lvl="1"/>
            <a:r>
              <a:rPr lang="en-US" dirty="0"/>
              <a:t>Star-property prevents information leakage caused by Trojan horses.</a:t>
            </a:r>
          </a:p>
          <a:p>
            <a:pPr lvl="2"/>
            <a:r>
              <a:rPr lang="en-US" dirty="0"/>
              <a:t>Why – see next slide</a:t>
            </a:r>
          </a:p>
        </p:txBody>
      </p:sp>
    </p:spTree>
    <p:extLst>
      <p:ext uri="{BB962C8B-B14F-4D97-AF65-F5344CB8AC3E}">
        <p14:creationId xmlns:p14="http://schemas.microsoft.com/office/powerpoint/2010/main" val="4031285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title"/>
          </p:nvPr>
        </p:nvSpPr>
        <p:spPr/>
        <p:txBody>
          <a:bodyPr/>
          <a:lstStyle/>
          <a:p>
            <a:r>
              <a:rPr lang="en-US" dirty="0"/>
              <a:t>BLP Model (3)</a:t>
            </a:r>
          </a:p>
        </p:txBody>
      </p:sp>
      <p:sp>
        <p:nvSpPr>
          <p:cNvPr id="2" name="Text Placeholder 1">
            <a:extLst>
              <a:ext uri="{FF2B5EF4-FFF2-40B4-BE49-F238E27FC236}">
                <a16:creationId xmlns:a16="http://schemas.microsoft.com/office/drawing/2014/main" id="{B532D711-44C9-B961-5B80-3D443265F7B2}"/>
              </a:ext>
            </a:extLst>
          </p:cNvPr>
          <p:cNvSpPr>
            <a:spLocks noGrp="1"/>
          </p:cNvSpPr>
          <p:nvPr>
            <p:ph type="body" idx="11"/>
          </p:nvPr>
        </p:nvSpPr>
        <p:spPr/>
        <p:txBody>
          <a:bodyPr/>
          <a:lstStyle/>
          <a:p>
            <a:endParaRPr lang="en-US"/>
          </a:p>
        </p:txBody>
      </p:sp>
      <p:sp>
        <p:nvSpPr>
          <p:cNvPr id="553987" name="Rectangle 3"/>
          <p:cNvSpPr>
            <a:spLocks noGrp="1" noChangeArrowheads="1"/>
          </p:cNvSpPr>
          <p:nvPr>
            <p:ph idx="1"/>
          </p:nvPr>
        </p:nvSpPr>
        <p:spPr/>
        <p:txBody>
          <a:bodyPr>
            <a:normAutofit/>
          </a:bodyPr>
          <a:lstStyle/>
          <a:p>
            <a:r>
              <a:rPr lang="en-US" dirty="0"/>
              <a:t>DAC:</a:t>
            </a:r>
          </a:p>
          <a:p>
            <a:endParaRPr lang="en-US" dirty="0"/>
          </a:p>
          <a:p>
            <a:endParaRPr lang="en-US" dirty="0"/>
          </a:p>
          <a:p>
            <a:endParaRPr lang="en-US" dirty="0"/>
          </a:p>
          <a:p>
            <a:endParaRPr lang="en-US" dirty="0"/>
          </a:p>
          <a:p>
            <a:r>
              <a:rPr lang="en-US" dirty="0"/>
              <a:t>MAC with BLP:</a:t>
            </a:r>
          </a:p>
        </p:txBody>
      </p:sp>
      <p:grpSp>
        <p:nvGrpSpPr>
          <p:cNvPr id="5" name="Group 4">
            <a:extLst>
              <a:ext uri="{FF2B5EF4-FFF2-40B4-BE49-F238E27FC236}">
                <a16:creationId xmlns:a16="http://schemas.microsoft.com/office/drawing/2014/main" id="{54171B0D-96E4-9E4B-B34C-C281CDD28F03}"/>
              </a:ext>
            </a:extLst>
          </p:cNvPr>
          <p:cNvGrpSpPr/>
          <p:nvPr/>
        </p:nvGrpSpPr>
        <p:grpSpPr>
          <a:xfrm>
            <a:off x="2057400" y="1622425"/>
            <a:ext cx="7620000" cy="4565650"/>
            <a:chOff x="2057400" y="1828800"/>
            <a:chExt cx="7620000" cy="4565650"/>
          </a:xfrm>
        </p:grpSpPr>
        <p:sp>
          <p:nvSpPr>
            <p:cNvPr id="553988" name="Text Box 4"/>
            <p:cNvSpPr txBox="1">
              <a:spLocks noChangeArrowheads="1"/>
            </p:cNvSpPr>
            <p:nvPr/>
          </p:nvSpPr>
          <p:spPr bwMode="auto">
            <a:xfrm>
              <a:off x="7315200" y="2057401"/>
              <a:ext cx="990600" cy="466725"/>
            </a:xfrm>
            <a:prstGeom prst="rect">
              <a:avLst/>
            </a:prstGeom>
            <a:noFill/>
            <a:ln w="9525">
              <a:solidFill>
                <a:schemeClr val="tx1"/>
              </a:solidFill>
              <a:miter lim="800000"/>
              <a:headEnd/>
              <a:tailEnd/>
            </a:ln>
            <a:effectLst/>
          </p:spPr>
          <p:txBody>
            <a:bodyPr>
              <a:spAutoFit/>
            </a:bodyPr>
            <a:lstStyle/>
            <a:p>
              <a:pPr>
                <a:spcBef>
                  <a:spcPct val="50000"/>
                </a:spcBef>
              </a:pPr>
              <a:r>
                <a:rPr lang="en-US"/>
                <a:t>File F</a:t>
              </a:r>
            </a:p>
          </p:txBody>
        </p:sp>
        <p:sp>
          <p:nvSpPr>
            <p:cNvPr id="553989" name="Text Box 5"/>
            <p:cNvSpPr txBox="1">
              <a:spLocks noChangeArrowheads="1"/>
            </p:cNvSpPr>
            <p:nvPr/>
          </p:nvSpPr>
          <p:spPr bwMode="auto">
            <a:xfrm>
              <a:off x="7315200" y="3276601"/>
              <a:ext cx="990600" cy="466725"/>
            </a:xfrm>
            <a:prstGeom prst="rect">
              <a:avLst/>
            </a:prstGeom>
            <a:noFill/>
            <a:ln w="9525">
              <a:solidFill>
                <a:schemeClr val="tx1"/>
              </a:solidFill>
              <a:miter lim="800000"/>
              <a:headEnd/>
              <a:tailEnd/>
            </a:ln>
            <a:effectLst/>
          </p:spPr>
          <p:txBody>
            <a:bodyPr>
              <a:spAutoFit/>
            </a:bodyPr>
            <a:lstStyle/>
            <a:p>
              <a:pPr>
                <a:spcBef>
                  <a:spcPct val="50000"/>
                </a:spcBef>
              </a:pPr>
              <a:r>
                <a:rPr lang="en-US"/>
                <a:t>File G</a:t>
              </a:r>
            </a:p>
          </p:txBody>
        </p:sp>
        <p:sp>
          <p:nvSpPr>
            <p:cNvPr id="553990" name="Text Box 6"/>
            <p:cNvSpPr txBox="1">
              <a:spLocks noChangeArrowheads="1"/>
            </p:cNvSpPr>
            <p:nvPr/>
          </p:nvSpPr>
          <p:spPr bwMode="auto">
            <a:xfrm>
              <a:off x="8915400" y="1905000"/>
              <a:ext cx="762000" cy="831850"/>
            </a:xfrm>
            <a:prstGeom prst="rect">
              <a:avLst/>
            </a:prstGeom>
            <a:noFill/>
            <a:ln w="9525">
              <a:solidFill>
                <a:schemeClr val="tx1"/>
              </a:solidFill>
              <a:miter lim="800000"/>
              <a:headEnd/>
              <a:tailEnd/>
            </a:ln>
            <a:effectLst/>
          </p:spPr>
          <p:txBody>
            <a:bodyPr>
              <a:spAutoFit/>
            </a:bodyPr>
            <a:lstStyle/>
            <a:p>
              <a:pPr>
                <a:spcBef>
                  <a:spcPct val="50000"/>
                </a:spcBef>
              </a:pPr>
              <a:r>
                <a:rPr lang="en-US"/>
                <a:t>U:r U:w</a:t>
              </a:r>
            </a:p>
          </p:txBody>
        </p:sp>
        <p:sp>
          <p:nvSpPr>
            <p:cNvPr id="553991" name="Text Box 7"/>
            <p:cNvSpPr txBox="1">
              <a:spLocks noChangeArrowheads="1"/>
            </p:cNvSpPr>
            <p:nvPr/>
          </p:nvSpPr>
          <p:spPr bwMode="auto">
            <a:xfrm>
              <a:off x="8915400" y="3206750"/>
              <a:ext cx="762000" cy="831850"/>
            </a:xfrm>
            <a:prstGeom prst="rect">
              <a:avLst/>
            </a:prstGeom>
            <a:noFill/>
            <a:ln w="9525">
              <a:solidFill>
                <a:schemeClr val="tx1"/>
              </a:solidFill>
              <a:miter lim="800000"/>
              <a:headEnd/>
              <a:tailEnd/>
            </a:ln>
            <a:effectLst/>
          </p:spPr>
          <p:txBody>
            <a:bodyPr>
              <a:spAutoFit/>
            </a:bodyPr>
            <a:lstStyle/>
            <a:p>
              <a:pPr>
                <a:spcBef>
                  <a:spcPct val="50000"/>
                </a:spcBef>
              </a:pPr>
              <a:r>
                <a:rPr lang="en-US"/>
                <a:t>U:w V:r</a:t>
              </a:r>
            </a:p>
          </p:txBody>
        </p:sp>
        <p:sp>
          <p:nvSpPr>
            <p:cNvPr id="553992" name="Text Box 8"/>
            <p:cNvSpPr txBox="1">
              <a:spLocks noChangeArrowheads="1"/>
            </p:cNvSpPr>
            <p:nvPr/>
          </p:nvSpPr>
          <p:spPr bwMode="auto">
            <a:xfrm>
              <a:off x="2057400" y="1981200"/>
              <a:ext cx="1600200" cy="457200"/>
            </a:xfrm>
            <a:prstGeom prst="rect">
              <a:avLst/>
            </a:prstGeom>
            <a:noFill/>
            <a:ln w="9525">
              <a:noFill/>
              <a:miter lim="800000"/>
              <a:headEnd/>
              <a:tailEnd/>
            </a:ln>
            <a:effectLst/>
          </p:spPr>
          <p:txBody>
            <a:bodyPr>
              <a:spAutoFit/>
            </a:bodyPr>
            <a:lstStyle/>
            <a:p>
              <a:pPr>
                <a:spcBef>
                  <a:spcPct val="50000"/>
                </a:spcBef>
              </a:pPr>
              <a:r>
                <a:rPr lang="en-US"/>
                <a:t>Principal U</a:t>
              </a:r>
            </a:p>
          </p:txBody>
        </p:sp>
        <p:sp>
          <p:nvSpPr>
            <p:cNvPr id="553993" name="Text Box 9"/>
            <p:cNvSpPr txBox="1">
              <a:spLocks noChangeArrowheads="1"/>
            </p:cNvSpPr>
            <p:nvPr/>
          </p:nvSpPr>
          <p:spPr bwMode="auto">
            <a:xfrm>
              <a:off x="4495800" y="3276600"/>
              <a:ext cx="1600200" cy="457200"/>
            </a:xfrm>
            <a:prstGeom prst="rect">
              <a:avLst/>
            </a:prstGeom>
            <a:noFill/>
            <a:ln w="9525">
              <a:noFill/>
              <a:miter lim="800000"/>
              <a:headEnd/>
              <a:tailEnd/>
            </a:ln>
            <a:effectLst/>
          </p:spPr>
          <p:txBody>
            <a:bodyPr>
              <a:spAutoFit/>
            </a:bodyPr>
            <a:lstStyle/>
            <a:p>
              <a:pPr>
                <a:spcBef>
                  <a:spcPct val="50000"/>
                </a:spcBef>
              </a:pPr>
              <a:r>
                <a:rPr lang="en-US" dirty="0"/>
                <a:t>Principal V</a:t>
              </a:r>
            </a:p>
          </p:txBody>
        </p:sp>
        <p:sp>
          <p:nvSpPr>
            <p:cNvPr id="553994" name="Line 10"/>
            <p:cNvSpPr>
              <a:spLocks noChangeShapeType="1"/>
            </p:cNvSpPr>
            <p:nvPr/>
          </p:nvSpPr>
          <p:spPr bwMode="auto">
            <a:xfrm>
              <a:off x="6096000" y="2438400"/>
              <a:ext cx="1219200" cy="990600"/>
            </a:xfrm>
            <a:prstGeom prst="line">
              <a:avLst/>
            </a:prstGeom>
            <a:noFill/>
            <a:ln w="9525">
              <a:solidFill>
                <a:srgbClr val="CC0000"/>
              </a:solidFill>
              <a:round/>
              <a:headEnd/>
              <a:tailEnd type="triangle" w="med" len="med"/>
            </a:ln>
            <a:effectLst/>
          </p:spPr>
          <p:txBody>
            <a:bodyPr/>
            <a:lstStyle/>
            <a:p>
              <a:endParaRPr lang="en-US"/>
            </a:p>
          </p:txBody>
        </p:sp>
        <p:sp>
          <p:nvSpPr>
            <p:cNvPr id="553995" name="Text Box 11"/>
            <p:cNvSpPr txBox="1">
              <a:spLocks noChangeArrowheads="1"/>
            </p:cNvSpPr>
            <p:nvPr/>
          </p:nvSpPr>
          <p:spPr bwMode="auto">
            <a:xfrm rot="2750801">
              <a:off x="6629400" y="2590800"/>
              <a:ext cx="381000" cy="457200"/>
            </a:xfrm>
            <a:prstGeom prst="rect">
              <a:avLst/>
            </a:prstGeom>
            <a:noFill/>
            <a:ln w="9525">
              <a:noFill/>
              <a:miter lim="800000"/>
              <a:headEnd/>
              <a:tailEnd/>
            </a:ln>
            <a:effectLst/>
          </p:spPr>
          <p:txBody>
            <a:bodyPr>
              <a:spAutoFit/>
            </a:bodyPr>
            <a:lstStyle/>
            <a:p>
              <a:pPr>
                <a:spcBef>
                  <a:spcPct val="50000"/>
                </a:spcBef>
              </a:pPr>
              <a:r>
                <a:rPr lang="en-US">
                  <a:solidFill>
                    <a:srgbClr val="CC0000"/>
                  </a:solidFill>
                </a:rPr>
                <a:t>w</a:t>
              </a:r>
            </a:p>
          </p:txBody>
        </p:sp>
        <p:sp>
          <p:nvSpPr>
            <p:cNvPr id="553996" name="Text Box 12"/>
            <p:cNvSpPr txBox="1">
              <a:spLocks noChangeArrowheads="1"/>
            </p:cNvSpPr>
            <p:nvPr/>
          </p:nvSpPr>
          <p:spPr bwMode="auto">
            <a:xfrm>
              <a:off x="6553200" y="3124200"/>
              <a:ext cx="381000" cy="457200"/>
            </a:xfrm>
            <a:prstGeom prst="rect">
              <a:avLst/>
            </a:prstGeom>
            <a:noFill/>
            <a:ln w="9525">
              <a:noFill/>
              <a:miter lim="800000"/>
              <a:headEnd/>
              <a:tailEnd/>
            </a:ln>
            <a:effectLst/>
          </p:spPr>
          <p:txBody>
            <a:bodyPr>
              <a:spAutoFit/>
            </a:bodyPr>
            <a:lstStyle/>
            <a:p>
              <a:pPr>
                <a:spcBef>
                  <a:spcPct val="50000"/>
                </a:spcBef>
              </a:pPr>
              <a:r>
                <a:rPr lang="en-US"/>
                <a:t>r</a:t>
              </a:r>
            </a:p>
          </p:txBody>
        </p:sp>
        <p:sp>
          <p:nvSpPr>
            <p:cNvPr id="553997" name="Line 13"/>
            <p:cNvSpPr>
              <a:spLocks noChangeShapeType="1"/>
            </p:cNvSpPr>
            <p:nvPr/>
          </p:nvSpPr>
          <p:spPr bwMode="auto">
            <a:xfrm flipH="1">
              <a:off x="6019800" y="2286000"/>
              <a:ext cx="1295400" cy="0"/>
            </a:xfrm>
            <a:prstGeom prst="line">
              <a:avLst/>
            </a:prstGeom>
            <a:noFill/>
            <a:ln w="9525">
              <a:solidFill>
                <a:srgbClr val="CC0000"/>
              </a:solidFill>
              <a:round/>
              <a:headEnd/>
              <a:tailEnd type="triangle" w="med" len="med"/>
            </a:ln>
            <a:effectLst/>
          </p:spPr>
          <p:txBody>
            <a:bodyPr/>
            <a:lstStyle/>
            <a:p>
              <a:endParaRPr lang="en-US"/>
            </a:p>
          </p:txBody>
        </p:sp>
        <p:sp>
          <p:nvSpPr>
            <p:cNvPr id="553998" name="Text Box 14"/>
            <p:cNvSpPr txBox="1">
              <a:spLocks noChangeArrowheads="1"/>
            </p:cNvSpPr>
            <p:nvPr/>
          </p:nvSpPr>
          <p:spPr bwMode="auto">
            <a:xfrm>
              <a:off x="6477000" y="1905000"/>
              <a:ext cx="381000" cy="457200"/>
            </a:xfrm>
            <a:prstGeom prst="rect">
              <a:avLst/>
            </a:prstGeom>
            <a:noFill/>
            <a:ln w="9525">
              <a:noFill/>
              <a:miter lim="800000"/>
              <a:headEnd/>
              <a:tailEnd/>
            </a:ln>
            <a:effectLst/>
          </p:spPr>
          <p:txBody>
            <a:bodyPr>
              <a:spAutoFit/>
            </a:bodyPr>
            <a:lstStyle/>
            <a:p>
              <a:pPr>
                <a:spcBef>
                  <a:spcPct val="50000"/>
                </a:spcBef>
              </a:pPr>
              <a:r>
                <a:rPr lang="en-US">
                  <a:solidFill>
                    <a:srgbClr val="CC0000"/>
                  </a:solidFill>
                </a:rPr>
                <a:t>r</a:t>
              </a:r>
            </a:p>
          </p:txBody>
        </p:sp>
        <p:sp>
          <p:nvSpPr>
            <p:cNvPr id="553999" name="Line 15"/>
            <p:cNvSpPr>
              <a:spLocks noChangeShapeType="1"/>
            </p:cNvSpPr>
            <p:nvPr/>
          </p:nvSpPr>
          <p:spPr bwMode="auto">
            <a:xfrm flipH="1">
              <a:off x="6019800" y="3505200"/>
              <a:ext cx="1295400" cy="0"/>
            </a:xfrm>
            <a:prstGeom prst="line">
              <a:avLst/>
            </a:prstGeom>
            <a:noFill/>
            <a:ln w="9525">
              <a:solidFill>
                <a:schemeClr val="tx1"/>
              </a:solidFill>
              <a:round/>
              <a:headEnd/>
              <a:tailEnd type="triangle" w="med" len="med"/>
            </a:ln>
            <a:effectLst/>
          </p:spPr>
          <p:txBody>
            <a:bodyPr/>
            <a:lstStyle/>
            <a:p>
              <a:endParaRPr lang="en-US"/>
            </a:p>
          </p:txBody>
        </p:sp>
        <p:sp>
          <p:nvSpPr>
            <p:cNvPr id="554000" name="Text Box 16"/>
            <p:cNvSpPr txBox="1">
              <a:spLocks noChangeArrowheads="1"/>
            </p:cNvSpPr>
            <p:nvPr/>
          </p:nvSpPr>
          <p:spPr bwMode="auto">
            <a:xfrm>
              <a:off x="4267200" y="2590800"/>
              <a:ext cx="1676400" cy="336550"/>
            </a:xfrm>
            <a:prstGeom prst="rect">
              <a:avLst/>
            </a:prstGeom>
            <a:noFill/>
            <a:ln w="9525">
              <a:noFill/>
              <a:miter lim="800000"/>
              <a:headEnd/>
              <a:tailEnd/>
            </a:ln>
            <a:effectLst/>
          </p:spPr>
          <p:txBody>
            <a:bodyPr>
              <a:spAutoFit/>
            </a:bodyPr>
            <a:lstStyle/>
            <a:p>
              <a:pPr>
                <a:spcBef>
                  <a:spcPct val="50000"/>
                </a:spcBef>
              </a:pPr>
              <a:r>
                <a:rPr lang="en-US" sz="1600"/>
                <a:t>Benign software</a:t>
              </a:r>
            </a:p>
          </p:txBody>
        </p:sp>
        <p:sp>
          <p:nvSpPr>
            <p:cNvPr id="554001" name="Rectangle 17"/>
            <p:cNvSpPr>
              <a:spLocks noChangeArrowheads="1"/>
            </p:cNvSpPr>
            <p:nvPr/>
          </p:nvSpPr>
          <p:spPr bwMode="auto">
            <a:xfrm>
              <a:off x="4267200" y="1981200"/>
              <a:ext cx="1676400" cy="990600"/>
            </a:xfrm>
            <a:prstGeom prst="rect">
              <a:avLst/>
            </a:prstGeom>
            <a:noFill/>
            <a:ln w="9525">
              <a:solidFill>
                <a:schemeClr val="tx1"/>
              </a:solidFill>
              <a:miter lim="800000"/>
              <a:headEnd/>
              <a:tailEnd/>
            </a:ln>
            <a:effectLst/>
          </p:spPr>
          <p:txBody>
            <a:bodyPr wrap="none" anchor="ctr"/>
            <a:lstStyle/>
            <a:p>
              <a:endParaRPr lang="en-US"/>
            </a:p>
          </p:txBody>
        </p:sp>
        <p:sp>
          <p:nvSpPr>
            <p:cNvPr id="554002" name="Text Box 18"/>
            <p:cNvSpPr txBox="1">
              <a:spLocks noChangeArrowheads="1"/>
            </p:cNvSpPr>
            <p:nvPr/>
          </p:nvSpPr>
          <p:spPr bwMode="auto">
            <a:xfrm>
              <a:off x="4648200" y="2168526"/>
              <a:ext cx="1295400" cy="346075"/>
            </a:xfrm>
            <a:prstGeom prst="rect">
              <a:avLst/>
            </a:prstGeom>
            <a:noFill/>
            <a:ln w="9525">
              <a:solidFill>
                <a:srgbClr val="CC0000"/>
              </a:solidFill>
              <a:miter lim="800000"/>
              <a:headEnd/>
              <a:tailEnd/>
            </a:ln>
            <a:effectLst/>
          </p:spPr>
          <p:txBody>
            <a:bodyPr>
              <a:spAutoFit/>
            </a:bodyPr>
            <a:lstStyle/>
            <a:p>
              <a:pPr>
                <a:spcBef>
                  <a:spcPct val="50000"/>
                </a:spcBef>
              </a:pPr>
              <a:r>
                <a:rPr lang="en-US" sz="1600">
                  <a:solidFill>
                    <a:srgbClr val="CC0000"/>
                  </a:solidFill>
                </a:rPr>
                <a:t>Trojan horse</a:t>
              </a:r>
            </a:p>
          </p:txBody>
        </p:sp>
        <p:sp>
          <p:nvSpPr>
            <p:cNvPr id="554003" name="Line 19"/>
            <p:cNvSpPr>
              <a:spLocks noChangeShapeType="1"/>
            </p:cNvSpPr>
            <p:nvPr/>
          </p:nvSpPr>
          <p:spPr bwMode="auto">
            <a:xfrm>
              <a:off x="3581400" y="2209800"/>
              <a:ext cx="685800" cy="0"/>
            </a:xfrm>
            <a:prstGeom prst="line">
              <a:avLst/>
            </a:prstGeom>
            <a:noFill/>
            <a:ln w="9525">
              <a:solidFill>
                <a:schemeClr val="tx1"/>
              </a:solidFill>
              <a:round/>
              <a:headEnd/>
              <a:tailEnd type="triangle" w="med" len="med"/>
            </a:ln>
            <a:effectLst/>
          </p:spPr>
          <p:txBody>
            <a:bodyPr/>
            <a:lstStyle/>
            <a:p>
              <a:endParaRPr lang="en-US"/>
            </a:p>
          </p:txBody>
        </p:sp>
        <p:sp>
          <p:nvSpPr>
            <p:cNvPr id="554004" name="Text Box 20"/>
            <p:cNvSpPr txBox="1">
              <a:spLocks noChangeArrowheads="1"/>
            </p:cNvSpPr>
            <p:nvPr/>
          </p:nvSpPr>
          <p:spPr bwMode="auto">
            <a:xfrm>
              <a:off x="3657600" y="1828800"/>
              <a:ext cx="609600" cy="457200"/>
            </a:xfrm>
            <a:prstGeom prst="rect">
              <a:avLst/>
            </a:prstGeom>
            <a:noFill/>
            <a:ln w="9525">
              <a:noFill/>
              <a:miter lim="800000"/>
              <a:headEnd/>
              <a:tailEnd/>
            </a:ln>
            <a:effectLst/>
          </p:spPr>
          <p:txBody>
            <a:bodyPr>
              <a:spAutoFit/>
            </a:bodyPr>
            <a:lstStyle/>
            <a:p>
              <a:pPr>
                <a:spcBef>
                  <a:spcPct val="50000"/>
                </a:spcBef>
              </a:pPr>
              <a:r>
                <a:rPr lang="en-US"/>
                <a:t>exe</a:t>
              </a:r>
            </a:p>
          </p:txBody>
        </p:sp>
        <p:sp>
          <p:nvSpPr>
            <p:cNvPr id="554005" name="Text Box 21"/>
            <p:cNvSpPr txBox="1">
              <a:spLocks noChangeArrowheads="1"/>
            </p:cNvSpPr>
            <p:nvPr/>
          </p:nvSpPr>
          <p:spPr bwMode="auto">
            <a:xfrm>
              <a:off x="7315200" y="4419601"/>
              <a:ext cx="990600" cy="466725"/>
            </a:xfrm>
            <a:prstGeom prst="rect">
              <a:avLst/>
            </a:prstGeom>
            <a:noFill/>
            <a:ln w="9525">
              <a:solidFill>
                <a:schemeClr val="tx1"/>
              </a:solidFill>
              <a:miter lim="800000"/>
              <a:headEnd/>
              <a:tailEnd/>
            </a:ln>
            <a:effectLst/>
          </p:spPr>
          <p:txBody>
            <a:bodyPr>
              <a:spAutoFit/>
            </a:bodyPr>
            <a:lstStyle/>
            <a:p>
              <a:pPr>
                <a:spcBef>
                  <a:spcPct val="50000"/>
                </a:spcBef>
              </a:pPr>
              <a:r>
                <a:rPr lang="en-US"/>
                <a:t>File F</a:t>
              </a:r>
            </a:p>
          </p:txBody>
        </p:sp>
        <p:sp>
          <p:nvSpPr>
            <p:cNvPr id="554006" name="Text Box 22"/>
            <p:cNvSpPr txBox="1">
              <a:spLocks noChangeArrowheads="1"/>
            </p:cNvSpPr>
            <p:nvPr/>
          </p:nvSpPr>
          <p:spPr bwMode="auto">
            <a:xfrm>
              <a:off x="7315200" y="5638801"/>
              <a:ext cx="990600" cy="466725"/>
            </a:xfrm>
            <a:prstGeom prst="rect">
              <a:avLst/>
            </a:prstGeom>
            <a:noFill/>
            <a:ln w="9525">
              <a:solidFill>
                <a:schemeClr val="tx1"/>
              </a:solidFill>
              <a:miter lim="800000"/>
              <a:headEnd/>
              <a:tailEnd/>
            </a:ln>
            <a:effectLst/>
          </p:spPr>
          <p:txBody>
            <a:bodyPr>
              <a:spAutoFit/>
            </a:bodyPr>
            <a:lstStyle/>
            <a:p>
              <a:pPr>
                <a:spcBef>
                  <a:spcPct val="50000"/>
                </a:spcBef>
              </a:pPr>
              <a:r>
                <a:rPr lang="en-US"/>
                <a:t>File G</a:t>
              </a:r>
            </a:p>
          </p:txBody>
        </p:sp>
        <p:sp>
          <p:nvSpPr>
            <p:cNvPr id="554007" name="Text Box 23"/>
            <p:cNvSpPr txBox="1">
              <a:spLocks noChangeArrowheads="1"/>
            </p:cNvSpPr>
            <p:nvPr/>
          </p:nvSpPr>
          <p:spPr bwMode="auto">
            <a:xfrm>
              <a:off x="8915400" y="4267200"/>
              <a:ext cx="762000" cy="831850"/>
            </a:xfrm>
            <a:prstGeom prst="rect">
              <a:avLst/>
            </a:prstGeom>
            <a:noFill/>
            <a:ln w="9525">
              <a:solidFill>
                <a:schemeClr val="tx1"/>
              </a:solidFill>
              <a:miter lim="800000"/>
              <a:headEnd/>
              <a:tailEnd/>
            </a:ln>
            <a:effectLst/>
          </p:spPr>
          <p:txBody>
            <a:bodyPr>
              <a:spAutoFit/>
            </a:bodyPr>
            <a:lstStyle/>
            <a:p>
              <a:pPr>
                <a:spcBef>
                  <a:spcPct val="50000"/>
                </a:spcBef>
              </a:pPr>
              <a:r>
                <a:rPr lang="en-US"/>
                <a:t>U:r U:w</a:t>
              </a:r>
            </a:p>
          </p:txBody>
        </p:sp>
        <p:sp>
          <p:nvSpPr>
            <p:cNvPr id="554008" name="Text Box 24"/>
            <p:cNvSpPr txBox="1">
              <a:spLocks noChangeArrowheads="1"/>
            </p:cNvSpPr>
            <p:nvPr/>
          </p:nvSpPr>
          <p:spPr bwMode="auto">
            <a:xfrm>
              <a:off x="8915400" y="5562600"/>
              <a:ext cx="762000" cy="831850"/>
            </a:xfrm>
            <a:prstGeom prst="rect">
              <a:avLst/>
            </a:prstGeom>
            <a:noFill/>
            <a:ln w="9525">
              <a:solidFill>
                <a:schemeClr val="tx1"/>
              </a:solidFill>
              <a:miter lim="800000"/>
              <a:headEnd/>
              <a:tailEnd/>
            </a:ln>
            <a:effectLst/>
          </p:spPr>
          <p:txBody>
            <a:bodyPr>
              <a:spAutoFit/>
            </a:bodyPr>
            <a:lstStyle/>
            <a:p>
              <a:pPr>
                <a:spcBef>
                  <a:spcPct val="50000"/>
                </a:spcBef>
              </a:pPr>
              <a:r>
                <a:rPr lang="en-US"/>
                <a:t>U:w V:r</a:t>
              </a:r>
            </a:p>
          </p:txBody>
        </p:sp>
        <p:sp>
          <p:nvSpPr>
            <p:cNvPr id="554009" name="Text Box 25"/>
            <p:cNvSpPr txBox="1">
              <a:spLocks noChangeArrowheads="1"/>
            </p:cNvSpPr>
            <p:nvPr/>
          </p:nvSpPr>
          <p:spPr bwMode="auto">
            <a:xfrm>
              <a:off x="2057400" y="4343400"/>
              <a:ext cx="1600200" cy="457200"/>
            </a:xfrm>
            <a:prstGeom prst="rect">
              <a:avLst/>
            </a:prstGeom>
            <a:noFill/>
            <a:ln w="9525">
              <a:noFill/>
              <a:miter lim="800000"/>
              <a:headEnd/>
              <a:tailEnd/>
            </a:ln>
            <a:effectLst/>
          </p:spPr>
          <p:txBody>
            <a:bodyPr>
              <a:spAutoFit/>
            </a:bodyPr>
            <a:lstStyle/>
            <a:p>
              <a:pPr>
                <a:spcBef>
                  <a:spcPct val="50000"/>
                </a:spcBef>
              </a:pPr>
              <a:r>
                <a:rPr lang="en-US"/>
                <a:t>Principal U</a:t>
              </a:r>
            </a:p>
          </p:txBody>
        </p:sp>
        <p:sp>
          <p:nvSpPr>
            <p:cNvPr id="554010" name="Text Box 26"/>
            <p:cNvSpPr txBox="1">
              <a:spLocks noChangeArrowheads="1"/>
            </p:cNvSpPr>
            <p:nvPr/>
          </p:nvSpPr>
          <p:spPr bwMode="auto">
            <a:xfrm>
              <a:off x="4495800" y="5638800"/>
              <a:ext cx="1600200" cy="457200"/>
            </a:xfrm>
            <a:prstGeom prst="rect">
              <a:avLst/>
            </a:prstGeom>
            <a:noFill/>
            <a:ln w="9525">
              <a:noFill/>
              <a:miter lim="800000"/>
              <a:headEnd/>
              <a:tailEnd/>
            </a:ln>
            <a:effectLst/>
          </p:spPr>
          <p:txBody>
            <a:bodyPr>
              <a:spAutoFit/>
            </a:bodyPr>
            <a:lstStyle/>
            <a:p>
              <a:pPr>
                <a:spcBef>
                  <a:spcPct val="50000"/>
                </a:spcBef>
              </a:pPr>
              <a:r>
                <a:rPr lang="en-US"/>
                <a:t>Principal V</a:t>
              </a:r>
            </a:p>
          </p:txBody>
        </p:sp>
        <p:grpSp>
          <p:nvGrpSpPr>
            <p:cNvPr id="53" name="Group 52"/>
            <p:cNvGrpSpPr/>
            <p:nvPr/>
          </p:nvGrpSpPr>
          <p:grpSpPr>
            <a:xfrm>
              <a:off x="6096000" y="4724400"/>
              <a:ext cx="609600" cy="533400"/>
              <a:chOff x="4572000" y="4724400"/>
              <a:chExt cx="609600" cy="533400"/>
            </a:xfrm>
          </p:grpSpPr>
          <p:sp>
            <p:nvSpPr>
              <p:cNvPr id="554011" name="Line 27"/>
              <p:cNvSpPr>
                <a:spLocks noChangeShapeType="1"/>
              </p:cNvSpPr>
              <p:nvPr/>
            </p:nvSpPr>
            <p:spPr bwMode="auto">
              <a:xfrm>
                <a:off x="4572000" y="4800600"/>
                <a:ext cx="533400" cy="457200"/>
              </a:xfrm>
              <a:prstGeom prst="line">
                <a:avLst/>
              </a:prstGeom>
              <a:noFill/>
              <a:ln w="9525">
                <a:solidFill>
                  <a:srgbClr val="CC0000"/>
                </a:solidFill>
                <a:round/>
                <a:headEnd/>
                <a:tailEnd type="triangle" w="med" len="med"/>
              </a:ln>
              <a:effectLst/>
            </p:spPr>
            <p:txBody>
              <a:bodyPr/>
              <a:lstStyle/>
              <a:p>
                <a:endParaRPr lang="en-US"/>
              </a:p>
            </p:txBody>
          </p:sp>
          <p:sp>
            <p:nvSpPr>
              <p:cNvPr id="554012" name="Text Box 28"/>
              <p:cNvSpPr txBox="1">
                <a:spLocks noChangeArrowheads="1"/>
              </p:cNvSpPr>
              <p:nvPr/>
            </p:nvSpPr>
            <p:spPr bwMode="auto">
              <a:xfrm rot="2750801">
                <a:off x="4762500" y="4686300"/>
                <a:ext cx="381000" cy="457200"/>
              </a:xfrm>
              <a:prstGeom prst="rect">
                <a:avLst/>
              </a:prstGeom>
              <a:noFill/>
              <a:ln w="9525">
                <a:noFill/>
                <a:miter lim="800000"/>
                <a:headEnd/>
                <a:tailEnd/>
              </a:ln>
              <a:effectLst/>
            </p:spPr>
            <p:txBody>
              <a:bodyPr>
                <a:spAutoFit/>
              </a:bodyPr>
              <a:lstStyle/>
              <a:p>
                <a:pPr>
                  <a:spcBef>
                    <a:spcPct val="50000"/>
                  </a:spcBef>
                </a:pPr>
                <a:r>
                  <a:rPr lang="en-US">
                    <a:solidFill>
                      <a:srgbClr val="CC0000"/>
                    </a:solidFill>
                  </a:rPr>
                  <a:t>w</a:t>
                </a:r>
              </a:p>
            </p:txBody>
          </p:sp>
        </p:grpSp>
        <p:sp>
          <p:nvSpPr>
            <p:cNvPr id="554013" name="Text Box 29"/>
            <p:cNvSpPr txBox="1">
              <a:spLocks noChangeArrowheads="1"/>
            </p:cNvSpPr>
            <p:nvPr/>
          </p:nvSpPr>
          <p:spPr bwMode="auto">
            <a:xfrm>
              <a:off x="6553200" y="5486400"/>
              <a:ext cx="381000" cy="457200"/>
            </a:xfrm>
            <a:prstGeom prst="rect">
              <a:avLst/>
            </a:prstGeom>
            <a:noFill/>
            <a:ln w="9525">
              <a:noFill/>
              <a:miter lim="800000"/>
              <a:headEnd/>
              <a:tailEnd/>
            </a:ln>
            <a:effectLst/>
          </p:spPr>
          <p:txBody>
            <a:bodyPr>
              <a:spAutoFit/>
            </a:bodyPr>
            <a:lstStyle/>
            <a:p>
              <a:pPr>
                <a:spcBef>
                  <a:spcPct val="50000"/>
                </a:spcBef>
              </a:pPr>
              <a:r>
                <a:rPr lang="en-US"/>
                <a:t>r</a:t>
              </a:r>
            </a:p>
          </p:txBody>
        </p:sp>
        <p:grpSp>
          <p:nvGrpSpPr>
            <p:cNvPr id="52" name="Group 51"/>
            <p:cNvGrpSpPr/>
            <p:nvPr/>
          </p:nvGrpSpPr>
          <p:grpSpPr>
            <a:xfrm>
              <a:off x="6019800" y="4267200"/>
              <a:ext cx="1295400" cy="457200"/>
              <a:chOff x="4495800" y="4267200"/>
              <a:chExt cx="1295400" cy="457200"/>
            </a:xfrm>
          </p:grpSpPr>
          <p:sp>
            <p:nvSpPr>
              <p:cNvPr id="554014" name="Line 30"/>
              <p:cNvSpPr>
                <a:spLocks noChangeShapeType="1"/>
              </p:cNvSpPr>
              <p:nvPr/>
            </p:nvSpPr>
            <p:spPr bwMode="auto">
              <a:xfrm flipH="1">
                <a:off x="4495800" y="4648200"/>
                <a:ext cx="1295400" cy="0"/>
              </a:xfrm>
              <a:prstGeom prst="line">
                <a:avLst/>
              </a:prstGeom>
              <a:noFill/>
              <a:ln w="9525">
                <a:solidFill>
                  <a:srgbClr val="CC0000"/>
                </a:solidFill>
                <a:round/>
                <a:headEnd/>
                <a:tailEnd type="triangle" w="med" len="med"/>
              </a:ln>
              <a:effectLst/>
            </p:spPr>
            <p:txBody>
              <a:bodyPr/>
              <a:lstStyle/>
              <a:p>
                <a:endParaRPr lang="en-US"/>
              </a:p>
            </p:txBody>
          </p:sp>
          <p:sp>
            <p:nvSpPr>
              <p:cNvPr id="554015" name="Text Box 31"/>
              <p:cNvSpPr txBox="1">
                <a:spLocks noChangeArrowheads="1"/>
              </p:cNvSpPr>
              <p:nvPr/>
            </p:nvSpPr>
            <p:spPr bwMode="auto">
              <a:xfrm>
                <a:off x="4953000" y="4267200"/>
                <a:ext cx="381000" cy="457200"/>
              </a:xfrm>
              <a:prstGeom prst="rect">
                <a:avLst/>
              </a:prstGeom>
              <a:noFill/>
              <a:ln w="9525">
                <a:noFill/>
                <a:miter lim="800000"/>
                <a:headEnd/>
                <a:tailEnd/>
              </a:ln>
              <a:effectLst/>
            </p:spPr>
            <p:txBody>
              <a:bodyPr>
                <a:spAutoFit/>
              </a:bodyPr>
              <a:lstStyle/>
              <a:p>
                <a:pPr>
                  <a:spcBef>
                    <a:spcPct val="50000"/>
                  </a:spcBef>
                </a:pPr>
                <a:r>
                  <a:rPr lang="en-US">
                    <a:solidFill>
                      <a:srgbClr val="CC0000"/>
                    </a:solidFill>
                  </a:rPr>
                  <a:t>r</a:t>
                </a:r>
              </a:p>
            </p:txBody>
          </p:sp>
        </p:grpSp>
        <p:sp>
          <p:nvSpPr>
            <p:cNvPr id="554016" name="Line 32"/>
            <p:cNvSpPr>
              <a:spLocks noChangeShapeType="1"/>
            </p:cNvSpPr>
            <p:nvPr/>
          </p:nvSpPr>
          <p:spPr bwMode="auto">
            <a:xfrm flipH="1">
              <a:off x="6019800" y="5867400"/>
              <a:ext cx="1295400" cy="0"/>
            </a:xfrm>
            <a:prstGeom prst="line">
              <a:avLst/>
            </a:prstGeom>
            <a:noFill/>
            <a:ln w="9525">
              <a:solidFill>
                <a:schemeClr val="tx1"/>
              </a:solidFill>
              <a:round/>
              <a:headEnd/>
              <a:tailEnd type="triangle" w="med" len="med"/>
            </a:ln>
            <a:effectLst/>
          </p:spPr>
          <p:txBody>
            <a:bodyPr/>
            <a:lstStyle/>
            <a:p>
              <a:endParaRPr lang="en-US"/>
            </a:p>
          </p:txBody>
        </p:sp>
        <p:sp>
          <p:nvSpPr>
            <p:cNvPr id="554017" name="Text Box 33"/>
            <p:cNvSpPr txBox="1">
              <a:spLocks noChangeArrowheads="1"/>
            </p:cNvSpPr>
            <p:nvPr/>
          </p:nvSpPr>
          <p:spPr bwMode="auto">
            <a:xfrm>
              <a:off x="4267200" y="4953000"/>
              <a:ext cx="1676400" cy="336550"/>
            </a:xfrm>
            <a:prstGeom prst="rect">
              <a:avLst/>
            </a:prstGeom>
            <a:noFill/>
            <a:ln w="9525">
              <a:noFill/>
              <a:miter lim="800000"/>
              <a:headEnd/>
              <a:tailEnd/>
            </a:ln>
            <a:effectLst/>
          </p:spPr>
          <p:txBody>
            <a:bodyPr>
              <a:spAutoFit/>
            </a:bodyPr>
            <a:lstStyle/>
            <a:p>
              <a:pPr>
                <a:spcBef>
                  <a:spcPct val="50000"/>
                </a:spcBef>
              </a:pPr>
              <a:r>
                <a:rPr lang="en-US" sz="1600"/>
                <a:t>Benign software</a:t>
              </a:r>
            </a:p>
          </p:txBody>
        </p:sp>
        <p:sp>
          <p:nvSpPr>
            <p:cNvPr id="554018" name="Rectangle 34"/>
            <p:cNvSpPr>
              <a:spLocks noChangeArrowheads="1"/>
            </p:cNvSpPr>
            <p:nvPr/>
          </p:nvSpPr>
          <p:spPr bwMode="auto">
            <a:xfrm>
              <a:off x="4267200" y="4343400"/>
              <a:ext cx="1676400" cy="990600"/>
            </a:xfrm>
            <a:prstGeom prst="rect">
              <a:avLst/>
            </a:prstGeom>
            <a:noFill/>
            <a:ln w="9525">
              <a:solidFill>
                <a:schemeClr val="tx1"/>
              </a:solidFill>
              <a:miter lim="800000"/>
              <a:headEnd/>
              <a:tailEnd/>
            </a:ln>
            <a:effectLst/>
          </p:spPr>
          <p:txBody>
            <a:bodyPr wrap="none" anchor="ctr"/>
            <a:lstStyle/>
            <a:p>
              <a:endParaRPr lang="en-US" dirty="0"/>
            </a:p>
          </p:txBody>
        </p:sp>
        <p:sp>
          <p:nvSpPr>
            <p:cNvPr id="554019" name="Text Box 35"/>
            <p:cNvSpPr txBox="1">
              <a:spLocks noChangeArrowheads="1"/>
            </p:cNvSpPr>
            <p:nvPr/>
          </p:nvSpPr>
          <p:spPr bwMode="auto">
            <a:xfrm>
              <a:off x="4648200" y="4530726"/>
              <a:ext cx="1295400" cy="346075"/>
            </a:xfrm>
            <a:prstGeom prst="rect">
              <a:avLst/>
            </a:prstGeom>
            <a:noFill/>
            <a:ln w="9525">
              <a:solidFill>
                <a:srgbClr val="CC0000"/>
              </a:solidFill>
              <a:miter lim="800000"/>
              <a:headEnd/>
              <a:tailEnd/>
            </a:ln>
            <a:effectLst/>
          </p:spPr>
          <p:txBody>
            <a:bodyPr>
              <a:spAutoFit/>
            </a:bodyPr>
            <a:lstStyle/>
            <a:p>
              <a:pPr>
                <a:spcBef>
                  <a:spcPct val="50000"/>
                </a:spcBef>
              </a:pPr>
              <a:r>
                <a:rPr lang="en-US" sz="1600">
                  <a:solidFill>
                    <a:srgbClr val="CC0000"/>
                  </a:solidFill>
                </a:rPr>
                <a:t>Trojan horse</a:t>
              </a:r>
            </a:p>
          </p:txBody>
        </p:sp>
        <p:sp>
          <p:nvSpPr>
            <p:cNvPr id="554020" name="Line 36"/>
            <p:cNvSpPr>
              <a:spLocks noChangeShapeType="1"/>
            </p:cNvSpPr>
            <p:nvPr/>
          </p:nvSpPr>
          <p:spPr bwMode="auto">
            <a:xfrm>
              <a:off x="3581400" y="4572000"/>
              <a:ext cx="685800" cy="0"/>
            </a:xfrm>
            <a:prstGeom prst="line">
              <a:avLst/>
            </a:prstGeom>
            <a:noFill/>
            <a:ln w="9525">
              <a:solidFill>
                <a:schemeClr val="tx1"/>
              </a:solidFill>
              <a:round/>
              <a:headEnd/>
              <a:tailEnd type="triangle" w="med" len="med"/>
            </a:ln>
            <a:effectLst/>
          </p:spPr>
          <p:txBody>
            <a:bodyPr/>
            <a:lstStyle/>
            <a:p>
              <a:endParaRPr lang="en-US"/>
            </a:p>
          </p:txBody>
        </p:sp>
        <p:sp>
          <p:nvSpPr>
            <p:cNvPr id="554021" name="Text Box 37"/>
            <p:cNvSpPr txBox="1">
              <a:spLocks noChangeArrowheads="1"/>
            </p:cNvSpPr>
            <p:nvPr/>
          </p:nvSpPr>
          <p:spPr bwMode="auto">
            <a:xfrm>
              <a:off x="3657600" y="4191000"/>
              <a:ext cx="609600" cy="457200"/>
            </a:xfrm>
            <a:prstGeom prst="rect">
              <a:avLst/>
            </a:prstGeom>
            <a:noFill/>
            <a:ln w="9525">
              <a:noFill/>
              <a:miter lim="800000"/>
              <a:headEnd/>
              <a:tailEnd/>
            </a:ln>
            <a:effectLst/>
          </p:spPr>
          <p:txBody>
            <a:bodyPr>
              <a:spAutoFit/>
            </a:bodyPr>
            <a:lstStyle/>
            <a:p>
              <a:pPr>
                <a:spcBef>
                  <a:spcPct val="50000"/>
                </a:spcBef>
              </a:pPr>
              <a:r>
                <a:rPr lang="en-US"/>
                <a:t>exe</a:t>
              </a:r>
            </a:p>
          </p:txBody>
        </p:sp>
        <p:sp>
          <p:nvSpPr>
            <p:cNvPr id="554022" name="Text Box 38"/>
            <p:cNvSpPr txBox="1">
              <a:spLocks noChangeArrowheads="1"/>
            </p:cNvSpPr>
            <p:nvPr/>
          </p:nvSpPr>
          <p:spPr bwMode="auto">
            <a:xfrm>
              <a:off x="2209800" y="4724401"/>
              <a:ext cx="1371600" cy="396875"/>
            </a:xfrm>
            <a:prstGeom prst="rect">
              <a:avLst/>
            </a:prstGeom>
            <a:noFill/>
            <a:ln w="9525">
              <a:noFill/>
              <a:miter lim="800000"/>
              <a:headEnd/>
              <a:tailEnd/>
            </a:ln>
            <a:effectLst/>
          </p:spPr>
          <p:txBody>
            <a:bodyPr>
              <a:spAutoFit/>
            </a:bodyPr>
            <a:lstStyle/>
            <a:p>
              <a:pPr>
                <a:spcBef>
                  <a:spcPct val="50000"/>
                </a:spcBef>
              </a:pPr>
              <a:r>
                <a:rPr lang="en-US" sz="2000">
                  <a:solidFill>
                    <a:srgbClr val="339966"/>
                  </a:solidFill>
                </a:rPr>
                <a:t>(Label H)</a:t>
              </a:r>
            </a:p>
          </p:txBody>
        </p:sp>
        <p:sp>
          <p:nvSpPr>
            <p:cNvPr id="554023" name="Text Box 39"/>
            <p:cNvSpPr txBox="1">
              <a:spLocks noChangeArrowheads="1"/>
            </p:cNvSpPr>
            <p:nvPr/>
          </p:nvSpPr>
          <p:spPr bwMode="auto">
            <a:xfrm>
              <a:off x="2209800" y="5638801"/>
              <a:ext cx="1371600" cy="396875"/>
            </a:xfrm>
            <a:prstGeom prst="rect">
              <a:avLst/>
            </a:prstGeom>
            <a:noFill/>
            <a:ln w="9525">
              <a:noFill/>
              <a:miter lim="800000"/>
              <a:headEnd/>
              <a:tailEnd/>
            </a:ln>
            <a:effectLst/>
          </p:spPr>
          <p:txBody>
            <a:bodyPr>
              <a:spAutoFit/>
            </a:bodyPr>
            <a:lstStyle/>
            <a:p>
              <a:pPr>
                <a:spcBef>
                  <a:spcPct val="50000"/>
                </a:spcBef>
              </a:pPr>
              <a:r>
                <a:rPr lang="en-US" sz="2000">
                  <a:solidFill>
                    <a:srgbClr val="339966"/>
                  </a:solidFill>
                </a:rPr>
                <a:t>(Label L)</a:t>
              </a:r>
            </a:p>
          </p:txBody>
        </p:sp>
        <p:sp>
          <p:nvSpPr>
            <p:cNvPr id="554024" name="Line 40"/>
            <p:cNvSpPr>
              <a:spLocks noChangeShapeType="1"/>
            </p:cNvSpPr>
            <p:nvPr/>
          </p:nvSpPr>
          <p:spPr bwMode="auto">
            <a:xfrm flipH="1">
              <a:off x="3276600" y="5867400"/>
              <a:ext cx="1295400" cy="0"/>
            </a:xfrm>
            <a:prstGeom prst="line">
              <a:avLst/>
            </a:prstGeom>
            <a:noFill/>
            <a:ln w="9525">
              <a:solidFill>
                <a:schemeClr val="tx1"/>
              </a:solidFill>
              <a:prstDash val="dash"/>
              <a:round/>
              <a:headEnd/>
              <a:tailEnd/>
            </a:ln>
            <a:effectLst/>
          </p:spPr>
          <p:txBody>
            <a:bodyPr/>
            <a:lstStyle/>
            <a:p>
              <a:endParaRPr lang="en-US"/>
            </a:p>
          </p:txBody>
        </p:sp>
        <p:grpSp>
          <p:nvGrpSpPr>
            <p:cNvPr id="54" name="Group 53"/>
            <p:cNvGrpSpPr/>
            <p:nvPr/>
          </p:nvGrpSpPr>
          <p:grpSpPr>
            <a:xfrm>
              <a:off x="6553200" y="5013326"/>
              <a:ext cx="1828800" cy="396875"/>
              <a:chOff x="5029200" y="5013325"/>
              <a:chExt cx="1828800" cy="396875"/>
            </a:xfrm>
          </p:grpSpPr>
          <p:sp>
            <p:nvSpPr>
              <p:cNvPr id="554027" name="Line 43"/>
              <p:cNvSpPr>
                <a:spLocks noChangeShapeType="1"/>
              </p:cNvSpPr>
              <p:nvPr/>
            </p:nvSpPr>
            <p:spPr bwMode="auto">
              <a:xfrm>
                <a:off x="5029200" y="5105400"/>
                <a:ext cx="228600" cy="228600"/>
              </a:xfrm>
              <a:prstGeom prst="line">
                <a:avLst/>
              </a:prstGeom>
              <a:noFill/>
              <a:ln w="38100">
                <a:solidFill>
                  <a:srgbClr val="339966"/>
                </a:solidFill>
                <a:round/>
                <a:headEnd/>
                <a:tailEnd/>
              </a:ln>
              <a:effectLst/>
            </p:spPr>
            <p:txBody>
              <a:bodyPr/>
              <a:lstStyle/>
              <a:p>
                <a:endParaRPr lang="en-US"/>
              </a:p>
            </p:txBody>
          </p:sp>
          <p:sp>
            <p:nvSpPr>
              <p:cNvPr id="554028" name="Line 44"/>
              <p:cNvSpPr>
                <a:spLocks noChangeShapeType="1"/>
              </p:cNvSpPr>
              <p:nvPr/>
            </p:nvSpPr>
            <p:spPr bwMode="auto">
              <a:xfrm flipV="1">
                <a:off x="5029200" y="5105400"/>
                <a:ext cx="228600" cy="228600"/>
              </a:xfrm>
              <a:prstGeom prst="line">
                <a:avLst/>
              </a:prstGeom>
              <a:noFill/>
              <a:ln w="38100">
                <a:solidFill>
                  <a:srgbClr val="339966"/>
                </a:solidFill>
                <a:round/>
                <a:headEnd/>
                <a:tailEnd/>
              </a:ln>
              <a:effectLst/>
            </p:spPr>
            <p:txBody>
              <a:bodyPr/>
              <a:lstStyle/>
              <a:p>
                <a:endParaRPr lang="en-US"/>
              </a:p>
            </p:txBody>
          </p:sp>
          <p:sp>
            <p:nvSpPr>
              <p:cNvPr id="554029" name="Text Box 45"/>
              <p:cNvSpPr txBox="1">
                <a:spLocks noChangeArrowheads="1"/>
              </p:cNvSpPr>
              <p:nvPr/>
            </p:nvSpPr>
            <p:spPr bwMode="auto">
              <a:xfrm>
                <a:off x="5257800" y="5013325"/>
                <a:ext cx="1600200" cy="396875"/>
              </a:xfrm>
              <a:prstGeom prst="rect">
                <a:avLst/>
              </a:prstGeom>
              <a:noFill/>
              <a:ln w="9525">
                <a:noFill/>
                <a:miter lim="800000"/>
                <a:headEnd/>
                <a:tailEnd/>
              </a:ln>
              <a:effectLst/>
            </p:spPr>
            <p:txBody>
              <a:bodyPr>
                <a:spAutoFit/>
              </a:bodyPr>
              <a:lstStyle/>
              <a:p>
                <a:pPr>
                  <a:spcBef>
                    <a:spcPct val="50000"/>
                  </a:spcBef>
                </a:pPr>
                <a:r>
                  <a:rPr lang="en-US" sz="2000">
                    <a:solidFill>
                      <a:srgbClr val="339966"/>
                    </a:solidFill>
                  </a:rPr>
                  <a:t>star-proprety</a:t>
                </a:r>
              </a:p>
            </p:txBody>
          </p:sp>
        </p:grpSp>
      </p:grpSp>
    </p:spTree>
    <p:extLst>
      <p:ext uri="{BB962C8B-B14F-4D97-AF65-F5344CB8AC3E}">
        <p14:creationId xmlns:p14="http://schemas.microsoft.com/office/powerpoint/2010/main" val="3737628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title"/>
          </p:nvPr>
        </p:nvSpPr>
        <p:spPr/>
        <p:txBody>
          <a:bodyPr/>
          <a:lstStyle/>
          <a:p>
            <a:r>
              <a:rPr lang="en-US" dirty="0"/>
              <a:t>Downsides of MAC </a:t>
            </a:r>
          </a:p>
        </p:txBody>
      </p:sp>
      <p:sp>
        <p:nvSpPr>
          <p:cNvPr id="4" name="Text Placeholder 3">
            <a:extLst>
              <a:ext uri="{FF2B5EF4-FFF2-40B4-BE49-F238E27FC236}">
                <a16:creationId xmlns:a16="http://schemas.microsoft.com/office/drawing/2014/main" id="{773D64C3-832B-5C4F-BE31-C375823EF81A}"/>
              </a:ext>
            </a:extLst>
          </p:cNvPr>
          <p:cNvSpPr>
            <a:spLocks noGrp="1"/>
          </p:cNvSpPr>
          <p:nvPr>
            <p:ph type="body" idx="11"/>
          </p:nvPr>
        </p:nvSpPr>
        <p:spPr/>
        <p:txBody>
          <a:bodyPr/>
          <a:lstStyle/>
          <a:p>
            <a:endParaRPr lang="en-US"/>
          </a:p>
        </p:txBody>
      </p:sp>
      <p:sp>
        <p:nvSpPr>
          <p:cNvPr id="572419" name="Rectangle 3"/>
          <p:cNvSpPr>
            <a:spLocks noGrp="1" noChangeArrowheads="1"/>
          </p:cNvSpPr>
          <p:nvPr>
            <p:ph idx="1"/>
          </p:nvPr>
        </p:nvSpPr>
        <p:spPr/>
        <p:txBody>
          <a:bodyPr>
            <a:normAutofit/>
          </a:bodyPr>
          <a:lstStyle/>
          <a:p>
            <a:r>
              <a:rPr lang="en-US" dirty="0"/>
              <a:t>Why MAC is not appropriate for some commercial use?</a:t>
            </a:r>
          </a:p>
          <a:p>
            <a:pPr lvl="1"/>
            <a:r>
              <a:rPr lang="en-US" dirty="0"/>
              <a:t>MAC was originally developed for military use</a:t>
            </a:r>
          </a:p>
          <a:p>
            <a:pPr lvl="2"/>
            <a:r>
              <a:rPr lang="en-US" dirty="0"/>
              <a:t>Hierarchical structures: top secret, secret, confidential, unclassified</a:t>
            </a:r>
          </a:p>
          <a:p>
            <a:pPr lvl="2"/>
            <a:endParaRPr lang="en-US" dirty="0"/>
          </a:p>
          <a:p>
            <a:pPr lvl="1"/>
            <a:r>
              <a:rPr lang="en-US" dirty="0"/>
              <a:t>There are significant differences between commercial and military information security</a:t>
            </a:r>
          </a:p>
          <a:p>
            <a:pPr lvl="2"/>
            <a:r>
              <a:rPr lang="en-US" dirty="0"/>
              <a:t>Data items (objects) may have different degrees of sensitivity: public, proprietary, internal</a:t>
            </a:r>
          </a:p>
          <a:p>
            <a:pPr lvl="2"/>
            <a:r>
              <a:rPr lang="en-US" dirty="0"/>
              <a:t>No formalized notion of clearances (subjects) </a:t>
            </a:r>
            <a:r>
              <a:rPr lang="en-US" dirty="0">
                <a:sym typeface="Wingdings" pitchFamily="2" charset="2"/>
              </a:rPr>
              <a:t> no dominance (can-flow) function  access is less regulated</a:t>
            </a:r>
            <a:endParaRPr lang="en-US" dirty="0"/>
          </a:p>
        </p:txBody>
      </p:sp>
    </p:spTree>
    <p:extLst>
      <p:ext uri="{BB962C8B-B14F-4D97-AF65-F5344CB8AC3E}">
        <p14:creationId xmlns:p14="http://schemas.microsoft.com/office/powerpoint/2010/main" val="5336789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82F146F-8DB6-4948-9AF9-3D3A838C5709}"/>
              </a:ext>
            </a:extLst>
          </p:cNvPr>
          <p:cNvSpPr>
            <a:spLocks noGrp="1"/>
          </p:cNvSpPr>
          <p:nvPr>
            <p:ph type="title"/>
          </p:nvPr>
        </p:nvSpPr>
        <p:spPr/>
        <p:txBody>
          <a:bodyPr/>
          <a:lstStyle/>
          <a:p>
            <a:r>
              <a:rPr lang="en-US" dirty="0"/>
              <a:t>Role-Based Access Control (RBAC)</a:t>
            </a:r>
          </a:p>
        </p:txBody>
      </p:sp>
      <p:sp>
        <p:nvSpPr>
          <p:cNvPr id="6" name="Text Placeholder 5">
            <a:extLst>
              <a:ext uri="{FF2B5EF4-FFF2-40B4-BE49-F238E27FC236}">
                <a16:creationId xmlns:a16="http://schemas.microsoft.com/office/drawing/2014/main" id="{C577D9C4-6E66-3941-9C9A-D874838CA879}"/>
              </a:ext>
            </a:extLst>
          </p:cNvPr>
          <p:cNvSpPr>
            <a:spLocks noGrp="1"/>
          </p:cNvSpPr>
          <p:nvPr>
            <p:ph type="body" idx="10"/>
          </p:nvPr>
        </p:nvSpPr>
        <p:spPr/>
        <p:txBody>
          <a:bodyPr/>
          <a:lstStyle/>
          <a:p>
            <a:endParaRPr lang="en-US"/>
          </a:p>
        </p:txBody>
      </p:sp>
    </p:spTree>
    <p:extLst>
      <p:ext uri="{BB962C8B-B14F-4D97-AF65-F5344CB8AC3E}">
        <p14:creationId xmlns:p14="http://schemas.microsoft.com/office/powerpoint/2010/main" val="10500910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p:cNvSpPr>
            <a:spLocks noGrp="1" noChangeArrowheads="1"/>
          </p:cNvSpPr>
          <p:nvPr>
            <p:ph type="title"/>
          </p:nvPr>
        </p:nvSpPr>
        <p:spPr/>
        <p:txBody>
          <a:bodyPr/>
          <a:lstStyle/>
          <a:p>
            <a:r>
              <a:rPr lang="en-US" dirty="0"/>
              <a:t>Role Based Access Control (RBAC)</a:t>
            </a:r>
          </a:p>
        </p:txBody>
      </p:sp>
      <p:sp>
        <p:nvSpPr>
          <p:cNvPr id="4" name="Text Placeholder 3">
            <a:extLst>
              <a:ext uri="{FF2B5EF4-FFF2-40B4-BE49-F238E27FC236}">
                <a16:creationId xmlns:a16="http://schemas.microsoft.com/office/drawing/2014/main" id="{EF43553F-03CF-0E48-96BD-DC353F282126}"/>
              </a:ext>
            </a:extLst>
          </p:cNvPr>
          <p:cNvSpPr>
            <a:spLocks noGrp="1"/>
          </p:cNvSpPr>
          <p:nvPr>
            <p:ph type="body" idx="11"/>
          </p:nvPr>
        </p:nvSpPr>
        <p:spPr/>
        <p:txBody>
          <a:bodyPr/>
          <a:lstStyle/>
          <a:p>
            <a:endParaRPr lang="en-US"/>
          </a:p>
        </p:txBody>
      </p:sp>
      <p:sp>
        <p:nvSpPr>
          <p:cNvPr id="592899" name="Rectangle 3"/>
          <p:cNvSpPr>
            <a:spLocks noGrp="1" noChangeArrowheads="1"/>
          </p:cNvSpPr>
          <p:nvPr>
            <p:ph idx="1"/>
          </p:nvPr>
        </p:nvSpPr>
        <p:spPr/>
        <p:txBody>
          <a:bodyPr/>
          <a:lstStyle/>
          <a:p>
            <a:r>
              <a:rPr lang="en-US" dirty="0"/>
              <a:t>A general access control model for management of security in companies and organizations </a:t>
            </a:r>
          </a:p>
          <a:p>
            <a:pPr lvl="1"/>
            <a:r>
              <a:rPr lang="en-US" dirty="0"/>
              <a:t>General, flexible and easy-to-use</a:t>
            </a:r>
          </a:p>
          <a:p>
            <a:pPr lvl="2"/>
            <a:r>
              <a:rPr lang="en-US" dirty="0"/>
              <a:t>Addresses many different security needs in commercial and government sectors with minimal customization</a:t>
            </a:r>
          </a:p>
          <a:p>
            <a:pPr lvl="2"/>
            <a:r>
              <a:rPr lang="en-US" dirty="0"/>
              <a:t>Maps naturally to organization’s structure</a:t>
            </a:r>
          </a:p>
          <a:p>
            <a:pPr lvl="1"/>
            <a:r>
              <a:rPr lang="en-US" dirty="0"/>
              <a:t>Support at application level (SQL, Oracle, Web Applications, …)</a:t>
            </a:r>
          </a:p>
        </p:txBody>
      </p:sp>
    </p:spTree>
    <p:extLst>
      <p:ext uri="{BB962C8B-B14F-4D97-AF65-F5344CB8AC3E}">
        <p14:creationId xmlns:p14="http://schemas.microsoft.com/office/powerpoint/2010/main" val="16513444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Terminology</a:t>
            </a:r>
          </a:p>
        </p:txBody>
      </p:sp>
      <p:sp>
        <p:nvSpPr>
          <p:cNvPr id="7" name="Text Placeholder 6">
            <a:extLst>
              <a:ext uri="{FF2B5EF4-FFF2-40B4-BE49-F238E27FC236}">
                <a16:creationId xmlns:a16="http://schemas.microsoft.com/office/drawing/2014/main" id="{1032B1EA-06C9-794F-9D04-B9F246BF2E06}"/>
              </a:ext>
            </a:extLst>
          </p:cNvPr>
          <p:cNvSpPr>
            <a:spLocks noGrp="1"/>
          </p:cNvSpPr>
          <p:nvPr>
            <p:ph type="body" idx="11"/>
          </p:nvPr>
        </p:nvSpPr>
        <p:spPr/>
        <p:txBody>
          <a:bodyPr/>
          <a:lstStyle/>
          <a:p>
            <a:endParaRPr lang="en-US"/>
          </a:p>
        </p:txBody>
      </p:sp>
      <p:sp>
        <p:nvSpPr>
          <p:cNvPr id="3" name="Content Placeholder 2"/>
          <p:cNvSpPr>
            <a:spLocks noGrp="1"/>
          </p:cNvSpPr>
          <p:nvPr>
            <p:ph idx="1"/>
          </p:nvPr>
        </p:nvSpPr>
        <p:spPr>
          <a:xfrm>
            <a:off x="513349" y="1268243"/>
            <a:ext cx="10840451" cy="3161253"/>
          </a:xfrm>
        </p:spPr>
        <p:txBody>
          <a:bodyPr>
            <a:normAutofit/>
          </a:bodyPr>
          <a:lstStyle/>
          <a:p>
            <a:r>
              <a:rPr lang="en-US" b="1" dirty="0">
                <a:solidFill>
                  <a:srgbClr val="002060"/>
                </a:solidFill>
              </a:rPr>
              <a:t>User</a:t>
            </a:r>
            <a:r>
              <a:rPr lang="en-US" dirty="0"/>
              <a:t>: An individual that has access to the system.</a:t>
            </a:r>
          </a:p>
          <a:p>
            <a:r>
              <a:rPr lang="en-US" b="1" dirty="0">
                <a:solidFill>
                  <a:srgbClr val="002060"/>
                </a:solidFill>
              </a:rPr>
              <a:t>Role</a:t>
            </a:r>
            <a:r>
              <a:rPr lang="en-US" dirty="0"/>
              <a:t>: A named job function within the organization the controls the system.</a:t>
            </a:r>
          </a:p>
          <a:p>
            <a:r>
              <a:rPr lang="en-US" b="1" dirty="0">
                <a:solidFill>
                  <a:srgbClr val="002060"/>
                </a:solidFill>
              </a:rPr>
              <a:t>Permission</a:t>
            </a:r>
            <a:r>
              <a:rPr lang="en-US" dirty="0"/>
              <a:t>: An approval of a particular mode of access to one or more objects.</a:t>
            </a:r>
          </a:p>
          <a:p>
            <a:r>
              <a:rPr lang="en-US" b="1" dirty="0">
                <a:solidFill>
                  <a:srgbClr val="002060"/>
                </a:solidFill>
              </a:rPr>
              <a:t>Session</a:t>
            </a:r>
            <a:r>
              <a:rPr lang="en-US" dirty="0"/>
              <a:t>: A </a:t>
            </a:r>
            <a:r>
              <a:rPr lang="en-US" dirty="0">
                <a:solidFill>
                  <a:srgbClr val="002060"/>
                </a:solidFill>
              </a:rPr>
              <a:t>mapping between a user and an activated subset of set of roles </a:t>
            </a:r>
            <a:r>
              <a:rPr lang="en-US" dirty="0"/>
              <a:t>to which the user is assigned.</a:t>
            </a:r>
          </a:p>
        </p:txBody>
      </p:sp>
    </p:spTree>
    <p:extLst>
      <p:ext uri="{BB962C8B-B14F-4D97-AF65-F5344CB8AC3E}">
        <p14:creationId xmlns:p14="http://schemas.microsoft.com/office/powerpoint/2010/main" val="39324112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ChangeArrowheads="1"/>
          </p:cNvSpPr>
          <p:nvPr>
            <p:ph type="title"/>
          </p:nvPr>
        </p:nvSpPr>
        <p:spPr/>
        <p:txBody>
          <a:bodyPr/>
          <a:lstStyle/>
          <a:p>
            <a:r>
              <a:rPr lang="en-US" dirty="0"/>
              <a:t>Role</a:t>
            </a:r>
          </a:p>
        </p:txBody>
      </p:sp>
      <p:sp>
        <p:nvSpPr>
          <p:cNvPr id="4" name="Text Placeholder 3">
            <a:extLst>
              <a:ext uri="{FF2B5EF4-FFF2-40B4-BE49-F238E27FC236}">
                <a16:creationId xmlns:a16="http://schemas.microsoft.com/office/drawing/2014/main" id="{9E2A34DA-0536-9B48-9955-9E8F93F9ABD9}"/>
              </a:ext>
            </a:extLst>
          </p:cNvPr>
          <p:cNvSpPr>
            <a:spLocks noGrp="1"/>
          </p:cNvSpPr>
          <p:nvPr>
            <p:ph type="body" idx="11"/>
          </p:nvPr>
        </p:nvSpPr>
        <p:spPr/>
        <p:txBody>
          <a:bodyPr/>
          <a:lstStyle/>
          <a:p>
            <a:endParaRPr lang="en-US"/>
          </a:p>
        </p:txBody>
      </p:sp>
      <p:sp>
        <p:nvSpPr>
          <p:cNvPr id="596995" name="Rectangle 3"/>
          <p:cNvSpPr>
            <a:spLocks noGrp="1" noChangeArrowheads="1"/>
          </p:cNvSpPr>
          <p:nvPr>
            <p:ph idx="1"/>
          </p:nvPr>
        </p:nvSpPr>
        <p:spPr>
          <a:xfrm>
            <a:off x="513349" y="1268243"/>
            <a:ext cx="10840451" cy="3257946"/>
          </a:xfrm>
        </p:spPr>
        <p:txBody>
          <a:bodyPr>
            <a:normAutofit fontScale="92500" lnSpcReduction="10000"/>
          </a:bodyPr>
          <a:lstStyle/>
          <a:p>
            <a:r>
              <a:rPr lang="en-US" dirty="0">
                <a:solidFill>
                  <a:srgbClr val="002060"/>
                </a:solidFill>
              </a:rPr>
              <a:t>Role can represent users in terms of</a:t>
            </a:r>
          </a:p>
          <a:p>
            <a:pPr lvl="1"/>
            <a:r>
              <a:rPr lang="en-US" dirty="0"/>
              <a:t>Specific tack competency such as physician and pharmacist </a:t>
            </a:r>
          </a:p>
          <a:p>
            <a:pPr lvl="1"/>
            <a:r>
              <a:rPr lang="en-US" dirty="0"/>
              <a:t>Job responsibility as of project supervisor</a:t>
            </a:r>
          </a:p>
          <a:p>
            <a:pPr lvl="1"/>
            <a:r>
              <a:rPr lang="en-US" dirty="0"/>
              <a:t>Specific duty assignment such as duty physician or shift manager</a:t>
            </a:r>
          </a:p>
          <a:p>
            <a:r>
              <a:rPr lang="en-US" dirty="0">
                <a:solidFill>
                  <a:srgbClr val="002060"/>
                </a:solidFill>
              </a:rPr>
              <a:t>Role also defines permissions </a:t>
            </a:r>
          </a:p>
          <a:p>
            <a:pPr lvl="1"/>
            <a:r>
              <a:rPr lang="en-US" dirty="0"/>
              <a:t>Operator role can access all files but cannot change access permissions</a:t>
            </a:r>
          </a:p>
          <a:p>
            <a:pPr lvl="1"/>
            <a:r>
              <a:rPr lang="en-US" dirty="0"/>
              <a:t>Security officer role can change access permissions but has no access</a:t>
            </a:r>
          </a:p>
          <a:p>
            <a:pPr lvl="1"/>
            <a:r>
              <a:rPr lang="en-US" dirty="0"/>
              <a:t>Auditor role can only access audit trails</a:t>
            </a:r>
          </a:p>
        </p:txBody>
      </p:sp>
      <p:grpSp>
        <p:nvGrpSpPr>
          <p:cNvPr id="38" name="Group 37">
            <a:extLst>
              <a:ext uri="{FF2B5EF4-FFF2-40B4-BE49-F238E27FC236}">
                <a16:creationId xmlns:a16="http://schemas.microsoft.com/office/drawing/2014/main" id="{0135069B-DD5B-C344-84E5-99AC72219E86}"/>
              </a:ext>
            </a:extLst>
          </p:cNvPr>
          <p:cNvGrpSpPr/>
          <p:nvPr/>
        </p:nvGrpSpPr>
        <p:grpSpPr>
          <a:xfrm>
            <a:off x="3383478" y="4681049"/>
            <a:ext cx="6858000" cy="1571625"/>
            <a:chOff x="2362200" y="4869160"/>
            <a:chExt cx="6858000" cy="1571625"/>
          </a:xfrm>
        </p:grpSpPr>
        <p:sp>
          <p:nvSpPr>
            <p:cNvPr id="39" name="Text Box 4">
              <a:extLst>
                <a:ext uri="{FF2B5EF4-FFF2-40B4-BE49-F238E27FC236}">
                  <a16:creationId xmlns:a16="http://schemas.microsoft.com/office/drawing/2014/main" id="{9C1C89CC-F729-F94A-9AC3-A776E9A6EE73}"/>
                </a:ext>
              </a:extLst>
            </p:cNvPr>
            <p:cNvSpPr txBox="1">
              <a:spLocks noChangeArrowheads="1"/>
            </p:cNvSpPr>
            <p:nvPr/>
          </p:nvSpPr>
          <p:spPr bwMode="auto">
            <a:xfrm>
              <a:off x="2362200" y="4945360"/>
              <a:ext cx="762000" cy="461665"/>
            </a:xfrm>
            <a:prstGeom prst="rect">
              <a:avLst/>
            </a:prstGeom>
            <a:noFill/>
            <a:ln w="38100">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339966"/>
                  </a:solidFill>
                  <a:effectLst/>
                  <a:uLnTx/>
                  <a:uFillTx/>
                  <a:latin typeface="Times New Roman" pitchFamily="18" charset="0"/>
                </a:rPr>
                <a:t>user</a:t>
              </a:r>
            </a:p>
          </p:txBody>
        </p:sp>
        <p:sp>
          <p:nvSpPr>
            <p:cNvPr id="40" name="Text Box 5">
              <a:extLst>
                <a:ext uri="{FF2B5EF4-FFF2-40B4-BE49-F238E27FC236}">
                  <a16:creationId xmlns:a16="http://schemas.microsoft.com/office/drawing/2014/main" id="{E4F4C33F-4CBB-354D-8EAE-CB633460D468}"/>
                </a:ext>
              </a:extLst>
            </p:cNvPr>
            <p:cNvSpPr txBox="1">
              <a:spLocks noChangeArrowheads="1"/>
            </p:cNvSpPr>
            <p:nvPr/>
          </p:nvSpPr>
          <p:spPr bwMode="auto">
            <a:xfrm>
              <a:off x="7620000" y="4945360"/>
              <a:ext cx="1600200" cy="461665"/>
            </a:xfrm>
            <a:prstGeom prst="rect">
              <a:avLst/>
            </a:prstGeom>
            <a:noFill/>
            <a:ln w="38100">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339966"/>
                  </a:solidFill>
                  <a:effectLst/>
                  <a:uLnTx/>
                  <a:uFillTx/>
                  <a:latin typeface="Times New Roman" pitchFamily="18" charset="0"/>
                </a:rPr>
                <a:t>permission</a:t>
              </a:r>
            </a:p>
          </p:txBody>
        </p:sp>
        <p:sp>
          <p:nvSpPr>
            <p:cNvPr id="41" name="Text Box 6">
              <a:extLst>
                <a:ext uri="{FF2B5EF4-FFF2-40B4-BE49-F238E27FC236}">
                  <a16:creationId xmlns:a16="http://schemas.microsoft.com/office/drawing/2014/main" id="{B6E3D255-8C49-3643-834B-51DD6C831C23}"/>
                </a:ext>
              </a:extLst>
            </p:cNvPr>
            <p:cNvSpPr txBox="1">
              <a:spLocks noChangeArrowheads="1"/>
            </p:cNvSpPr>
            <p:nvPr/>
          </p:nvSpPr>
          <p:spPr bwMode="auto">
            <a:xfrm>
              <a:off x="4419600" y="4945360"/>
              <a:ext cx="762000" cy="461665"/>
            </a:xfrm>
            <a:prstGeom prst="rect">
              <a:avLst/>
            </a:prstGeom>
            <a:solidFill>
              <a:srgbClr val="FFFF00"/>
            </a:solidFill>
            <a:ln w="38100">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339966"/>
                  </a:solidFill>
                  <a:effectLst/>
                  <a:uLnTx/>
                  <a:uFillTx/>
                  <a:latin typeface="Times New Roman" pitchFamily="18" charset="0"/>
                </a:rPr>
                <a:t>role</a:t>
              </a:r>
            </a:p>
          </p:txBody>
        </p:sp>
        <p:sp>
          <p:nvSpPr>
            <p:cNvPr id="42" name="Line 7">
              <a:extLst>
                <a:ext uri="{FF2B5EF4-FFF2-40B4-BE49-F238E27FC236}">
                  <a16:creationId xmlns:a16="http://schemas.microsoft.com/office/drawing/2014/main" id="{92188768-C2CA-F74C-AA12-BD6C58C2E8B3}"/>
                </a:ext>
              </a:extLst>
            </p:cNvPr>
            <p:cNvSpPr>
              <a:spLocks noChangeShapeType="1"/>
            </p:cNvSpPr>
            <p:nvPr/>
          </p:nvSpPr>
          <p:spPr bwMode="auto">
            <a:xfrm>
              <a:off x="3124200" y="5173959"/>
              <a:ext cx="1295400" cy="0"/>
            </a:xfrm>
            <a:prstGeom prst="line">
              <a:avLst/>
            </a:prstGeom>
            <a:noFill/>
            <a:ln w="38100">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43" name="Line 8">
              <a:extLst>
                <a:ext uri="{FF2B5EF4-FFF2-40B4-BE49-F238E27FC236}">
                  <a16:creationId xmlns:a16="http://schemas.microsoft.com/office/drawing/2014/main" id="{0B89C130-90AD-6642-8475-0779D54E93D0}"/>
                </a:ext>
              </a:extLst>
            </p:cNvPr>
            <p:cNvSpPr>
              <a:spLocks noChangeShapeType="1"/>
            </p:cNvSpPr>
            <p:nvPr/>
          </p:nvSpPr>
          <p:spPr bwMode="auto">
            <a:xfrm>
              <a:off x="5181600" y="5173959"/>
              <a:ext cx="2438400" cy="0"/>
            </a:xfrm>
            <a:prstGeom prst="line">
              <a:avLst/>
            </a:prstGeom>
            <a:noFill/>
            <a:ln w="38100">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44" name="Text Box 9">
              <a:extLst>
                <a:ext uri="{FF2B5EF4-FFF2-40B4-BE49-F238E27FC236}">
                  <a16:creationId xmlns:a16="http://schemas.microsoft.com/office/drawing/2014/main" id="{1564B490-1CD1-F74D-AE47-E2605E3B6A23}"/>
                </a:ext>
              </a:extLst>
            </p:cNvPr>
            <p:cNvSpPr txBox="1">
              <a:spLocks noChangeArrowheads="1"/>
            </p:cNvSpPr>
            <p:nvPr/>
          </p:nvSpPr>
          <p:spPr bwMode="auto">
            <a:xfrm>
              <a:off x="3276600" y="4869160"/>
              <a:ext cx="1143000" cy="581025"/>
            </a:xfrm>
            <a:prstGeom prst="rect">
              <a:avLst/>
            </a:prstGeom>
            <a:noFill/>
            <a:ln w="38100">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600" b="0" i="0" u="none" strike="noStrike" kern="0" cap="none" spc="0" normalizeH="0" baseline="0" noProof="0" dirty="0">
                  <a:ln>
                    <a:noFill/>
                  </a:ln>
                  <a:solidFill>
                    <a:srgbClr val="339966"/>
                  </a:solidFill>
                  <a:effectLst/>
                  <a:uLnTx/>
                  <a:uFillTx/>
                  <a:latin typeface="Times New Roman" pitchFamily="18" charset="0"/>
                </a:rPr>
                <a:t>UA: user assignment</a:t>
              </a:r>
            </a:p>
          </p:txBody>
        </p:sp>
        <p:sp>
          <p:nvSpPr>
            <p:cNvPr id="45" name="Text Box 10">
              <a:extLst>
                <a:ext uri="{FF2B5EF4-FFF2-40B4-BE49-F238E27FC236}">
                  <a16:creationId xmlns:a16="http://schemas.microsoft.com/office/drawing/2014/main" id="{CAE560B6-EAD4-6049-9AFC-457D277247DC}"/>
                </a:ext>
              </a:extLst>
            </p:cNvPr>
            <p:cNvSpPr txBox="1">
              <a:spLocks noChangeArrowheads="1"/>
            </p:cNvSpPr>
            <p:nvPr/>
          </p:nvSpPr>
          <p:spPr bwMode="auto">
            <a:xfrm>
              <a:off x="5638800" y="4869160"/>
              <a:ext cx="1447800" cy="581025"/>
            </a:xfrm>
            <a:prstGeom prst="rect">
              <a:avLst/>
            </a:prstGeom>
            <a:noFill/>
            <a:ln w="38100">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600" b="0" i="0" u="none" strike="noStrike" kern="0" cap="none" spc="0" normalizeH="0" baseline="0" noProof="0" dirty="0">
                  <a:ln>
                    <a:noFill/>
                  </a:ln>
                  <a:solidFill>
                    <a:srgbClr val="339966"/>
                  </a:solidFill>
                  <a:effectLst/>
                  <a:uLnTx/>
                  <a:uFillTx/>
                  <a:latin typeface="Times New Roman" pitchFamily="18" charset="0"/>
                </a:rPr>
                <a:t>PA: permission assignment</a:t>
              </a:r>
            </a:p>
          </p:txBody>
        </p:sp>
        <p:sp>
          <p:nvSpPr>
            <p:cNvPr id="46" name="Line 11">
              <a:extLst>
                <a:ext uri="{FF2B5EF4-FFF2-40B4-BE49-F238E27FC236}">
                  <a16:creationId xmlns:a16="http://schemas.microsoft.com/office/drawing/2014/main" id="{0525D1E8-DE9E-0E43-B71F-198D06C59744}"/>
                </a:ext>
              </a:extLst>
            </p:cNvPr>
            <p:cNvSpPr>
              <a:spLocks noChangeShapeType="1"/>
            </p:cNvSpPr>
            <p:nvPr/>
          </p:nvSpPr>
          <p:spPr bwMode="auto">
            <a:xfrm>
              <a:off x="2743200" y="5402559"/>
              <a:ext cx="990600" cy="533400"/>
            </a:xfrm>
            <a:prstGeom prst="line">
              <a:avLst/>
            </a:prstGeom>
            <a:noFill/>
            <a:ln w="38100">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47" name="Line 12">
              <a:extLst>
                <a:ext uri="{FF2B5EF4-FFF2-40B4-BE49-F238E27FC236}">
                  <a16:creationId xmlns:a16="http://schemas.microsoft.com/office/drawing/2014/main" id="{A1D71234-0FBF-3E4E-B33B-0C3DC178145C}"/>
                </a:ext>
              </a:extLst>
            </p:cNvPr>
            <p:cNvSpPr>
              <a:spLocks noChangeShapeType="1"/>
            </p:cNvSpPr>
            <p:nvPr/>
          </p:nvSpPr>
          <p:spPr bwMode="auto">
            <a:xfrm flipV="1">
              <a:off x="3733800" y="5478759"/>
              <a:ext cx="1066800" cy="457200"/>
            </a:xfrm>
            <a:prstGeom prst="line">
              <a:avLst/>
            </a:prstGeom>
            <a:noFill/>
            <a:ln w="38100">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48" name="Text Box 13">
              <a:extLst>
                <a:ext uri="{FF2B5EF4-FFF2-40B4-BE49-F238E27FC236}">
                  <a16:creationId xmlns:a16="http://schemas.microsoft.com/office/drawing/2014/main" id="{CEC6AB42-C849-2D41-878F-290ADB2971A2}"/>
                </a:ext>
              </a:extLst>
            </p:cNvPr>
            <p:cNvSpPr txBox="1">
              <a:spLocks noChangeArrowheads="1"/>
            </p:cNvSpPr>
            <p:nvPr/>
          </p:nvSpPr>
          <p:spPr bwMode="auto">
            <a:xfrm>
              <a:off x="3048000" y="5859760"/>
              <a:ext cx="1752600" cy="581025"/>
            </a:xfrm>
            <a:prstGeom prst="rect">
              <a:avLst/>
            </a:prstGeom>
            <a:noFill/>
            <a:ln w="38100">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600" b="0" i="0" u="none" strike="noStrike" kern="0" cap="none" spc="0" normalizeH="0" baseline="0" noProof="0">
                  <a:ln>
                    <a:noFill/>
                  </a:ln>
                  <a:solidFill>
                    <a:srgbClr val="339966"/>
                  </a:solidFill>
                  <a:effectLst/>
                  <a:uLnTx/>
                  <a:uFillTx/>
                  <a:latin typeface="Times New Roman" pitchFamily="18" charset="0"/>
                </a:rPr>
                <a:t>Sessions (one-to-many mapping)</a:t>
              </a:r>
            </a:p>
          </p:txBody>
        </p:sp>
      </p:grpSp>
    </p:spTree>
    <p:extLst>
      <p:ext uri="{BB962C8B-B14F-4D97-AF65-F5344CB8AC3E}">
        <p14:creationId xmlns:p14="http://schemas.microsoft.com/office/powerpoint/2010/main" val="3097535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1265" y="30163"/>
            <a:ext cx="9855386" cy="1018824"/>
          </a:xfrm>
        </p:spPr>
        <p:txBody>
          <a:bodyPr/>
          <a:lstStyle/>
          <a:p>
            <a:r>
              <a:rPr lang="en-US" dirty="0"/>
              <a:t>A Banking Example</a:t>
            </a:r>
          </a:p>
        </p:txBody>
      </p:sp>
      <p:graphicFrame>
        <p:nvGraphicFramePr>
          <p:cNvPr id="32" name="Table 31">
            <a:extLst>
              <a:ext uri="{FF2B5EF4-FFF2-40B4-BE49-F238E27FC236}">
                <a16:creationId xmlns:a16="http://schemas.microsoft.com/office/drawing/2014/main" id="{592903ED-B363-B640-957F-F4AB763CA8F4}"/>
              </a:ext>
            </a:extLst>
          </p:cNvPr>
          <p:cNvGraphicFramePr>
            <a:graphicFrameLocks noGrp="1"/>
          </p:cNvGraphicFramePr>
          <p:nvPr>
            <p:extLst>
              <p:ext uri="{D42A27DB-BD31-4B8C-83A1-F6EECF244321}">
                <p14:modId xmlns:p14="http://schemas.microsoft.com/office/powerpoint/2010/main" val="862095876"/>
              </p:ext>
            </p:extLst>
          </p:nvPr>
        </p:nvGraphicFramePr>
        <p:xfrm>
          <a:off x="5964238" y="891573"/>
          <a:ext cx="4876800" cy="1483360"/>
        </p:xfrm>
        <a:graphic>
          <a:graphicData uri="http://schemas.openxmlformats.org/drawingml/2006/table">
            <a:tbl>
              <a:tblPr firstRow="1" bandRow="1"/>
              <a:tblGrid>
                <a:gridCol w="762000">
                  <a:extLst>
                    <a:ext uri="{9D8B030D-6E8A-4147-A177-3AD203B41FA5}">
                      <a16:colId xmlns:a16="http://schemas.microsoft.com/office/drawing/2014/main" val="20000"/>
                    </a:ext>
                  </a:extLst>
                </a:gridCol>
                <a:gridCol w="1991032">
                  <a:extLst>
                    <a:ext uri="{9D8B030D-6E8A-4147-A177-3AD203B41FA5}">
                      <a16:colId xmlns:a16="http://schemas.microsoft.com/office/drawing/2014/main" val="20001"/>
                    </a:ext>
                  </a:extLst>
                </a:gridCol>
                <a:gridCol w="2123768">
                  <a:extLst>
                    <a:ext uri="{9D8B030D-6E8A-4147-A177-3AD203B41FA5}">
                      <a16:colId xmlns:a16="http://schemas.microsoft.com/office/drawing/2014/main" val="20002"/>
                    </a:ext>
                  </a:extLst>
                </a:gridCol>
              </a:tblGrid>
              <a:tr h="370840">
                <a:tc>
                  <a:txBody>
                    <a:bodyPr/>
                    <a:lstStyle>
                      <a:lvl1pPr marL="0" algn="l" defTabSz="685800" rtl="0" eaLnBrk="1" latinLnBrk="0" hangingPunct="1">
                        <a:defRPr sz="1350" b="1" kern="1200">
                          <a:solidFill>
                            <a:schemeClr val="lt1"/>
                          </a:solidFill>
                          <a:latin typeface="Arial"/>
                        </a:defRPr>
                      </a:lvl1pPr>
                      <a:lvl2pPr marL="342900" algn="l" defTabSz="685800" rtl="0" eaLnBrk="1" latinLnBrk="0" hangingPunct="1">
                        <a:defRPr sz="1350" b="1" kern="1200">
                          <a:solidFill>
                            <a:schemeClr val="lt1"/>
                          </a:solidFill>
                          <a:latin typeface="Arial"/>
                        </a:defRPr>
                      </a:lvl2pPr>
                      <a:lvl3pPr marL="685800" algn="l" defTabSz="685800" rtl="0" eaLnBrk="1" latinLnBrk="0" hangingPunct="1">
                        <a:defRPr sz="1350" b="1" kern="1200">
                          <a:solidFill>
                            <a:schemeClr val="lt1"/>
                          </a:solidFill>
                          <a:latin typeface="Arial"/>
                        </a:defRPr>
                      </a:lvl3pPr>
                      <a:lvl4pPr marL="1028700" algn="l" defTabSz="685800" rtl="0" eaLnBrk="1" latinLnBrk="0" hangingPunct="1">
                        <a:defRPr sz="1350" b="1" kern="1200">
                          <a:solidFill>
                            <a:schemeClr val="lt1"/>
                          </a:solidFill>
                          <a:latin typeface="Arial"/>
                        </a:defRPr>
                      </a:lvl4pPr>
                      <a:lvl5pPr marL="1371600" algn="l" defTabSz="685800" rtl="0" eaLnBrk="1" latinLnBrk="0" hangingPunct="1">
                        <a:defRPr sz="1350" b="1" kern="1200">
                          <a:solidFill>
                            <a:schemeClr val="lt1"/>
                          </a:solidFill>
                          <a:latin typeface="Arial"/>
                        </a:defRPr>
                      </a:lvl5pPr>
                      <a:lvl6pPr marL="1714500" algn="l" defTabSz="685800" rtl="0" eaLnBrk="1" latinLnBrk="0" hangingPunct="1">
                        <a:defRPr sz="1350" b="1" kern="1200">
                          <a:solidFill>
                            <a:schemeClr val="lt1"/>
                          </a:solidFill>
                          <a:latin typeface="Arial"/>
                        </a:defRPr>
                      </a:lvl6pPr>
                      <a:lvl7pPr marL="2057400" algn="l" defTabSz="685800" rtl="0" eaLnBrk="1" latinLnBrk="0" hangingPunct="1">
                        <a:defRPr sz="1350" b="1" kern="1200">
                          <a:solidFill>
                            <a:schemeClr val="lt1"/>
                          </a:solidFill>
                          <a:latin typeface="Arial"/>
                        </a:defRPr>
                      </a:lvl7pPr>
                      <a:lvl8pPr marL="2400300" algn="l" defTabSz="685800" rtl="0" eaLnBrk="1" latinLnBrk="0" hangingPunct="1">
                        <a:defRPr sz="1350" b="1" kern="1200">
                          <a:solidFill>
                            <a:schemeClr val="lt1"/>
                          </a:solidFill>
                          <a:latin typeface="Arial"/>
                        </a:defRPr>
                      </a:lvl8pPr>
                      <a:lvl9pPr marL="2743200" algn="l" defTabSz="685800" rtl="0" eaLnBrk="1" latinLnBrk="0" hangingPunct="1">
                        <a:defRPr sz="1350" b="1" kern="1200">
                          <a:solidFill>
                            <a:schemeClr val="lt1"/>
                          </a:solidFill>
                          <a:latin typeface="Arial"/>
                        </a:defRPr>
                      </a:lvl9pPr>
                    </a:lstStyle>
                    <a:p>
                      <a:r>
                        <a:rPr lang="en-US" dirty="0">
                          <a:solidFill>
                            <a:schemeClr val="tx1"/>
                          </a:solidFill>
                        </a:rPr>
                        <a:t>Role</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BE0E3"/>
                    </a:solidFill>
                  </a:tcPr>
                </a:tc>
                <a:tc>
                  <a:txBody>
                    <a:bodyPr/>
                    <a:lstStyle>
                      <a:lvl1pPr marL="0" algn="l" defTabSz="685800" rtl="0" eaLnBrk="1" latinLnBrk="0" hangingPunct="1">
                        <a:defRPr sz="1350" b="1" kern="1200">
                          <a:solidFill>
                            <a:schemeClr val="lt1"/>
                          </a:solidFill>
                          <a:latin typeface="Arial"/>
                        </a:defRPr>
                      </a:lvl1pPr>
                      <a:lvl2pPr marL="342900" algn="l" defTabSz="685800" rtl="0" eaLnBrk="1" latinLnBrk="0" hangingPunct="1">
                        <a:defRPr sz="1350" b="1" kern="1200">
                          <a:solidFill>
                            <a:schemeClr val="lt1"/>
                          </a:solidFill>
                          <a:latin typeface="Arial"/>
                        </a:defRPr>
                      </a:lvl2pPr>
                      <a:lvl3pPr marL="685800" algn="l" defTabSz="685800" rtl="0" eaLnBrk="1" latinLnBrk="0" hangingPunct="1">
                        <a:defRPr sz="1350" b="1" kern="1200">
                          <a:solidFill>
                            <a:schemeClr val="lt1"/>
                          </a:solidFill>
                          <a:latin typeface="Arial"/>
                        </a:defRPr>
                      </a:lvl3pPr>
                      <a:lvl4pPr marL="1028700" algn="l" defTabSz="685800" rtl="0" eaLnBrk="1" latinLnBrk="0" hangingPunct="1">
                        <a:defRPr sz="1350" b="1" kern="1200">
                          <a:solidFill>
                            <a:schemeClr val="lt1"/>
                          </a:solidFill>
                          <a:latin typeface="Arial"/>
                        </a:defRPr>
                      </a:lvl4pPr>
                      <a:lvl5pPr marL="1371600" algn="l" defTabSz="685800" rtl="0" eaLnBrk="1" latinLnBrk="0" hangingPunct="1">
                        <a:defRPr sz="1350" b="1" kern="1200">
                          <a:solidFill>
                            <a:schemeClr val="lt1"/>
                          </a:solidFill>
                          <a:latin typeface="Arial"/>
                        </a:defRPr>
                      </a:lvl5pPr>
                      <a:lvl6pPr marL="1714500" algn="l" defTabSz="685800" rtl="0" eaLnBrk="1" latinLnBrk="0" hangingPunct="1">
                        <a:defRPr sz="1350" b="1" kern="1200">
                          <a:solidFill>
                            <a:schemeClr val="lt1"/>
                          </a:solidFill>
                          <a:latin typeface="Arial"/>
                        </a:defRPr>
                      </a:lvl6pPr>
                      <a:lvl7pPr marL="2057400" algn="l" defTabSz="685800" rtl="0" eaLnBrk="1" latinLnBrk="0" hangingPunct="1">
                        <a:defRPr sz="1350" b="1" kern="1200">
                          <a:solidFill>
                            <a:schemeClr val="lt1"/>
                          </a:solidFill>
                          <a:latin typeface="Arial"/>
                        </a:defRPr>
                      </a:lvl7pPr>
                      <a:lvl8pPr marL="2400300" algn="l" defTabSz="685800" rtl="0" eaLnBrk="1" latinLnBrk="0" hangingPunct="1">
                        <a:defRPr sz="1350" b="1" kern="1200">
                          <a:solidFill>
                            <a:schemeClr val="lt1"/>
                          </a:solidFill>
                          <a:latin typeface="Arial"/>
                        </a:defRPr>
                      </a:lvl8pPr>
                      <a:lvl9pPr marL="2743200" algn="l" defTabSz="685800" rtl="0" eaLnBrk="1" latinLnBrk="0" hangingPunct="1">
                        <a:defRPr sz="1350" b="1" kern="1200">
                          <a:solidFill>
                            <a:schemeClr val="lt1"/>
                          </a:solidFill>
                          <a:latin typeface="Arial"/>
                        </a:defRPr>
                      </a:lvl9pPr>
                    </a:lstStyle>
                    <a:p>
                      <a:r>
                        <a:rPr lang="en-US" dirty="0">
                          <a:solidFill>
                            <a:schemeClr val="tx1"/>
                          </a:solidFill>
                        </a:rPr>
                        <a:t>Function</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BE0E3"/>
                    </a:solidFill>
                  </a:tcPr>
                </a:tc>
                <a:tc>
                  <a:txBody>
                    <a:bodyPr/>
                    <a:lstStyle>
                      <a:lvl1pPr marL="0" algn="l" defTabSz="685800" rtl="0" eaLnBrk="1" latinLnBrk="0" hangingPunct="1">
                        <a:defRPr sz="1350" b="1" kern="1200">
                          <a:solidFill>
                            <a:schemeClr val="lt1"/>
                          </a:solidFill>
                          <a:latin typeface="Arial"/>
                        </a:defRPr>
                      </a:lvl1pPr>
                      <a:lvl2pPr marL="342900" algn="l" defTabSz="685800" rtl="0" eaLnBrk="1" latinLnBrk="0" hangingPunct="1">
                        <a:defRPr sz="1350" b="1" kern="1200">
                          <a:solidFill>
                            <a:schemeClr val="lt1"/>
                          </a:solidFill>
                          <a:latin typeface="Arial"/>
                        </a:defRPr>
                      </a:lvl2pPr>
                      <a:lvl3pPr marL="685800" algn="l" defTabSz="685800" rtl="0" eaLnBrk="1" latinLnBrk="0" hangingPunct="1">
                        <a:defRPr sz="1350" b="1" kern="1200">
                          <a:solidFill>
                            <a:schemeClr val="lt1"/>
                          </a:solidFill>
                          <a:latin typeface="Arial"/>
                        </a:defRPr>
                      </a:lvl3pPr>
                      <a:lvl4pPr marL="1028700" algn="l" defTabSz="685800" rtl="0" eaLnBrk="1" latinLnBrk="0" hangingPunct="1">
                        <a:defRPr sz="1350" b="1" kern="1200">
                          <a:solidFill>
                            <a:schemeClr val="lt1"/>
                          </a:solidFill>
                          <a:latin typeface="Arial"/>
                        </a:defRPr>
                      </a:lvl4pPr>
                      <a:lvl5pPr marL="1371600" algn="l" defTabSz="685800" rtl="0" eaLnBrk="1" latinLnBrk="0" hangingPunct="1">
                        <a:defRPr sz="1350" b="1" kern="1200">
                          <a:solidFill>
                            <a:schemeClr val="lt1"/>
                          </a:solidFill>
                          <a:latin typeface="Arial"/>
                        </a:defRPr>
                      </a:lvl5pPr>
                      <a:lvl6pPr marL="1714500" algn="l" defTabSz="685800" rtl="0" eaLnBrk="1" latinLnBrk="0" hangingPunct="1">
                        <a:defRPr sz="1350" b="1" kern="1200">
                          <a:solidFill>
                            <a:schemeClr val="lt1"/>
                          </a:solidFill>
                          <a:latin typeface="Arial"/>
                        </a:defRPr>
                      </a:lvl6pPr>
                      <a:lvl7pPr marL="2057400" algn="l" defTabSz="685800" rtl="0" eaLnBrk="1" latinLnBrk="0" hangingPunct="1">
                        <a:defRPr sz="1350" b="1" kern="1200">
                          <a:solidFill>
                            <a:schemeClr val="lt1"/>
                          </a:solidFill>
                          <a:latin typeface="Arial"/>
                        </a:defRPr>
                      </a:lvl7pPr>
                      <a:lvl8pPr marL="2400300" algn="l" defTabSz="685800" rtl="0" eaLnBrk="1" latinLnBrk="0" hangingPunct="1">
                        <a:defRPr sz="1350" b="1" kern="1200">
                          <a:solidFill>
                            <a:schemeClr val="lt1"/>
                          </a:solidFill>
                          <a:latin typeface="Arial"/>
                        </a:defRPr>
                      </a:lvl8pPr>
                      <a:lvl9pPr marL="2743200" algn="l" defTabSz="685800" rtl="0" eaLnBrk="1" latinLnBrk="0" hangingPunct="1">
                        <a:defRPr sz="1350" b="1" kern="1200">
                          <a:solidFill>
                            <a:schemeClr val="lt1"/>
                          </a:solidFill>
                          <a:latin typeface="Arial"/>
                        </a:defRPr>
                      </a:lvl9pPr>
                    </a:lstStyle>
                    <a:p>
                      <a:r>
                        <a:rPr lang="en-US" dirty="0">
                          <a:solidFill>
                            <a:schemeClr val="tx1"/>
                          </a:solidFill>
                        </a:rPr>
                        <a:t>Official  Position</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BE0E3"/>
                    </a:solidFill>
                  </a:tcPr>
                </a:tc>
                <a:extLst>
                  <a:ext uri="{0D108BD9-81ED-4DB2-BD59-A6C34878D82A}">
                    <a16:rowId xmlns:a16="http://schemas.microsoft.com/office/drawing/2014/main" val="10000"/>
                  </a:ext>
                </a:extLst>
              </a:tr>
              <a:tr h="370840">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dirty="0"/>
                        <a:t>A</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4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dirty="0"/>
                        <a:t>financial analyst</a:t>
                      </a:r>
                      <a:r>
                        <a:rPr lang="en-US" baseline="0" dirty="0"/>
                        <a:t> </a:t>
                      </a:r>
                      <a:endParaRPr 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4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dirty="0"/>
                        <a:t>Clerk</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40000"/>
                      </a:srgbClr>
                    </a:solidFill>
                  </a:tcPr>
                </a:tc>
                <a:extLst>
                  <a:ext uri="{0D108BD9-81ED-4DB2-BD59-A6C34878D82A}">
                    <a16:rowId xmlns:a16="http://schemas.microsoft.com/office/drawing/2014/main" val="10001"/>
                  </a:ext>
                </a:extLst>
              </a:tr>
              <a:tr h="370840">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dirty="0"/>
                        <a:t>B</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dirty="0"/>
                        <a:t>financial</a:t>
                      </a:r>
                      <a:r>
                        <a:rPr lang="en-US" baseline="0" dirty="0"/>
                        <a:t> analyst</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dirty="0"/>
                        <a:t>Manager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extLst>
                  <a:ext uri="{0D108BD9-81ED-4DB2-BD59-A6C34878D82A}">
                    <a16:rowId xmlns:a16="http://schemas.microsoft.com/office/drawing/2014/main" val="10002"/>
                  </a:ext>
                </a:extLst>
              </a:tr>
              <a:tr h="370840">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dirty="0"/>
                        <a:t>C</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4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dirty="0"/>
                        <a:t>support e-commerce</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4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dirty="0"/>
                        <a:t>Junior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40000"/>
                      </a:srgbClr>
                    </a:solidFill>
                  </a:tcPr>
                </a:tc>
                <a:extLst>
                  <a:ext uri="{0D108BD9-81ED-4DB2-BD59-A6C34878D82A}">
                    <a16:rowId xmlns:a16="http://schemas.microsoft.com/office/drawing/2014/main" val="10003"/>
                  </a:ext>
                </a:extLst>
              </a:tr>
            </a:tbl>
          </a:graphicData>
        </a:graphic>
      </p:graphicFrame>
      <p:graphicFrame>
        <p:nvGraphicFramePr>
          <p:cNvPr id="33" name="Table 32">
            <a:extLst>
              <a:ext uri="{FF2B5EF4-FFF2-40B4-BE49-F238E27FC236}">
                <a16:creationId xmlns:a16="http://schemas.microsoft.com/office/drawing/2014/main" id="{30269639-88EB-AB48-90AD-A6EFAFCFF0CC}"/>
              </a:ext>
            </a:extLst>
          </p:cNvPr>
          <p:cNvGraphicFramePr>
            <a:graphicFrameLocks noGrp="1"/>
          </p:cNvGraphicFramePr>
          <p:nvPr>
            <p:extLst>
              <p:ext uri="{D42A27DB-BD31-4B8C-83A1-F6EECF244321}">
                <p14:modId xmlns:p14="http://schemas.microsoft.com/office/powerpoint/2010/main" val="2182596042"/>
              </p:ext>
            </p:extLst>
          </p:nvPr>
        </p:nvGraphicFramePr>
        <p:xfrm>
          <a:off x="5735638" y="3370613"/>
          <a:ext cx="5334000" cy="2858226"/>
        </p:xfrm>
        <a:graphic>
          <a:graphicData uri="http://schemas.openxmlformats.org/drawingml/2006/table">
            <a:tbl>
              <a:tblPr firstRow="1" bandRow="1"/>
              <a:tblGrid>
                <a:gridCol w="695739">
                  <a:extLst>
                    <a:ext uri="{9D8B030D-6E8A-4147-A177-3AD203B41FA5}">
                      <a16:colId xmlns:a16="http://schemas.microsoft.com/office/drawing/2014/main" val="20000"/>
                    </a:ext>
                  </a:extLst>
                </a:gridCol>
                <a:gridCol w="2586722">
                  <a:extLst>
                    <a:ext uri="{9D8B030D-6E8A-4147-A177-3AD203B41FA5}">
                      <a16:colId xmlns:a16="http://schemas.microsoft.com/office/drawing/2014/main" val="20001"/>
                    </a:ext>
                  </a:extLst>
                </a:gridCol>
                <a:gridCol w="2051539">
                  <a:extLst>
                    <a:ext uri="{9D8B030D-6E8A-4147-A177-3AD203B41FA5}">
                      <a16:colId xmlns:a16="http://schemas.microsoft.com/office/drawing/2014/main" val="20002"/>
                    </a:ext>
                  </a:extLst>
                </a:gridCol>
              </a:tblGrid>
              <a:tr h="325536">
                <a:tc>
                  <a:txBody>
                    <a:bodyPr/>
                    <a:lstStyle>
                      <a:lvl1pPr marL="0" algn="l" defTabSz="685800" rtl="0" eaLnBrk="1" latinLnBrk="0" hangingPunct="1">
                        <a:defRPr sz="1350" b="1" kern="1200">
                          <a:solidFill>
                            <a:schemeClr val="lt1"/>
                          </a:solidFill>
                          <a:latin typeface="Arial"/>
                        </a:defRPr>
                      </a:lvl1pPr>
                      <a:lvl2pPr marL="342900" algn="l" defTabSz="685800" rtl="0" eaLnBrk="1" latinLnBrk="0" hangingPunct="1">
                        <a:defRPr sz="1350" b="1" kern="1200">
                          <a:solidFill>
                            <a:schemeClr val="lt1"/>
                          </a:solidFill>
                          <a:latin typeface="Arial"/>
                        </a:defRPr>
                      </a:lvl2pPr>
                      <a:lvl3pPr marL="685800" algn="l" defTabSz="685800" rtl="0" eaLnBrk="1" latinLnBrk="0" hangingPunct="1">
                        <a:defRPr sz="1350" b="1" kern="1200">
                          <a:solidFill>
                            <a:schemeClr val="lt1"/>
                          </a:solidFill>
                          <a:latin typeface="Arial"/>
                        </a:defRPr>
                      </a:lvl3pPr>
                      <a:lvl4pPr marL="1028700" algn="l" defTabSz="685800" rtl="0" eaLnBrk="1" latinLnBrk="0" hangingPunct="1">
                        <a:defRPr sz="1350" b="1" kern="1200">
                          <a:solidFill>
                            <a:schemeClr val="lt1"/>
                          </a:solidFill>
                          <a:latin typeface="Arial"/>
                        </a:defRPr>
                      </a:lvl4pPr>
                      <a:lvl5pPr marL="1371600" algn="l" defTabSz="685800" rtl="0" eaLnBrk="1" latinLnBrk="0" hangingPunct="1">
                        <a:defRPr sz="1350" b="1" kern="1200">
                          <a:solidFill>
                            <a:schemeClr val="lt1"/>
                          </a:solidFill>
                          <a:latin typeface="Arial"/>
                        </a:defRPr>
                      </a:lvl5pPr>
                      <a:lvl6pPr marL="1714500" algn="l" defTabSz="685800" rtl="0" eaLnBrk="1" latinLnBrk="0" hangingPunct="1">
                        <a:defRPr sz="1350" b="1" kern="1200">
                          <a:solidFill>
                            <a:schemeClr val="lt1"/>
                          </a:solidFill>
                          <a:latin typeface="Arial"/>
                        </a:defRPr>
                      </a:lvl6pPr>
                      <a:lvl7pPr marL="2057400" algn="l" defTabSz="685800" rtl="0" eaLnBrk="1" latinLnBrk="0" hangingPunct="1">
                        <a:defRPr sz="1350" b="1" kern="1200">
                          <a:solidFill>
                            <a:schemeClr val="lt1"/>
                          </a:solidFill>
                          <a:latin typeface="Arial"/>
                        </a:defRPr>
                      </a:lvl7pPr>
                      <a:lvl8pPr marL="2400300" algn="l" defTabSz="685800" rtl="0" eaLnBrk="1" latinLnBrk="0" hangingPunct="1">
                        <a:defRPr sz="1350" b="1" kern="1200">
                          <a:solidFill>
                            <a:schemeClr val="lt1"/>
                          </a:solidFill>
                          <a:latin typeface="Arial"/>
                        </a:defRPr>
                      </a:lvl8pPr>
                      <a:lvl9pPr marL="2743200" algn="l" defTabSz="685800" rtl="0" eaLnBrk="1" latinLnBrk="0" hangingPunct="1">
                        <a:defRPr sz="1350" b="1" kern="1200">
                          <a:solidFill>
                            <a:schemeClr val="lt1"/>
                          </a:solidFill>
                          <a:latin typeface="Arial"/>
                        </a:defRPr>
                      </a:lvl9pPr>
                    </a:lstStyle>
                    <a:p>
                      <a:r>
                        <a:rPr lang="en-US" sz="1600" dirty="0"/>
                        <a:t>Role</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33399"/>
                    </a:solidFill>
                  </a:tcPr>
                </a:tc>
                <a:tc>
                  <a:txBody>
                    <a:bodyPr/>
                    <a:lstStyle>
                      <a:lvl1pPr marL="0" algn="l" defTabSz="685800" rtl="0" eaLnBrk="1" latinLnBrk="0" hangingPunct="1">
                        <a:defRPr sz="1350" b="1" kern="1200">
                          <a:solidFill>
                            <a:schemeClr val="lt1"/>
                          </a:solidFill>
                          <a:latin typeface="Arial"/>
                        </a:defRPr>
                      </a:lvl1pPr>
                      <a:lvl2pPr marL="342900" algn="l" defTabSz="685800" rtl="0" eaLnBrk="1" latinLnBrk="0" hangingPunct="1">
                        <a:defRPr sz="1350" b="1" kern="1200">
                          <a:solidFill>
                            <a:schemeClr val="lt1"/>
                          </a:solidFill>
                          <a:latin typeface="Arial"/>
                        </a:defRPr>
                      </a:lvl2pPr>
                      <a:lvl3pPr marL="685800" algn="l" defTabSz="685800" rtl="0" eaLnBrk="1" latinLnBrk="0" hangingPunct="1">
                        <a:defRPr sz="1350" b="1" kern="1200">
                          <a:solidFill>
                            <a:schemeClr val="lt1"/>
                          </a:solidFill>
                          <a:latin typeface="Arial"/>
                        </a:defRPr>
                      </a:lvl3pPr>
                      <a:lvl4pPr marL="1028700" algn="l" defTabSz="685800" rtl="0" eaLnBrk="1" latinLnBrk="0" hangingPunct="1">
                        <a:defRPr sz="1350" b="1" kern="1200">
                          <a:solidFill>
                            <a:schemeClr val="lt1"/>
                          </a:solidFill>
                          <a:latin typeface="Arial"/>
                        </a:defRPr>
                      </a:lvl4pPr>
                      <a:lvl5pPr marL="1371600" algn="l" defTabSz="685800" rtl="0" eaLnBrk="1" latinLnBrk="0" hangingPunct="1">
                        <a:defRPr sz="1350" b="1" kern="1200">
                          <a:solidFill>
                            <a:schemeClr val="lt1"/>
                          </a:solidFill>
                          <a:latin typeface="Arial"/>
                        </a:defRPr>
                      </a:lvl5pPr>
                      <a:lvl6pPr marL="1714500" algn="l" defTabSz="685800" rtl="0" eaLnBrk="1" latinLnBrk="0" hangingPunct="1">
                        <a:defRPr sz="1350" b="1" kern="1200">
                          <a:solidFill>
                            <a:schemeClr val="lt1"/>
                          </a:solidFill>
                          <a:latin typeface="Arial"/>
                        </a:defRPr>
                      </a:lvl6pPr>
                      <a:lvl7pPr marL="2057400" algn="l" defTabSz="685800" rtl="0" eaLnBrk="1" latinLnBrk="0" hangingPunct="1">
                        <a:defRPr sz="1350" b="1" kern="1200">
                          <a:solidFill>
                            <a:schemeClr val="lt1"/>
                          </a:solidFill>
                          <a:latin typeface="Arial"/>
                        </a:defRPr>
                      </a:lvl7pPr>
                      <a:lvl8pPr marL="2400300" algn="l" defTabSz="685800" rtl="0" eaLnBrk="1" latinLnBrk="0" hangingPunct="1">
                        <a:defRPr sz="1350" b="1" kern="1200">
                          <a:solidFill>
                            <a:schemeClr val="lt1"/>
                          </a:solidFill>
                          <a:latin typeface="Arial"/>
                        </a:defRPr>
                      </a:lvl8pPr>
                      <a:lvl9pPr marL="2743200" algn="l" defTabSz="685800" rtl="0" eaLnBrk="1" latinLnBrk="0" hangingPunct="1">
                        <a:defRPr sz="1350" b="1" kern="1200">
                          <a:solidFill>
                            <a:schemeClr val="lt1"/>
                          </a:solidFill>
                          <a:latin typeface="Arial"/>
                        </a:defRPr>
                      </a:lvl9pPr>
                    </a:lstStyle>
                    <a:p>
                      <a:r>
                        <a:rPr lang="en-US" sz="1600" dirty="0"/>
                        <a:t>Application</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33399"/>
                    </a:solidFill>
                  </a:tcPr>
                </a:tc>
                <a:tc>
                  <a:txBody>
                    <a:bodyPr/>
                    <a:lstStyle>
                      <a:lvl1pPr marL="0" algn="l" defTabSz="685800" rtl="0" eaLnBrk="1" latinLnBrk="0" hangingPunct="1">
                        <a:defRPr sz="1350" b="1" kern="1200">
                          <a:solidFill>
                            <a:schemeClr val="lt1"/>
                          </a:solidFill>
                          <a:latin typeface="Arial"/>
                        </a:defRPr>
                      </a:lvl1pPr>
                      <a:lvl2pPr marL="342900" algn="l" defTabSz="685800" rtl="0" eaLnBrk="1" latinLnBrk="0" hangingPunct="1">
                        <a:defRPr sz="1350" b="1" kern="1200">
                          <a:solidFill>
                            <a:schemeClr val="lt1"/>
                          </a:solidFill>
                          <a:latin typeface="Arial"/>
                        </a:defRPr>
                      </a:lvl2pPr>
                      <a:lvl3pPr marL="685800" algn="l" defTabSz="685800" rtl="0" eaLnBrk="1" latinLnBrk="0" hangingPunct="1">
                        <a:defRPr sz="1350" b="1" kern="1200">
                          <a:solidFill>
                            <a:schemeClr val="lt1"/>
                          </a:solidFill>
                          <a:latin typeface="Arial"/>
                        </a:defRPr>
                      </a:lvl3pPr>
                      <a:lvl4pPr marL="1028700" algn="l" defTabSz="685800" rtl="0" eaLnBrk="1" latinLnBrk="0" hangingPunct="1">
                        <a:defRPr sz="1350" b="1" kern="1200">
                          <a:solidFill>
                            <a:schemeClr val="lt1"/>
                          </a:solidFill>
                          <a:latin typeface="Arial"/>
                        </a:defRPr>
                      </a:lvl4pPr>
                      <a:lvl5pPr marL="1371600" algn="l" defTabSz="685800" rtl="0" eaLnBrk="1" latinLnBrk="0" hangingPunct="1">
                        <a:defRPr sz="1350" b="1" kern="1200">
                          <a:solidFill>
                            <a:schemeClr val="lt1"/>
                          </a:solidFill>
                          <a:latin typeface="Arial"/>
                        </a:defRPr>
                      </a:lvl5pPr>
                      <a:lvl6pPr marL="1714500" algn="l" defTabSz="685800" rtl="0" eaLnBrk="1" latinLnBrk="0" hangingPunct="1">
                        <a:defRPr sz="1350" b="1" kern="1200">
                          <a:solidFill>
                            <a:schemeClr val="lt1"/>
                          </a:solidFill>
                          <a:latin typeface="Arial"/>
                        </a:defRPr>
                      </a:lvl6pPr>
                      <a:lvl7pPr marL="2057400" algn="l" defTabSz="685800" rtl="0" eaLnBrk="1" latinLnBrk="0" hangingPunct="1">
                        <a:defRPr sz="1350" b="1" kern="1200">
                          <a:solidFill>
                            <a:schemeClr val="lt1"/>
                          </a:solidFill>
                          <a:latin typeface="Arial"/>
                        </a:defRPr>
                      </a:lvl7pPr>
                      <a:lvl8pPr marL="2400300" algn="l" defTabSz="685800" rtl="0" eaLnBrk="1" latinLnBrk="0" hangingPunct="1">
                        <a:defRPr sz="1350" b="1" kern="1200">
                          <a:solidFill>
                            <a:schemeClr val="lt1"/>
                          </a:solidFill>
                          <a:latin typeface="Arial"/>
                        </a:defRPr>
                      </a:lvl8pPr>
                      <a:lvl9pPr marL="2743200" algn="l" defTabSz="685800" rtl="0" eaLnBrk="1" latinLnBrk="0" hangingPunct="1">
                        <a:defRPr sz="1350" b="1" kern="1200">
                          <a:solidFill>
                            <a:schemeClr val="lt1"/>
                          </a:solidFill>
                          <a:latin typeface="Arial"/>
                        </a:defRPr>
                      </a:lvl9pPr>
                    </a:lstStyle>
                    <a:p>
                      <a:r>
                        <a:rPr lang="en-US" sz="1600" dirty="0"/>
                        <a:t>Access </a:t>
                      </a:r>
                      <a:r>
                        <a:rPr lang="en-US" sz="1600" baseline="0" dirty="0"/>
                        <a:t> Right</a:t>
                      </a:r>
                      <a:endParaRPr lang="en-US" sz="1600"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33399"/>
                    </a:solidFill>
                  </a:tcPr>
                </a:tc>
                <a:extLst>
                  <a:ext uri="{0D108BD9-81ED-4DB2-BD59-A6C34878D82A}">
                    <a16:rowId xmlns:a16="http://schemas.microsoft.com/office/drawing/2014/main" val="10000"/>
                  </a:ext>
                </a:extLst>
              </a:tr>
              <a:tr h="569688">
                <a:tc rowSpan="2">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sz="1600" dirty="0"/>
                        <a:t>A</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sz="1600" dirty="0"/>
                        <a:t>money market instruments</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sz="1600" dirty="0"/>
                        <a:t>1,2,3,4</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extLst>
                  <a:ext uri="{0D108BD9-81ED-4DB2-BD59-A6C34878D82A}">
                    <a16:rowId xmlns:a16="http://schemas.microsoft.com/office/drawing/2014/main" val="10001"/>
                  </a:ext>
                </a:extLst>
              </a:tr>
              <a:tr h="377730">
                <a:tc vMerge="1">
                  <a:txBody>
                    <a:bodyPr/>
                    <a:lstStyle/>
                    <a:p>
                      <a:endParaRPr lang="en-US"/>
                    </a:p>
                  </a:txBody>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sz="1600" dirty="0"/>
                        <a:t>derivatives trading</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sz="1600" dirty="0"/>
                        <a:t>1,2,3,7,10,12</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extLst>
                  <a:ext uri="{0D108BD9-81ED-4DB2-BD59-A6C34878D82A}">
                    <a16:rowId xmlns:a16="http://schemas.microsoft.com/office/drawing/2014/main" val="10002"/>
                  </a:ext>
                </a:extLst>
              </a:tr>
              <a:tr h="569688">
                <a:tc rowSpan="3">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sz="1600" dirty="0"/>
                        <a:t>B</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sz="1600" dirty="0"/>
                        <a:t>money market instruments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sz="1600" dirty="0"/>
                        <a:t>1,2,3,4,7,</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extLst>
                  <a:ext uri="{0D108BD9-81ED-4DB2-BD59-A6C34878D82A}">
                    <a16:rowId xmlns:a16="http://schemas.microsoft.com/office/drawing/2014/main" val="10003"/>
                  </a:ext>
                </a:extLst>
              </a:tr>
              <a:tr h="325536">
                <a:tc vMerge="1">
                  <a:txBody>
                    <a:bodyPr/>
                    <a:lstStyle/>
                    <a:p>
                      <a:endParaRPr lang="en-US"/>
                    </a:p>
                  </a:txBody>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sz="1600" dirty="0"/>
                        <a:t>derivatives trading</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sz="1600" dirty="0"/>
                        <a:t>1,2,3,7,10,12</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extLst>
                  <a:ext uri="{0D108BD9-81ED-4DB2-BD59-A6C34878D82A}">
                    <a16:rowId xmlns:a16="http://schemas.microsoft.com/office/drawing/2014/main" val="10004"/>
                  </a:ext>
                </a:extLst>
              </a:tr>
              <a:tr h="325536">
                <a:tc vMerge="1">
                  <a:txBody>
                    <a:bodyPr/>
                    <a:lstStyle/>
                    <a:p>
                      <a:endParaRPr lang="en-US"/>
                    </a:p>
                  </a:txBody>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sz="1600" dirty="0"/>
                        <a:t>interest</a:t>
                      </a:r>
                      <a:r>
                        <a:rPr lang="en-US" sz="1600" baseline="0" dirty="0"/>
                        <a:t> instruments</a:t>
                      </a:r>
                      <a:endParaRPr lang="en-US" sz="16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sz="1600" dirty="0"/>
                        <a:t>1,4,8,12,14</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extLst>
                  <a:ext uri="{0D108BD9-81ED-4DB2-BD59-A6C34878D82A}">
                    <a16:rowId xmlns:a16="http://schemas.microsoft.com/office/drawing/2014/main" val="10005"/>
                  </a:ext>
                </a:extLst>
              </a:tr>
              <a:tr h="325536">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sz="1600" dirty="0"/>
                        <a: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sz="1600" dirty="0"/>
                        <a: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r>
                        <a:rPr lang="en-US" sz="1600" dirty="0"/>
                        <a: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extLst>
                  <a:ext uri="{0D108BD9-81ED-4DB2-BD59-A6C34878D82A}">
                    <a16:rowId xmlns:a16="http://schemas.microsoft.com/office/drawing/2014/main" val="10006"/>
                  </a:ext>
                </a:extLst>
              </a:tr>
            </a:tbl>
          </a:graphicData>
        </a:graphic>
      </p:graphicFrame>
      <p:sp>
        <p:nvSpPr>
          <p:cNvPr id="34" name="TextBox 33">
            <a:extLst>
              <a:ext uri="{FF2B5EF4-FFF2-40B4-BE49-F238E27FC236}">
                <a16:creationId xmlns:a16="http://schemas.microsoft.com/office/drawing/2014/main" id="{DC9B0F9D-85BF-554F-A5D6-188FF101CDD7}"/>
              </a:ext>
            </a:extLst>
          </p:cNvPr>
          <p:cNvSpPr txBox="1"/>
          <p:nvPr/>
        </p:nvSpPr>
        <p:spPr>
          <a:xfrm>
            <a:off x="6745998" y="475013"/>
            <a:ext cx="3676006" cy="400110"/>
          </a:xfrm>
          <a:prstGeom prst="rect">
            <a:avLst/>
          </a:prstGeom>
          <a:noFill/>
        </p:spPr>
        <p:txBody>
          <a:bodyPr wrap="none" rtlCol="0">
            <a:spAutoFit/>
          </a:bodyPr>
          <a:lstStyle/>
          <a:p>
            <a:pPr defTabSz="914400" fontAlgn="base">
              <a:spcBef>
                <a:spcPct val="0"/>
              </a:spcBef>
              <a:spcAft>
                <a:spcPct val="0"/>
              </a:spcAft>
            </a:pPr>
            <a:r>
              <a:rPr lang="en-US" sz="2000" b="1" dirty="0">
                <a:solidFill>
                  <a:srgbClr val="00B050"/>
                </a:solidFill>
                <a:latin typeface="Times New Roman" pitchFamily="18" charset="0"/>
              </a:rPr>
              <a:t>Functions and Official Positions</a:t>
            </a:r>
          </a:p>
        </p:txBody>
      </p:sp>
      <p:sp>
        <p:nvSpPr>
          <p:cNvPr id="35" name="TextBox 34">
            <a:extLst>
              <a:ext uri="{FF2B5EF4-FFF2-40B4-BE49-F238E27FC236}">
                <a16:creationId xmlns:a16="http://schemas.microsoft.com/office/drawing/2014/main" id="{86415FC5-0E31-1840-BA25-2D5FDF5C0A7A}"/>
              </a:ext>
            </a:extLst>
          </p:cNvPr>
          <p:cNvSpPr txBox="1"/>
          <p:nvPr/>
        </p:nvSpPr>
        <p:spPr>
          <a:xfrm>
            <a:off x="6650039" y="2913413"/>
            <a:ext cx="2823465" cy="400110"/>
          </a:xfrm>
          <a:prstGeom prst="rect">
            <a:avLst/>
          </a:prstGeom>
          <a:noFill/>
        </p:spPr>
        <p:txBody>
          <a:bodyPr wrap="none" rtlCol="0">
            <a:spAutoFit/>
          </a:bodyPr>
          <a:lstStyle/>
          <a:p>
            <a:pPr defTabSz="914400" fontAlgn="base">
              <a:spcBef>
                <a:spcPct val="0"/>
              </a:spcBef>
              <a:spcAft>
                <a:spcPct val="0"/>
              </a:spcAft>
            </a:pPr>
            <a:r>
              <a:rPr lang="en-US" sz="2000" b="1" dirty="0">
                <a:solidFill>
                  <a:srgbClr val="2D2D8A">
                    <a:lumMod val="60000"/>
                    <a:lumOff val="40000"/>
                  </a:srgbClr>
                </a:solidFill>
                <a:latin typeface="Times New Roman" pitchFamily="18" charset="0"/>
              </a:rPr>
              <a:t>Permission Assignments</a:t>
            </a:r>
          </a:p>
        </p:txBody>
      </p:sp>
      <p:pic>
        <p:nvPicPr>
          <p:cNvPr id="36" name="Picture 2">
            <a:extLst>
              <a:ext uri="{FF2B5EF4-FFF2-40B4-BE49-F238E27FC236}">
                <a16:creationId xmlns:a16="http://schemas.microsoft.com/office/drawing/2014/main" id="{FC88B0AE-C14C-0940-AA67-6BF7E57A2768}"/>
              </a:ext>
            </a:extLst>
          </p:cNvPr>
          <p:cNvPicPr>
            <a:picLocks noChangeAspect="1" noChangeArrowheads="1"/>
          </p:cNvPicPr>
          <p:nvPr/>
        </p:nvPicPr>
        <p:blipFill>
          <a:blip r:embed="rId3"/>
          <a:srcRect/>
          <a:stretch>
            <a:fillRect/>
          </a:stretch>
        </p:blipFill>
        <p:spPr bwMode="auto">
          <a:xfrm>
            <a:off x="2306638" y="1008414"/>
            <a:ext cx="1498102" cy="1219200"/>
          </a:xfrm>
          <a:prstGeom prst="rect">
            <a:avLst/>
          </a:prstGeom>
          <a:noFill/>
          <a:ln w="9525">
            <a:noFill/>
            <a:miter lim="800000"/>
            <a:headEnd/>
            <a:tailEnd/>
          </a:ln>
          <a:effectLst/>
        </p:spPr>
      </p:pic>
      <p:pic>
        <p:nvPicPr>
          <p:cNvPr id="37" name="Picture 3">
            <a:extLst>
              <a:ext uri="{FF2B5EF4-FFF2-40B4-BE49-F238E27FC236}">
                <a16:creationId xmlns:a16="http://schemas.microsoft.com/office/drawing/2014/main" id="{4FEBED12-F1B4-8447-A45D-34DE12BF0790}"/>
              </a:ext>
            </a:extLst>
          </p:cNvPr>
          <p:cNvPicPr>
            <a:picLocks noChangeAspect="1" noChangeArrowheads="1"/>
          </p:cNvPicPr>
          <p:nvPr/>
        </p:nvPicPr>
        <p:blipFill>
          <a:blip r:embed="rId4"/>
          <a:srcRect/>
          <a:stretch>
            <a:fillRect/>
          </a:stretch>
        </p:blipFill>
        <p:spPr bwMode="auto">
          <a:xfrm>
            <a:off x="2306638" y="2453493"/>
            <a:ext cx="1371600" cy="1298121"/>
          </a:xfrm>
          <a:prstGeom prst="rect">
            <a:avLst/>
          </a:prstGeom>
          <a:noFill/>
          <a:ln w="9525">
            <a:noFill/>
            <a:miter lim="800000"/>
            <a:headEnd/>
            <a:tailEnd/>
          </a:ln>
          <a:effectLst/>
        </p:spPr>
      </p:pic>
      <p:cxnSp>
        <p:nvCxnSpPr>
          <p:cNvPr id="38" name="Straight Connector 37">
            <a:extLst>
              <a:ext uri="{FF2B5EF4-FFF2-40B4-BE49-F238E27FC236}">
                <a16:creationId xmlns:a16="http://schemas.microsoft.com/office/drawing/2014/main" id="{9FB65CCE-17CD-794B-A404-F681FD4CDE61}"/>
              </a:ext>
            </a:extLst>
          </p:cNvPr>
          <p:cNvCxnSpPr>
            <a:stCxn id="36" idx="3"/>
          </p:cNvCxnSpPr>
          <p:nvPr/>
        </p:nvCxnSpPr>
        <p:spPr>
          <a:xfrm flipV="1">
            <a:off x="3804740" y="1618014"/>
            <a:ext cx="2311898" cy="1"/>
          </a:xfrm>
          <a:prstGeom prst="line">
            <a:avLst/>
          </a:prstGeom>
          <a:noFill/>
          <a:ln w="9525" cap="flat" cmpd="sng" algn="ctr">
            <a:solidFill>
              <a:srgbClr val="BBE0E3">
                <a:shade val="95000"/>
                <a:satMod val="105000"/>
              </a:srgbClr>
            </a:solidFill>
            <a:prstDash val="solid"/>
          </a:ln>
          <a:effectLst/>
        </p:spPr>
      </p:cxnSp>
      <p:cxnSp>
        <p:nvCxnSpPr>
          <p:cNvPr id="39" name="Straight Connector 38">
            <a:extLst>
              <a:ext uri="{FF2B5EF4-FFF2-40B4-BE49-F238E27FC236}">
                <a16:creationId xmlns:a16="http://schemas.microsoft.com/office/drawing/2014/main" id="{CFA395D8-0D0B-834C-9E71-C9F50158B07D}"/>
              </a:ext>
            </a:extLst>
          </p:cNvPr>
          <p:cNvCxnSpPr>
            <a:stCxn id="37" idx="3"/>
          </p:cNvCxnSpPr>
          <p:nvPr/>
        </p:nvCxnSpPr>
        <p:spPr>
          <a:xfrm flipV="1">
            <a:off x="3678238" y="1843893"/>
            <a:ext cx="2362200" cy="1258661"/>
          </a:xfrm>
          <a:prstGeom prst="line">
            <a:avLst/>
          </a:prstGeom>
          <a:noFill/>
          <a:ln w="9525" cap="flat" cmpd="sng" algn="ctr">
            <a:solidFill>
              <a:srgbClr val="BBE0E3">
                <a:shade val="95000"/>
                <a:satMod val="105000"/>
              </a:srgbClr>
            </a:solidFill>
            <a:prstDash val="solid"/>
          </a:ln>
          <a:effectLst/>
        </p:spPr>
      </p:cxnSp>
      <p:cxnSp>
        <p:nvCxnSpPr>
          <p:cNvPr id="40" name="Straight Connector 39">
            <a:extLst>
              <a:ext uri="{FF2B5EF4-FFF2-40B4-BE49-F238E27FC236}">
                <a16:creationId xmlns:a16="http://schemas.microsoft.com/office/drawing/2014/main" id="{3512BF1B-4730-F44A-8806-1E7F67808DE2}"/>
              </a:ext>
            </a:extLst>
          </p:cNvPr>
          <p:cNvCxnSpPr/>
          <p:nvPr/>
        </p:nvCxnSpPr>
        <p:spPr>
          <a:xfrm flipV="1">
            <a:off x="3373438" y="1999013"/>
            <a:ext cx="2743200" cy="2795954"/>
          </a:xfrm>
          <a:prstGeom prst="line">
            <a:avLst/>
          </a:prstGeom>
          <a:noFill/>
          <a:ln w="9525" cap="flat" cmpd="sng" algn="ctr">
            <a:solidFill>
              <a:srgbClr val="BBE0E3">
                <a:shade val="95000"/>
                <a:satMod val="105000"/>
              </a:srgbClr>
            </a:solidFill>
            <a:prstDash val="solid"/>
          </a:ln>
          <a:effectLst/>
        </p:spPr>
      </p:cxnSp>
      <p:pic>
        <p:nvPicPr>
          <p:cNvPr id="41" name="Picture 5">
            <a:extLst>
              <a:ext uri="{FF2B5EF4-FFF2-40B4-BE49-F238E27FC236}">
                <a16:creationId xmlns:a16="http://schemas.microsoft.com/office/drawing/2014/main" id="{7D2CCECE-F656-204D-83EC-626B0863CAF3}"/>
              </a:ext>
            </a:extLst>
          </p:cNvPr>
          <p:cNvPicPr>
            <a:picLocks noChangeAspect="1" noChangeArrowheads="1"/>
          </p:cNvPicPr>
          <p:nvPr/>
        </p:nvPicPr>
        <p:blipFill>
          <a:blip r:embed="rId5"/>
          <a:srcRect/>
          <a:stretch>
            <a:fillRect/>
          </a:stretch>
        </p:blipFill>
        <p:spPr bwMode="auto">
          <a:xfrm>
            <a:off x="2306638" y="3980213"/>
            <a:ext cx="1200150" cy="1828800"/>
          </a:xfrm>
          <a:prstGeom prst="rect">
            <a:avLst/>
          </a:prstGeom>
          <a:noFill/>
          <a:ln w="9525">
            <a:noFill/>
            <a:miter lim="800000"/>
            <a:headEnd/>
            <a:tailEnd/>
          </a:ln>
          <a:effectLst/>
        </p:spPr>
      </p:pic>
      <p:sp>
        <p:nvSpPr>
          <p:cNvPr id="42" name="TextBox 41">
            <a:extLst>
              <a:ext uri="{FF2B5EF4-FFF2-40B4-BE49-F238E27FC236}">
                <a16:creationId xmlns:a16="http://schemas.microsoft.com/office/drawing/2014/main" id="{C511639E-66A3-E342-9B1E-A9E623EB04DE}"/>
              </a:ext>
            </a:extLst>
          </p:cNvPr>
          <p:cNvSpPr txBox="1"/>
          <p:nvPr/>
        </p:nvSpPr>
        <p:spPr>
          <a:xfrm>
            <a:off x="2992439" y="779814"/>
            <a:ext cx="863989" cy="461665"/>
          </a:xfrm>
          <a:prstGeom prst="rect">
            <a:avLst/>
          </a:prstGeom>
          <a:noFill/>
        </p:spPr>
        <p:txBody>
          <a:bodyPr wrap="none" rtlCol="0">
            <a:spAutoFit/>
          </a:bodyPr>
          <a:lstStyle/>
          <a:p>
            <a:pPr defTabSz="914400" fontAlgn="base">
              <a:spcBef>
                <a:spcPct val="0"/>
              </a:spcBef>
              <a:spcAft>
                <a:spcPct val="0"/>
              </a:spcAft>
            </a:pPr>
            <a:r>
              <a:rPr lang="en-US" sz="2400" dirty="0">
                <a:solidFill>
                  <a:srgbClr val="000000"/>
                </a:solidFill>
                <a:latin typeface="Times New Roman" pitchFamily="18" charset="0"/>
              </a:rPr>
              <a:t>Alice</a:t>
            </a:r>
          </a:p>
        </p:txBody>
      </p:sp>
      <p:sp>
        <p:nvSpPr>
          <p:cNvPr id="43" name="TextBox 42">
            <a:extLst>
              <a:ext uri="{FF2B5EF4-FFF2-40B4-BE49-F238E27FC236}">
                <a16:creationId xmlns:a16="http://schemas.microsoft.com/office/drawing/2014/main" id="{4B7BCB5A-2726-E647-B7CA-472213422B7B}"/>
              </a:ext>
            </a:extLst>
          </p:cNvPr>
          <p:cNvSpPr txBox="1"/>
          <p:nvPr/>
        </p:nvSpPr>
        <p:spPr>
          <a:xfrm>
            <a:off x="3221038" y="2227614"/>
            <a:ext cx="663162" cy="461665"/>
          </a:xfrm>
          <a:prstGeom prst="rect">
            <a:avLst/>
          </a:prstGeom>
          <a:noFill/>
        </p:spPr>
        <p:txBody>
          <a:bodyPr wrap="none" rtlCol="0">
            <a:spAutoFit/>
          </a:bodyPr>
          <a:lstStyle/>
          <a:p>
            <a:pPr defTabSz="914400" fontAlgn="base">
              <a:spcBef>
                <a:spcPct val="0"/>
              </a:spcBef>
              <a:spcAft>
                <a:spcPct val="0"/>
              </a:spcAft>
            </a:pPr>
            <a:r>
              <a:rPr lang="en-US" sz="2400" dirty="0">
                <a:solidFill>
                  <a:srgbClr val="000000"/>
                </a:solidFill>
                <a:latin typeface="Times New Roman" pitchFamily="18" charset="0"/>
              </a:rPr>
              <a:t>Eve</a:t>
            </a:r>
          </a:p>
        </p:txBody>
      </p:sp>
      <p:sp>
        <p:nvSpPr>
          <p:cNvPr id="44" name="TextBox 43">
            <a:extLst>
              <a:ext uri="{FF2B5EF4-FFF2-40B4-BE49-F238E27FC236}">
                <a16:creationId xmlns:a16="http://schemas.microsoft.com/office/drawing/2014/main" id="{30135264-E05E-4B4B-9277-EC17A88EB254}"/>
              </a:ext>
            </a:extLst>
          </p:cNvPr>
          <p:cNvSpPr txBox="1"/>
          <p:nvPr/>
        </p:nvSpPr>
        <p:spPr>
          <a:xfrm>
            <a:off x="3525839" y="4818414"/>
            <a:ext cx="697727" cy="461665"/>
          </a:xfrm>
          <a:prstGeom prst="rect">
            <a:avLst/>
          </a:prstGeom>
          <a:noFill/>
        </p:spPr>
        <p:txBody>
          <a:bodyPr wrap="none" rtlCol="0">
            <a:spAutoFit/>
          </a:bodyPr>
          <a:lstStyle/>
          <a:p>
            <a:pPr defTabSz="914400" fontAlgn="base">
              <a:spcBef>
                <a:spcPct val="0"/>
              </a:spcBef>
              <a:spcAft>
                <a:spcPct val="0"/>
              </a:spcAft>
            </a:pPr>
            <a:r>
              <a:rPr lang="en-US" sz="2400" dirty="0">
                <a:solidFill>
                  <a:srgbClr val="000000"/>
                </a:solidFill>
                <a:latin typeface="Times New Roman" pitchFamily="18" charset="0"/>
              </a:rPr>
              <a:t>Bob</a:t>
            </a:r>
          </a:p>
        </p:txBody>
      </p:sp>
    </p:spTree>
    <p:extLst>
      <p:ext uri="{BB962C8B-B14F-4D97-AF65-F5344CB8AC3E}">
        <p14:creationId xmlns:p14="http://schemas.microsoft.com/office/powerpoint/2010/main" val="37352441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Grp="1" noChangeArrowheads="1"/>
          </p:cNvSpPr>
          <p:nvPr>
            <p:ph type="title"/>
          </p:nvPr>
        </p:nvSpPr>
        <p:spPr/>
        <p:txBody>
          <a:bodyPr/>
          <a:lstStyle/>
          <a:p>
            <a:r>
              <a:rPr lang="en-US" dirty="0"/>
              <a:t>Flexible Security Management</a:t>
            </a:r>
          </a:p>
        </p:txBody>
      </p:sp>
      <p:sp>
        <p:nvSpPr>
          <p:cNvPr id="4" name="Text Placeholder 3">
            <a:extLst>
              <a:ext uri="{FF2B5EF4-FFF2-40B4-BE49-F238E27FC236}">
                <a16:creationId xmlns:a16="http://schemas.microsoft.com/office/drawing/2014/main" id="{684589DC-1319-E547-BCEA-EE512C832ADE}"/>
              </a:ext>
            </a:extLst>
          </p:cNvPr>
          <p:cNvSpPr>
            <a:spLocks noGrp="1"/>
          </p:cNvSpPr>
          <p:nvPr>
            <p:ph type="body" idx="11"/>
          </p:nvPr>
        </p:nvSpPr>
        <p:spPr/>
        <p:txBody>
          <a:bodyPr/>
          <a:lstStyle/>
          <a:p>
            <a:endParaRPr lang="en-US"/>
          </a:p>
        </p:txBody>
      </p:sp>
      <p:sp>
        <p:nvSpPr>
          <p:cNvPr id="599043" name="Rectangle 3"/>
          <p:cNvSpPr>
            <a:spLocks noGrp="1" noChangeArrowheads="1"/>
          </p:cNvSpPr>
          <p:nvPr>
            <p:ph idx="1"/>
          </p:nvPr>
        </p:nvSpPr>
        <p:spPr>
          <a:xfrm>
            <a:off x="513349" y="1268243"/>
            <a:ext cx="10840451" cy="2347372"/>
          </a:xfrm>
        </p:spPr>
        <p:txBody>
          <a:bodyPr/>
          <a:lstStyle/>
          <a:p>
            <a:r>
              <a:rPr lang="en-US" dirty="0"/>
              <a:t>Security management is simpler with RBAC</a:t>
            </a:r>
          </a:p>
          <a:p>
            <a:pPr lvl="1"/>
            <a:r>
              <a:rPr lang="en-US" dirty="0">
                <a:solidFill>
                  <a:srgbClr val="002060"/>
                </a:solidFill>
              </a:rPr>
              <a:t>User-role relationship </a:t>
            </a:r>
            <a:r>
              <a:rPr lang="en-US" dirty="0"/>
              <a:t>changes over time</a:t>
            </a:r>
          </a:p>
          <a:p>
            <a:pPr lvl="1"/>
            <a:r>
              <a:rPr lang="en-US" dirty="0">
                <a:solidFill>
                  <a:srgbClr val="002060"/>
                </a:solidFill>
              </a:rPr>
              <a:t>Role-permission relationship </a:t>
            </a:r>
            <a:r>
              <a:rPr lang="en-US" dirty="0"/>
              <a:t>is relatively stable</a:t>
            </a:r>
          </a:p>
          <a:p>
            <a:pPr lvl="1"/>
            <a:r>
              <a:rPr lang="en-US" dirty="0"/>
              <a:t>Security management based on roles rather than permissions is simpler.</a:t>
            </a:r>
          </a:p>
        </p:txBody>
      </p:sp>
      <p:grpSp>
        <p:nvGrpSpPr>
          <p:cNvPr id="5" name="Group 4">
            <a:extLst>
              <a:ext uri="{FF2B5EF4-FFF2-40B4-BE49-F238E27FC236}">
                <a16:creationId xmlns:a16="http://schemas.microsoft.com/office/drawing/2014/main" id="{3951CAB4-C83D-A343-870C-008E00CC21B1}"/>
              </a:ext>
            </a:extLst>
          </p:cNvPr>
          <p:cNvGrpSpPr/>
          <p:nvPr/>
        </p:nvGrpSpPr>
        <p:grpSpPr>
          <a:xfrm>
            <a:off x="2667000" y="3429000"/>
            <a:ext cx="6858000" cy="2438401"/>
            <a:chOff x="2362200" y="3962400"/>
            <a:chExt cx="6858000" cy="2438401"/>
          </a:xfrm>
        </p:grpSpPr>
        <p:sp>
          <p:nvSpPr>
            <p:cNvPr id="36" name="Text Box 4">
              <a:extLst>
                <a:ext uri="{FF2B5EF4-FFF2-40B4-BE49-F238E27FC236}">
                  <a16:creationId xmlns:a16="http://schemas.microsoft.com/office/drawing/2014/main" id="{1663C8FB-EE37-294F-9504-02EF9057AAFD}"/>
                </a:ext>
              </a:extLst>
            </p:cNvPr>
            <p:cNvSpPr txBox="1">
              <a:spLocks noChangeArrowheads="1"/>
            </p:cNvSpPr>
            <p:nvPr/>
          </p:nvSpPr>
          <p:spPr bwMode="auto">
            <a:xfrm>
              <a:off x="2362200" y="4905376"/>
              <a:ext cx="762000" cy="461665"/>
            </a:xfrm>
            <a:prstGeom prst="rect">
              <a:avLst/>
            </a:prstGeom>
            <a:noFill/>
            <a:ln w="38100">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339966"/>
                  </a:solidFill>
                  <a:effectLst/>
                  <a:uLnTx/>
                  <a:uFillTx/>
                  <a:latin typeface="Times New Roman" pitchFamily="18" charset="0"/>
                </a:rPr>
                <a:t>user</a:t>
              </a:r>
            </a:p>
          </p:txBody>
        </p:sp>
        <p:sp>
          <p:nvSpPr>
            <p:cNvPr id="37" name="Text Box 5">
              <a:extLst>
                <a:ext uri="{FF2B5EF4-FFF2-40B4-BE49-F238E27FC236}">
                  <a16:creationId xmlns:a16="http://schemas.microsoft.com/office/drawing/2014/main" id="{99807497-3F2E-5545-A790-A1E1A4B9E77A}"/>
                </a:ext>
              </a:extLst>
            </p:cNvPr>
            <p:cNvSpPr txBox="1">
              <a:spLocks noChangeArrowheads="1"/>
            </p:cNvSpPr>
            <p:nvPr/>
          </p:nvSpPr>
          <p:spPr bwMode="auto">
            <a:xfrm>
              <a:off x="7620000" y="4905376"/>
              <a:ext cx="1600200" cy="461665"/>
            </a:xfrm>
            <a:prstGeom prst="rect">
              <a:avLst/>
            </a:prstGeom>
            <a:noFill/>
            <a:ln w="38100">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339966"/>
                  </a:solidFill>
                  <a:effectLst/>
                  <a:uLnTx/>
                  <a:uFillTx/>
                  <a:latin typeface="Times New Roman" pitchFamily="18" charset="0"/>
                </a:rPr>
                <a:t>permission</a:t>
              </a:r>
            </a:p>
          </p:txBody>
        </p:sp>
        <p:sp>
          <p:nvSpPr>
            <p:cNvPr id="38" name="Text Box 6">
              <a:extLst>
                <a:ext uri="{FF2B5EF4-FFF2-40B4-BE49-F238E27FC236}">
                  <a16:creationId xmlns:a16="http://schemas.microsoft.com/office/drawing/2014/main" id="{A62BE3E8-2CCC-BE43-8D05-2CFA383FA632}"/>
                </a:ext>
              </a:extLst>
            </p:cNvPr>
            <p:cNvSpPr txBox="1">
              <a:spLocks noChangeArrowheads="1"/>
            </p:cNvSpPr>
            <p:nvPr/>
          </p:nvSpPr>
          <p:spPr bwMode="auto">
            <a:xfrm>
              <a:off x="4419600" y="4905376"/>
              <a:ext cx="762000" cy="461665"/>
            </a:xfrm>
            <a:prstGeom prst="rect">
              <a:avLst/>
            </a:prstGeom>
            <a:noFill/>
            <a:ln w="38100">
              <a:solidFill>
                <a:srgbClr val="000000"/>
              </a:solid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339966"/>
                  </a:solidFill>
                  <a:effectLst/>
                  <a:uLnTx/>
                  <a:uFillTx/>
                  <a:latin typeface="Times New Roman" pitchFamily="18" charset="0"/>
                </a:rPr>
                <a:t>role</a:t>
              </a:r>
            </a:p>
          </p:txBody>
        </p:sp>
        <p:sp>
          <p:nvSpPr>
            <p:cNvPr id="39" name="Line 7">
              <a:extLst>
                <a:ext uri="{FF2B5EF4-FFF2-40B4-BE49-F238E27FC236}">
                  <a16:creationId xmlns:a16="http://schemas.microsoft.com/office/drawing/2014/main" id="{5F2C371F-38F0-D74E-AAB7-ECEA8A387FB8}"/>
                </a:ext>
              </a:extLst>
            </p:cNvPr>
            <p:cNvSpPr>
              <a:spLocks noChangeShapeType="1"/>
            </p:cNvSpPr>
            <p:nvPr/>
          </p:nvSpPr>
          <p:spPr bwMode="auto">
            <a:xfrm>
              <a:off x="3124200" y="5133975"/>
              <a:ext cx="1295400" cy="0"/>
            </a:xfrm>
            <a:prstGeom prst="line">
              <a:avLst/>
            </a:prstGeom>
            <a:noFill/>
            <a:ln w="38100">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40" name="Line 8">
              <a:extLst>
                <a:ext uri="{FF2B5EF4-FFF2-40B4-BE49-F238E27FC236}">
                  <a16:creationId xmlns:a16="http://schemas.microsoft.com/office/drawing/2014/main" id="{9C8EE51F-0645-FD4C-B343-2F1E0356F334}"/>
                </a:ext>
              </a:extLst>
            </p:cNvPr>
            <p:cNvSpPr>
              <a:spLocks noChangeShapeType="1"/>
            </p:cNvSpPr>
            <p:nvPr/>
          </p:nvSpPr>
          <p:spPr bwMode="auto">
            <a:xfrm>
              <a:off x="5181600" y="5133975"/>
              <a:ext cx="2438400" cy="0"/>
            </a:xfrm>
            <a:prstGeom prst="line">
              <a:avLst/>
            </a:prstGeom>
            <a:noFill/>
            <a:ln w="38100">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41" name="Text Box 9">
              <a:extLst>
                <a:ext uri="{FF2B5EF4-FFF2-40B4-BE49-F238E27FC236}">
                  <a16:creationId xmlns:a16="http://schemas.microsoft.com/office/drawing/2014/main" id="{833966F0-C705-9E40-A506-EF172F4AF8FB}"/>
                </a:ext>
              </a:extLst>
            </p:cNvPr>
            <p:cNvSpPr txBox="1">
              <a:spLocks noChangeArrowheads="1"/>
            </p:cNvSpPr>
            <p:nvPr/>
          </p:nvSpPr>
          <p:spPr bwMode="auto">
            <a:xfrm>
              <a:off x="3276600" y="4829176"/>
              <a:ext cx="1143000" cy="581025"/>
            </a:xfrm>
            <a:prstGeom prst="rect">
              <a:avLst/>
            </a:prstGeom>
            <a:noFill/>
            <a:ln w="38100">
              <a:noFill/>
              <a:miter lim="800000"/>
              <a:headEnd/>
              <a:tailEnd/>
            </a:ln>
            <a:effectLst/>
          </p:spPr>
          <p:txBody>
            <a:bodyPr>
              <a:spAutoFit/>
            </a:bodyPr>
            <a:lstStyle/>
            <a:p>
              <a:pPr defTabSz="914400" fontAlgn="base">
                <a:spcBef>
                  <a:spcPct val="50000"/>
                </a:spcBef>
                <a:spcAft>
                  <a:spcPct val="0"/>
                </a:spcAft>
              </a:pPr>
              <a:r>
                <a:rPr lang="en-US" sz="1600">
                  <a:solidFill>
                    <a:srgbClr val="339966"/>
                  </a:solidFill>
                  <a:latin typeface="Times New Roman" pitchFamily="18" charset="0"/>
                </a:rPr>
                <a:t>UA: user assignment</a:t>
              </a:r>
            </a:p>
          </p:txBody>
        </p:sp>
        <p:sp>
          <p:nvSpPr>
            <p:cNvPr id="42" name="Text Box 10">
              <a:extLst>
                <a:ext uri="{FF2B5EF4-FFF2-40B4-BE49-F238E27FC236}">
                  <a16:creationId xmlns:a16="http://schemas.microsoft.com/office/drawing/2014/main" id="{4D9B2263-6B93-9645-AC8C-3EB9D4741690}"/>
                </a:ext>
              </a:extLst>
            </p:cNvPr>
            <p:cNvSpPr txBox="1">
              <a:spLocks noChangeArrowheads="1"/>
            </p:cNvSpPr>
            <p:nvPr/>
          </p:nvSpPr>
          <p:spPr bwMode="auto">
            <a:xfrm>
              <a:off x="5638800" y="4829176"/>
              <a:ext cx="1447800" cy="581025"/>
            </a:xfrm>
            <a:prstGeom prst="rect">
              <a:avLst/>
            </a:prstGeom>
            <a:noFill/>
            <a:ln w="38100">
              <a:noFill/>
              <a:miter lim="800000"/>
              <a:headEnd/>
              <a:tailEnd/>
            </a:ln>
            <a:effectLst/>
          </p:spPr>
          <p:txBody>
            <a:bodyPr>
              <a:spAutoFit/>
            </a:bodyPr>
            <a:lstStyle/>
            <a:p>
              <a:pPr defTabSz="914400" fontAlgn="base">
                <a:spcBef>
                  <a:spcPct val="50000"/>
                </a:spcBef>
                <a:spcAft>
                  <a:spcPct val="0"/>
                </a:spcAft>
              </a:pPr>
              <a:r>
                <a:rPr lang="en-US" sz="1600" dirty="0">
                  <a:solidFill>
                    <a:srgbClr val="339966"/>
                  </a:solidFill>
                  <a:latin typeface="Times New Roman" pitchFamily="18" charset="0"/>
                </a:rPr>
                <a:t>PA: permission assignment</a:t>
              </a:r>
            </a:p>
          </p:txBody>
        </p:sp>
        <p:sp>
          <p:nvSpPr>
            <p:cNvPr id="43" name="Line 11">
              <a:extLst>
                <a:ext uri="{FF2B5EF4-FFF2-40B4-BE49-F238E27FC236}">
                  <a16:creationId xmlns:a16="http://schemas.microsoft.com/office/drawing/2014/main" id="{E8E29819-F5D2-1B46-B491-919F89435530}"/>
                </a:ext>
              </a:extLst>
            </p:cNvPr>
            <p:cNvSpPr>
              <a:spLocks noChangeShapeType="1"/>
            </p:cNvSpPr>
            <p:nvPr/>
          </p:nvSpPr>
          <p:spPr bwMode="auto">
            <a:xfrm>
              <a:off x="2743200" y="5362575"/>
              <a:ext cx="990600" cy="533400"/>
            </a:xfrm>
            <a:prstGeom prst="line">
              <a:avLst/>
            </a:prstGeom>
            <a:noFill/>
            <a:ln w="38100">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44" name="Line 12">
              <a:extLst>
                <a:ext uri="{FF2B5EF4-FFF2-40B4-BE49-F238E27FC236}">
                  <a16:creationId xmlns:a16="http://schemas.microsoft.com/office/drawing/2014/main" id="{1FA4236E-0705-174C-9E54-EF1AE45F46C7}"/>
                </a:ext>
              </a:extLst>
            </p:cNvPr>
            <p:cNvSpPr>
              <a:spLocks noChangeShapeType="1"/>
            </p:cNvSpPr>
            <p:nvPr/>
          </p:nvSpPr>
          <p:spPr bwMode="auto">
            <a:xfrm flipV="1">
              <a:off x="3733800" y="5438775"/>
              <a:ext cx="1066800" cy="457200"/>
            </a:xfrm>
            <a:prstGeom prst="line">
              <a:avLst/>
            </a:prstGeom>
            <a:noFill/>
            <a:ln w="38100">
              <a:solidFill>
                <a:srgbClr val="000000"/>
              </a:solidFill>
              <a:round/>
              <a:headEnd/>
              <a:tailEn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45" name="Text Box 13">
              <a:extLst>
                <a:ext uri="{FF2B5EF4-FFF2-40B4-BE49-F238E27FC236}">
                  <a16:creationId xmlns:a16="http://schemas.microsoft.com/office/drawing/2014/main" id="{D526EF01-0843-3245-A01D-B3F834D04D01}"/>
                </a:ext>
              </a:extLst>
            </p:cNvPr>
            <p:cNvSpPr txBox="1">
              <a:spLocks noChangeArrowheads="1"/>
            </p:cNvSpPr>
            <p:nvPr/>
          </p:nvSpPr>
          <p:spPr bwMode="auto">
            <a:xfrm>
              <a:off x="3048000" y="5819776"/>
              <a:ext cx="1752600" cy="581025"/>
            </a:xfrm>
            <a:prstGeom prst="rect">
              <a:avLst/>
            </a:prstGeom>
            <a:noFill/>
            <a:ln w="38100">
              <a:noFill/>
              <a:miter lim="800000"/>
              <a:headEnd/>
              <a:tailEnd/>
            </a:ln>
            <a:effectLst/>
          </p:spPr>
          <p:txBody>
            <a:bodyPr>
              <a:spAutoFit/>
            </a:bodyPr>
            <a:lstStyle/>
            <a:p>
              <a:pPr defTabSz="914400" fontAlgn="base">
                <a:spcBef>
                  <a:spcPct val="50000"/>
                </a:spcBef>
                <a:spcAft>
                  <a:spcPct val="0"/>
                </a:spcAft>
              </a:pPr>
              <a:r>
                <a:rPr lang="en-US" sz="1600">
                  <a:solidFill>
                    <a:srgbClr val="339966"/>
                  </a:solidFill>
                  <a:latin typeface="Times New Roman" pitchFamily="18" charset="0"/>
                </a:rPr>
                <a:t>Sessions (one-to-many mapping)</a:t>
              </a:r>
            </a:p>
          </p:txBody>
        </p:sp>
        <p:sp>
          <p:nvSpPr>
            <p:cNvPr id="46" name="Freeform 14">
              <a:extLst>
                <a:ext uri="{FF2B5EF4-FFF2-40B4-BE49-F238E27FC236}">
                  <a16:creationId xmlns:a16="http://schemas.microsoft.com/office/drawing/2014/main" id="{6ECDFD07-76B4-5643-876F-538937216DE7}"/>
                </a:ext>
              </a:extLst>
            </p:cNvPr>
            <p:cNvSpPr>
              <a:spLocks/>
            </p:cNvSpPr>
            <p:nvPr/>
          </p:nvSpPr>
          <p:spPr bwMode="auto">
            <a:xfrm>
              <a:off x="2667000" y="4406900"/>
              <a:ext cx="2133600" cy="393700"/>
            </a:xfrm>
            <a:custGeom>
              <a:avLst/>
              <a:gdLst/>
              <a:ahLst/>
              <a:cxnLst>
                <a:cxn ang="0">
                  <a:pos x="0" y="248"/>
                </a:cxn>
                <a:cxn ang="0">
                  <a:pos x="672" y="8"/>
                </a:cxn>
                <a:cxn ang="0">
                  <a:pos x="1344" y="200"/>
                </a:cxn>
              </a:cxnLst>
              <a:rect l="0" t="0" r="r" b="b"/>
              <a:pathLst>
                <a:path w="1344" h="248">
                  <a:moveTo>
                    <a:pt x="0" y="248"/>
                  </a:moveTo>
                  <a:cubicBezTo>
                    <a:pt x="224" y="132"/>
                    <a:pt x="448" y="16"/>
                    <a:pt x="672" y="8"/>
                  </a:cubicBezTo>
                  <a:cubicBezTo>
                    <a:pt x="896" y="0"/>
                    <a:pt x="1224" y="152"/>
                    <a:pt x="1344" y="200"/>
                  </a:cubicBezTo>
                </a:path>
              </a:pathLst>
            </a:custGeom>
            <a:noFill/>
            <a:ln w="38100" cap="flat" cmpd="sng">
              <a:solidFill>
                <a:srgbClr val="000000"/>
              </a:solidFill>
              <a:prstDash val="solid"/>
              <a:round/>
              <a:headEnd type="none" w="med" len="med"/>
              <a:tailEnd type="non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47" name="Freeform 15">
              <a:extLst>
                <a:ext uri="{FF2B5EF4-FFF2-40B4-BE49-F238E27FC236}">
                  <a16:creationId xmlns:a16="http://schemas.microsoft.com/office/drawing/2014/main" id="{8ED037FD-EDD1-0E41-B470-6FDA62AE090B}"/>
                </a:ext>
              </a:extLst>
            </p:cNvPr>
            <p:cNvSpPr>
              <a:spLocks/>
            </p:cNvSpPr>
            <p:nvPr/>
          </p:nvSpPr>
          <p:spPr bwMode="auto">
            <a:xfrm>
              <a:off x="4953000" y="4419600"/>
              <a:ext cx="3581400" cy="304800"/>
            </a:xfrm>
            <a:custGeom>
              <a:avLst/>
              <a:gdLst/>
              <a:ahLst/>
              <a:cxnLst>
                <a:cxn ang="0">
                  <a:pos x="0" y="192"/>
                </a:cxn>
                <a:cxn ang="0">
                  <a:pos x="1056" y="0"/>
                </a:cxn>
                <a:cxn ang="0">
                  <a:pos x="2256" y="192"/>
                </a:cxn>
              </a:cxnLst>
              <a:rect l="0" t="0" r="r" b="b"/>
              <a:pathLst>
                <a:path w="2256" h="192">
                  <a:moveTo>
                    <a:pt x="0" y="192"/>
                  </a:moveTo>
                  <a:cubicBezTo>
                    <a:pt x="340" y="96"/>
                    <a:pt x="680" y="0"/>
                    <a:pt x="1056" y="0"/>
                  </a:cubicBezTo>
                  <a:cubicBezTo>
                    <a:pt x="1432" y="0"/>
                    <a:pt x="2064" y="160"/>
                    <a:pt x="2256" y="192"/>
                  </a:cubicBezTo>
                </a:path>
              </a:pathLst>
            </a:custGeom>
            <a:noFill/>
            <a:ln w="38100" cap="flat" cmpd="sng">
              <a:solidFill>
                <a:srgbClr val="000000"/>
              </a:solidFill>
              <a:prstDash val="solid"/>
              <a:round/>
              <a:headEnd type="none" w="med" len="med"/>
              <a:tailEnd type="non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ndParaRPr>
            </a:p>
          </p:txBody>
        </p:sp>
        <p:sp>
          <p:nvSpPr>
            <p:cNvPr id="48" name="Text Box 16">
              <a:extLst>
                <a:ext uri="{FF2B5EF4-FFF2-40B4-BE49-F238E27FC236}">
                  <a16:creationId xmlns:a16="http://schemas.microsoft.com/office/drawing/2014/main" id="{6F33993A-389E-6842-B318-AF46294AC84B}"/>
                </a:ext>
              </a:extLst>
            </p:cNvPr>
            <p:cNvSpPr txBox="1">
              <a:spLocks noChangeArrowheads="1"/>
            </p:cNvSpPr>
            <p:nvPr/>
          </p:nvSpPr>
          <p:spPr bwMode="auto">
            <a:xfrm>
              <a:off x="3200400" y="3962401"/>
              <a:ext cx="1295400" cy="461665"/>
            </a:xfrm>
            <a:prstGeom prst="rect">
              <a:avLst/>
            </a:prstGeom>
            <a:noFill/>
            <a:ln w="38100">
              <a:noFill/>
              <a:miter lim="800000"/>
              <a:headEnd/>
              <a:tailEnd/>
            </a:ln>
            <a:effectLst/>
          </p:spPr>
          <p:txBody>
            <a:bodyPr>
              <a:spAutoFit/>
            </a:bodyPr>
            <a:lstStyle/>
            <a:p>
              <a:pPr defTabSz="914400" fontAlgn="base">
                <a:spcBef>
                  <a:spcPct val="50000"/>
                </a:spcBef>
                <a:spcAft>
                  <a:spcPct val="0"/>
                </a:spcAft>
              </a:pPr>
              <a:r>
                <a:rPr lang="en-US" sz="2400" b="1" i="1" dirty="0">
                  <a:solidFill>
                    <a:srgbClr val="000000"/>
                  </a:solidFill>
                  <a:latin typeface="Times New Roman" pitchFamily="18" charset="0"/>
                </a:rPr>
                <a:t>dynamic</a:t>
              </a:r>
            </a:p>
          </p:txBody>
        </p:sp>
        <p:sp>
          <p:nvSpPr>
            <p:cNvPr id="49" name="Text Box 17">
              <a:extLst>
                <a:ext uri="{FF2B5EF4-FFF2-40B4-BE49-F238E27FC236}">
                  <a16:creationId xmlns:a16="http://schemas.microsoft.com/office/drawing/2014/main" id="{90CDE1CD-225D-0B44-87B4-9BE3A340DEDD}"/>
                </a:ext>
              </a:extLst>
            </p:cNvPr>
            <p:cNvSpPr txBox="1">
              <a:spLocks noChangeArrowheads="1"/>
            </p:cNvSpPr>
            <p:nvPr/>
          </p:nvSpPr>
          <p:spPr bwMode="auto">
            <a:xfrm>
              <a:off x="6096000" y="3962400"/>
              <a:ext cx="990600" cy="457200"/>
            </a:xfrm>
            <a:prstGeom prst="rect">
              <a:avLst/>
            </a:prstGeom>
            <a:noFill/>
            <a:ln w="38100">
              <a:noFill/>
              <a:miter lim="800000"/>
              <a:headEnd/>
              <a:tailEnd/>
            </a:ln>
            <a:effectLst/>
          </p:spPr>
          <p:txBody>
            <a:bodyPr>
              <a:spAutoFit/>
            </a:bodyPr>
            <a:lstStyle/>
            <a:p>
              <a:pPr defTabSz="914400" fontAlgn="base">
                <a:spcBef>
                  <a:spcPct val="50000"/>
                </a:spcBef>
                <a:spcAft>
                  <a:spcPct val="0"/>
                </a:spcAft>
              </a:pPr>
              <a:r>
                <a:rPr lang="en-US" sz="2400" b="1" i="1" dirty="0">
                  <a:solidFill>
                    <a:srgbClr val="000000"/>
                  </a:solidFill>
                  <a:latin typeface="Times New Roman" pitchFamily="18" charset="0"/>
                </a:rPr>
                <a:t>stable</a:t>
              </a:r>
            </a:p>
          </p:txBody>
        </p:sp>
      </p:grpSp>
    </p:spTree>
    <p:extLst>
      <p:ext uri="{BB962C8B-B14F-4D97-AF65-F5344CB8AC3E}">
        <p14:creationId xmlns:p14="http://schemas.microsoft.com/office/powerpoint/2010/main" val="38930730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CC105-9F10-6D40-A0CC-BD2720575415}"/>
              </a:ext>
            </a:extLst>
          </p:cNvPr>
          <p:cNvSpPr>
            <a:spLocks noGrp="1"/>
          </p:cNvSpPr>
          <p:nvPr>
            <p:ph type="title"/>
          </p:nvPr>
        </p:nvSpPr>
        <p:spPr/>
        <p:txBody>
          <a:bodyPr/>
          <a:lstStyle/>
          <a:p>
            <a:r>
              <a:rPr lang="en-US" dirty="0"/>
              <a:t>Take Away</a:t>
            </a:r>
          </a:p>
        </p:txBody>
      </p:sp>
      <p:sp>
        <p:nvSpPr>
          <p:cNvPr id="3" name="Text Placeholder 2">
            <a:extLst>
              <a:ext uri="{FF2B5EF4-FFF2-40B4-BE49-F238E27FC236}">
                <a16:creationId xmlns:a16="http://schemas.microsoft.com/office/drawing/2014/main" id="{0DCEFD09-B2FC-9249-9161-7EBCC8B8E25F}"/>
              </a:ext>
            </a:extLst>
          </p:cNvPr>
          <p:cNvSpPr>
            <a:spLocks noGrp="1"/>
          </p:cNvSpPr>
          <p:nvPr>
            <p:ph type="body" idx="11"/>
          </p:nvPr>
        </p:nvSpPr>
        <p:spPr/>
        <p:txBody>
          <a:bodyPr/>
          <a:lstStyle/>
          <a:p>
            <a:endParaRPr lang="en-US"/>
          </a:p>
        </p:txBody>
      </p:sp>
      <p:sp>
        <p:nvSpPr>
          <p:cNvPr id="4" name="Content Placeholder 3">
            <a:extLst>
              <a:ext uri="{FF2B5EF4-FFF2-40B4-BE49-F238E27FC236}">
                <a16:creationId xmlns:a16="http://schemas.microsoft.com/office/drawing/2014/main" id="{5C330727-E694-A141-805A-14CAB431B0D0}"/>
              </a:ext>
            </a:extLst>
          </p:cNvPr>
          <p:cNvSpPr>
            <a:spLocks noGrp="1"/>
          </p:cNvSpPr>
          <p:nvPr>
            <p:ph idx="1"/>
          </p:nvPr>
        </p:nvSpPr>
        <p:spPr/>
        <p:txBody>
          <a:bodyPr>
            <a:normAutofit fontScale="92500"/>
          </a:bodyPr>
          <a:lstStyle/>
          <a:p>
            <a:r>
              <a:rPr lang="en-US" dirty="0"/>
              <a:t>Access Control: Limiting who can access what in what ways</a:t>
            </a:r>
          </a:p>
          <a:p>
            <a:endParaRPr lang="en-US" dirty="0"/>
          </a:p>
          <a:p>
            <a:r>
              <a:rPr lang="en-US" dirty="0"/>
              <a:t>DAC: Widely used; the owner of an object has full control over the propagation of access rights for the object – resource owner like Linux.</a:t>
            </a:r>
          </a:p>
          <a:p>
            <a:endParaRPr lang="en-US" dirty="0"/>
          </a:p>
          <a:p>
            <a:r>
              <a:rPr lang="en-US" dirty="0"/>
              <a:t>MAC: augments DAC using </a:t>
            </a:r>
            <a:r>
              <a:rPr lang="en-US" dirty="0">
                <a:solidFill>
                  <a:srgbClr val="002060"/>
                </a:solidFill>
              </a:rPr>
              <a:t>security labels </a:t>
            </a:r>
            <a:r>
              <a:rPr lang="en-US" dirty="0"/>
              <a:t>attached to subjects and objects; suitable for information systems where there is a formalized notion of security clearances – labels on items based on user and subject labels.</a:t>
            </a:r>
          </a:p>
          <a:p>
            <a:endParaRPr lang="en-US" dirty="0"/>
          </a:p>
          <a:p>
            <a:r>
              <a:rPr lang="en-US" dirty="0"/>
              <a:t>RBAC: A general access control model for management of security in companies and organizations; flexible and easy to use – based on user’s roles.</a:t>
            </a:r>
          </a:p>
          <a:p>
            <a:endParaRPr lang="en-US" dirty="0"/>
          </a:p>
        </p:txBody>
      </p:sp>
    </p:spTree>
    <p:extLst>
      <p:ext uri="{BB962C8B-B14F-4D97-AF65-F5344CB8AC3E}">
        <p14:creationId xmlns:p14="http://schemas.microsoft.com/office/powerpoint/2010/main" val="2739586643"/>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000000"/>
      </a:dk2>
      <a:lt2>
        <a:srgbClr val="F8F8F8"/>
      </a:lt2>
      <a:accent1>
        <a:srgbClr val="DDDDDD"/>
      </a:accent1>
      <a:accent2>
        <a:srgbClr val="B2A694"/>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400"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Presentation1" id="{31295CED-DD91-154F-A28B-658E647D80F4}" vid="{29E40D5C-155D-D94C-822C-4AB35D3CC2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6AD1B51FFACD45B62528B91A79C429" ma:contentTypeVersion="18" ma:contentTypeDescription="Create a new document." ma:contentTypeScope="" ma:versionID="9672dfb9ec3908af57a6b314afe3680d">
  <xsd:schema xmlns:xsd="http://www.w3.org/2001/XMLSchema" xmlns:xs="http://www.w3.org/2001/XMLSchema" xmlns:p="http://schemas.microsoft.com/office/2006/metadata/properties" xmlns:ns2="1b6a39ee-1380-4096-9882-8248104ba7f7" xmlns:ns3="4604cec2-e769-4190-9d56-5d48f74b6442" targetNamespace="http://schemas.microsoft.com/office/2006/metadata/properties" ma:root="true" ma:fieldsID="12d78462d111bb2baa1b9a3ac61ee40a" ns2:_="" ns3:_="">
    <xsd:import namespace="1b6a39ee-1380-4096-9882-8248104ba7f7"/>
    <xsd:import namespace="4604cec2-e769-4190-9d56-5d48f74b644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Comment" minOccurs="0"/>
                <xsd:element ref="ns2:lcf76f155ced4ddcb4097134ff3c332f" minOccurs="0"/>
                <xsd:element ref="ns3:TaxCatchAll"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6a39ee-1380-4096-9882-8248104ba7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Comment" ma:index="21" nillable="true" ma:displayName="Comment" ma:description="What was the last change about" ma:format="Dropdown" ma:internalName="Comment">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deec61d7-21c4-46ea-8069-5c692c33a4c8" ma:termSetId="09814cd3-568e-fe90-9814-8d621ff8fb84" ma:anchorId="fba54fb3-c3e1-fe81-a776-ca4b69148c4d" ma:open="true" ma:isKeyword="false">
      <xsd:complexType>
        <xsd:sequence>
          <xsd:element ref="pc:Terms" minOccurs="0" maxOccurs="1"/>
        </xsd:sequence>
      </xsd:complexType>
    </xsd:element>
    <xsd:element name="_Flow_SignoffStatus" ma:index="25" nillable="true" ma:displayName="Sign-off status" ma:internalName="Sign_x002d_off_x0020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604cec2-e769-4190-9d56-5d48f74b6442"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943aed9-ec56-40d8-95cb-c4327e5e8870}" ma:internalName="TaxCatchAll" ma:showField="CatchAllData" ma:web="4604cec2-e769-4190-9d56-5d48f74b64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omment xmlns="1b6a39ee-1380-4096-9882-8248104ba7f7" xsi:nil="true"/>
    <TaxCatchAll xmlns="4604cec2-e769-4190-9d56-5d48f74b6442" xsi:nil="true"/>
    <lcf76f155ced4ddcb4097134ff3c332f xmlns="1b6a39ee-1380-4096-9882-8248104ba7f7">
      <Terms xmlns="http://schemas.microsoft.com/office/infopath/2007/PartnerControls"/>
    </lcf76f155ced4ddcb4097134ff3c332f>
    <_Flow_SignoffStatus xmlns="1b6a39ee-1380-4096-9882-8248104ba7f7" xsi:nil="true"/>
  </documentManagement>
</p:properties>
</file>

<file path=customXml/itemProps1.xml><?xml version="1.0" encoding="utf-8"?>
<ds:datastoreItem xmlns:ds="http://schemas.openxmlformats.org/officeDocument/2006/customXml" ds:itemID="{5E187E68-F6DE-4F8A-B07D-9DF67F8219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6a39ee-1380-4096-9882-8248104ba7f7"/>
    <ds:schemaRef ds:uri="4604cec2-e769-4190-9d56-5d48f74b644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65E8DA0-1405-4A0E-872A-931F3F0B3188}">
  <ds:schemaRefs>
    <ds:schemaRef ds:uri="http://schemas.microsoft.com/sharepoint/v3/contenttype/forms"/>
  </ds:schemaRefs>
</ds:datastoreItem>
</file>

<file path=customXml/itemProps3.xml><?xml version="1.0" encoding="utf-8"?>
<ds:datastoreItem xmlns:ds="http://schemas.openxmlformats.org/officeDocument/2006/customXml" ds:itemID="{A7615691-CA8E-49B4-A303-76AB03483A50}">
  <ds:schemaRefs>
    <ds:schemaRef ds:uri="http://schemas.microsoft.com/office/2006/metadata/properties"/>
    <ds:schemaRef ds:uri="http://schemas.microsoft.com/office/infopath/2007/PartnerControls"/>
    <ds:schemaRef ds:uri="1b6a39ee-1380-4096-9882-8248104ba7f7"/>
    <ds:schemaRef ds:uri="4604cec2-e769-4190-9d56-5d48f74b6442"/>
  </ds:schemaRefs>
</ds:datastoreItem>
</file>

<file path=docMetadata/LabelInfo.xml><?xml version="1.0" encoding="utf-8"?>
<clbl:labelList xmlns:clbl="http://schemas.microsoft.com/office/2020/mipLabelMetadata">
  <clbl:label id="{6951d41b-6b8e-4636-984f-012bff14ba18}" enabled="1" method="Standard" siteId="{c98a79ca-5a9a-4791-a243-f06afd67464d}" removed="0"/>
</clbl:labelList>
</file>

<file path=docProps/app.xml><?xml version="1.0" encoding="utf-8"?>
<Properties xmlns="http://schemas.openxmlformats.org/officeDocument/2006/extended-properties" xmlns:vt="http://schemas.openxmlformats.org/officeDocument/2006/docPropsVTypes">
  <Template/>
  <TotalTime>2195</TotalTime>
  <Words>3975</Words>
  <Application>Microsoft Macintosh PowerPoint</Application>
  <PresentationFormat>Widescreen</PresentationFormat>
  <Paragraphs>606</Paragraphs>
  <Slides>39</Slides>
  <Notes>31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宋体</vt:lpstr>
      <vt:lpstr>Arial</vt:lpstr>
      <vt:lpstr>Arial Nova</vt:lpstr>
      <vt:lpstr>Arial Nova Light</vt:lpstr>
      <vt:lpstr>Calibri</vt:lpstr>
      <vt:lpstr>Comic Sans MS</vt:lpstr>
      <vt:lpstr>Tahoma</vt:lpstr>
      <vt:lpstr>Times New Roman</vt:lpstr>
      <vt:lpstr>Wingdings</vt:lpstr>
      <vt:lpstr>Office Theme</vt:lpstr>
      <vt:lpstr>PowerPoint Presentation</vt:lpstr>
      <vt:lpstr>Recap of Week 6</vt:lpstr>
      <vt:lpstr>Overview</vt:lpstr>
      <vt:lpstr>Access Control Overview</vt:lpstr>
      <vt:lpstr>Three Models</vt:lpstr>
      <vt:lpstr>Authentication vs Access Control</vt:lpstr>
      <vt:lpstr>PowerPoint Presentation</vt:lpstr>
      <vt:lpstr>Discretionary Access Control (DAC)</vt:lpstr>
      <vt:lpstr>Who is “Who” ?</vt:lpstr>
      <vt:lpstr>User - Principals</vt:lpstr>
      <vt:lpstr>Principal - Subjects</vt:lpstr>
      <vt:lpstr>Objects</vt:lpstr>
      <vt:lpstr>Rights</vt:lpstr>
      <vt:lpstr>Logical Representation of DAC Policy</vt:lpstr>
      <vt:lpstr>Two Types of Implementation</vt:lpstr>
      <vt:lpstr>Access Control List (ACL)</vt:lpstr>
      <vt:lpstr>Examples of ACL</vt:lpstr>
      <vt:lpstr>Case Study of ACL: UNIX File System</vt:lpstr>
      <vt:lpstr>Example: ACL commands</vt:lpstr>
      <vt:lpstr>Capabilities </vt:lpstr>
      <vt:lpstr>Comparison of ACL and Capabilities</vt:lpstr>
      <vt:lpstr>Summary of DAC</vt:lpstr>
      <vt:lpstr>Mandatory Access Control (MAC)</vt:lpstr>
      <vt:lpstr>Security Problems of DAC (1)</vt:lpstr>
      <vt:lpstr>Security Problems of DAC (2)</vt:lpstr>
      <vt:lpstr>Mandatory Access Control (MAC)</vt:lpstr>
      <vt:lpstr>Hierarchy Defined Based on Labels</vt:lpstr>
      <vt:lpstr>BLP Model</vt:lpstr>
      <vt:lpstr>BLP Model (1): Two MAC Rules</vt:lpstr>
      <vt:lpstr>BLP Model (2)</vt:lpstr>
      <vt:lpstr>BLP Model (3)</vt:lpstr>
      <vt:lpstr>Downsides of MAC </vt:lpstr>
      <vt:lpstr>Role-Based Access Control (RBAC)</vt:lpstr>
      <vt:lpstr>Role Based Access Control (RBAC)</vt:lpstr>
      <vt:lpstr>Terminology</vt:lpstr>
      <vt:lpstr>Role</vt:lpstr>
      <vt:lpstr>A Banking Example</vt:lpstr>
      <vt:lpstr>Flexible Security Management</vt:lpstr>
      <vt:lpstr>Take Away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dc:title>
  <dc:creator>Shar Lwin Khin (Dr)</dc:creator>
  <cp:lastModifiedBy>Nicholas SOH De Lin</cp:lastModifiedBy>
  <cp:revision>244</cp:revision>
  <dcterms:created xsi:type="dcterms:W3CDTF">2019-12-21T16:17:09Z</dcterms:created>
  <dcterms:modified xsi:type="dcterms:W3CDTF">2025-11-01T10:20:34Z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0x0101000C6AD1B51FFACD45B62528B91A79C429</vt:lpwstr>
  </property>
  <property fmtid="{D5CDD505-2E9C-101B-9397-08002B2CF9AE}" pid="3" name="MSIP_Label_6951d41b-6b8e-4636-984f-012bff14ba18_Enabled">
    <vt:lpwstr>true</vt:lpwstr>
  </property>
  <property fmtid="{D5CDD505-2E9C-101B-9397-08002B2CF9AE}" pid="4" name="MSIP_Label_6951d41b-6b8e-4636-984f-012bff14ba18_SetDate">
    <vt:lpwstr>2023-02-20T13:56:41Z</vt:lpwstr>
  </property>
  <property fmtid="{D5CDD505-2E9C-101B-9397-08002B2CF9AE}" pid="5" name="MSIP_Label_6951d41b-6b8e-4636-984f-012bff14ba18_Method">
    <vt:lpwstr>Standard</vt:lpwstr>
  </property>
  <property fmtid="{D5CDD505-2E9C-101B-9397-08002B2CF9AE}" pid="6" name="MSIP_Label_6951d41b-6b8e-4636-984f-012bff14ba18_Name">
    <vt:lpwstr>6951d41b-6b8e-4636-984f-012bff14ba18</vt:lpwstr>
  </property>
  <property fmtid="{D5CDD505-2E9C-101B-9397-08002B2CF9AE}" pid="7" name="MSIP_Label_6951d41b-6b8e-4636-984f-012bff14ba18_SiteId">
    <vt:lpwstr>c98a79ca-5a9a-4791-a243-f06afd67464d</vt:lpwstr>
  </property>
  <property fmtid="{D5CDD505-2E9C-101B-9397-08002B2CF9AE}" pid="8" name="MSIP_Label_6951d41b-6b8e-4636-984f-012bff14ba18_ActionId">
    <vt:lpwstr>5ac6233c-ae7e-44d1-9a47-d77f5b5d9d53</vt:lpwstr>
  </property>
  <property fmtid="{D5CDD505-2E9C-101B-9397-08002B2CF9AE}" pid="9" name="MSIP_Label_6951d41b-6b8e-4636-984f-012bff14ba18_ContentBits">
    <vt:lpwstr>1</vt:lpwstr>
  </property>
  <property fmtid="{D5CDD505-2E9C-101B-9397-08002B2CF9AE}" pid="10" name="ClassificationContentMarkingHeaderLocations">
    <vt:lpwstr>Office Theme:6</vt:lpwstr>
  </property>
  <property fmtid="{D5CDD505-2E9C-101B-9397-08002B2CF9AE}" pid="11" name="ClassificationContentMarkingHeaderText">
    <vt:lpwstr>SMU Classification: Restricted</vt:lpwstr>
  </property>
</Properties>
</file>