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7"/>
  </p:notesMasterIdLst>
  <p:sldIdLst>
    <p:sldId id="256" r:id="rId2"/>
    <p:sldId id="257" r:id="rId3"/>
    <p:sldId id="277" r:id="rId4"/>
    <p:sldId id="284" r:id="rId5"/>
    <p:sldId id="278" r:id="rId6"/>
    <p:sldId id="279" r:id="rId7"/>
    <p:sldId id="280" r:id="rId8"/>
    <p:sldId id="261" r:id="rId9"/>
    <p:sldId id="263" r:id="rId10"/>
    <p:sldId id="281" r:id="rId11"/>
    <p:sldId id="286" r:id="rId12"/>
    <p:sldId id="285" r:id="rId13"/>
    <p:sldId id="296" r:id="rId14"/>
    <p:sldId id="266" r:id="rId15"/>
    <p:sldId id="282" r:id="rId16"/>
    <p:sldId id="267" r:id="rId17"/>
    <p:sldId id="268" r:id="rId18"/>
    <p:sldId id="346" r:id="rId19"/>
    <p:sldId id="347" r:id="rId20"/>
    <p:sldId id="269" r:id="rId21"/>
    <p:sldId id="270" r:id="rId22"/>
    <p:sldId id="273" r:id="rId23"/>
    <p:sldId id="287" r:id="rId24"/>
    <p:sldId id="289" r:id="rId25"/>
    <p:sldId id="288" r:id="rId26"/>
    <p:sldId id="290" r:id="rId27"/>
    <p:sldId id="274" r:id="rId28"/>
    <p:sldId id="291" r:id="rId29"/>
    <p:sldId id="275" r:id="rId30"/>
    <p:sldId id="283" r:id="rId31"/>
    <p:sldId id="292" r:id="rId32"/>
    <p:sldId id="294" r:id="rId33"/>
    <p:sldId id="293" r:id="rId34"/>
    <p:sldId id="295" r:id="rId35"/>
    <p:sldId id="271" r:id="rId3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8" roundtripDataSignature="AMtx7mj5e7G+KeEuHRzOu9KHwug186UM6A=="/>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ay Foo Thiang"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1D2731-E69A-6A45-BD57-98AEA8BC164B}" v="3" dt="2026-08-13T06:54:45.7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856"/>
    <p:restoredTop sz="96018" autoAdjust="0"/>
  </p:normalViewPr>
  <p:slideViewPr>
    <p:cSldViewPr snapToGrid="0">
      <p:cViewPr varScale="1">
        <p:scale>
          <a:sx n="114" d="100"/>
          <a:sy n="114" d="100"/>
        </p:scale>
        <p:origin x="176" y="206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ommentAuthors" Target="commentAuthor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customschemas.google.com/relationships/presentationmetadata" Target="metadata"/><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WA Hua Leong" userId="73fbda70-d7c9-490d-b806-ae7c5938f604" providerId="ADAL" clId="{05EB3D09-DFBE-47F5-AF95-E59B2F2057AF}"/>
    <pc:docChg chg="undo custSel modSld">
      <pc:chgData name="FWA Hua Leong" userId="73fbda70-d7c9-490d-b806-ae7c5938f604" providerId="ADAL" clId="{05EB3D09-DFBE-47F5-AF95-E59B2F2057AF}" dt="2023-09-28T11:57:21.930" v="11" actId="20577"/>
      <pc:docMkLst>
        <pc:docMk/>
      </pc:docMkLst>
      <pc:sldChg chg="modSp mod">
        <pc:chgData name="FWA Hua Leong" userId="73fbda70-d7c9-490d-b806-ae7c5938f604" providerId="ADAL" clId="{05EB3D09-DFBE-47F5-AF95-E59B2F2057AF}" dt="2023-09-28T11:54:48.578" v="0" actId="20577"/>
        <pc:sldMkLst>
          <pc:docMk/>
          <pc:sldMk cId="0" sldId="256"/>
        </pc:sldMkLst>
      </pc:sldChg>
      <pc:sldChg chg="modSp mod">
        <pc:chgData name="FWA Hua Leong" userId="73fbda70-d7c9-490d-b806-ae7c5938f604" providerId="ADAL" clId="{05EB3D09-DFBE-47F5-AF95-E59B2F2057AF}" dt="2023-09-28T11:55:36.697" v="2" actId="20577"/>
        <pc:sldMkLst>
          <pc:docMk/>
          <pc:sldMk cId="0" sldId="259"/>
        </pc:sldMkLst>
      </pc:sldChg>
      <pc:sldChg chg="modSp mod">
        <pc:chgData name="FWA Hua Leong" userId="73fbda70-d7c9-490d-b806-ae7c5938f604" providerId="ADAL" clId="{05EB3D09-DFBE-47F5-AF95-E59B2F2057AF}" dt="2023-09-28T11:55:04.451" v="1" actId="20577"/>
        <pc:sldMkLst>
          <pc:docMk/>
          <pc:sldMk cId="2059022455" sldId="260"/>
        </pc:sldMkLst>
      </pc:sldChg>
      <pc:sldChg chg="modSp mod">
        <pc:chgData name="FWA Hua Leong" userId="73fbda70-d7c9-490d-b806-ae7c5938f604" providerId="ADAL" clId="{05EB3D09-DFBE-47F5-AF95-E59B2F2057AF}" dt="2023-09-28T11:55:40.418" v="3" actId="20577"/>
        <pc:sldMkLst>
          <pc:docMk/>
          <pc:sldMk cId="0" sldId="261"/>
        </pc:sldMkLst>
      </pc:sldChg>
      <pc:sldChg chg="modSp mod">
        <pc:chgData name="FWA Hua Leong" userId="73fbda70-d7c9-490d-b806-ae7c5938f604" providerId="ADAL" clId="{05EB3D09-DFBE-47F5-AF95-E59B2F2057AF}" dt="2023-09-28T11:55:46.834" v="4" actId="20577"/>
        <pc:sldMkLst>
          <pc:docMk/>
          <pc:sldMk cId="0" sldId="263"/>
        </pc:sldMkLst>
      </pc:sldChg>
      <pc:sldChg chg="modSp mod">
        <pc:chgData name="FWA Hua Leong" userId="73fbda70-d7c9-490d-b806-ae7c5938f604" providerId="ADAL" clId="{05EB3D09-DFBE-47F5-AF95-E59B2F2057AF}" dt="2023-09-28T11:55:50.210" v="5" actId="20577"/>
        <pc:sldMkLst>
          <pc:docMk/>
          <pc:sldMk cId="0" sldId="264"/>
        </pc:sldMkLst>
      </pc:sldChg>
      <pc:sldChg chg="modSp mod">
        <pc:chgData name="FWA Hua Leong" userId="73fbda70-d7c9-490d-b806-ae7c5938f604" providerId="ADAL" clId="{05EB3D09-DFBE-47F5-AF95-E59B2F2057AF}" dt="2023-09-28T11:55:58.051" v="6" actId="20577"/>
        <pc:sldMkLst>
          <pc:docMk/>
          <pc:sldMk cId="0" sldId="267"/>
        </pc:sldMkLst>
      </pc:sldChg>
      <pc:sldChg chg="modSp mod">
        <pc:chgData name="FWA Hua Leong" userId="73fbda70-d7c9-490d-b806-ae7c5938f604" providerId="ADAL" clId="{05EB3D09-DFBE-47F5-AF95-E59B2F2057AF}" dt="2023-09-28T11:57:02.379" v="9" actId="20577"/>
        <pc:sldMkLst>
          <pc:docMk/>
          <pc:sldMk cId="0" sldId="268"/>
        </pc:sldMkLst>
      </pc:sldChg>
      <pc:sldChg chg="modSp mod">
        <pc:chgData name="FWA Hua Leong" userId="73fbda70-d7c9-490d-b806-ae7c5938f604" providerId="ADAL" clId="{05EB3D09-DFBE-47F5-AF95-E59B2F2057AF}" dt="2023-09-28T11:57:06.729" v="10" actId="20577"/>
        <pc:sldMkLst>
          <pc:docMk/>
          <pc:sldMk cId="877423979" sldId="273"/>
        </pc:sldMkLst>
      </pc:sldChg>
      <pc:sldChg chg="modSp mod">
        <pc:chgData name="FWA Hua Leong" userId="73fbda70-d7c9-490d-b806-ae7c5938f604" providerId="ADAL" clId="{05EB3D09-DFBE-47F5-AF95-E59B2F2057AF}" dt="2023-09-28T11:57:21.930" v="11" actId="20577"/>
        <pc:sldMkLst>
          <pc:docMk/>
          <pc:sldMk cId="102825563" sldId="274"/>
        </pc:sldMkLst>
      </pc:sldChg>
    </pc:docChg>
  </pc:docChgLst>
  <pc:docChgLst>
    <pc:chgData name="FWA Hua Leong" userId="73fbda70-d7c9-490d-b806-ae7c5938f604" providerId="ADAL" clId="{C594458D-35DB-4971-9037-70B4E3B4EE1D}"/>
    <pc:docChg chg="delSld">
      <pc:chgData name="FWA Hua Leong" userId="73fbda70-d7c9-490d-b806-ae7c5938f604" providerId="ADAL" clId="{C594458D-35DB-4971-9037-70B4E3B4EE1D}" dt="2023-10-24T01:33:12.664" v="0" actId="2696"/>
      <pc:docMkLst>
        <pc:docMk/>
      </pc:docMkLst>
      <pc:sldChg chg="del">
        <pc:chgData name="FWA Hua Leong" userId="73fbda70-d7c9-490d-b806-ae7c5938f604" providerId="ADAL" clId="{C594458D-35DB-4971-9037-70B4E3B4EE1D}" dt="2023-10-24T01:33:12.664" v="0" actId="2696"/>
        <pc:sldMkLst>
          <pc:docMk/>
          <pc:sldMk cId="0" sldId="262"/>
        </pc:sldMkLst>
      </pc:sldChg>
    </pc:docChg>
  </pc:docChgLst>
  <pc:docChgLst>
    <pc:chgData name="SHAR Lwin Khin" userId="33cb3c8a-ae33-4f55-be34-306cbe5b6d67" providerId="ADAL" clId="{380FFA2E-A9FB-F84B-916A-4CBE58D4D297}"/>
    <pc:docChg chg="custSel delSld modSld">
      <pc:chgData name="SHAR Lwin Khin" userId="33cb3c8a-ae33-4f55-be34-306cbe5b6d67" providerId="ADAL" clId="{380FFA2E-A9FB-F84B-916A-4CBE58D4D297}" dt="2022-06-26T14:25:10.950" v="184" actId="2696"/>
      <pc:docMkLst>
        <pc:docMk/>
      </pc:docMkLst>
      <pc:sldChg chg="del">
        <pc:chgData name="SHAR Lwin Khin" userId="33cb3c8a-ae33-4f55-be34-306cbe5b6d67" providerId="ADAL" clId="{380FFA2E-A9FB-F84B-916A-4CBE58D4D297}" dt="2022-06-26T14:25:10.950" v="184" actId="2696"/>
        <pc:sldMkLst>
          <pc:docMk/>
          <pc:sldMk cId="2088532128" sldId="276"/>
        </pc:sldMkLst>
      </pc:sldChg>
      <pc:sldChg chg="addSp delSp modSp del mod">
        <pc:chgData name="SHAR Lwin Khin" userId="33cb3c8a-ae33-4f55-be34-306cbe5b6d67" providerId="ADAL" clId="{380FFA2E-A9FB-F84B-916A-4CBE58D4D297}" dt="2022-06-26T14:25:10.950" v="184" actId="2696"/>
        <pc:sldMkLst>
          <pc:docMk/>
          <pc:sldMk cId="1987632775" sldId="277"/>
        </pc:sldMkLst>
      </pc:sldChg>
    </pc:docChg>
  </pc:docChgLst>
  <pc:docChgLst>
    <pc:chgData name="FWA Hua Leong" userId="73fbda70-d7c9-490d-b806-ae7c5938f604" providerId="ADAL" clId="{6C7505FD-CB8F-45C6-BA02-4F8B7DF69EDD}"/>
    <pc:docChg chg="modSld">
      <pc:chgData name="FWA Hua Leong" userId="73fbda70-d7c9-490d-b806-ae7c5938f604" providerId="ADAL" clId="{6C7505FD-CB8F-45C6-BA02-4F8B7DF69EDD}" dt="2024-09-18T06:12:08.253" v="10" actId="20577"/>
      <pc:docMkLst>
        <pc:docMk/>
      </pc:docMkLst>
      <pc:sldChg chg="modSp mod">
        <pc:chgData name="FWA Hua Leong" userId="73fbda70-d7c9-490d-b806-ae7c5938f604" providerId="ADAL" clId="{6C7505FD-CB8F-45C6-BA02-4F8B7DF69EDD}" dt="2024-09-18T06:05:05.420" v="1" actId="20577"/>
        <pc:sldMkLst>
          <pc:docMk/>
          <pc:sldMk cId="0" sldId="256"/>
        </pc:sldMkLst>
      </pc:sldChg>
      <pc:sldChg chg="modSp mod">
        <pc:chgData name="FWA Hua Leong" userId="73fbda70-d7c9-490d-b806-ae7c5938f604" providerId="ADAL" clId="{6C7505FD-CB8F-45C6-BA02-4F8B7DF69EDD}" dt="2024-09-18T06:10:25.078" v="3" actId="20577"/>
        <pc:sldMkLst>
          <pc:docMk/>
          <pc:sldMk cId="0" sldId="259"/>
        </pc:sldMkLst>
      </pc:sldChg>
      <pc:sldChg chg="modSp mod">
        <pc:chgData name="FWA Hua Leong" userId="73fbda70-d7c9-490d-b806-ae7c5938f604" providerId="ADAL" clId="{6C7505FD-CB8F-45C6-BA02-4F8B7DF69EDD}" dt="2024-09-18T06:10:18.509" v="2" actId="20577"/>
        <pc:sldMkLst>
          <pc:docMk/>
          <pc:sldMk cId="2059022455" sldId="260"/>
        </pc:sldMkLst>
      </pc:sldChg>
      <pc:sldChg chg="modSp mod">
        <pc:chgData name="FWA Hua Leong" userId="73fbda70-d7c9-490d-b806-ae7c5938f604" providerId="ADAL" clId="{6C7505FD-CB8F-45C6-BA02-4F8B7DF69EDD}" dt="2024-09-18T06:10:32.901" v="4" actId="20577"/>
        <pc:sldMkLst>
          <pc:docMk/>
          <pc:sldMk cId="0" sldId="261"/>
        </pc:sldMkLst>
      </pc:sldChg>
      <pc:sldChg chg="modSp mod">
        <pc:chgData name="FWA Hua Leong" userId="73fbda70-d7c9-490d-b806-ae7c5938f604" providerId="ADAL" clId="{6C7505FD-CB8F-45C6-BA02-4F8B7DF69EDD}" dt="2024-09-18T06:11:37.549" v="5" actId="20577"/>
        <pc:sldMkLst>
          <pc:docMk/>
          <pc:sldMk cId="0" sldId="263"/>
        </pc:sldMkLst>
      </pc:sldChg>
      <pc:sldChg chg="modSp mod">
        <pc:chgData name="FWA Hua Leong" userId="73fbda70-d7c9-490d-b806-ae7c5938f604" providerId="ADAL" clId="{6C7505FD-CB8F-45C6-BA02-4F8B7DF69EDD}" dt="2024-09-18T06:11:44.759" v="6" actId="20577"/>
        <pc:sldMkLst>
          <pc:docMk/>
          <pc:sldMk cId="0" sldId="264"/>
        </pc:sldMkLst>
      </pc:sldChg>
      <pc:sldChg chg="modSp mod">
        <pc:chgData name="FWA Hua Leong" userId="73fbda70-d7c9-490d-b806-ae7c5938f604" providerId="ADAL" clId="{6C7505FD-CB8F-45C6-BA02-4F8B7DF69EDD}" dt="2024-09-18T06:11:50.989" v="7" actId="20577"/>
        <pc:sldMkLst>
          <pc:docMk/>
          <pc:sldMk cId="0" sldId="267"/>
        </pc:sldMkLst>
      </pc:sldChg>
      <pc:sldChg chg="modSp mod">
        <pc:chgData name="FWA Hua Leong" userId="73fbda70-d7c9-490d-b806-ae7c5938f604" providerId="ADAL" clId="{6C7505FD-CB8F-45C6-BA02-4F8B7DF69EDD}" dt="2024-09-18T06:11:54.845" v="8" actId="20577"/>
        <pc:sldMkLst>
          <pc:docMk/>
          <pc:sldMk cId="0" sldId="268"/>
        </pc:sldMkLst>
      </pc:sldChg>
      <pc:sldChg chg="modSp mod">
        <pc:chgData name="FWA Hua Leong" userId="73fbda70-d7c9-490d-b806-ae7c5938f604" providerId="ADAL" clId="{6C7505FD-CB8F-45C6-BA02-4F8B7DF69EDD}" dt="2024-09-18T06:12:03.749" v="9" actId="20577"/>
        <pc:sldMkLst>
          <pc:docMk/>
          <pc:sldMk cId="877423979" sldId="273"/>
        </pc:sldMkLst>
      </pc:sldChg>
      <pc:sldChg chg="modSp mod">
        <pc:chgData name="FWA Hua Leong" userId="73fbda70-d7c9-490d-b806-ae7c5938f604" providerId="ADAL" clId="{6C7505FD-CB8F-45C6-BA02-4F8B7DF69EDD}" dt="2024-09-18T06:12:08.253" v="10" actId="20577"/>
        <pc:sldMkLst>
          <pc:docMk/>
          <pc:sldMk cId="102825563" sldId="274"/>
        </pc:sldMkLst>
      </pc:sldChg>
    </pc:docChg>
  </pc:docChgLst>
  <pc:docChgLst>
    <pc:chgData name="SHAR Lwin Khin" userId="33cb3c8a-ae33-4f55-be34-306cbe5b6d67" providerId="ADAL" clId="{D9CB830B-07F6-D64E-B489-5F9E311E674D}"/>
    <pc:docChg chg="undo custSel addSld delSld modSld">
      <pc:chgData name="SHAR Lwin Khin" userId="33cb3c8a-ae33-4f55-be34-306cbe5b6d67" providerId="ADAL" clId="{D9CB830B-07F6-D64E-B489-5F9E311E674D}" dt="2025-06-06T08:08:50.385" v="2576" actId="20577"/>
      <pc:docMkLst>
        <pc:docMk/>
      </pc:docMkLst>
      <pc:sldChg chg="del">
        <pc:chgData name="SHAR Lwin Khin" userId="33cb3c8a-ae33-4f55-be34-306cbe5b6d67" providerId="ADAL" clId="{D9CB830B-07F6-D64E-B489-5F9E311E674D}" dt="2025-05-18T02:23:27.304" v="25" actId="2696"/>
        <pc:sldMkLst>
          <pc:docMk/>
          <pc:sldMk cId="0" sldId="258"/>
        </pc:sldMkLst>
      </pc:sldChg>
      <pc:sldChg chg="modSp mod">
        <pc:chgData name="SHAR Lwin Khin" userId="33cb3c8a-ae33-4f55-be34-306cbe5b6d67" providerId="ADAL" clId="{D9CB830B-07F6-D64E-B489-5F9E311E674D}" dt="2025-05-18T02:57:13.089" v="630" actId="20577"/>
        <pc:sldMkLst>
          <pc:docMk/>
          <pc:sldMk cId="0" sldId="259"/>
        </pc:sldMkLst>
      </pc:sldChg>
      <pc:sldChg chg="addSp delSp modSp mod">
        <pc:chgData name="SHAR Lwin Khin" userId="33cb3c8a-ae33-4f55-be34-306cbe5b6d67" providerId="ADAL" clId="{D9CB830B-07F6-D64E-B489-5F9E311E674D}" dt="2025-05-18T02:47:52.070" v="535" actId="14100"/>
        <pc:sldMkLst>
          <pc:docMk/>
          <pc:sldMk cId="2059022455" sldId="260"/>
        </pc:sldMkLst>
      </pc:sldChg>
      <pc:sldChg chg="addSp delSp modSp mod">
        <pc:chgData name="SHAR Lwin Khin" userId="33cb3c8a-ae33-4f55-be34-306cbe5b6d67" providerId="ADAL" clId="{D9CB830B-07F6-D64E-B489-5F9E311E674D}" dt="2025-05-18T02:53:45.704" v="621" actId="20577"/>
        <pc:sldMkLst>
          <pc:docMk/>
          <pc:sldMk cId="0" sldId="261"/>
        </pc:sldMkLst>
      </pc:sldChg>
      <pc:sldChg chg="addSp modSp mod">
        <pc:chgData name="SHAR Lwin Khin" userId="33cb3c8a-ae33-4f55-be34-306cbe5b6d67" providerId="ADAL" clId="{D9CB830B-07F6-D64E-B489-5F9E311E674D}" dt="2025-05-20T04:50:20.901" v="1431" actId="20577"/>
        <pc:sldMkLst>
          <pc:docMk/>
          <pc:sldMk cId="0" sldId="263"/>
        </pc:sldMkLst>
      </pc:sldChg>
      <pc:sldChg chg="del">
        <pc:chgData name="SHAR Lwin Khin" userId="33cb3c8a-ae33-4f55-be34-306cbe5b6d67" providerId="ADAL" clId="{D9CB830B-07F6-D64E-B489-5F9E311E674D}" dt="2025-05-18T03:26:24.249" v="1013" actId="2696"/>
        <pc:sldMkLst>
          <pc:docMk/>
          <pc:sldMk cId="0" sldId="264"/>
        </pc:sldMkLst>
      </pc:sldChg>
      <pc:sldChg chg="modSp add mod">
        <pc:chgData name="SHAR Lwin Khin" userId="33cb3c8a-ae33-4f55-be34-306cbe5b6d67" providerId="ADAL" clId="{D9CB830B-07F6-D64E-B489-5F9E311E674D}" dt="2025-05-18T03:28:07.908" v="1200" actId="5793"/>
        <pc:sldMkLst>
          <pc:docMk/>
          <pc:sldMk cId="2142882228" sldId="264"/>
        </pc:sldMkLst>
      </pc:sldChg>
      <pc:sldChg chg="modSp mod">
        <pc:chgData name="SHAR Lwin Khin" userId="33cb3c8a-ae33-4f55-be34-306cbe5b6d67" providerId="ADAL" clId="{D9CB830B-07F6-D64E-B489-5F9E311E674D}" dt="2025-05-20T06:19:09.289" v="2257" actId="20577"/>
        <pc:sldMkLst>
          <pc:docMk/>
          <pc:sldMk cId="0" sldId="266"/>
        </pc:sldMkLst>
      </pc:sldChg>
      <pc:sldChg chg="modSp mod modNotesTx">
        <pc:chgData name="SHAR Lwin Khin" userId="33cb3c8a-ae33-4f55-be34-306cbe5b6d67" providerId="ADAL" clId="{D9CB830B-07F6-D64E-B489-5F9E311E674D}" dt="2025-05-20T05:57:54.766" v="2213" actId="255"/>
        <pc:sldMkLst>
          <pc:docMk/>
          <pc:sldMk cId="0" sldId="267"/>
        </pc:sldMkLst>
      </pc:sldChg>
      <pc:sldChg chg="addSp modSp mod">
        <pc:chgData name="SHAR Lwin Khin" userId="33cb3c8a-ae33-4f55-be34-306cbe5b6d67" providerId="ADAL" clId="{D9CB830B-07F6-D64E-B489-5F9E311E674D}" dt="2025-05-20T05:54:25.687" v="2047" actId="2711"/>
        <pc:sldMkLst>
          <pc:docMk/>
          <pc:sldMk cId="0" sldId="268"/>
        </pc:sldMkLst>
      </pc:sldChg>
      <pc:sldChg chg="modSp mod">
        <pc:chgData name="SHAR Lwin Khin" userId="33cb3c8a-ae33-4f55-be34-306cbe5b6d67" providerId="ADAL" clId="{D9CB830B-07F6-D64E-B489-5F9E311E674D}" dt="2025-06-06T08:08:50.385" v="2576" actId="20577"/>
        <pc:sldMkLst>
          <pc:docMk/>
          <pc:sldMk cId="0" sldId="269"/>
        </pc:sldMkLst>
      </pc:sldChg>
      <pc:sldChg chg="addSp delSp modSp mod">
        <pc:chgData name="SHAR Lwin Khin" userId="33cb3c8a-ae33-4f55-be34-306cbe5b6d67" providerId="ADAL" clId="{D9CB830B-07F6-D64E-B489-5F9E311E674D}" dt="2025-06-06T08:03:15.006" v="2368" actId="1076"/>
        <pc:sldMkLst>
          <pc:docMk/>
          <pc:sldMk cId="0" sldId="270"/>
        </pc:sldMkLst>
      </pc:sldChg>
      <pc:sldChg chg="modSp mod">
        <pc:chgData name="SHAR Lwin Khin" userId="33cb3c8a-ae33-4f55-be34-306cbe5b6d67" providerId="ADAL" clId="{D9CB830B-07F6-D64E-B489-5F9E311E674D}" dt="2025-06-06T07:47:41.774" v="2362" actId="20577"/>
        <pc:sldMkLst>
          <pc:docMk/>
          <pc:sldMk cId="5130480" sldId="272"/>
        </pc:sldMkLst>
      </pc:sldChg>
      <pc:sldChg chg="modSp mod">
        <pc:chgData name="SHAR Lwin Khin" userId="33cb3c8a-ae33-4f55-be34-306cbe5b6d67" providerId="ADAL" clId="{D9CB830B-07F6-D64E-B489-5F9E311E674D}" dt="2025-05-20T05:58:27.292" v="2222" actId="255"/>
        <pc:sldMkLst>
          <pc:docMk/>
          <pc:sldMk cId="877423979" sldId="273"/>
        </pc:sldMkLst>
      </pc:sldChg>
      <pc:sldChg chg="modSp mod">
        <pc:chgData name="SHAR Lwin Khin" userId="33cb3c8a-ae33-4f55-be34-306cbe5b6d67" providerId="ADAL" clId="{D9CB830B-07F6-D64E-B489-5F9E311E674D}" dt="2025-05-20T05:58:34.388" v="2223" actId="114"/>
        <pc:sldMkLst>
          <pc:docMk/>
          <pc:sldMk cId="102825563" sldId="274"/>
        </pc:sldMkLst>
      </pc:sldChg>
      <pc:sldChg chg="modSp mod">
        <pc:chgData name="SHAR Lwin Khin" userId="33cb3c8a-ae33-4f55-be34-306cbe5b6d67" providerId="ADAL" clId="{D9CB830B-07F6-D64E-B489-5F9E311E674D}" dt="2025-05-20T08:14:29.207" v="2361" actId="14100"/>
        <pc:sldMkLst>
          <pc:docMk/>
          <pc:sldMk cId="4100750821" sldId="275"/>
        </pc:sldMkLst>
      </pc:sldChg>
      <pc:sldChg chg="delSp modSp add mod">
        <pc:chgData name="SHAR Lwin Khin" userId="33cb3c8a-ae33-4f55-be34-306cbe5b6d67" providerId="ADAL" clId="{D9CB830B-07F6-D64E-B489-5F9E311E674D}" dt="2025-05-18T03:39:10.268" v="1314" actId="20577"/>
        <pc:sldMkLst>
          <pc:docMk/>
          <pc:sldMk cId="109306783" sldId="276"/>
        </pc:sldMkLst>
      </pc:sldChg>
      <pc:sldChg chg="add del mod modShow">
        <pc:chgData name="SHAR Lwin Khin" userId="33cb3c8a-ae33-4f55-be34-306cbe5b6d67" providerId="ADAL" clId="{D9CB830B-07F6-D64E-B489-5F9E311E674D}" dt="2025-05-20T05:59:08.697" v="2224" actId="2696"/>
        <pc:sldMkLst>
          <pc:docMk/>
          <pc:sldMk cId="1522096262" sldId="277"/>
        </pc:sldMkLst>
      </pc:sldChg>
      <pc:sldChg chg="add del">
        <pc:chgData name="SHAR Lwin Khin" userId="33cb3c8a-ae33-4f55-be34-306cbe5b6d67" providerId="ADAL" clId="{D9CB830B-07F6-D64E-B489-5F9E311E674D}" dt="2025-05-18T03:04:51.638" v="694"/>
        <pc:sldMkLst>
          <pc:docMk/>
          <pc:sldMk cId="3380131596" sldId="277"/>
        </pc:sldMkLst>
      </pc:sldChg>
      <pc:sldChg chg="modSp add del mod">
        <pc:chgData name="SHAR Lwin Khin" userId="33cb3c8a-ae33-4f55-be34-306cbe5b6d67" providerId="ADAL" clId="{D9CB830B-07F6-D64E-B489-5F9E311E674D}" dt="2025-05-20T05:02:26.349" v="1443" actId="2696"/>
        <pc:sldMkLst>
          <pc:docMk/>
          <pc:sldMk cId="4132845550" sldId="277"/>
        </pc:sldMkLst>
      </pc:sldChg>
    </pc:docChg>
  </pc:docChgLst>
  <pc:docChgLst>
    <pc:chgData name="SHAR Lwin Khin" userId="33cb3c8a-ae33-4f55-be34-306cbe5b6d67" providerId="ADAL" clId="{EC909A2D-78C2-525E-811C-45F995EBE952}"/>
    <pc:docChg chg="undo custSel addSld modSld">
      <pc:chgData name="SHAR Lwin Khin" userId="33cb3c8a-ae33-4f55-be34-306cbe5b6d67" providerId="ADAL" clId="{EC909A2D-78C2-525E-811C-45F995EBE952}" dt="2026-08-13T06:54:45.721" v="1223"/>
      <pc:docMkLst>
        <pc:docMk/>
      </pc:docMkLst>
      <pc:sldChg chg="modSp mod">
        <pc:chgData name="SHAR Lwin Khin" userId="33cb3c8a-ae33-4f55-be34-306cbe5b6d67" providerId="ADAL" clId="{EC909A2D-78C2-525E-811C-45F995EBE952}" dt="2026-08-13T06:51:17.221" v="1117" actId="20577"/>
        <pc:sldMkLst>
          <pc:docMk/>
          <pc:sldMk cId="0" sldId="256"/>
        </pc:sldMkLst>
        <pc:spChg chg="mod">
          <ac:chgData name="SHAR Lwin Khin" userId="33cb3c8a-ae33-4f55-be34-306cbe5b6d67" providerId="ADAL" clId="{EC909A2D-78C2-525E-811C-45F995EBE952}" dt="2026-08-13T06:51:17.221" v="1117" actId="20577"/>
          <ac:spMkLst>
            <pc:docMk/>
            <pc:sldMk cId="0" sldId="256"/>
            <ac:spMk id="63" creationId="{00000000-0000-0000-0000-000000000000}"/>
          </ac:spMkLst>
        </pc:spChg>
      </pc:sldChg>
      <pc:sldChg chg="modSp mod">
        <pc:chgData name="SHAR Lwin Khin" userId="33cb3c8a-ae33-4f55-be34-306cbe5b6d67" providerId="ADAL" clId="{EC909A2D-78C2-525E-811C-45F995EBE952}" dt="2025-10-30T01:14:17.503" v="1114" actId="20577"/>
        <pc:sldMkLst>
          <pc:docMk/>
          <pc:sldMk cId="0" sldId="259"/>
        </pc:sldMkLst>
      </pc:sldChg>
      <pc:sldChg chg="modSp mod">
        <pc:chgData name="SHAR Lwin Khin" userId="33cb3c8a-ae33-4f55-be34-306cbe5b6d67" providerId="ADAL" clId="{EC909A2D-78C2-525E-811C-45F995EBE952}" dt="2025-10-21T01:26:28.241" v="149" actId="20577"/>
        <pc:sldMkLst>
          <pc:docMk/>
          <pc:sldMk cId="2059022455" sldId="260"/>
        </pc:sldMkLst>
      </pc:sldChg>
      <pc:sldChg chg="addSp delSp modSp mod">
        <pc:chgData name="SHAR Lwin Khin" userId="33cb3c8a-ae33-4f55-be34-306cbe5b6d67" providerId="ADAL" clId="{EC909A2D-78C2-525E-811C-45F995EBE952}" dt="2025-10-21T01:33:17.222" v="240" actId="1076"/>
        <pc:sldMkLst>
          <pc:docMk/>
          <pc:sldMk cId="0" sldId="263"/>
        </pc:sldMkLst>
      </pc:sldChg>
      <pc:sldChg chg="addSp delSp modSp mod">
        <pc:chgData name="SHAR Lwin Khin" userId="33cb3c8a-ae33-4f55-be34-306cbe5b6d67" providerId="ADAL" clId="{EC909A2D-78C2-525E-811C-45F995EBE952}" dt="2025-10-21T01:38:21.462" v="374" actId="20577"/>
        <pc:sldMkLst>
          <pc:docMk/>
          <pc:sldMk cId="0" sldId="267"/>
        </pc:sldMkLst>
      </pc:sldChg>
      <pc:sldChg chg="modSp mod">
        <pc:chgData name="SHAR Lwin Khin" userId="33cb3c8a-ae33-4f55-be34-306cbe5b6d67" providerId="ADAL" clId="{EC909A2D-78C2-525E-811C-45F995EBE952}" dt="2026-08-13T06:53:26.509" v="1199" actId="20577"/>
        <pc:sldMkLst>
          <pc:docMk/>
          <pc:sldMk cId="0" sldId="270"/>
        </pc:sldMkLst>
        <pc:spChg chg="mod">
          <ac:chgData name="SHAR Lwin Khin" userId="33cb3c8a-ae33-4f55-be34-306cbe5b6d67" providerId="ADAL" clId="{EC909A2D-78C2-525E-811C-45F995EBE952}" dt="2026-08-13T06:53:26.509" v="1199" actId="20577"/>
          <ac:spMkLst>
            <pc:docMk/>
            <pc:sldMk cId="0" sldId="270"/>
            <ac:spMk id="166" creationId="{00000000-0000-0000-0000-000000000000}"/>
          </ac:spMkLst>
        </pc:spChg>
      </pc:sldChg>
      <pc:sldChg chg="modSp mod">
        <pc:chgData name="SHAR Lwin Khin" userId="33cb3c8a-ae33-4f55-be34-306cbe5b6d67" providerId="ADAL" clId="{EC909A2D-78C2-525E-811C-45F995EBE952}" dt="2025-10-21T02:35:26.975" v="1039" actId="313"/>
        <pc:sldMkLst>
          <pc:docMk/>
          <pc:sldMk cId="877423979" sldId="273"/>
        </pc:sldMkLst>
      </pc:sldChg>
      <pc:sldChg chg="modSp mod">
        <pc:chgData name="SHAR Lwin Khin" userId="33cb3c8a-ae33-4f55-be34-306cbe5b6d67" providerId="ADAL" clId="{EC909A2D-78C2-525E-811C-45F995EBE952}" dt="2025-10-21T01:28:31.435" v="184"/>
        <pc:sldMkLst>
          <pc:docMk/>
          <pc:sldMk cId="109306783" sldId="276"/>
        </pc:sldMkLst>
      </pc:sldChg>
      <pc:sldChg chg="addSp delSp modSp new mod">
        <pc:chgData name="SHAR Lwin Khin" userId="33cb3c8a-ae33-4f55-be34-306cbe5b6d67" providerId="ADAL" clId="{EC909A2D-78C2-525E-811C-45F995EBE952}" dt="2025-10-21T02:14:27.245" v="1030" actId="478"/>
        <pc:sldMkLst>
          <pc:docMk/>
          <pc:sldMk cId="883694661" sldId="277"/>
        </pc:sldMkLst>
      </pc:sldChg>
      <pc:sldChg chg="delSp modSp add mod">
        <pc:chgData name="SHAR Lwin Khin" userId="33cb3c8a-ae33-4f55-be34-306cbe5b6d67" providerId="ADAL" clId="{EC909A2D-78C2-525E-811C-45F995EBE952}" dt="2025-10-21T02:14:50.137" v="1035" actId="20577"/>
        <pc:sldMkLst>
          <pc:docMk/>
          <pc:sldMk cId="1539510047" sldId="278"/>
        </pc:sldMkLst>
      </pc:sldChg>
      <pc:sldChg chg="modSp add mod">
        <pc:chgData name="SHAR Lwin Khin" userId="33cb3c8a-ae33-4f55-be34-306cbe5b6d67" providerId="ADAL" clId="{EC909A2D-78C2-525E-811C-45F995EBE952}" dt="2026-08-13T06:54:41.055" v="1222" actId="20577"/>
        <pc:sldMkLst>
          <pc:docMk/>
          <pc:sldMk cId="320530904" sldId="346"/>
        </pc:sldMkLst>
        <pc:spChg chg="mod">
          <ac:chgData name="SHAR Lwin Khin" userId="33cb3c8a-ae33-4f55-be34-306cbe5b6d67" providerId="ADAL" clId="{EC909A2D-78C2-525E-811C-45F995EBE952}" dt="2026-08-13T06:54:41.055" v="1222" actId="20577"/>
          <ac:spMkLst>
            <pc:docMk/>
            <pc:sldMk cId="320530904" sldId="346"/>
            <ac:spMk id="171" creationId="{CC00C7C7-E3F2-A387-9526-1830671D4A62}"/>
          </ac:spMkLst>
        </pc:spChg>
      </pc:sldChg>
      <pc:sldChg chg="modSp add">
        <pc:chgData name="SHAR Lwin Khin" userId="33cb3c8a-ae33-4f55-be34-306cbe5b6d67" providerId="ADAL" clId="{EC909A2D-78C2-525E-811C-45F995EBE952}" dt="2026-08-13T06:54:45.721" v="1223"/>
        <pc:sldMkLst>
          <pc:docMk/>
          <pc:sldMk cId="4162653913" sldId="347"/>
        </pc:sldMkLst>
        <pc:spChg chg="mod">
          <ac:chgData name="SHAR Lwin Khin" userId="33cb3c8a-ae33-4f55-be34-306cbe5b6d67" providerId="ADAL" clId="{EC909A2D-78C2-525E-811C-45F995EBE952}" dt="2026-08-13T06:54:45.721" v="1223"/>
          <ac:spMkLst>
            <pc:docMk/>
            <pc:sldMk cId="4162653913" sldId="347"/>
            <ac:spMk id="171" creationId="{9C627A7E-CE99-0934-2C72-88EAB96A1E25}"/>
          </ac:spMkLst>
        </pc:spChg>
      </pc:sldChg>
    </pc:docChg>
  </pc:docChgLst>
  <pc:docChgLst>
    <pc:chgData name="SHAR Lwin Khin" userId="33cb3c8a-ae33-4f55-be34-306cbe5b6d67" providerId="ADAL" clId="{C6520A3E-5F28-8345-910F-1B8D378C80F5}"/>
    <pc:docChg chg="modSld">
      <pc:chgData name="SHAR Lwin Khin" userId="33cb3c8a-ae33-4f55-be34-306cbe5b6d67" providerId="ADAL" clId="{C6520A3E-5F28-8345-910F-1B8D378C80F5}" dt="2025-08-11T01:44:53.736" v="3" actId="20577"/>
      <pc:docMkLst>
        <pc:docMk/>
      </pc:docMkLst>
      <pc:sldChg chg="modSp mod">
        <pc:chgData name="SHAR Lwin Khin" userId="33cb3c8a-ae33-4f55-be34-306cbe5b6d67" providerId="ADAL" clId="{C6520A3E-5F28-8345-910F-1B8D378C80F5}" dt="2025-08-11T01:44:53.736" v="3" actId="20577"/>
        <pc:sldMkLst>
          <pc:docMk/>
          <pc:sldMk cId="0" sldId="25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vuejs.org/guide/essentials/list.html#maintaining-state-with-key"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E675126A-3DF9-B8BE-035F-15E495A0F71C}"/>
            </a:ext>
          </a:extLst>
        </p:cNvPr>
        <p:cNvGrpSpPr/>
        <p:nvPr/>
      </p:nvGrpSpPr>
      <p:grpSpPr>
        <a:xfrm>
          <a:off x="0" y="0"/>
          <a:ext cx="0" cy="0"/>
          <a:chOff x="0" y="0"/>
          <a:chExt cx="0" cy="0"/>
        </a:xfrm>
      </p:grpSpPr>
      <p:sp>
        <p:nvSpPr>
          <p:cNvPr id="89" name="Google Shape;89;p5:notes">
            <a:extLst>
              <a:ext uri="{FF2B5EF4-FFF2-40B4-BE49-F238E27FC236}">
                <a16:creationId xmlns:a16="http://schemas.microsoft.com/office/drawing/2014/main" id="{05FD4C3C-5625-991F-81F2-6BA8DCDDEB4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5:notes">
            <a:extLst>
              <a:ext uri="{FF2B5EF4-FFF2-40B4-BE49-F238E27FC236}">
                <a16:creationId xmlns:a16="http://schemas.microsoft.com/office/drawing/2014/main" id="{9C15CA5C-022B-E32F-EA28-91E938BE949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4225632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2E3C7714-7447-CBF0-2AAE-A3B50D5579D8}"/>
            </a:ext>
          </a:extLst>
        </p:cNvPr>
        <p:cNvGrpSpPr/>
        <p:nvPr/>
      </p:nvGrpSpPr>
      <p:grpSpPr>
        <a:xfrm>
          <a:off x="0" y="0"/>
          <a:ext cx="0" cy="0"/>
          <a:chOff x="0" y="0"/>
          <a:chExt cx="0" cy="0"/>
        </a:xfrm>
      </p:grpSpPr>
      <p:sp>
        <p:nvSpPr>
          <p:cNvPr id="89" name="Google Shape;89;p5:notes">
            <a:extLst>
              <a:ext uri="{FF2B5EF4-FFF2-40B4-BE49-F238E27FC236}">
                <a16:creationId xmlns:a16="http://schemas.microsoft.com/office/drawing/2014/main" id="{4DA81D94-833A-62D7-CB6C-B70D282CA8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5:notes">
            <a:extLst>
              <a:ext uri="{FF2B5EF4-FFF2-40B4-BE49-F238E27FC236}">
                <a16:creationId xmlns:a16="http://schemas.microsoft.com/office/drawing/2014/main" id="{6FB7983C-E623-8E4C-2CF5-2E015FC44CC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8463908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A0F2BA25-93B9-0FF7-3905-DD8A6E24444F}"/>
            </a:ext>
          </a:extLst>
        </p:cNvPr>
        <p:cNvGrpSpPr/>
        <p:nvPr/>
      </p:nvGrpSpPr>
      <p:grpSpPr>
        <a:xfrm>
          <a:off x="0" y="0"/>
          <a:ext cx="0" cy="0"/>
          <a:chOff x="0" y="0"/>
          <a:chExt cx="0" cy="0"/>
        </a:xfrm>
      </p:grpSpPr>
      <p:sp>
        <p:nvSpPr>
          <p:cNvPr id="89" name="Google Shape;89;p5:notes">
            <a:extLst>
              <a:ext uri="{FF2B5EF4-FFF2-40B4-BE49-F238E27FC236}">
                <a16:creationId xmlns:a16="http://schemas.microsoft.com/office/drawing/2014/main" id="{BF3ACB29-2316-28C4-6854-D4D03B69A1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5:notes">
            <a:extLst>
              <a:ext uri="{FF2B5EF4-FFF2-40B4-BE49-F238E27FC236}">
                <a16:creationId xmlns:a16="http://schemas.microsoft.com/office/drawing/2014/main" id="{AED379A0-D701-1C9A-0BF2-5B545850F98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2410377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E71E231E-39C0-E582-E435-800AA89367C1}"/>
            </a:ext>
          </a:extLst>
        </p:cNvPr>
        <p:cNvGrpSpPr/>
        <p:nvPr/>
      </p:nvGrpSpPr>
      <p:grpSpPr>
        <a:xfrm>
          <a:off x="0" y="0"/>
          <a:ext cx="0" cy="0"/>
          <a:chOff x="0" y="0"/>
          <a:chExt cx="0" cy="0"/>
        </a:xfrm>
      </p:grpSpPr>
      <p:sp>
        <p:nvSpPr>
          <p:cNvPr id="89" name="Google Shape;89;p5:notes">
            <a:extLst>
              <a:ext uri="{FF2B5EF4-FFF2-40B4-BE49-F238E27FC236}">
                <a16:creationId xmlns:a16="http://schemas.microsoft.com/office/drawing/2014/main" id="{A6122EF5-AA31-1B5C-3857-F3FB61B5AE1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5:notes">
            <a:extLst>
              <a:ext uri="{FF2B5EF4-FFF2-40B4-BE49-F238E27FC236}">
                <a16:creationId xmlns:a16="http://schemas.microsoft.com/office/drawing/2014/main" id="{786957D1-CA33-3AFC-F803-894643E7211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4695158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8D48651A-148E-B6BB-EC0E-F59ACC8BB810}"/>
            </a:ext>
          </a:extLst>
        </p:cNvPr>
        <p:cNvGrpSpPr/>
        <p:nvPr/>
      </p:nvGrpSpPr>
      <p:grpSpPr>
        <a:xfrm>
          <a:off x="0" y="0"/>
          <a:ext cx="0" cy="0"/>
          <a:chOff x="0" y="0"/>
          <a:chExt cx="0" cy="0"/>
        </a:xfrm>
      </p:grpSpPr>
      <p:sp>
        <p:nvSpPr>
          <p:cNvPr id="89" name="Google Shape;89;p5:notes">
            <a:extLst>
              <a:ext uri="{FF2B5EF4-FFF2-40B4-BE49-F238E27FC236}">
                <a16:creationId xmlns:a16="http://schemas.microsoft.com/office/drawing/2014/main" id="{17DFB807-A669-B3BE-E6A8-9FAAADAEEE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5:notes">
            <a:extLst>
              <a:ext uri="{FF2B5EF4-FFF2-40B4-BE49-F238E27FC236}">
                <a16:creationId xmlns:a16="http://schemas.microsoft.com/office/drawing/2014/main" id="{4A315622-3F1E-3763-AE72-D4541518492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9090466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 name="Google Shape;112;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4B8E364E-1E31-21F6-D747-9D6FA44D7CA9}"/>
            </a:ext>
          </a:extLst>
        </p:cNvPr>
        <p:cNvGrpSpPr/>
        <p:nvPr/>
      </p:nvGrpSpPr>
      <p:grpSpPr>
        <a:xfrm>
          <a:off x="0" y="0"/>
          <a:ext cx="0" cy="0"/>
          <a:chOff x="0" y="0"/>
          <a:chExt cx="0" cy="0"/>
        </a:xfrm>
      </p:grpSpPr>
      <p:sp>
        <p:nvSpPr>
          <p:cNvPr id="111" name="Google Shape;111;p8:notes">
            <a:extLst>
              <a:ext uri="{FF2B5EF4-FFF2-40B4-BE49-F238E27FC236}">
                <a16:creationId xmlns:a16="http://schemas.microsoft.com/office/drawing/2014/main" id="{652B113A-61CC-467D-15B0-20FDDD638C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 name="Google Shape;112;p8:notes">
            <a:extLst>
              <a:ext uri="{FF2B5EF4-FFF2-40B4-BE49-F238E27FC236}">
                <a16:creationId xmlns:a16="http://schemas.microsoft.com/office/drawing/2014/main" id="{348D2B31-1319-B4F7-1176-6D155D73C24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7662062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73A40922-BAC3-17AB-AF94-7C6E53FD9171}"/>
            </a:ext>
          </a:extLst>
        </p:cNvPr>
        <p:cNvGrpSpPr/>
        <p:nvPr/>
      </p:nvGrpSpPr>
      <p:grpSpPr>
        <a:xfrm>
          <a:off x="0" y="0"/>
          <a:ext cx="0" cy="0"/>
          <a:chOff x="0" y="0"/>
          <a:chExt cx="0" cy="0"/>
        </a:xfrm>
      </p:grpSpPr>
      <p:sp>
        <p:nvSpPr>
          <p:cNvPr id="111" name="Google Shape;111;p8:notes">
            <a:extLst>
              <a:ext uri="{FF2B5EF4-FFF2-40B4-BE49-F238E27FC236}">
                <a16:creationId xmlns:a16="http://schemas.microsoft.com/office/drawing/2014/main" id="{B0E7BA03-5BCF-3BA0-88E0-941F441412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 name="Google Shape;112;p8:notes">
            <a:extLst>
              <a:ext uri="{FF2B5EF4-FFF2-40B4-BE49-F238E27FC236}">
                <a16:creationId xmlns:a16="http://schemas.microsoft.com/office/drawing/2014/main" id="{82CA4FB8-4308-303E-7F93-CEE001D047A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1225659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D5AD4CBC-A4E7-1512-B9B5-2EB2ED59923D}"/>
            </a:ext>
          </a:extLst>
        </p:cNvPr>
        <p:cNvGrpSpPr/>
        <p:nvPr/>
      </p:nvGrpSpPr>
      <p:grpSpPr>
        <a:xfrm>
          <a:off x="0" y="0"/>
          <a:ext cx="0" cy="0"/>
          <a:chOff x="0" y="0"/>
          <a:chExt cx="0" cy="0"/>
        </a:xfrm>
      </p:grpSpPr>
      <p:sp>
        <p:nvSpPr>
          <p:cNvPr id="111" name="Google Shape;111;p8:notes">
            <a:extLst>
              <a:ext uri="{FF2B5EF4-FFF2-40B4-BE49-F238E27FC236}">
                <a16:creationId xmlns:a16="http://schemas.microsoft.com/office/drawing/2014/main" id="{4626AD26-1547-C66B-ADAA-18255AFEF1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 name="Google Shape;112;p8:notes">
            <a:extLst>
              <a:ext uri="{FF2B5EF4-FFF2-40B4-BE49-F238E27FC236}">
                <a16:creationId xmlns:a16="http://schemas.microsoft.com/office/drawing/2014/main" id="{01DD72B6-8475-E586-3ED5-A4493BE2D1C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8602993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4897E214-0636-2106-08DB-AC4F06C119C7}"/>
            </a:ext>
          </a:extLst>
        </p:cNvPr>
        <p:cNvGrpSpPr/>
        <p:nvPr/>
      </p:nvGrpSpPr>
      <p:grpSpPr>
        <a:xfrm>
          <a:off x="0" y="0"/>
          <a:ext cx="0" cy="0"/>
          <a:chOff x="0" y="0"/>
          <a:chExt cx="0" cy="0"/>
        </a:xfrm>
      </p:grpSpPr>
      <p:sp>
        <p:nvSpPr>
          <p:cNvPr id="111" name="Google Shape;111;p8:notes">
            <a:extLst>
              <a:ext uri="{FF2B5EF4-FFF2-40B4-BE49-F238E27FC236}">
                <a16:creationId xmlns:a16="http://schemas.microsoft.com/office/drawing/2014/main" id="{60318C0D-C752-5C4F-5B39-F691EFD39C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 name="Google Shape;112;p8:notes">
            <a:extLst>
              <a:ext uri="{FF2B5EF4-FFF2-40B4-BE49-F238E27FC236}">
                <a16:creationId xmlns:a16="http://schemas.microsoft.com/office/drawing/2014/main" id="{9781B232-94CF-0662-48F2-375EF22A9CD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967643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3" name="Google Shape;13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E9EF0368-A3BD-B7C1-42BB-E283B0418642}"/>
            </a:ext>
          </a:extLst>
        </p:cNvPr>
        <p:cNvGrpSpPr/>
        <p:nvPr/>
      </p:nvGrpSpPr>
      <p:grpSpPr>
        <a:xfrm>
          <a:off x="0" y="0"/>
          <a:ext cx="0" cy="0"/>
          <a:chOff x="0" y="0"/>
          <a:chExt cx="0" cy="0"/>
        </a:xfrm>
      </p:grpSpPr>
      <p:sp>
        <p:nvSpPr>
          <p:cNvPr id="111" name="Google Shape;111;p8:notes">
            <a:extLst>
              <a:ext uri="{FF2B5EF4-FFF2-40B4-BE49-F238E27FC236}">
                <a16:creationId xmlns:a16="http://schemas.microsoft.com/office/drawing/2014/main" id="{9F8CA6C6-3461-92E7-6581-E628C5B3F1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 name="Google Shape;112;p8:notes">
            <a:extLst>
              <a:ext uri="{FF2B5EF4-FFF2-40B4-BE49-F238E27FC236}">
                <a16:creationId xmlns:a16="http://schemas.microsoft.com/office/drawing/2014/main" id="{04BB8C52-7C4D-ED66-79B6-3F34E08B096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4934401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2" name="Google Shape;142;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lgn="l">
              <a:buNone/>
            </a:pPr>
            <a:r>
              <a:rPr lang="en-SG" b="1" i="0" dirty="0">
                <a:solidFill>
                  <a:srgbClr val="213547"/>
                </a:solidFill>
                <a:effectLst/>
                <a:latin typeface="Inter var experimental"/>
              </a:rPr>
              <a:t>Maintaining State with key</a:t>
            </a:r>
            <a:r>
              <a:rPr lang="en-SG" b="0" i="0" dirty="0">
                <a:solidFill>
                  <a:srgbClr val="42B883"/>
                </a:solidFill>
                <a:effectLst/>
                <a:latin typeface="Inter var experimental"/>
                <a:hlinkClick r:id="rId3"/>
              </a:rPr>
              <a:t>​</a:t>
            </a:r>
            <a:endParaRPr lang="en-SG" b="1" i="0" dirty="0">
              <a:solidFill>
                <a:srgbClr val="213547"/>
              </a:solidFill>
              <a:effectLst/>
              <a:latin typeface="Inter var experimental"/>
            </a:endParaRPr>
          </a:p>
          <a:p>
            <a:pPr algn="l"/>
            <a:r>
              <a:rPr lang="en-SG" b="0" i="0" dirty="0">
                <a:solidFill>
                  <a:srgbClr val="213547"/>
                </a:solidFill>
                <a:effectLst/>
                <a:latin typeface="Inter var experimental"/>
              </a:rPr>
              <a:t>When Vue is updating a list of elements rendered with v-for, by default it uses an "in-place patch" strategy. If the order of the data items has changed, instead of moving the DOM elements to match the order of the items, Vue will patch each element in-place and make sure it reflects what should be rendered at that particular index.</a:t>
            </a:r>
          </a:p>
          <a:p>
            <a:pPr algn="l"/>
            <a:r>
              <a:rPr lang="en-SG" b="0" i="0" dirty="0">
                <a:solidFill>
                  <a:srgbClr val="213547"/>
                </a:solidFill>
                <a:effectLst/>
                <a:latin typeface="Inter var experimental"/>
              </a:rPr>
              <a:t>This default mode is efficient, but </a:t>
            </a:r>
            <a:r>
              <a:rPr lang="en-SG" b="1" i="0" dirty="0">
                <a:solidFill>
                  <a:srgbClr val="213547"/>
                </a:solidFill>
                <a:effectLst/>
                <a:latin typeface="Inter var experimental"/>
              </a:rPr>
              <a:t>only suitable when your list render output does not rely on child component state or temporary DOM state (e.g. form input values)</a:t>
            </a:r>
            <a:r>
              <a:rPr lang="en-SG" b="0" i="0" dirty="0">
                <a:solidFill>
                  <a:srgbClr val="213547"/>
                </a:solidFill>
                <a:effectLst/>
                <a:latin typeface="Inter var experimental"/>
              </a:rPr>
              <a:t>.</a:t>
            </a:r>
          </a:p>
          <a:p>
            <a:pPr algn="l"/>
            <a:r>
              <a:rPr lang="en-SG" b="0" i="0" dirty="0">
                <a:solidFill>
                  <a:srgbClr val="213547"/>
                </a:solidFill>
                <a:effectLst/>
                <a:latin typeface="Inter var experimental"/>
              </a:rPr>
              <a:t>To give Vue a hint so that it can track each node's identity, and thus reuse and reorder existing elements, you need to provide a unique key attribute for each item:</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3F5AD5F1-CDF2-7AEF-CBEC-AC471073281E}"/>
            </a:ext>
          </a:extLst>
        </p:cNvPr>
        <p:cNvGrpSpPr/>
        <p:nvPr/>
      </p:nvGrpSpPr>
      <p:grpSpPr>
        <a:xfrm>
          <a:off x="0" y="0"/>
          <a:ext cx="0" cy="0"/>
          <a:chOff x="0" y="0"/>
          <a:chExt cx="0" cy="0"/>
        </a:xfrm>
      </p:grpSpPr>
      <p:sp>
        <p:nvSpPr>
          <p:cNvPr id="167" name="Google Shape;167;p16:notes">
            <a:extLst>
              <a:ext uri="{FF2B5EF4-FFF2-40B4-BE49-F238E27FC236}">
                <a16:creationId xmlns:a16="http://schemas.microsoft.com/office/drawing/2014/main" id="{841730A9-4F9A-6E91-622D-3060835003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8" name="Google Shape;168;p16:notes">
            <a:extLst>
              <a:ext uri="{FF2B5EF4-FFF2-40B4-BE49-F238E27FC236}">
                <a16:creationId xmlns:a16="http://schemas.microsoft.com/office/drawing/2014/main" id="{9EADC93C-AF2E-0C30-8509-FF2E157860A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167323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9322591E-48E5-848A-2E88-7EDA97869B7F}"/>
            </a:ext>
          </a:extLst>
        </p:cNvPr>
        <p:cNvGrpSpPr/>
        <p:nvPr/>
      </p:nvGrpSpPr>
      <p:grpSpPr>
        <a:xfrm>
          <a:off x="0" y="0"/>
          <a:ext cx="0" cy="0"/>
          <a:chOff x="0" y="0"/>
          <a:chExt cx="0" cy="0"/>
        </a:xfrm>
      </p:grpSpPr>
      <p:sp>
        <p:nvSpPr>
          <p:cNvPr id="167" name="Google Shape;167;p16:notes">
            <a:extLst>
              <a:ext uri="{FF2B5EF4-FFF2-40B4-BE49-F238E27FC236}">
                <a16:creationId xmlns:a16="http://schemas.microsoft.com/office/drawing/2014/main" id="{8AF7D59B-1C14-475D-35A7-138C2FE42A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8" name="Google Shape;168;p16:notes">
            <a:extLst>
              <a:ext uri="{FF2B5EF4-FFF2-40B4-BE49-F238E27FC236}">
                <a16:creationId xmlns:a16="http://schemas.microsoft.com/office/drawing/2014/main" id="{F6655CD6-AC0A-24A3-1FDF-5D39EB01053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324518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6" name="Google Shape;156;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3" name="Google Shape;163;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3" name="Google Shape;163;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8494575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95CE7F32-D01F-564F-5B57-CCA3DE06FE6A}"/>
            </a:ext>
          </a:extLst>
        </p:cNvPr>
        <p:cNvGrpSpPr/>
        <p:nvPr/>
      </p:nvGrpSpPr>
      <p:grpSpPr>
        <a:xfrm>
          <a:off x="0" y="0"/>
          <a:ext cx="0" cy="0"/>
          <a:chOff x="0" y="0"/>
          <a:chExt cx="0" cy="0"/>
        </a:xfrm>
      </p:grpSpPr>
      <p:sp>
        <p:nvSpPr>
          <p:cNvPr id="111" name="Google Shape;111;p8:notes">
            <a:extLst>
              <a:ext uri="{FF2B5EF4-FFF2-40B4-BE49-F238E27FC236}">
                <a16:creationId xmlns:a16="http://schemas.microsoft.com/office/drawing/2014/main" id="{C74488CF-B8FB-69C9-F915-C7E7BE1FD5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 name="Google Shape;112;p8:notes">
            <a:extLst>
              <a:ext uri="{FF2B5EF4-FFF2-40B4-BE49-F238E27FC236}">
                <a16:creationId xmlns:a16="http://schemas.microsoft.com/office/drawing/2014/main" id="{7A6CAFB3-3FF2-F576-08DC-5E6CFF660D0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2686925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A0798B50-0988-770A-DF9F-D28747CF3B0C}"/>
            </a:ext>
          </a:extLst>
        </p:cNvPr>
        <p:cNvGrpSpPr/>
        <p:nvPr/>
      </p:nvGrpSpPr>
      <p:grpSpPr>
        <a:xfrm>
          <a:off x="0" y="0"/>
          <a:ext cx="0" cy="0"/>
          <a:chOff x="0" y="0"/>
          <a:chExt cx="0" cy="0"/>
        </a:xfrm>
      </p:grpSpPr>
      <p:sp>
        <p:nvSpPr>
          <p:cNvPr id="111" name="Google Shape;111;p8:notes">
            <a:extLst>
              <a:ext uri="{FF2B5EF4-FFF2-40B4-BE49-F238E27FC236}">
                <a16:creationId xmlns:a16="http://schemas.microsoft.com/office/drawing/2014/main" id="{2A60FE45-276C-6B43-F53B-068B76115C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 name="Google Shape;112;p8:notes">
            <a:extLst>
              <a:ext uri="{FF2B5EF4-FFF2-40B4-BE49-F238E27FC236}">
                <a16:creationId xmlns:a16="http://schemas.microsoft.com/office/drawing/2014/main" id="{190506E8-E71C-F01A-A548-C10A241F83E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891126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29157404-A674-7939-FDB9-1D902C5EA630}"/>
            </a:ext>
          </a:extLst>
        </p:cNvPr>
        <p:cNvGrpSpPr/>
        <p:nvPr/>
      </p:nvGrpSpPr>
      <p:grpSpPr>
        <a:xfrm>
          <a:off x="0" y="0"/>
          <a:ext cx="0" cy="0"/>
          <a:chOff x="0" y="0"/>
          <a:chExt cx="0" cy="0"/>
        </a:xfrm>
      </p:grpSpPr>
      <p:sp>
        <p:nvSpPr>
          <p:cNvPr id="111" name="Google Shape;111;p8:notes">
            <a:extLst>
              <a:ext uri="{FF2B5EF4-FFF2-40B4-BE49-F238E27FC236}">
                <a16:creationId xmlns:a16="http://schemas.microsoft.com/office/drawing/2014/main" id="{F244D9BB-5286-13C0-2A47-7CC80172E40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 name="Google Shape;112;p8:notes">
            <a:extLst>
              <a:ext uri="{FF2B5EF4-FFF2-40B4-BE49-F238E27FC236}">
                <a16:creationId xmlns:a16="http://schemas.microsoft.com/office/drawing/2014/main" id="{64537D04-6C2F-6CD0-6A9A-10DDE5115BA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8868450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C227F1D2-20E9-88E8-8F93-CC08B4E2E46F}"/>
            </a:ext>
          </a:extLst>
        </p:cNvPr>
        <p:cNvGrpSpPr/>
        <p:nvPr/>
      </p:nvGrpSpPr>
      <p:grpSpPr>
        <a:xfrm>
          <a:off x="0" y="0"/>
          <a:ext cx="0" cy="0"/>
          <a:chOff x="0" y="0"/>
          <a:chExt cx="0" cy="0"/>
        </a:xfrm>
      </p:grpSpPr>
      <p:sp>
        <p:nvSpPr>
          <p:cNvPr id="111" name="Google Shape;111;p8:notes">
            <a:extLst>
              <a:ext uri="{FF2B5EF4-FFF2-40B4-BE49-F238E27FC236}">
                <a16:creationId xmlns:a16="http://schemas.microsoft.com/office/drawing/2014/main" id="{29AD7906-3B98-D5C4-8482-BA7A1FF294B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 name="Google Shape;112;p8:notes">
            <a:extLst>
              <a:ext uri="{FF2B5EF4-FFF2-40B4-BE49-F238E27FC236}">
                <a16:creationId xmlns:a16="http://schemas.microsoft.com/office/drawing/2014/main" id="{F4AE4217-0E0F-0267-992E-CF4FF6613BE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6081175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43FF8733-7E35-F776-09CB-537C39ED5D75}"/>
            </a:ext>
          </a:extLst>
        </p:cNvPr>
        <p:cNvGrpSpPr/>
        <p:nvPr/>
      </p:nvGrpSpPr>
      <p:grpSpPr>
        <a:xfrm>
          <a:off x="0" y="0"/>
          <a:ext cx="0" cy="0"/>
          <a:chOff x="0" y="0"/>
          <a:chExt cx="0" cy="0"/>
        </a:xfrm>
      </p:grpSpPr>
      <p:sp>
        <p:nvSpPr>
          <p:cNvPr id="162" name="Google Shape;162;p15:notes">
            <a:extLst>
              <a:ext uri="{FF2B5EF4-FFF2-40B4-BE49-F238E27FC236}">
                <a16:creationId xmlns:a16="http://schemas.microsoft.com/office/drawing/2014/main" id="{EACAF708-60B9-A9A0-E9CB-05C883F983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3" name="Google Shape;163;p15:notes">
            <a:extLst>
              <a:ext uri="{FF2B5EF4-FFF2-40B4-BE49-F238E27FC236}">
                <a16:creationId xmlns:a16="http://schemas.microsoft.com/office/drawing/2014/main" id="{424E0EBE-5791-40DE-889C-D5B534CFBD5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1292863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0" name="Google Shape;170;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p:nvPr/>
        </p:nvSpPr>
        <p:spPr>
          <a:xfrm>
            <a:off x="2744013" y="756700"/>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en-US"/>
          </a:p>
        </p:txBody>
      </p:sp>
      <p:sp>
        <p:nvSpPr>
          <p:cNvPr id="11" name="Google Shape;11;p19"/>
          <p:cNvSpPr/>
          <p:nvPr/>
        </p:nvSpPr>
        <p:spPr>
          <a:xfrm rot="10800000">
            <a:off x="5318350" y="32667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en-US"/>
          </a:p>
        </p:txBody>
      </p:sp>
      <p:sp>
        <p:nvSpPr>
          <p:cNvPr id="12" name="Google Shape;12;p19"/>
          <p:cNvSpPr txBox="1">
            <a:spLocks noGrp="1"/>
          </p:cNvSpPr>
          <p:nvPr>
            <p:ph type="ctrTitle"/>
          </p:nvPr>
        </p:nvSpPr>
        <p:spPr>
          <a:xfrm>
            <a:off x="3044700" y="1444255"/>
            <a:ext cx="3054600" cy="15372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a:endParaRPr/>
          </a:p>
        </p:txBody>
      </p:sp>
      <p:sp>
        <p:nvSpPr>
          <p:cNvPr id="13" name="Google Shape;13;p19"/>
          <p:cNvSpPr txBox="1">
            <a:spLocks noGrp="1"/>
          </p:cNvSpPr>
          <p:nvPr>
            <p:ph type="subTitle" idx="1"/>
          </p:nvPr>
        </p:nvSpPr>
        <p:spPr>
          <a:xfrm>
            <a:off x="3044700" y="3116580"/>
            <a:ext cx="3054600" cy="7014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Font typeface="Arial"/>
              <a:buNone/>
              <a:defRPr sz="2100">
                <a:latin typeface="Arial"/>
                <a:ea typeface="Arial"/>
                <a:cs typeface="Arial"/>
                <a:sym typeface="Arial"/>
              </a:defRPr>
            </a:lvl1pPr>
            <a:lvl2pPr lvl="1" algn="ctr">
              <a:lnSpc>
                <a:spcPct val="100000"/>
              </a:lnSpc>
              <a:spcBef>
                <a:spcPts val="0"/>
              </a:spcBef>
              <a:spcAft>
                <a:spcPts val="0"/>
              </a:spcAft>
              <a:buSzPts val="2100"/>
              <a:buFont typeface="Arial"/>
              <a:buNone/>
              <a:defRPr sz="2100">
                <a:latin typeface="Arial"/>
                <a:ea typeface="Arial"/>
                <a:cs typeface="Arial"/>
                <a:sym typeface="Arial"/>
              </a:defRPr>
            </a:lvl2pPr>
            <a:lvl3pPr lvl="2" algn="ctr">
              <a:lnSpc>
                <a:spcPct val="100000"/>
              </a:lnSpc>
              <a:spcBef>
                <a:spcPts val="0"/>
              </a:spcBef>
              <a:spcAft>
                <a:spcPts val="0"/>
              </a:spcAft>
              <a:buSzPts val="2100"/>
              <a:buFont typeface="Arial"/>
              <a:buNone/>
              <a:defRPr sz="2100">
                <a:latin typeface="Arial"/>
                <a:ea typeface="Arial"/>
                <a:cs typeface="Arial"/>
                <a:sym typeface="Arial"/>
              </a:defRPr>
            </a:lvl3pPr>
            <a:lvl4pPr lvl="3" algn="ctr">
              <a:lnSpc>
                <a:spcPct val="100000"/>
              </a:lnSpc>
              <a:spcBef>
                <a:spcPts val="0"/>
              </a:spcBef>
              <a:spcAft>
                <a:spcPts val="0"/>
              </a:spcAft>
              <a:buSzPts val="2100"/>
              <a:buFont typeface="Arial"/>
              <a:buNone/>
              <a:defRPr sz="2100">
                <a:latin typeface="Arial"/>
                <a:ea typeface="Arial"/>
                <a:cs typeface="Arial"/>
                <a:sym typeface="Arial"/>
              </a:defRPr>
            </a:lvl4pPr>
            <a:lvl5pPr lvl="4" algn="ctr">
              <a:lnSpc>
                <a:spcPct val="100000"/>
              </a:lnSpc>
              <a:spcBef>
                <a:spcPts val="0"/>
              </a:spcBef>
              <a:spcAft>
                <a:spcPts val="0"/>
              </a:spcAft>
              <a:buSzPts val="2100"/>
              <a:buFont typeface="Arial"/>
              <a:buNone/>
              <a:defRPr sz="2100">
                <a:latin typeface="Arial"/>
                <a:ea typeface="Arial"/>
                <a:cs typeface="Arial"/>
                <a:sym typeface="Arial"/>
              </a:defRPr>
            </a:lvl5pPr>
            <a:lvl6pPr lvl="5" algn="ctr">
              <a:lnSpc>
                <a:spcPct val="100000"/>
              </a:lnSpc>
              <a:spcBef>
                <a:spcPts val="0"/>
              </a:spcBef>
              <a:spcAft>
                <a:spcPts val="0"/>
              </a:spcAft>
              <a:buSzPts val="2100"/>
              <a:buFont typeface="Arial"/>
              <a:buNone/>
              <a:defRPr sz="2100">
                <a:latin typeface="Arial"/>
                <a:ea typeface="Arial"/>
                <a:cs typeface="Arial"/>
                <a:sym typeface="Arial"/>
              </a:defRPr>
            </a:lvl6pPr>
            <a:lvl7pPr lvl="6" algn="ctr">
              <a:lnSpc>
                <a:spcPct val="100000"/>
              </a:lnSpc>
              <a:spcBef>
                <a:spcPts val="0"/>
              </a:spcBef>
              <a:spcAft>
                <a:spcPts val="0"/>
              </a:spcAft>
              <a:buSzPts val="2100"/>
              <a:buFont typeface="Arial"/>
              <a:buNone/>
              <a:defRPr sz="2100">
                <a:latin typeface="Arial"/>
                <a:ea typeface="Arial"/>
                <a:cs typeface="Arial"/>
                <a:sym typeface="Arial"/>
              </a:defRPr>
            </a:lvl7pPr>
            <a:lvl8pPr lvl="7" algn="ctr">
              <a:lnSpc>
                <a:spcPct val="100000"/>
              </a:lnSpc>
              <a:spcBef>
                <a:spcPts val="0"/>
              </a:spcBef>
              <a:spcAft>
                <a:spcPts val="0"/>
              </a:spcAft>
              <a:buSzPts val="2100"/>
              <a:buFont typeface="Arial"/>
              <a:buNone/>
              <a:defRPr sz="2100">
                <a:latin typeface="Arial"/>
                <a:ea typeface="Arial"/>
                <a:cs typeface="Arial"/>
                <a:sym typeface="Arial"/>
              </a:defRPr>
            </a:lvl8pPr>
            <a:lvl9pPr lvl="8" algn="ctr">
              <a:lnSpc>
                <a:spcPct val="100000"/>
              </a:lnSpc>
              <a:spcBef>
                <a:spcPts val="0"/>
              </a:spcBef>
              <a:spcAft>
                <a:spcPts val="0"/>
              </a:spcAft>
              <a:buSzPts val="2100"/>
              <a:buFont typeface="Arial"/>
              <a:buNone/>
              <a:defRPr sz="2100">
                <a:latin typeface="Arial"/>
                <a:ea typeface="Arial"/>
                <a:cs typeface="Arial"/>
                <a:sym typeface="Arial"/>
              </a:defRPr>
            </a:lvl9pPr>
          </a:lstStyle>
          <a:p>
            <a:endParaRPr/>
          </a:p>
        </p:txBody>
      </p:sp>
      <p:sp>
        <p:nvSpPr>
          <p:cNvPr id="14" name="Google Shape;14;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17" name="Google Shape;17;p20"/>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8" name="Google Shape;18;p20"/>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9" name="Google Shape;1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21"/>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2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23" name="Google Shape;23;p21"/>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24" name="Google Shape;24;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22"/>
          <p:cNvSpPr/>
          <p:nvPr/>
        </p:nvSpPr>
        <p:spPr>
          <a:xfrm flipH="1">
            <a:off x="7595938" y="4602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27" name="Google Shape;27;p22"/>
          <p:cNvSpPr/>
          <p:nvPr/>
        </p:nvSpPr>
        <p:spPr>
          <a:xfrm rot="10800000" flipH="1">
            <a:off x="466425" y="35583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28" name="Google Shape;28;p22"/>
          <p:cNvSpPr txBox="1">
            <a:spLocks noGrp="1"/>
          </p:cNvSpPr>
          <p:nvPr>
            <p:ph type="title"/>
          </p:nvPr>
        </p:nvSpPr>
        <p:spPr>
          <a:xfrm>
            <a:off x="773700" y="1806450"/>
            <a:ext cx="7596600" cy="15306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a:endParaRPr/>
          </a:p>
        </p:txBody>
      </p:sp>
      <p:sp>
        <p:nvSpPr>
          <p:cNvPr id="29" name="Google Shape;29;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32" name="Google Shape;3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p24"/>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5" name="Google Shape;35;p24"/>
          <p:cNvSpPr txBox="1">
            <a:spLocks noGrp="1"/>
          </p:cNvSpPr>
          <p:nvPr>
            <p:ph type="body" idx="1"/>
          </p:nvPr>
        </p:nvSpPr>
        <p:spPr>
          <a:xfrm>
            <a:off x="311700" y="1399400"/>
            <a:ext cx="2808000" cy="27849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6" name="Google Shape;36;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p25"/>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25"/>
          <p:cNvSpPr txBox="1">
            <a:spLocks noGrp="1"/>
          </p:cNvSpPr>
          <p:nvPr>
            <p:ph type="title"/>
          </p:nvPr>
        </p:nvSpPr>
        <p:spPr>
          <a:xfrm>
            <a:off x="490250" y="450150"/>
            <a:ext cx="5878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0" name="Google Shape;40;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1"/>
        <p:cNvGrpSpPr/>
        <p:nvPr/>
      </p:nvGrpSpPr>
      <p:grpSpPr>
        <a:xfrm>
          <a:off x="0" y="0"/>
          <a:ext cx="0" cy="0"/>
          <a:chOff x="0" y="0"/>
          <a:chExt cx="0" cy="0"/>
        </a:xfrm>
      </p:grpSpPr>
      <p:sp>
        <p:nvSpPr>
          <p:cNvPr id="42" name="Google Shape;42;p26"/>
          <p:cNvSpPr/>
          <p:nvPr/>
        </p:nvSpPr>
        <p:spPr>
          <a:xfrm>
            <a:off x="4572000" y="-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3" name="Google Shape;43;p26"/>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4" name="Google Shape;44;p26"/>
          <p:cNvSpPr txBox="1">
            <a:spLocks noGrp="1"/>
          </p:cNvSpPr>
          <p:nvPr>
            <p:ph type="title"/>
          </p:nvPr>
        </p:nvSpPr>
        <p:spPr>
          <a:xfrm>
            <a:off x="265500" y="929275"/>
            <a:ext cx="4045200" cy="17862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lt2"/>
              </a:buClr>
              <a:buSzPts val="4200"/>
              <a:buNone/>
              <a:defRPr>
                <a:solidFill>
                  <a:schemeClr val="lt2"/>
                </a:solidFill>
              </a:defRPr>
            </a:lvl1pPr>
            <a:lvl2pPr lvl="1" algn="ctr">
              <a:lnSpc>
                <a:spcPct val="100000"/>
              </a:lnSpc>
              <a:spcBef>
                <a:spcPts val="0"/>
              </a:spcBef>
              <a:spcAft>
                <a:spcPts val="0"/>
              </a:spcAft>
              <a:buClr>
                <a:schemeClr val="lt2"/>
              </a:buClr>
              <a:buSzPts val="4200"/>
              <a:buNone/>
              <a:defRPr>
                <a:solidFill>
                  <a:schemeClr val="lt2"/>
                </a:solidFill>
              </a:defRPr>
            </a:lvl2pPr>
            <a:lvl3pPr lvl="2" algn="ctr">
              <a:lnSpc>
                <a:spcPct val="100000"/>
              </a:lnSpc>
              <a:spcBef>
                <a:spcPts val="0"/>
              </a:spcBef>
              <a:spcAft>
                <a:spcPts val="0"/>
              </a:spcAft>
              <a:buClr>
                <a:schemeClr val="lt2"/>
              </a:buClr>
              <a:buSzPts val="4200"/>
              <a:buNone/>
              <a:defRPr>
                <a:solidFill>
                  <a:schemeClr val="lt2"/>
                </a:solidFill>
              </a:defRPr>
            </a:lvl3pPr>
            <a:lvl4pPr lvl="3" algn="ctr">
              <a:lnSpc>
                <a:spcPct val="100000"/>
              </a:lnSpc>
              <a:spcBef>
                <a:spcPts val="0"/>
              </a:spcBef>
              <a:spcAft>
                <a:spcPts val="0"/>
              </a:spcAft>
              <a:buClr>
                <a:schemeClr val="lt2"/>
              </a:buClr>
              <a:buSzPts val="4200"/>
              <a:buNone/>
              <a:defRPr>
                <a:solidFill>
                  <a:schemeClr val="lt2"/>
                </a:solidFill>
              </a:defRPr>
            </a:lvl4pPr>
            <a:lvl5pPr lvl="4" algn="ctr">
              <a:lnSpc>
                <a:spcPct val="100000"/>
              </a:lnSpc>
              <a:spcBef>
                <a:spcPts val="0"/>
              </a:spcBef>
              <a:spcAft>
                <a:spcPts val="0"/>
              </a:spcAft>
              <a:buClr>
                <a:schemeClr val="lt2"/>
              </a:buClr>
              <a:buSzPts val="4200"/>
              <a:buNone/>
              <a:defRPr>
                <a:solidFill>
                  <a:schemeClr val="lt2"/>
                </a:solidFill>
              </a:defRPr>
            </a:lvl5pPr>
            <a:lvl6pPr lvl="5" algn="ctr">
              <a:lnSpc>
                <a:spcPct val="100000"/>
              </a:lnSpc>
              <a:spcBef>
                <a:spcPts val="0"/>
              </a:spcBef>
              <a:spcAft>
                <a:spcPts val="0"/>
              </a:spcAft>
              <a:buClr>
                <a:schemeClr val="lt2"/>
              </a:buClr>
              <a:buSzPts val="4200"/>
              <a:buNone/>
              <a:defRPr>
                <a:solidFill>
                  <a:schemeClr val="lt2"/>
                </a:solidFill>
              </a:defRPr>
            </a:lvl6pPr>
            <a:lvl7pPr lvl="6" algn="ctr">
              <a:lnSpc>
                <a:spcPct val="100000"/>
              </a:lnSpc>
              <a:spcBef>
                <a:spcPts val="0"/>
              </a:spcBef>
              <a:spcAft>
                <a:spcPts val="0"/>
              </a:spcAft>
              <a:buClr>
                <a:schemeClr val="lt2"/>
              </a:buClr>
              <a:buSzPts val="4200"/>
              <a:buNone/>
              <a:defRPr>
                <a:solidFill>
                  <a:schemeClr val="lt2"/>
                </a:solidFill>
              </a:defRPr>
            </a:lvl7pPr>
            <a:lvl8pPr lvl="7" algn="ctr">
              <a:lnSpc>
                <a:spcPct val="100000"/>
              </a:lnSpc>
              <a:spcBef>
                <a:spcPts val="0"/>
              </a:spcBef>
              <a:spcAft>
                <a:spcPts val="0"/>
              </a:spcAft>
              <a:buClr>
                <a:schemeClr val="lt2"/>
              </a:buClr>
              <a:buSzPts val="4200"/>
              <a:buNone/>
              <a:defRPr>
                <a:solidFill>
                  <a:schemeClr val="lt2"/>
                </a:solidFill>
              </a:defRPr>
            </a:lvl8pPr>
            <a:lvl9pPr lvl="8" algn="ctr">
              <a:lnSpc>
                <a:spcPct val="100000"/>
              </a:lnSpc>
              <a:spcBef>
                <a:spcPts val="0"/>
              </a:spcBef>
              <a:spcAft>
                <a:spcPts val="0"/>
              </a:spcAft>
              <a:buClr>
                <a:schemeClr val="lt2"/>
              </a:buClr>
              <a:buSzPts val="4200"/>
              <a:buNone/>
              <a:defRPr>
                <a:solidFill>
                  <a:schemeClr val="lt2"/>
                </a:solidFill>
              </a:defRPr>
            </a:lvl9pPr>
          </a:lstStyle>
          <a:p>
            <a:endParaRPr/>
          </a:p>
        </p:txBody>
      </p:sp>
      <p:sp>
        <p:nvSpPr>
          <p:cNvPr id="45" name="Google Shape;45;p26"/>
          <p:cNvSpPr txBox="1">
            <a:spLocks noGrp="1"/>
          </p:cNvSpPr>
          <p:nvPr>
            <p:ph type="subTitle" idx="1"/>
          </p:nvPr>
        </p:nvSpPr>
        <p:spPr>
          <a:xfrm>
            <a:off x="265500" y="2769001"/>
            <a:ext cx="4045200" cy="1574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400"/>
              <a:buFont typeface="Arial"/>
              <a:buNone/>
              <a:defRPr sz="2400">
                <a:latin typeface="Arial"/>
                <a:ea typeface="Arial"/>
                <a:cs typeface="Arial"/>
                <a:sym typeface="Arial"/>
              </a:defRPr>
            </a:lvl1pPr>
            <a:lvl2pPr lvl="1" algn="ctr">
              <a:lnSpc>
                <a:spcPct val="100000"/>
              </a:lnSpc>
              <a:spcBef>
                <a:spcPts val="0"/>
              </a:spcBef>
              <a:spcAft>
                <a:spcPts val="0"/>
              </a:spcAft>
              <a:buSzPts val="2400"/>
              <a:buFont typeface="Arial"/>
              <a:buNone/>
              <a:defRPr sz="2400">
                <a:latin typeface="Arial"/>
                <a:ea typeface="Arial"/>
                <a:cs typeface="Arial"/>
                <a:sym typeface="Arial"/>
              </a:defRPr>
            </a:lvl2pPr>
            <a:lvl3pPr lvl="2" algn="ctr">
              <a:lnSpc>
                <a:spcPct val="100000"/>
              </a:lnSpc>
              <a:spcBef>
                <a:spcPts val="0"/>
              </a:spcBef>
              <a:spcAft>
                <a:spcPts val="0"/>
              </a:spcAft>
              <a:buSzPts val="2400"/>
              <a:buFont typeface="Arial"/>
              <a:buNone/>
              <a:defRPr sz="2400">
                <a:latin typeface="Arial"/>
                <a:ea typeface="Arial"/>
                <a:cs typeface="Arial"/>
                <a:sym typeface="Arial"/>
              </a:defRPr>
            </a:lvl3pPr>
            <a:lvl4pPr lvl="3" algn="ctr">
              <a:lnSpc>
                <a:spcPct val="100000"/>
              </a:lnSpc>
              <a:spcBef>
                <a:spcPts val="0"/>
              </a:spcBef>
              <a:spcAft>
                <a:spcPts val="0"/>
              </a:spcAft>
              <a:buSzPts val="2400"/>
              <a:buFont typeface="Arial"/>
              <a:buNone/>
              <a:defRPr sz="2400">
                <a:latin typeface="Arial"/>
                <a:ea typeface="Arial"/>
                <a:cs typeface="Arial"/>
                <a:sym typeface="Arial"/>
              </a:defRPr>
            </a:lvl4pPr>
            <a:lvl5pPr lvl="4" algn="ctr">
              <a:lnSpc>
                <a:spcPct val="100000"/>
              </a:lnSpc>
              <a:spcBef>
                <a:spcPts val="0"/>
              </a:spcBef>
              <a:spcAft>
                <a:spcPts val="0"/>
              </a:spcAft>
              <a:buSzPts val="2400"/>
              <a:buFont typeface="Arial"/>
              <a:buNone/>
              <a:defRPr sz="2400">
                <a:latin typeface="Arial"/>
                <a:ea typeface="Arial"/>
                <a:cs typeface="Arial"/>
                <a:sym typeface="Arial"/>
              </a:defRPr>
            </a:lvl5pPr>
            <a:lvl6pPr lvl="5" algn="ctr">
              <a:lnSpc>
                <a:spcPct val="100000"/>
              </a:lnSpc>
              <a:spcBef>
                <a:spcPts val="0"/>
              </a:spcBef>
              <a:spcAft>
                <a:spcPts val="0"/>
              </a:spcAft>
              <a:buSzPts val="2400"/>
              <a:buFont typeface="Arial"/>
              <a:buNone/>
              <a:defRPr sz="2400">
                <a:latin typeface="Arial"/>
                <a:ea typeface="Arial"/>
                <a:cs typeface="Arial"/>
                <a:sym typeface="Arial"/>
              </a:defRPr>
            </a:lvl6pPr>
            <a:lvl7pPr lvl="6" algn="ctr">
              <a:lnSpc>
                <a:spcPct val="100000"/>
              </a:lnSpc>
              <a:spcBef>
                <a:spcPts val="0"/>
              </a:spcBef>
              <a:spcAft>
                <a:spcPts val="0"/>
              </a:spcAft>
              <a:buSzPts val="2400"/>
              <a:buFont typeface="Arial"/>
              <a:buNone/>
              <a:defRPr sz="2400">
                <a:latin typeface="Arial"/>
                <a:ea typeface="Arial"/>
                <a:cs typeface="Arial"/>
                <a:sym typeface="Arial"/>
              </a:defRPr>
            </a:lvl7pPr>
            <a:lvl8pPr lvl="7" algn="ctr">
              <a:lnSpc>
                <a:spcPct val="100000"/>
              </a:lnSpc>
              <a:spcBef>
                <a:spcPts val="0"/>
              </a:spcBef>
              <a:spcAft>
                <a:spcPts val="0"/>
              </a:spcAft>
              <a:buSzPts val="2400"/>
              <a:buFont typeface="Arial"/>
              <a:buNone/>
              <a:defRPr sz="2400">
                <a:latin typeface="Arial"/>
                <a:ea typeface="Arial"/>
                <a:cs typeface="Arial"/>
                <a:sym typeface="Arial"/>
              </a:defRPr>
            </a:lvl8pPr>
            <a:lvl9pPr lvl="8" algn="ctr">
              <a:lnSpc>
                <a:spcPct val="100000"/>
              </a:lnSpc>
              <a:spcBef>
                <a:spcPts val="0"/>
              </a:spcBef>
              <a:spcAft>
                <a:spcPts val="0"/>
              </a:spcAft>
              <a:buSzPts val="2400"/>
              <a:buFont typeface="Arial"/>
              <a:buNone/>
              <a:defRPr sz="2400">
                <a:latin typeface="Arial"/>
                <a:ea typeface="Arial"/>
                <a:cs typeface="Arial"/>
                <a:sym typeface="Arial"/>
              </a:defRPr>
            </a:lvl9pPr>
          </a:lstStyle>
          <a:p>
            <a:endParaRPr/>
          </a:p>
        </p:txBody>
      </p:sp>
      <p:sp>
        <p:nvSpPr>
          <p:cNvPr id="46" name="Google Shape;46;p26"/>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1600"/>
              </a:spcBef>
              <a:spcAft>
                <a:spcPts val="0"/>
              </a:spcAft>
              <a:buClr>
                <a:schemeClr val="lt1"/>
              </a:buClr>
              <a:buSzPts val="1400"/>
              <a:buChar char="○"/>
              <a:defRPr>
                <a:solidFill>
                  <a:schemeClr val="lt1"/>
                </a:solidFill>
              </a:defRPr>
            </a:lvl2pPr>
            <a:lvl3pPr marL="1371600" lvl="2" indent="-317500" algn="l">
              <a:lnSpc>
                <a:spcPct val="115000"/>
              </a:lnSpc>
              <a:spcBef>
                <a:spcPts val="1600"/>
              </a:spcBef>
              <a:spcAft>
                <a:spcPts val="0"/>
              </a:spcAft>
              <a:buClr>
                <a:schemeClr val="lt1"/>
              </a:buClr>
              <a:buSzPts val="1400"/>
              <a:buChar char="■"/>
              <a:defRPr>
                <a:solidFill>
                  <a:schemeClr val="lt1"/>
                </a:solidFill>
              </a:defRPr>
            </a:lvl3pPr>
            <a:lvl4pPr marL="1828800" lvl="3" indent="-317500" algn="l">
              <a:lnSpc>
                <a:spcPct val="115000"/>
              </a:lnSpc>
              <a:spcBef>
                <a:spcPts val="1600"/>
              </a:spcBef>
              <a:spcAft>
                <a:spcPts val="0"/>
              </a:spcAft>
              <a:buClr>
                <a:schemeClr val="lt1"/>
              </a:buClr>
              <a:buSzPts val="1400"/>
              <a:buChar char="●"/>
              <a:defRPr>
                <a:solidFill>
                  <a:schemeClr val="lt1"/>
                </a:solidFill>
              </a:defRPr>
            </a:lvl4pPr>
            <a:lvl5pPr marL="2286000" lvl="4" indent="-317500" algn="l">
              <a:lnSpc>
                <a:spcPct val="115000"/>
              </a:lnSpc>
              <a:spcBef>
                <a:spcPts val="1600"/>
              </a:spcBef>
              <a:spcAft>
                <a:spcPts val="0"/>
              </a:spcAft>
              <a:buClr>
                <a:schemeClr val="lt1"/>
              </a:buClr>
              <a:buSzPts val="1400"/>
              <a:buChar char="○"/>
              <a:defRPr>
                <a:solidFill>
                  <a:schemeClr val="lt1"/>
                </a:solidFill>
              </a:defRPr>
            </a:lvl5pPr>
            <a:lvl6pPr marL="2743200" lvl="5" indent="-317500" algn="l">
              <a:lnSpc>
                <a:spcPct val="115000"/>
              </a:lnSpc>
              <a:spcBef>
                <a:spcPts val="1600"/>
              </a:spcBef>
              <a:spcAft>
                <a:spcPts val="0"/>
              </a:spcAft>
              <a:buClr>
                <a:schemeClr val="lt1"/>
              </a:buClr>
              <a:buSzPts val="1400"/>
              <a:buChar char="■"/>
              <a:defRPr>
                <a:solidFill>
                  <a:schemeClr val="lt1"/>
                </a:solidFill>
              </a:defRPr>
            </a:lvl6pPr>
            <a:lvl7pPr marL="3200400" lvl="6" indent="-317500" algn="l">
              <a:lnSpc>
                <a:spcPct val="115000"/>
              </a:lnSpc>
              <a:spcBef>
                <a:spcPts val="1600"/>
              </a:spcBef>
              <a:spcAft>
                <a:spcPts val="0"/>
              </a:spcAft>
              <a:buClr>
                <a:schemeClr val="lt1"/>
              </a:buClr>
              <a:buSzPts val="1400"/>
              <a:buChar char="●"/>
              <a:defRPr>
                <a:solidFill>
                  <a:schemeClr val="lt1"/>
                </a:solidFill>
              </a:defRPr>
            </a:lvl7pPr>
            <a:lvl8pPr marL="3657600" lvl="7" indent="-317500" algn="l">
              <a:lnSpc>
                <a:spcPct val="115000"/>
              </a:lnSpc>
              <a:spcBef>
                <a:spcPts val="1600"/>
              </a:spcBef>
              <a:spcAft>
                <a:spcPts val="0"/>
              </a:spcAft>
              <a:buClr>
                <a:schemeClr val="lt1"/>
              </a:buClr>
              <a:buSzPts val="1400"/>
              <a:buChar char="○"/>
              <a:defRPr>
                <a:solidFill>
                  <a:schemeClr val="lt1"/>
                </a:solidFill>
              </a:defRPr>
            </a:lvl8pPr>
            <a:lvl9pPr marL="4114800" lvl="8" indent="-317500" algn="l">
              <a:lnSpc>
                <a:spcPct val="115000"/>
              </a:lnSpc>
              <a:spcBef>
                <a:spcPts val="1600"/>
              </a:spcBef>
              <a:spcAft>
                <a:spcPts val="1600"/>
              </a:spcAft>
              <a:buClr>
                <a:schemeClr val="lt1"/>
              </a:buClr>
              <a:buSzPts val="1400"/>
              <a:buChar char="■"/>
              <a:defRPr>
                <a:solidFill>
                  <a:schemeClr val="lt1"/>
                </a:solidFill>
              </a:defRPr>
            </a:lvl9pPr>
          </a:lstStyle>
          <a:p>
            <a:endParaRPr/>
          </a:p>
        </p:txBody>
      </p:sp>
      <p:sp>
        <p:nvSpPr>
          <p:cNvPr id="47" name="Google Shape;47;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27"/>
          <p:cNvSpPr txBox="1">
            <a:spLocks noGrp="1"/>
          </p:cNvSpPr>
          <p:nvPr>
            <p:ph type="body" idx="1"/>
          </p:nvPr>
        </p:nvSpPr>
        <p:spPr>
          <a:xfrm>
            <a:off x="319500" y="4218925"/>
            <a:ext cx="5998800" cy="5988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2400"/>
              <a:buFont typeface="Arial"/>
              <a:buNone/>
              <a:defRPr sz="2400">
                <a:latin typeface="Arial"/>
                <a:ea typeface="Arial"/>
                <a:cs typeface="Arial"/>
                <a:sym typeface="Arial"/>
              </a:defRPr>
            </a:lvl1pPr>
          </a:lstStyle>
          <a:p>
            <a:endParaRPr/>
          </a:p>
        </p:txBody>
      </p:sp>
      <p:sp>
        <p:nvSpPr>
          <p:cNvPr id="50" name="Google Shape;50;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sp>
        <p:nvSpPr>
          <p:cNvPr id="52" name="Google Shape;52;p28"/>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 name="Google Shape;53;p28"/>
          <p:cNvSpPr txBox="1">
            <a:spLocks noGrp="1"/>
          </p:cNvSpPr>
          <p:nvPr>
            <p:ph type="title" hasCustomPrompt="1"/>
          </p:nvPr>
        </p:nvSpPr>
        <p:spPr>
          <a:xfrm>
            <a:off x="311700" y="957125"/>
            <a:ext cx="8520600" cy="2128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2"/>
              </a:buClr>
              <a:buSzPts val="16000"/>
              <a:buNone/>
              <a:defRPr sz="16000">
                <a:solidFill>
                  <a:schemeClr val="lt2"/>
                </a:solidFill>
              </a:defRPr>
            </a:lvl1pPr>
            <a:lvl2pPr lvl="1" algn="ctr">
              <a:lnSpc>
                <a:spcPct val="100000"/>
              </a:lnSpc>
              <a:spcBef>
                <a:spcPts val="0"/>
              </a:spcBef>
              <a:spcAft>
                <a:spcPts val="0"/>
              </a:spcAft>
              <a:buClr>
                <a:schemeClr val="lt2"/>
              </a:buClr>
              <a:buSzPts val="16000"/>
              <a:buNone/>
              <a:defRPr sz="16000">
                <a:solidFill>
                  <a:schemeClr val="lt2"/>
                </a:solidFill>
              </a:defRPr>
            </a:lvl2pPr>
            <a:lvl3pPr lvl="2" algn="ctr">
              <a:lnSpc>
                <a:spcPct val="100000"/>
              </a:lnSpc>
              <a:spcBef>
                <a:spcPts val="0"/>
              </a:spcBef>
              <a:spcAft>
                <a:spcPts val="0"/>
              </a:spcAft>
              <a:buClr>
                <a:schemeClr val="lt2"/>
              </a:buClr>
              <a:buSzPts val="16000"/>
              <a:buNone/>
              <a:defRPr sz="16000">
                <a:solidFill>
                  <a:schemeClr val="lt2"/>
                </a:solidFill>
              </a:defRPr>
            </a:lvl3pPr>
            <a:lvl4pPr lvl="3" algn="ctr">
              <a:lnSpc>
                <a:spcPct val="100000"/>
              </a:lnSpc>
              <a:spcBef>
                <a:spcPts val="0"/>
              </a:spcBef>
              <a:spcAft>
                <a:spcPts val="0"/>
              </a:spcAft>
              <a:buClr>
                <a:schemeClr val="lt2"/>
              </a:buClr>
              <a:buSzPts val="16000"/>
              <a:buNone/>
              <a:defRPr sz="16000">
                <a:solidFill>
                  <a:schemeClr val="lt2"/>
                </a:solidFill>
              </a:defRPr>
            </a:lvl4pPr>
            <a:lvl5pPr lvl="4" algn="ctr">
              <a:lnSpc>
                <a:spcPct val="100000"/>
              </a:lnSpc>
              <a:spcBef>
                <a:spcPts val="0"/>
              </a:spcBef>
              <a:spcAft>
                <a:spcPts val="0"/>
              </a:spcAft>
              <a:buClr>
                <a:schemeClr val="lt2"/>
              </a:buClr>
              <a:buSzPts val="16000"/>
              <a:buNone/>
              <a:defRPr sz="16000">
                <a:solidFill>
                  <a:schemeClr val="lt2"/>
                </a:solidFill>
              </a:defRPr>
            </a:lvl5pPr>
            <a:lvl6pPr lvl="5" algn="ctr">
              <a:lnSpc>
                <a:spcPct val="100000"/>
              </a:lnSpc>
              <a:spcBef>
                <a:spcPts val="0"/>
              </a:spcBef>
              <a:spcAft>
                <a:spcPts val="0"/>
              </a:spcAft>
              <a:buClr>
                <a:schemeClr val="lt2"/>
              </a:buClr>
              <a:buSzPts val="16000"/>
              <a:buNone/>
              <a:defRPr sz="16000">
                <a:solidFill>
                  <a:schemeClr val="lt2"/>
                </a:solidFill>
              </a:defRPr>
            </a:lvl6pPr>
            <a:lvl7pPr lvl="6" algn="ctr">
              <a:lnSpc>
                <a:spcPct val="100000"/>
              </a:lnSpc>
              <a:spcBef>
                <a:spcPts val="0"/>
              </a:spcBef>
              <a:spcAft>
                <a:spcPts val="0"/>
              </a:spcAft>
              <a:buClr>
                <a:schemeClr val="lt2"/>
              </a:buClr>
              <a:buSzPts val="16000"/>
              <a:buNone/>
              <a:defRPr sz="16000">
                <a:solidFill>
                  <a:schemeClr val="lt2"/>
                </a:solidFill>
              </a:defRPr>
            </a:lvl7pPr>
            <a:lvl8pPr lvl="7" algn="ctr">
              <a:lnSpc>
                <a:spcPct val="100000"/>
              </a:lnSpc>
              <a:spcBef>
                <a:spcPts val="0"/>
              </a:spcBef>
              <a:spcAft>
                <a:spcPts val="0"/>
              </a:spcAft>
              <a:buClr>
                <a:schemeClr val="lt2"/>
              </a:buClr>
              <a:buSzPts val="16000"/>
              <a:buNone/>
              <a:defRPr sz="16000">
                <a:solidFill>
                  <a:schemeClr val="lt2"/>
                </a:solidFill>
              </a:defRPr>
            </a:lvl8pPr>
            <a:lvl9pPr lvl="8" algn="ctr">
              <a:lnSpc>
                <a:spcPct val="100000"/>
              </a:lnSpc>
              <a:spcBef>
                <a:spcPts val="0"/>
              </a:spcBef>
              <a:spcAft>
                <a:spcPts val="0"/>
              </a:spcAft>
              <a:buClr>
                <a:schemeClr val="lt2"/>
              </a:buClr>
              <a:buSzPts val="16000"/>
              <a:buNone/>
              <a:defRPr sz="16000">
                <a:solidFill>
                  <a:schemeClr val="lt2"/>
                </a:solidFill>
              </a:defRPr>
            </a:lvl9pPr>
          </a:lstStyle>
          <a:p>
            <a:r>
              <a:t>xx%</a:t>
            </a:r>
          </a:p>
        </p:txBody>
      </p:sp>
      <p:sp>
        <p:nvSpPr>
          <p:cNvPr id="54" name="Google Shape;54;p28"/>
          <p:cNvSpPr txBox="1">
            <a:spLocks noGrp="1"/>
          </p:cNvSpPr>
          <p:nvPr>
            <p:ph type="body" idx="1"/>
          </p:nvPr>
        </p:nvSpPr>
        <p:spPr>
          <a:xfrm>
            <a:off x="311700" y="3162000"/>
            <a:ext cx="8520600" cy="10716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55" name="Google Shape;55;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1pPr>
            <a:lvl2pPr marL="914400" marR="0" lvl="1"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3" name="TextBox 2">
            <a:extLst>
              <a:ext uri="{FF2B5EF4-FFF2-40B4-BE49-F238E27FC236}">
                <a16:creationId xmlns:a16="http://schemas.microsoft.com/office/drawing/2014/main" id="{3F0F1704-762F-3E7B-EC10-4623DCCD562D}"/>
              </a:ext>
            </a:extLst>
          </p:cNvPr>
          <p:cNvSpPr txBox="1"/>
          <p:nvPr userDrawn="1">
            <p:extLst>
              <p:ext uri="{1162E1C5-73C7-4A58-AE30-91384D911F3F}">
                <p184:classification xmlns:p184="http://schemas.microsoft.com/office/powerpoint/2018/4/main" val="hdr"/>
              </p:ext>
            </p:extLst>
          </p:nvPr>
        </p:nvSpPr>
        <p:spPr>
          <a:xfrm>
            <a:off x="3956050" y="0"/>
            <a:ext cx="1254125" cy="121920"/>
          </a:xfrm>
          <a:prstGeom prst="rect">
            <a:avLst/>
          </a:prstGeom>
        </p:spPr>
        <p:txBody>
          <a:bodyPr horzOverflow="overflow" lIns="0" tIns="0" rIns="0" bIns="0">
            <a:spAutoFit/>
          </a:bodyPr>
          <a:lstStyle/>
          <a:p>
            <a:pPr algn="ctr"/>
            <a:r>
              <a:rPr lang="en-US" sz="800">
                <a:solidFill>
                  <a:srgbClr val="000000"/>
                </a:solidFill>
                <a:latin typeface="Calibri" panose="020F0502020204030204" pitchFamily="34" charset="0"/>
                <a:cs typeface="Calibri" panose="020F0502020204030204" pitchFamily="34" charset="0"/>
              </a:rPr>
              <a:t>SMU Classification: Restricted</a:t>
            </a: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hyperlink" Target="https://vuejs.org/guide/essentials/list.html#maintaining-state-with-key"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hyperlink" Target="http://localhost:8000/posts"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localhost:8000/posts/:id"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
          <p:cNvSpPr txBox="1">
            <a:spLocks noGrp="1"/>
          </p:cNvSpPr>
          <p:nvPr>
            <p:ph type="ctrTitle"/>
          </p:nvPr>
        </p:nvSpPr>
        <p:spPr>
          <a:xfrm>
            <a:off x="3044700" y="1444255"/>
            <a:ext cx="3785868" cy="15372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Clr>
                <a:schemeClr val="dk1"/>
              </a:buClr>
              <a:buSzPts val="1100"/>
              <a:buFont typeface="Arial"/>
              <a:buNone/>
            </a:pPr>
            <a:r>
              <a:rPr lang="en" dirty="0"/>
              <a:t>Web Application Development II</a:t>
            </a:r>
            <a:endParaRPr dirty="0"/>
          </a:p>
        </p:txBody>
      </p:sp>
      <p:sp>
        <p:nvSpPr>
          <p:cNvPr id="63" name="Google Shape;63;p1"/>
          <p:cNvSpPr txBox="1">
            <a:spLocks noGrp="1"/>
          </p:cNvSpPr>
          <p:nvPr>
            <p:ph type="subTitle" idx="1"/>
          </p:nvPr>
        </p:nvSpPr>
        <p:spPr>
          <a:xfrm>
            <a:off x="3044700" y="3116580"/>
            <a:ext cx="3054600" cy="7014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100"/>
              <a:buNone/>
            </a:pPr>
            <a:r>
              <a:rPr lang="en" dirty="0"/>
              <a:t>Week 6: Vue.js Modularizatoin with Components</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2"/>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Agenda</a:t>
            </a:r>
            <a:endParaRPr/>
          </a:p>
        </p:txBody>
      </p:sp>
      <p:sp>
        <p:nvSpPr>
          <p:cNvPr id="69" name="Google Shape;69;p2"/>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1600"/>
              </a:spcBef>
              <a:spcAft>
                <a:spcPts val="0"/>
              </a:spcAft>
              <a:buSzPts val="1400"/>
              <a:buNone/>
            </a:pPr>
            <a:r>
              <a:rPr lang="en" dirty="0"/>
              <a:t>Introduction to Components</a:t>
            </a:r>
          </a:p>
          <a:p>
            <a:pPr marL="0" marR="0" lvl="0" indent="0" algn="l" rtl="0">
              <a:lnSpc>
                <a:spcPct val="115000"/>
              </a:lnSpc>
              <a:spcBef>
                <a:spcPts val="1600"/>
              </a:spcBef>
              <a:spcAft>
                <a:spcPts val="0"/>
              </a:spcAft>
              <a:buSzPts val="1400"/>
              <a:buNone/>
            </a:pPr>
            <a:r>
              <a:rPr lang="en" dirty="0"/>
              <a:t>Defining a Component</a:t>
            </a:r>
          </a:p>
          <a:p>
            <a:pPr marL="0" marR="0" lvl="0" indent="0" algn="l" rtl="0">
              <a:lnSpc>
                <a:spcPct val="115000"/>
              </a:lnSpc>
              <a:spcBef>
                <a:spcPts val="1600"/>
              </a:spcBef>
              <a:spcAft>
                <a:spcPts val="0"/>
              </a:spcAft>
              <a:buSzPts val="1400"/>
              <a:buNone/>
            </a:pPr>
            <a:r>
              <a:rPr lang="en" dirty="0"/>
              <a:t>Registration and using a component</a:t>
            </a:r>
          </a:p>
          <a:p>
            <a:pPr marL="0" marR="0" lvl="0" indent="0" algn="l" rtl="0">
              <a:lnSpc>
                <a:spcPct val="115000"/>
              </a:lnSpc>
              <a:spcBef>
                <a:spcPts val="1600"/>
              </a:spcBef>
              <a:spcAft>
                <a:spcPts val="0"/>
              </a:spcAft>
              <a:buSzPts val="1400"/>
              <a:buNone/>
            </a:pPr>
            <a:r>
              <a:rPr lang="en" dirty="0"/>
              <a:t>Dynamic properties</a:t>
            </a:r>
          </a:p>
          <a:p>
            <a:pPr marL="0" marR="0" lvl="0" indent="0" algn="l" rtl="0">
              <a:lnSpc>
                <a:spcPct val="115000"/>
              </a:lnSpc>
              <a:spcBef>
                <a:spcPts val="1600"/>
              </a:spcBef>
              <a:spcAft>
                <a:spcPts val="0"/>
              </a:spcAft>
              <a:buSzPts val="1400"/>
              <a:buNone/>
            </a:pPr>
            <a:r>
              <a:rPr lang="en" dirty="0"/>
              <a:t>Passing data to component</a:t>
            </a:r>
          </a:p>
          <a:p>
            <a:pPr marL="0" marR="0" lvl="0" indent="0" algn="l" rtl="0">
              <a:lnSpc>
                <a:spcPct val="115000"/>
              </a:lnSpc>
              <a:spcBef>
                <a:spcPts val="1600"/>
              </a:spcBef>
              <a:spcAft>
                <a:spcPts val="0"/>
              </a:spcAft>
              <a:buSzPts val="1400"/>
              <a:buNone/>
            </a:pPr>
            <a:r>
              <a:rPr lang="en" dirty="0"/>
              <a:t>Persisting data with Local Storage</a:t>
            </a:r>
            <a:endParaRPr dirty="0"/>
          </a:p>
          <a:p>
            <a:pPr marL="0" marR="0" lvl="0" indent="0" algn="l" rtl="0">
              <a:lnSpc>
                <a:spcPct val="115000"/>
              </a:lnSpc>
              <a:spcBef>
                <a:spcPts val="1600"/>
              </a:spcBef>
              <a:spcAft>
                <a:spcPts val="1600"/>
              </a:spcAft>
              <a:buSzPts val="1400"/>
              <a:buNone/>
            </a:pPr>
            <a:endParaRPr dirty="0"/>
          </a:p>
        </p:txBody>
      </p:sp>
      <p:pic>
        <p:nvPicPr>
          <p:cNvPr id="70" name="Google Shape;70;p2"/>
          <p:cNvPicPr preferRelativeResize="0"/>
          <p:nvPr/>
        </p:nvPicPr>
        <p:blipFill rotWithShape="1">
          <a:blip r:embed="rId3">
            <a:alphaModFix/>
          </a:blip>
          <a:srcRect/>
          <a:stretch/>
        </p:blipFill>
        <p:spPr>
          <a:xfrm>
            <a:off x="4572000" y="1936300"/>
            <a:ext cx="3612775" cy="12709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A6C51D4C-A398-FCF5-8F00-A83B068A48CA}"/>
            </a:ext>
          </a:extLst>
        </p:cNvPr>
        <p:cNvGrpSpPr/>
        <p:nvPr/>
      </p:nvGrpSpPr>
      <p:grpSpPr>
        <a:xfrm>
          <a:off x="0" y="0"/>
          <a:ext cx="0" cy="0"/>
          <a:chOff x="0" y="0"/>
          <a:chExt cx="0" cy="0"/>
        </a:xfrm>
      </p:grpSpPr>
      <p:sp>
        <p:nvSpPr>
          <p:cNvPr id="92" name="Google Shape;92;p5">
            <a:extLst>
              <a:ext uri="{FF2B5EF4-FFF2-40B4-BE49-F238E27FC236}">
                <a16:creationId xmlns:a16="http://schemas.microsoft.com/office/drawing/2014/main" id="{3B6E4972-2AE1-4C00-5E49-AA3E1A765002}"/>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dirty="0"/>
              <a:t>Components</a:t>
            </a:r>
            <a:endParaRPr dirty="0"/>
          </a:p>
        </p:txBody>
      </p:sp>
      <p:sp>
        <p:nvSpPr>
          <p:cNvPr id="93" name="Google Shape;93;p5">
            <a:extLst>
              <a:ext uri="{FF2B5EF4-FFF2-40B4-BE49-F238E27FC236}">
                <a16:creationId xmlns:a16="http://schemas.microsoft.com/office/drawing/2014/main" id="{197087CD-0359-DE89-F445-5949500504CF}"/>
              </a:ext>
            </a:extLst>
          </p:cNvPr>
          <p:cNvSpPr txBox="1">
            <a:spLocks noGrp="1"/>
          </p:cNvSpPr>
          <p:nvPr>
            <p:ph type="body" idx="1"/>
          </p:nvPr>
        </p:nvSpPr>
        <p:spPr>
          <a:xfrm>
            <a:off x="311700" y="1225225"/>
            <a:ext cx="3999900" cy="2999534"/>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US" dirty="0"/>
              <a:t>Components allow us to split the UI into independent and reusable pieces, and think about each piece in isolation. It's common for an app to be organized into a tree of nested components.</a:t>
            </a:r>
          </a:p>
          <a:p>
            <a:pPr marL="0" marR="0" lvl="0" indent="0" algn="l" rtl="0">
              <a:lnSpc>
                <a:spcPct val="115000"/>
              </a:lnSpc>
              <a:spcBef>
                <a:spcPts val="0"/>
              </a:spcBef>
              <a:spcAft>
                <a:spcPts val="0"/>
              </a:spcAft>
              <a:buSzPts val="1400"/>
              <a:buNone/>
            </a:pPr>
            <a:endParaRPr lang="en-US" dirty="0"/>
          </a:p>
          <a:p>
            <a:pPr marL="0" marR="0" lvl="0" indent="0" algn="l" rtl="0">
              <a:lnSpc>
                <a:spcPct val="115000"/>
              </a:lnSpc>
              <a:spcBef>
                <a:spcPts val="0"/>
              </a:spcBef>
              <a:spcAft>
                <a:spcPts val="0"/>
              </a:spcAft>
              <a:buSzPts val="1400"/>
              <a:buNone/>
            </a:pPr>
            <a:r>
              <a:rPr lang="en-US" dirty="0"/>
              <a:t>This is very similar to how we nest native HTML elements, but Vue implements its own component model that allows us to encapsulate custom content and logic in each component. </a:t>
            </a:r>
            <a:endParaRPr dirty="0"/>
          </a:p>
        </p:txBody>
      </p:sp>
      <p:pic>
        <p:nvPicPr>
          <p:cNvPr id="8" name="Picture 7">
            <a:extLst>
              <a:ext uri="{FF2B5EF4-FFF2-40B4-BE49-F238E27FC236}">
                <a16:creationId xmlns:a16="http://schemas.microsoft.com/office/drawing/2014/main" id="{9532ED53-3865-44F0-E097-0BDBCF25B6AE}"/>
              </a:ext>
            </a:extLst>
          </p:cNvPr>
          <p:cNvPicPr>
            <a:picLocks noChangeAspect="1"/>
          </p:cNvPicPr>
          <p:nvPr/>
        </p:nvPicPr>
        <p:blipFill>
          <a:blip r:embed="rId3"/>
          <a:stretch>
            <a:fillRect/>
          </a:stretch>
        </p:blipFill>
        <p:spPr>
          <a:xfrm>
            <a:off x="4311600" y="2202998"/>
            <a:ext cx="4832400" cy="1599274"/>
          </a:xfrm>
          <a:prstGeom prst="rect">
            <a:avLst/>
          </a:prstGeom>
        </p:spPr>
      </p:pic>
    </p:spTree>
    <p:extLst>
      <p:ext uri="{BB962C8B-B14F-4D97-AF65-F5344CB8AC3E}">
        <p14:creationId xmlns:p14="http://schemas.microsoft.com/office/powerpoint/2010/main" val="18565367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6AC9E04D-0F89-F379-51E3-EA920A9B4325}"/>
            </a:ext>
          </a:extLst>
        </p:cNvPr>
        <p:cNvGrpSpPr/>
        <p:nvPr/>
      </p:nvGrpSpPr>
      <p:grpSpPr>
        <a:xfrm>
          <a:off x="0" y="0"/>
          <a:ext cx="0" cy="0"/>
          <a:chOff x="0" y="0"/>
          <a:chExt cx="0" cy="0"/>
        </a:xfrm>
      </p:grpSpPr>
      <p:sp>
        <p:nvSpPr>
          <p:cNvPr id="92" name="Google Shape;92;p5">
            <a:extLst>
              <a:ext uri="{FF2B5EF4-FFF2-40B4-BE49-F238E27FC236}">
                <a16:creationId xmlns:a16="http://schemas.microsoft.com/office/drawing/2014/main" id="{971D736A-257F-9F2B-66A0-AE95E7DA767A}"/>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dirty="0"/>
              <a:t>Naming Convention</a:t>
            </a:r>
            <a:endParaRPr dirty="0"/>
          </a:p>
        </p:txBody>
      </p:sp>
      <p:sp>
        <p:nvSpPr>
          <p:cNvPr id="93" name="Google Shape;93;p5">
            <a:extLst>
              <a:ext uri="{FF2B5EF4-FFF2-40B4-BE49-F238E27FC236}">
                <a16:creationId xmlns:a16="http://schemas.microsoft.com/office/drawing/2014/main" id="{F503CF97-7C26-B47D-907E-A6586958B7BD}"/>
              </a:ext>
            </a:extLst>
          </p:cNvPr>
          <p:cNvSpPr txBox="1">
            <a:spLocks noGrp="1"/>
          </p:cNvSpPr>
          <p:nvPr>
            <p:ph type="body" idx="1"/>
          </p:nvPr>
        </p:nvSpPr>
        <p:spPr>
          <a:xfrm>
            <a:off x="311700" y="1225224"/>
            <a:ext cx="8248826" cy="3686409"/>
          </a:xfrm>
          <a:prstGeom prst="rect">
            <a:avLst/>
          </a:prstGeom>
          <a:noFill/>
          <a:ln>
            <a:noFill/>
          </a:ln>
        </p:spPr>
        <p:txBody>
          <a:bodyPr spcFirstLastPara="1" wrap="square" lIns="91425" tIns="91425" rIns="91425" bIns="91425" anchor="t" anchorCtr="0">
            <a:noAutofit/>
          </a:bodyPr>
          <a:lstStyle/>
          <a:p>
            <a:pPr marL="0" lvl="0" indent="0">
              <a:buNone/>
            </a:pPr>
            <a:r>
              <a:rPr lang="en-US" dirty="0"/>
              <a:t>It is r</a:t>
            </a:r>
            <a:r>
              <a:rPr lang="en-SG" dirty="0" err="1">
                <a:solidFill>
                  <a:srgbClr val="000000"/>
                </a:solidFill>
              </a:rPr>
              <a:t>ecommended</a:t>
            </a:r>
            <a:r>
              <a:rPr lang="en-SG" dirty="0">
                <a:solidFill>
                  <a:srgbClr val="000000"/>
                </a:solidFill>
              </a:rPr>
              <a:t> to use </a:t>
            </a:r>
            <a:r>
              <a:rPr lang="en-SG" dirty="0" err="1">
                <a:solidFill>
                  <a:srgbClr val="000000"/>
                </a:solidFill>
              </a:rPr>
              <a:t>PascalCase</a:t>
            </a:r>
            <a:r>
              <a:rPr lang="en-SG" dirty="0">
                <a:solidFill>
                  <a:srgbClr val="000000"/>
                </a:solidFill>
              </a:rPr>
              <a:t> for </a:t>
            </a:r>
            <a:r>
              <a:rPr lang="en-SG" dirty="0" err="1">
                <a:solidFill>
                  <a:srgbClr val="000000"/>
                </a:solidFill>
              </a:rPr>
              <a:t>ComponentNames</a:t>
            </a:r>
            <a:r>
              <a:rPr lang="en-SG" dirty="0">
                <a:solidFill>
                  <a:srgbClr val="000000"/>
                </a:solidFill>
              </a:rPr>
              <a:t> </a:t>
            </a:r>
            <a:r>
              <a:rPr lang="en-SG" b="1" dirty="0">
                <a:latin typeface="Open Sans" panose="020B0606030504020204" pitchFamily="34" charset="0"/>
                <a:ea typeface="Open Sans" panose="020B0606030504020204" pitchFamily="34" charset="0"/>
                <a:cs typeface="Open Sans" panose="020B0606030504020204" pitchFamily="34" charset="0"/>
              </a:rPr>
              <a:t>&lt;</a:t>
            </a:r>
            <a:r>
              <a:rPr lang="en-SG" b="1" dirty="0" err="1">
                <a:latin typeface="Open Sans" panose="020B0606030504020204" pitchFamily="34" charset="0"/>
                <a:ea typeface="Open Sans" panose="020B0606030504020204" pitchFamily="34" charset="0"/>
                <a:cs typeface="Open Sans" panose="020B0606030504020204" pitchFamily="34" charset="0"/>
              </a:rPr>
              <a:t>PascalCase</a:t>
            </a:r>
            <a:r>
              <a:rPr lang="en-SG" b="1" dirty="0">
                <a:latin typeface="Open Sans" panose="020B0606030504020204" pitchFamily="34" charset="0"/>
                <a:ea typeface="Open Sans" panose="020B0606030504020204" pitchFamily="34" charset="0"/>
                <a:cs typeface="Open Sans" panose="020B0606030504020204" pitchFamily="34" charset="0"/>
              </a:rPr>
              <a:t> /&gt; </a:t>
            </a:r>
            <a:r>
              <a:rPr lang="en-SG" dirty="0">
                <a:solidFill>
                  <a:srgbClr val="000000"/>
                </a:solidFill>
              </a:rPr>
              <a:t> to differentiate from native HTML elements.</a:t>
            </a:r>
          </a:p>
          <a:p>
            <a:pPr marL="0" marR="0" lvl="0" indent="0" algn="l" rtl="0">
              <a:lnSpc>
                <a:spcPct val="115000"/>
              </a:lnSpc>
              <a:spcBef>
                <a:spcPts val="0"/>
              </a:spcBef>
              <a:spcAft>
                <a:spcPts val="0"/>
              </a:spcAft>
              <a:buSzPts val="1400"/>
              <a:buNone/>
            </a:pPr>
            <a:endParaRPr lang="en-SG" dirty="0">
              <a:solidFill>
                <a:srgbClr val="000000"/>
              </a:solidFill>
            </a:endParaRPr>
          </a:p>
          <a:p>
            <a:pPr marL="0" marR="0" lvl="0" indent="0" algn="l" rtl="0">
              <a:lnSpc>
                <a:spcPct val="115000"/>
              </a:lnSpc>
              <a:spcBef>
                <a:spcPts val="0"/>
              </a:spcBef>
              <a:spcAft>
                <a:spcPts val="0"/>
              </a:spcAft>
              <a:buSzPts val="1400"/>
              <a:buNone/>
            </a:pPr>
            <a:r>
              <a:rPr lang="en-SG" dirty="0" err="1"/>
              <a:t>PascalCase</a:t>
            </a:r>
            <a:r>
              <a:rPr lang="en-SG" dirty="0"/>
              <a:t> names are valid JavaScript identifiers (kebab-case names are not). This makes it easier to import and register components in JavaScript. It also helps IDEs with auto-completion.</a:t>
            </a:r>
          </a:p>
          <a:p>
            <a:pPr marL="0" marR="0" lvl="0" indent="0" algn="l" rtl="0">
              <a:lnSpc>
                <a:spcPct val="115000"/>
              </a:lnSpc>
              <a:spcBef>
                <a:spcPts val="0"/>
              </a:spcBef>
              <a:spcAft>
                <a:spcPts val="0"/>
              </a:spcAft>
              <a:buSzPts val="1400"/>
              <a:buNone/>
            </a:pPr>
            <a:endParaRPr lang="en-SG" dirty="0"/>
          </a:p>
          <a:p>
            <a:pPr marL="0" lvl="0" indent="0">
              <a:buNone/>
            </a:pPr>
            <a:r>
              <a:rPr lang="en-SG" dirty="0"/>
              <a:t>On the other hand, a component registered as </a:t>
            </a:r>
            <a:r>
              <a:rPr lang="en-SG" dirty="0" err="1"/>
              <a:t>MyComponent</a:t>
            </a:r>
            <a:r>
              <a:rPr lang="en-SG" dirty="0"/>
              <a:t> can be referenced inside a Vue template via both &lt;</a:t>
            </a:r>
            <a:r>
              <a:rPr lang="en-SG" dirty="0" err="1"/>
              <a:t>MyComponent</a:t>
            </a:r>
            <a:r>
              <a:rPr lang="en-SG" dirty="0"/>
              <a:t>&gt; and &lt;my-component&gt;. </a:t>
            </a:r>
            <a:endParaRPr dirty="0"/>
          </a:p>
        </p:txBody>
      </p:sp>
    </p:spTree>
    <p:extLst>
      <p:ext uri="{BB962C8B-B14F-4D97-AF65-F5344CB8AC3E}">
        <p14:creationId xmlns:p14="http://schemas.microsoft.com/office/powerpoint/2010/main" val="12937578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AF8C230B-DCB4-3180-00C8-C334C0E49750}"/>
            </a:ext>
          </a:extLst>
        </p:cNvPr>
        <p:cNvGrpSpPr/>
        <p:nvPr/>
      </p:nvGrpSpPr>
      <p:grpSpPr>
        <a:xfrm>
          <a:off x="0" y="0"/>
          <a:ext cx="0" cy="0"/>
          <a:chOff x="0" y="0"/>
          <a:chExt cx="0" cy="0"/>
        </a:xfrm>
      </p:grpSpPr>
      <p:sp>
        <p:nvSpPr>
          <p:cNvPr id="92" name="Google Shape;92;p5">
            <a:extLst>
              <a:ext uri="{FF2B5EF4-FFF2-40B4-BE49-F238E27FC236}">
                <a16:creationId xmlns:a16="http://schemas.microsoft.com/office/drawing/2014/main" id="{A0305F4B-9914-87BC-D620-F3DF86E2B076}"/>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dirty="0"/>
              <a:t>Defining a Component</a:t>
            </a:r>
            <a:endParaRPr dirty="0"/>
          </a:p>
        </p:txBody>
      </p:sp>
      <p:sp>
        <p:nvSpPr>
          <p:cNvPr id="93" name="Google Shape;93;p5">
            <a:extLst>
              <a:ext uri="{FF2B5EF4-FFF2-40B4-BE49-F238E27FC236}">
                <a16:creationId xmlns:a16="http://schemas.microsoft.com/office/drawing/2014/main" id="{A43B0E04-7476-7A55-9DDF-2801CEA968B0}"/>
              </a:ext>
            </a:extLst>
          </p:cNvPr>
          <p:cNvSpPr txBox="1">
            <a:spLocks noGrp="1"/>
          </p:cNvSpPr>
          <p:nvPr>
            <p:ph type="body" idx="1"/>
          </p:nvPr>
        </p:nvSpPr>
        <p:spPr>
          <a:xfrm>
            <a:off x="311700" y="1225225"/>
            <a:ext cx="3999900" cy="2999534"/>
          </a:xfrm>
          <a:prstGeom prst="rect">
            <a:avLst/>
          </a:prstGeom>
          <a:noFill/>
          <a:ln>
            <a:noFill/>
          </a:ln>
        </p:spPr>
        <p:txBody>
          <a:bodyPr spcFirstLastPara="1" wrap="square" lIns="91425" tIns="91425" rIns="91425" bIns="91425" anchor="t" anchorCtr="0">
            <a:noAutofit/>
          </a:bodyPr>
          <a:lstStyle/>
          <a:p>
            <a:pPr marL="0" lvl="0" indent="0">
              <a:buNone/>
            </a:pPr>
            <a:r>
              <a:rPr lang="en-SG" dirty="0"/>
              <a:t>Using Composition API, we can define each Vue component in a dedicated file using the .</a:t>
            </a:r>
            <a:r>
              <a:rPr lang="en-SG" dirty="0" err="1"/>
              <a:t>vue</a:t>
            </a:r>
            <a:r>
              <a:rPr lang="en-SG" dirty="0"/>
              <a:t> extension - known as a Single-File Component (SFC for short):</a:t>
            </a:r>
            <a:endParaRPr dirty="0"/>
          </a:p>
        </p:txBody>
      </p:sp>
      <p:sp>
        <p:nvSpPr>
          <p:cNvPr id="3" name="Google Shape;94;p5">
            <a:extLst>
              <a:ext uri="{FF2B5EF4-FFF2-40B4-BE49-F238E27FC236}">
                <a16:creationId xmlns:a16="http://schemas.microsoft.com/office/drawing/2014/main" id="{07B1E302-D25E-82FE-A1ED-E63694FD25A7}"/>
              </a:ext>
            </a:extLst>
          </p:cNvPr>
          <p:cNvSpPr txBox="1">
            <a:spLocks noGrp="1"/>
          </p:cNvSpPr>
          <p:nvPr>
            <p:ph type="body" idx="2"/>
          </p:nvPr>
        </p:nvSpPr>
        <p:spPr>
          <a:xfrm>
            <a:off x="2562086" y="2571750"/>
            <a:ext cx="6273479" cy="2409227"/>
          </a:xfrm>
          <a:prstGeom prst="rect">
            <a:avLst/>
          </a:prstGeom>
          <a:noFill/>
          <a:ln>
            <a:solidFill>
              <a:schemeClr val="tx1"/>
            </a:solidFill>
          </a:ln>
        </p:spPr>
        <p:txBody>
          <a:bodyPr spcFirstLastPara="1" wrap="square" lIns="91425" tIns="91425" rIns="91425" bIns="91425" anchor="t" anchorCtr="0">
            <a:noAutofit/>
          </a:bodyPr>
          <a:lstStyle/>
          <a:p>
            <a:pPr marL="0" indent="0">
              <a:buNone/>
            </a:pPr>
            <a:r>
              <a:rPr lang="en-SG" dirty="0">
                <a:latin typeface="Open Sans" panose="020B0606030504020204" pitchFamily="34" charset="0"/>
                <a:ea typeface="Open Sans" panose="020B0606030504020204" pitchFamily="34" charset="0"/>
                <a:cs typeface="Open Sans" panose="020B0606030504020204" pitchFamily="34" charset="0"/>
              </a:rPr>
              <a:t>&lt;script setup&gt;</a:t>
            </a:r>
          </a:p>
          <a:p>
            <a:pPr marL="0" indent="0">
              <a:buNone/>
            </a:pPr>
            <a:r>
              <a:rPr lang="en-SG" dirty="0">
                <a:latin typeface="Open Sans" panose="020B0606030504020204" pitchFamily="34" charset="0"/>
                <a:ea typeface="Open Sans" panose="020B0606030504020204" pitchFamily="34" charset="0"/>
                <a:cs typeface="Open Sans" panose="020B0606030504020204" pitchFamily="34" charset="0"/>
              </a:rPr>
              <a:t>import { ref } from '</a:t>
            </a:r>
            <a:r>
              <a:rPr lang="en-SG" dirty="0" err="1">
                <a:latin typeface="Open Sans" panose="020B0606030504020204" pitchFamily="34" charset="0"/>
                <a:ea typeface="Open Sans" panose="020B0606030504020204" pitchFamily="34" charset="0"/>
                <a:cs typeface="Open Sans" panose="020B0606030504020204" pitchFamily="34" charset="0"/>
              </a:rPr>
              <a:t>vue</a:t>
            </a:r>
            <a:r>
              <a:rPr lang="en-SG" dirty="0">
                <a:latin typeface="Open Sans" panose="020B0606030504020204" pitchFamily="34" charset="0"/>
                <a:ea typeface="Open Sans" panose="020B0606030504020204" pitchFamily="34" charset="0"/>
                <a:cs typeface="Open Sans" panose="020B0606030504020204" pitchFamily="34" charset="0"/>
              </a:rPr>
              <a:t>'</a:t>
            </a:r>
          </a:p>
          <a:p>
            <a:pPr marL="0" indent="0">
              <a:buNone/>
            </a:pPr>
            <a:r>
              <a:rPr lang="en-SG" dirty="0" err="1">
                <a:latin typeface="Open Sans" panose="020B0606030504020204" pitchFamily="34" charset="0"/>
                <a:ea typeface="Open Sans" panose="020B0606030504020204" pitchFamily="34" charset="0"/>
                <a:cs typeface="Open Sans" panose="020B0606030504020204" pitchFamily="34" charset="0"/>
              </a:rPr>
              <a:t>const</a:t>
            </a:r>
            <a:r>
              <a:rPr lang="en-SG" dirty="0">
                <a:latin typeface="Open Sans" panose="020B0606030504020204" pitchFamily="34" charset="0"/>
                <a:ea typeface="Open Sans" panose="020B0606030504020204" pitchFamily="34" charset="0"/>
                <a:cs typeface="Open Sans" panose="020B0606030504020204" pitchFamily="34" charset="0"/>
              </a:rPr>
              <a:t> count = ref(0)</a:t>
            </a:r>
          </a:p>
          <a:p>
            <a:pPr marL="0" indent="0">
              <a:buNone/>
            </a:pPr>
            <a:r>
              <a:rPr lang="en-SG" dirty="0">
                <a:latin typeface="Open Sans" panose="020B0606030504020204" pitchFamily="34" charset="0"/>
                <a:ea typeface="Open Sans" panose="020B0606030504020204" pitchFamily="34" charset="0"/>
                <a:cs typeface="Open Sans" panose="020B0606030504020204" pitchFamily="34" charset="0"/>
              </a:rPr>
              <a:t>&lt;/script&gt;</a:t>
            </a:r>
          </a:p>
          <a:p>
            <a:pPr marL="0" indent="0">
              <a:buNone/>
            </a:pPr>
            <a:endParaRPr lang="en-SG" dirty="0">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en-SG" dirty="0">
                <a:latin typeface="Open Sans" panose="020B0606030504020204" pitchFamily="34" charset="0"/>
                <a:ea typeface="Open Sans" panose="020B0606030504020204" pitchFamily="34" charset="0"/>
                <a:cs typeface="Open Sans" panose="020B0606030504020204" pitchFamily="34" charset="0"/>
              </a:rPr>
              <a:t>&lt;template&gt;</a:t>
            </a:r>
          </a:p>
          <a:p>
            <a:pPr marL="0" indent="0">
              <a:buNone/>
            </a:pPr>
            <a:r>
              <a:rPr lang="en-SG" dirty="0">
                <a:latin typeface="Open Sans" panose="020B0606030504020204" pitchFamily="34" charset="0"/>
                <a:ea typeface="Open Sans" panose="020B0606030504020204" pitchFamily="34" charset="0"/>
                <a:cs typeface="Open Sans" panose="020B0606030504020204" pitchFamily="34" charset="0"/>
              </a:rPr>
              <a:t>  &lt;button @click="count++"&gt;You clicked me {{ count }} times.&lt;/button&gt;</a:t>
            </a:r>
          </a:p>
          <a:p>
            <a:pPr marL="0" indent="0">
              <a:buNone/>
            </a:pPr>
            <a:r>
              <a:rPr lang="en-SG" dirty="0">
                <a:latin typeface="Open Sans" panose="020B0606030504020204" pitchFamily="34" charset="0"/>
                <a:ea typeface="Open Sans" panose="020B0606030504020204" pitchFamily="34" charset="0"/>
                <a:cs typeface="Open Sans" panose="020B0606030504020204" pitchFamily="34" charset="0"/>
              </a:rPr>
              <a:t>&lt;/template&gt;</a:t>
            </a:r>
            <a:endParaRPr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TextBox 3">
            <a:extLst>
              <a:ext uri="{FF2B5EF4-FFF2-40B4-BE49-F238E27FC236}">
                <a16:creationId xmlns:a16="http://schemas.microsoft.com/office/drawing/2014/main" id="{52F8C839-7A12-0A44-2126-0361CF17F420}"/>
              </a:ext>
            </a:extLst>
          </p:cNvPr>
          <p:cNvSpPr txBox="1"/>
          <p:nvPr/>
        </p:nvSpPr>
        <p:spPr>
          <a:xfrm>
            <a:off x="7110937" y="2268635"/>
            <a:ext cx="1875104" cy="307777"/>
          </a:xfrm>
          <a:prstGeom prst="rect">
            <a:avLst/>
          </a:prstGeom>
          <a:noFill/>
        </p:spPr>
        <p:txBody>
          <a:bodyPr wrap="square" rtlCol="0">
            <a:spAutoFit/>
          </a:bodyPr>
          <a:lstStyle/>
          <a:p>
            <a:r>
              <a:rPr lang="en-SG" dirty="0" err="1"/>
              <a:t>ChildComponent.vue</a:t>
            </a:r>
            <a:endParaRPr lang="en-SG" dirty="0"/>
          </a:p>
        </p:txBody>
      </p:sp>
      <p:sp>
        <p:nvSpPr>
          <p:cNvPr id="5" name="Google Shape;94;p5">
            <a:extLst>
              <a:ext uri="{FF2B5EF4-FFF2-40B4-BE49-F238E27FC236}">
                <a16:creationId xmlns:a16="http://schemas.microsoft.com/office/drawing/2014/main" id="{44F79E37-6086-7147-1094-FC65C24EEF94}"/>
              </a:ext>
            </a:extLst>
          </p:cNvPr>
          <p:cNvSpPr txBox="1">
            <a:spLocks/>
          </p:cNvSpPr>
          <p:nvPr/>
        </p:nvSpPr>
        <p:spPr>
          <a:xfrm>
            <a:off x="4832402" y="1225224"/>
            <a:ext cx="4156150" cy="104341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1pPr>
            <a:lvl2pPr marL="914400" marR="0" lvl="1"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L="3200400" marR="0" lvl="6"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L="3657600" marR="0" lvl="7"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8pPr>
            <a:lvl9pPr marL="4114800" marR="0" lvl="8" indent="-304800" algn="l" rtl="0">
              <a:lnSpc>
                <a:spcPct val="115000"/>
              </a:lnSpc>
              <a:spcBef>
                <a:spcPts val="1600"/>
              </a:spcBef>
              <a:spcAft>
                <a:spcPts val="1600"/>
              </a:spcAft>
              <a:buClr>
                <a:schemeClr val="dk1"/>
              </a:buClr>
              <a:buSzPts val="1200"/>
              <a:buFont typeface="Arial"/>
              <a:buChar char="■"/>
              <a:defRPr sz="1200" b="0" i="0" u="none" strike="noStrike" cap="none">
                <a:solidFill>
                  <a:schemeClr val="dk1"/>
                </a:solidFill>
                <a:latin typeface="Arial"/>
                <a:ea typeface="Arial"/>
                <a:cs typeface="Arial"/>
                <a:sym typeface="Arial"/>
              </a:defRPr>
            </a:lvl9pPr>
          </a:lstStyle>
          <a:p>
            <a:pPr marL="0" indent="0">
              <a:buNone/>
            </a:pPr>
            <a:r>
              <a:rPr lang="en-SG" b="1" dirty="0"/>
              <a:t>Example: </a:t>
            </a:r>
            <a:r>
              <a:rPr lang="en" i="1" dirty="0"/>
              <a:t>components/ButtonCounter.vue</a:t>
            </a:r>
            <a:endParaRPr lang="en-SG" sz="1200" dirty="0">
              <a:latin typeface="Menlo" panose="020B0609030804020204" pitchFamily="49" charset="0"/>
              <a:ea typeface="Menlo" panose="020B0609030804020204" pitchFamily="49" charset="0"/>
              <a:cs typeface="Menlo" panose="020B0609030804020204" pitchFamily="49" charset="0"/>
            </a:endParaRPr>
          </a:p>
        </p:txBody>
      </p:sp>
    </p:spTree>
    <p:extLst>
      <p:ext uri="{BB962C8B-B14F-4D97-AF65-F5344CB8AC3E}">
        <p14:creationId xmlns:p14="http://schemas.microsoft.com/office/powerpoint/2010/main" val="6503703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BB0173AE-9B37-9AFB-71A8-B7249C207EC5}"/>
            </a:ext>
          </a:extLst>
        </p:cNvPr>
        <p:cNvGrpSpPr/>
        <p:nvPr/>
      </p:nvGrpSpPr>
      <p:grpSpPr>
        <a:xfrm>
          <a:off x="0" y="0"/>
          <a:ext cx="0" cy="0"/>
          <a:chOff x="0" y="0"/>
          <a:chExt cx="0" cy="0"/>
        </a:xfrm>
      </p:grpSpPr>
      <p:sp>
        <p:nvSpPr>
          <p:cNvPr id="92" name="Google Shape;92;p5">
            <a:extLst>
              <a:ext uri="{FF2B5EF4-FFF2-40B4-BE49-F238E27FC236}">
                <a16:creationId xmlns:a16="http://schemas.microsoft.com/office/drawing/2014/main" id="{CEF553D5-1365-E3C3-D75B-2DDA570FEA4D}"/>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dirty="0"/>
              <a:t>Using a Component</a:t>
            </a:r>
            <a:endParaRPr dirty="0"/>
          </a:p>
        </p:txBody>
      </p:sp>
      <p:sp>
        <p:nvSpPr>
          <p:cNvPr id="93" name="Google Shape;93;p5">
            <a:extLst>
              <a:ext uri="{FF2B5EF4-FFF2-40B4-BE49-F238E27FC236}">
                <a16:creationId xmlns:a16="http://schemas.microsoft.com/office/drawing/2014/main" id="{711FC97D-3B92-7985-7255-B53B90FDF5B4}"/>
              </a:ext>
            </a:extLst>
          </p:cNvPr>
          <p:cNvSpPr txBox="1">
            <a:spLocks noGrp="1"/>
          </p:cNvSpPr>
          <p:nvPr>
            <p:ph type="body" idx="1"/>
          </p:nvPr>
        </p:nvSpPr>
        <p:spPr>
          <a:xfrm>
            <a:off x="311700" y="1225225"/>
            <a:ext cx="3999900" cy="2999534"/>
          </a:xfrm>
          <a:prstGeom prst="rect">
            <a:avLst/>
          </a:prstGeom>
          <a:noFill/>
          <a:ln>
            <a:noFill/>
          </a:ln>
        </p:spPr>
        <p:txBody>
          <a:bodyPr spcFirstLastPara="1" wrap="square" lIns="91425" tIns="91425" rIns="91425" bIns="91425" anchor="t" anchorCtr="0">
            <a:noAutofit/>
          </a:bodyPr>
          <a:lstStyle/>
          <a:p>
            <a:pPr marL="0" lvl="0" indent="0">
              <a:buNone/>
            </a:pPr>
            <a:r>
              <a:rPr lang="en-US" dirty="0"/>
              <a:t>To use a child component, we need to import it in the parent component.</a:t>
            </a:r>
          </a:p>
          <a:p>
            <a:pPr marL="0" lvl="0" indent="0">
              <a:buNone/>
            </a:pPr>
            <a:endParaRPr lang="en-US" dirty="0"/>
          </a:p>
          <a:p>
            <a:pPr marL="0" lvl="0" indent="0">
              <a:buNone/>
            </a:pPr>
            <a:r>
              <a:rPr lang="en-US" dirty="0"/>
              <a:t>Components can be reused as many times as you need</a:t>
            </a:r>
            <a:endParaRPr dirty="0"/>
          </a:p>
        </p:txBody>
      </p:sp>
      <p:sp>
        <p:nvSpPr>
          <p:cNvPr id="3" name="Google Shape;94;p5">
            <a:extLst>
              <a:ext uri="{FF2B5EF4-FFF2-40B4-BE49-F238E27FC236}">
                <a16:creationId xmlns:a16="http://schemas.microsoft.com/office/drawing/2014/main" id="{0C91B38D-4AE1-FC58-16ED-66BDE9C1E470}"/>
              </a:ext>
            </a:extLst>
          </p:cNvPr>
          <p:cNvSpPr txBox="1">
            <a:spLocks noGrp="1"/>
          </p:cNvSpPr>
          <p:nvPr>
            <p:ph type="body" idx="2"/>
          </p:nvPr>
        </p:nvSpPr>
        <p:spPr>
          <a:xfrm>
            <a:off x="2509833" y="2571750"/>
            <a:ext cx="6273479" cy="2409227"/>
          </a:xfrm>
          <a:prstGeom prst="rect">
            <a:avLst/>
          </a:prstGeom>
          <a:noFill/>
          <a:ln>
            <a:solidFill>
              <a:schemeClr val="tx1"/>
            </a:solidFill>
          </a:ln>
        </p:spPr>
        <p:txBody>
          <a:bodyPr spcFirstLastPara="1" wrap="square" lIns="91425" tIns="91425" rIns="91425" bIns="91425" anchor="t" anchorCtr="0">
            <a:noAutofit/>
          </a:bodyPr>
          <a:lstStyle/>
          <a:p>
            <a:pPr marL="0" indent="0">
              <a:buNone/>
            </a:pPr>
            <a:r>
              <a:rPr lang="en-SG" sz="1200" dirty="0">
                <a:latin typeface="Open Sans" panose="020B0606030504020204" pitchFamily="34" charset="0"/>
                <a:ea typeface="Open Sans" panose="020B0606030504020204" pitchFamily="34" charset="0"/>
                <a:cs typeface="Open Sans" panose="020B0606030504020204" pitchFamily="34" charset="0"/>
              </a:rPr>
              <a:t>&lt;script setup&gt;</a:t>
            </a:r>
          </a:p>
          <a:p>
            <a:pPr marL="0" indent="0">
              <a:buNone/>
            </a:pPr>
            <a:r>
              <a:rPr lang="en-SG" sz="1200" dirty="0">
                <a:highlight>
                  <a:srgbClr val="FFFF00"/>
                </a:highlight>
                <a:latin typeface="Open Sans" panose="020B0606030504020204" pitchFamily="34" charset="0"/>
                <a:ea typeface="Open Sans" panose="020B0606030504020204" pitchFamily="34" charset="0"/>
                <a:cs typeface="Open Sans" panose="020B0606030504020204" pitchFamily="34" charset="0"/>
              </a:rPr>
              <a:t>// naming convention: </a:t>
            </a:r>
            <a:r>
              <a:rPr lang="en-SG" sz="1200" dirty="0" err="1">
                <a:highlight>
                  <a:srgbClr val="FFFF00"/>
                </a:highlight>
                <a:latin typeface="Open Sans" panose="020B0606030504020204" pitchFamily="34" charset="0"/>
                <a:ea typeface="Open Sans" panose="020B0606030504020204" pitchFamily="34" charset="0"/>
                <a:cs typeface="Open Sans" panose="020B0606030504020204" pitchFamily="34" charset="0"/>
              </a:rPr>
              <a:t>PascalCase</a:t>
            </a:r>
            <a:endParaRPr lang="en-SG" sz="1200" dirty="0">
              <a:highlight>
                <a:srgbClr val="FFFF00"/>
              </a:highlight>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en-SG" sz="1200" dirty="0">
                <a:latin typeface="Open Sans" panose="020B0606030504020204" pitchFamily="34" charset="0"/>
                <a:ea typeface="Open Sans" panose="020B0606030504020204" pitchFamily="34" charset="0"/>
                <a:cs typeface="Open Sans" panose="020B0606030504020204" pitchFamily="34" charset="0"/>
              </a:rPr>
              <a:t>import </a:t>
            </a:r>
            <a:r>
              <a:rPr lang="en-SG" sz="1200" dirty="0" err="1">
                <a:latin typeface="Open Sans" panose="020B0606030504020204" pitchFamily="34" charset="0"/>
                <a:ea typeface="Open Sans" panose="020B0606030504020204" pitchFamily="34" charset="0"/>
                <a:cs typeface="Open Sans" panose="020B0606030504020204" pitchFamily="34" charset="0"/>
              </a:rPr>
              <a:t>ButtonCounter</a:t>
            </a:r>
            <a:r>
              <a:rPr lang="en-SG" sz="1200" dirty="0">
                <a:latin typeface="Open Sans" panose="020B0606030504020204" pitchFamily="34" charset="0"/>
                <a:ea typeface="Open Sans" panose="020B0606030504020204" pitchFamily="34" charset="0"/>
                <a:cs typeface="Open Sans" panose="020B0606030504020204" pitchFamily="34" charset="0"/>
              </a:rPr>
              <a:t> from '../components/</a:t>
            </a:r>
            <a:r>
              <a:rPr lang="en-SG" sz="1200" dirty="0" err="1">
                <a:latin typeface="Open Sans" panose="020B0606030504020204" pitchFamily="34" charset="0"/>
                <a:ea typeface="Open Sans" panose="020B0606030504020204" pitchFamily="34" charset="0"/>
                <a:cs typeface="Open Sans" panose="020B0606030504020204" pitchFamily="34" charset="0"/>
              </a:rPr>
              <a:t>ButtonCounter.vue</a:t>
            </a:r>
            <a:r>
              <a:rPr lang="en-SG" sz="1200" dirty="0">
                <a:latin typeface="Open Sans" panose="020B0606030504020204" pitchFamily="34" charset="0"/>
                <a:ea typeface="Open Sans" panose="020B0606030504020204" pitchFamily="34" charset="0"/>
                <a:cs typeface="Open Sans" panose="020B0606030504020204" pitchFamily="34" charset="0"/>
              </a:rPr>
              <a:t>'</a:t>
            </a:r>
          </a:p>
          <a:p>
            <a:pPr marL="0" indent="0">
              <a:buNone/>
            </a:pPr>
            <a:r>
              <a:rPr lang="en-SG" sz="1200" dirty="0">
                <a:latin typeface="Open Sans" panose="020B0606030504020204" pitchFamily="34" charset="0"/>
                <a:ea typeface="Open Sans" panose="020B0606030504020204" pitchFamily="34" charset="0"/>
                <a:cs typeface="Open Sans" panose="020B0606030504020204" pitchFamily="34" charset="0"/>
              </a:rPr>
              <a:t>&lt;/script&gt;</a:t>
            </a:r>
          </a:p>
          <a:p>
            <a:pPr marL="0" indent="0">
              <a:buNone/>
            </a:pPr>
            <a:endParaRPr lang="en-SG" sz="1200" dirty="0">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en-SG" sz="1200" dirty="0">
                <a:latin typeface="Open Sans" panose="020B0606030504020204" pitchFamily="34" charset="0"/>
                <a:ea typeface="Open Sans" panose="020B0606030504020204" pitchFamily="34" charset="0"/>
                <a:cs typeface="Open Sans" panose="020B0606030504020204" pitchFamily="34" charset="0"/>
              </a:rPr>
              <a:t>&lt;template&gt;</a:t>
            </a:r>
          </a:p>
          <a:p>
            <a:pPr marL="0" indent="0">
              <a:buNone/>
            </a:pPr>
            <a:r>
              <a:rPr lang="en-SG" sz="1200" dirty="0">
                <a:latin typeface="Open Sans" panose="020B0606030504020204" pitchFamily="34" charset="0"/>
                <a:ea typeface="Open Sans" panose="020B0606030504020204" pitchFamily="34" charset="0"/>
                <a:cs typeface="Open Sans" panose="020B0606030504020204" pitchFamily="34" charset="0"/>
              </a:rPr>
              <a:t>&lt;!– </a:t>
            </a:r>
            <a:r>
              <a:rPr lang="en-SG" sz="1200" dirty="0">
                <a:highlight>
                  <a:srgbClr val="FFFF00"/>
                </a:highlight>
                <a:latin typeface="Open Sans" panose="020B0606030504020204" pitchFamily="34" charset="0"/>
                <a:ea typeface="Open Sans" panose="020B0606030504020204" pitchFamily="34" charset="0"/>
                <a:cs typeface="Open Sans" panose="020B0606030504020204" pitchFamily="34" charset="0"/>
              </a:rPr>
              <a:t>can use kebab case or </a:t>
            </a:r>
            <a:r>
              <a:rPr lang="en-SG" sz="1200" dirty="0" err="1">
                <a:highlight>
                  <a:srgbClr val="FFFF00"/>
                </a:highlight>
                <a:latin typeface="Open Sans" panose="020B0606030504020204" pitchFamily="34" charset="0"/>
                <a:ea typeface="Open Sans" panose="020B0606030504020204" pitchFamily="34" charset="0"/>
                <a:cs typeface="Open Sans" panose="020B0606030504020204" pitchFamily="34" charset="0"/>
              </a:rPr>
              <a:t>PascalCase</a:t>
            </a:r>
            <a:r>
              <a:rPr lang="en-SG" sz="1200" dirty="0">
                <a:highlight>
                  <a:srgbClr val="FFFF00"/>
                </a:highlight>
                <a:latin typeface="Open Sans" panose="020B0606030504020204" pitchFamily="34" charset="0"/>
                <a:ea typeface="Open Sans" panose="020B0606030504020204" pitchFamily="34" charset="0"/>
                <a:cs typeface="Open Sans" panose="020B0606030504020204" pitchFamily="34" charset="0"/>
              </a:rPr>
              <a:t> in template</a:t>
            </a:r>
            <a:r>
              <a:rPr lang="en-SG" sz="1200" dirty="0">
                <a:latin typeface="Open Sans" panose="020B0606030504020204" pitchFamily="34" charset="0"/>
                <a:ea typeface="Open Sans" panose="020B0606030504020204" pitchFamily="34" charset="0"/>
                <a:cs typeface="Open Sans" panose="020B0606030504020204" pitchFamily="34" charset="0"/>
              </a:rPr>
              <a:t> --&gt;</a:t>
            </a:r>
          </a:p>
          <a:p>
            <a:pPr marL="0" indent="0">
              <a:buNone/>
            </a:pPr>
            <a:r>
              <a:rPr lang="en-SG" sz="1200" dirty="0">
                <a:latin typeface="Open Sans" panose="020B0606030504020204" pitchFamily="34" charset="0"/>
                <a:ea typeface="Open Sans" panose="020B0606030504020204" pitchFamily="34" charset="0"/>
                <a:cs typeface="Open Sans" panose="020B0606030504020204" pitchFamily="34" charset="0"/>
              </a:rPr>
              <a:t>    &lt;!-- &lt;</a:t>
            </a:r>
            <a:r>
              <a:rPr lang="en-SG" sz="1200" dirty="0" err="1">
                <a:latin typeface="Open Sans" panose="020B0606030504020204" pitchFamily="34" charset="0"/>
                <a:ea typeface="Open Sans" panose="020B0606030504020204" pitchFamily="34" charset="0"/>
                <a:cs typeface="Open Sans" panose="020B0606030504020204" pitchFamily="34" charset="0"/>
              </a:rPr>
              <a:t>buttoncounter</a:t>
            </a:r>
            <a:r>
              <a:rPr lang="en-SG" sz="1200" dirty="0">
                <a:latin typeface="Open Sans" panose="020B0606030504020204" pitchFamily="34" charset="0"/>
                <a:ea typeface="Open Sans" panose="020B0606030504020204" pitchFamily="34" charset="0"/>
                <a:cs typeface="Open Sans" panose="020B0606030504020204" pitchFamily="34" charset="0"/>
              </a:rPr>
              <a:t> /&gt; --&gt; &lt;!-- this does not work --&gt;</a:t>
            </a:r>
          </a:p>
          <a:p>
            <a:pPr marL="0" indent="0">
              <a:buNone/>
            </a:pPr>
            <a:r>
              <a:rPr lang="en-SG" sz="1200" dirty="0">
                <a:latin typeface="Open Sans" panose="020B0606030504020204" pitchFamily="34" charset="0"/>
                <a:ea typeface="Open Sans" panose="020B0606030504020204" pitchFamily="34" charset="0"/>
                <a:cs typeface="Open Sans" panose="020B0606030504020204" pitchFamily="34" charset="0"/>
              </a:rPr>
              <a:t>    &lt;</a:t>
            </a:r>
            <a:r>
              <a:rPr lang="en-SG" sz="1200" dirty="0" err="1">
                <a:latin typeface="Open Sans" panose="020B0606030504020204" pitchFamily="34" charset="0"/>
                <a:ea typeface="Open Sans" panose="020B0606030504020204" pitchFamily="34" charset="0"/>
                <a:cs typeface="Open Sans" panose="020B0606030504020204" pitchFamily="34" charset="0"/>
              </a:rPr>
              <a:t>ButtonCounter</a:t>
            </a:r>
            <a:r>
              <a:rPr lang="en-SG" sz="1200" dirty="0">
                <a:latin typeface="Open Sans" panose="020B0606030504020204" pitchFamily="34" charset="0"/>
                <a:ea typeface="Open Sans" panose="020B0606030504020204" pitchFamily="34" charset="0"/>
                <a:cs typeface="Open Sans" panose="020B0606030504020204" pitchFamily="34" charset="0"/>
              </a:rPr>
              <a:t> /&gt; &lt;!– </a:t>
            </a:r>
            <a:r>
              <a:rPr lang="en-SG" sz="1200" dirty="0" err="1">
                <a:latin typeface="Open Sans" panose="020B0606030504020204" pitchFamily="34" charset="0"/>
                <a:ea typeface="Open Sans" panose="020B0606030504020204" pitchFamily="34" charset="0"/>
                <a:cs typeface="Open Sans" panose="020B0606030504020204" pitchFamily="34" charset="0"/>
              </a:rPr>
              <a:t>PascalCase</a:t>
            </a:r>
            <a:r>
              <a:rPr lang="en-SG" sz="1200" dirty="0">
                <a:latin typeface="Open Sans" panose="020B0606030504020204" pitchFamily="34" charset="0"/>
                <a:ea typeface="Open Sans" panose="020B0606030504020204" pitchFamily="34" charset="0"/>
                <a:cs typeface="Open Sans" panose="020B0606030504020204" pitchFamily="34" charset="0"/>
              </a:rPr>
              <a:t> --&gt;</a:t>
            </a:r>
          </a:p>
          <a:p>
            <a:pPr marL="0" indent="0">
              <a:buNone/>
            </a:pPr>
            <a:r>
              <a:rPr lang="en-SG" sz="1200" dirty="0">
                <a:latin typeface="Open Sans" panose="020B0606030504020204" pitchFamily="34" charset="0"/>
                <a:ea typeface="Open Sans" panose="020B0606030504020204" pitchFamily="34" charset="0"/>
                <a:cs typeface="Open Sans" panose="020B0606030504020204" pitchFamily="34" charset="0"/>
              </a:rPr>
              <a:t>    &lt;button-counter /&gt; &lt;!– kebab-case --&gt;</a:t>
            </a:r>
          </a:p>
          <a:p>
            <a:pPr marL="0" indent="0">
              <a:buNone/>
            </a:pPr>
            <a:r>
              <a:rPr lang="en-SG" sz="1200" dirty="0">
                <a:latin typeface="Open Sans" panose="020B0606030504020204" pitchFamily="34" charset="0"/>
                <a:ea typeface="Open Sans" panose="020B0606030504020204" pitchFamily="34" charset="0"/>
                <a:cs typeface="Open Sans" panose="020B0606030504020204" pitchFamily="34" charset="0"/>
              </a:rPr>
              <a:t>&lt;/template&gt;</a:t>
            </a:r>
            <a:endParaRPr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TextBox 3">
            <a:extLst>
              <a:ext uri="{FF2B5EF4-FFF2-40B4-BE49-F238E27FC236}">
                <a16:creationId xmlns:a16="http://schemas.microsoft.com/office/drawing/2014/main" id="{2976F4F1-3DB8-38F0-EAAF-2FF8D77D9C44}"/>
              </a:ext>
            </a:extLst>
          </p:cNvPr>
          <p:cNvSpPr txBox="1"/>
          <p:nvPr/>
        </p:nvSpPr>
        <p:spPr>
          <a:xfrm>
            <a:off x="6896638" y="2268635"/>
            <a:ext cx="2037150" cy="307777"/>
          </a:xfrm>
          <a:prstGeom prst="rect">
            <a:avLst/>
          </a:prstGeom>
          <a:noFill/>
        </p:spPr>
        <p:txBody>
          <a:bodyPr wrap="square" rtlCol="0">
            <a:spAutoFit/>
          </a:bodyPr>
          <a:lstStyle/>
          <a:p>
            <a:r>
              <a:rPr lang="en-SG" dirty="0" err="1"/>
              <a:t>ParentComponent.vue</a:t>
            </a:r>
            <a:endParaRPr lang="en-SG" dirty="0"/>
          </a:p>
        </p:txBody>
      </p:sp>
      <p:sp>
        <p:nvSpPr>
          <p:cNvPr id="5" name="Google Shape;94;p5">
            <a:extLst>
              <a:ext uri="{FF2B5EF4-FFF2-40B4-BE49-F238E27FC236}">
                <a16:creationId xmlns:a16="http://schemas.microsoft.com/office/drawing/2014/main" id="{9127CD7D-322D-7829-7270-C7CFC3C92FA3}"/>
              </a:ext>
            </a:extLst>
          </p:cNvPr>
          <p:cNvSpPr txBox="1">
            <a:spLocks/>
          </p:cNvSpPr>
          <p:nvPr/>
        </p:nvSpPr>
        <p:spPr>
          <a:xfrm>
            <a:off x="4832402" y="1225224"/>
            <a:ext cx="4156150" cy="104341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1pPr>
            <a:lvl2pPr marL="914400" marR="0" lvl="1"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L="3200400" marR="0" lvl="6"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L="3657600" marR="0" lvl="7"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8pPr>
            <a:lvl9pPr marL="4114800" marR="0" lvl="8" indent="-304800" algn="l" rtl="0">
              <a:lnSpc>
                <a:spcPct val="115000"/>
              </a:lnSpc>
              <a:spcBef>
                <a:spcPts val="1600"/>
              </a:spcBef>
              <a:spcAft>
                <a:spcPts val="1600"/>
              </a:spcAft>
              <a:buClr>
                <a:schemeClr val="dk1"/>
              </a:buClr>
              <a:buSzPts val="1200"/>
              <a:buFont typeface="Arial"/>
              <a:buChar char="■"/>
              <a:defRPr sz="1200" b="0" i="0" u="none" strike="noStrike" cap="none">
                <a:solidFill>
                  <a:schemeClr val="dk1"/>
                </a:solidFill>
                <a:latin typeface="Arial"/>
                <a:ea typeface="Arial"/>
                <a:cs typeface="Arial"/>
                <a:sym typeface="Arial"/>
              </a:defRPr>
            </a:lvl9pPr>
          </a:lstStyle>
          <a:p>
            <a:pPr marL="0" indent="0">
              <a:buFont typeface="Arial"/>
              <a:buNone/>
            </a:pPr>
            <a:r>
              <a:rPr lang="en-SG" b="1" dirty="0"/>
              <a:t>Example: </a:t>
            </a:r>
            <a:r>
              <a:rPr lang="en-SG" i="1" dirty="0"/>
              <a:t>views/Example1View.vue</a:t>
            </a:r>
          </a:p>
          <a:p>
            <a:pPr marL="0" indent="0">
              <a:lnSpc>
                <a:spcPct val="100000"/>
              </a:lnSpc>
              <a:buFont typeface="Arial"/>
              <a:buNone/>
            </a:pPr>
            <a:endParaRPr lang="en-SG" dirty="0"/>
          </a:p>
          <a:p>
            <a:pPr marL="0" indent="0">
              <a:lnSpc>
                <a:spcPct val="100000"/>
              </a:lnSpc>
              <a:buFont typeface="Arial"/>
              <a:buNone/>
            </a:pPr>
            <a:endParaRPr lang="en-SG" sz="1200" dirty="0">
              <a:latin typeface="Menlo" panose="020B0609030804020204" pitchFamily="49" charset="0"/>
              <a:ea typeface="Menlo" panose="020B0609030804020204" pitchFamily="49" charset="0"/>
              <a:cs typeface="Menlo" panose="020B0609030804020204" pitchFamily="49" charset="0"/>
            </a:endParaRPr>
          </a:p>
        </p:txBody>
      </p:sp>
    </p:spTree>
    <p:extLst>
      <p:ext uri="{BB962C8B-B14F-4D97-AF65-F5344CB8AC3E}">
        <p14:creationId xmlns:p14="http://schemas.microsoft.com/office/powerpoint/2010/main" val="82880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3EC516B5-B74A-375C-E8EB-E5EEE0A3CB6E}"/>
            </a:ext>
          </a:extLst>
        </p:cNvPr>
        <p:cNvGrpSpPr/>
        <p:nvPr/>
      </p:nvGrpSpPr>
      <p:grpSpPr>
        <a:xfrm>
          <a:off x="0" y="0"/>
          <a:ext cx="0" cy="0"/>
          <a:chOff x="0" y="0"/>
          <a:chExt cx="0" cy="0"/>
        </a:xfrm>
      </p:grpSpPr>
      <p:sp>
        <p:nvSpPr>
          <p:cNvPr id="92" name="Google Shape;92;p5">
            <a:extLst>
              <a:ext uri="{FF2B5EF4-FFF2-40B4-BE49-F238E27FC236}">
                <a16:creationId xmlns:a16="http://schemas.microsoft.com/office/drawing/2014/main" id="{908E69D0-C635-7AD0-CE28-A8331CFE7498}"/>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dirty="0"/>
              <a:t>src/components/ vs src/views/</a:t>
            </a:r>
            <a:endParaRPr dirty="0"/>
          </a:p>
        </p:txBody>
      </p:sp>
      <p:sp>
        <p:nvSpPr>
          <p:cNvPr id="93" name="Google Shape;93;p5">
            <a:extLst>
              <a:ext uri="{FF2B5EF4-FFF2-40B4-BE49-F238E27FC236}">
                <a16:creationId xmlns:a16="http://schemas.microsoft.com/office/drawing/2014/main" id="{07222E12-8E0F-54B0-A3C4-642577ECEB37}"/>
              </a:ext>
            </a:extLst>
          </p:cNvPr>
          <p:cNvSpPr txBox="1">
            <a:spLocks noGrp="1"/>
          </p:cNvSpPr>
          <p:nvPr>
            <p:ph type="body" idx="1"/>
          </p:nvPr>
        </p:nvSpPr>
        <p:spPr>
          <a:xfrm>
            <a:off x="311700" y="1225225"/>
            <a:ext cx="3999900" cy="2999534"/>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US" dirty="0"/>
              <a:t>Now that you are learning about components, it is now a good time to make use of </a:t>
            </a:r>
            <a:r>
              <a:rPr lang="en-US" b="1" dirty="0"/>
              <a:t>views/</a:t>
            </a:r>
            <a:r>
              <a:rPr lang="en-US" dirty="0"/>
              <a:t> folder in our Vue SPA setup. </a:t>
            </a:r>
          </a:p>
          <a:p>
            <a:pPr marL="0" marR="0" lvl="0" indent="0" algn="l" rtl="0">
              <a:lnSpc>
                <a:spcPct val="115000"/>
              </a:lnSpc>
              <a:spcBef>
                <a:spcPts val="0"/>
              </a:spcBef>
              <a:spcAft>
                <a:spcPts val="0"/>
              </a:spcAft>
              <a:buSzPts val="1400"/>
              <a:buNone/>
            </a:pPr>
            <a:endParaRPr lang="en-US" dirty="0"/>
          </a:p>
          <a:p>
            <a:pPr marL="0" indent="0">
              <a:buNone/>
            </a:pPr>
            <a:r>
              <a:rPr lang="en-US" dirty="0"/>
              <a:t>Notice in our example folder in this week that we now place example files in </a:t>
            </a:r>
            <a:r>
              <a:rPr lang="en-US" b="1" dirty="0"/>
              <a:t>views/</a:t>
            </a:r>
            <a:r>
              <a:rPr lang="en-US" dirty="0"/>
              <a:t> folder. </a:t>
            </a:r>
          </a:p>
          <a:p>
            <a:pPr marL="0" indent="0">
              <a:buNone/>
            </a:pPr>
            <a:endParaRPr lang="en-US" dirty="0"/>
          </a:p>
          <a:p>
            <a:pPr marL="0" indent="0">
              <a:buNone/>
            </a:pPr>
            <a:r>
              <a:rPr lang="en-US" b="1" u="sng" dirty="0"/>
              <a:t>Rule of Thumb:</a:t>
            </a:r>
          </a:p>
          <a:p>
            <a:pPr marL="0" indent="0">
              <a:buNone/>
            </a:pPr>
            <a:r>
              <a:rPr lang="en-US" dirty="0"/>
              <a:t>If it is a page that has a URL, put it in </a:t>
            </a:r>
            <a:r>
              <a:rPr lang="en-US" b="1" dirty="0"/>
              <a:t>views/</a:t>
            </a:r>
          </a:p>
          <a:p>
            <a:pPr marL="0" indent="0">
              <a:buNone/>
            </a:pPr>
            <a:r>
              <a:rPr lang="en-US" dirty="0"/>
              <a:t>If it is a piece of UI you can reuse, put it in </a:t>
            </a:r>
            <a:r>
              <a:rPr lang="en-US" b="1" dirty="0"/>
              <a:t>components/</a:t>
            </a:r>
          </a:p>
        </p:txBody>
      </p:sp>
      <p:sp>
        <p:nvSpPr>
          <p:cNvPr id="2" name="Google Shape;93;p5">
            <a:extLst>
              <a:ext uri="{FF2B5EF4-FFF2-40B4-BE49-F238E27FC236}">
                <a16:creationId xmlns:a16="http://schemas.microsoft.com/office/drawing/2014/main" id="{EE7B98BA-1366-6641-898E-FE12C199EEC2}"/>
              </a:ext>
            </a:extLst>
          </p:cNvPr>
          <p:cNvSpPr txBox="1">
            <a:spLocks/>
          </p:cNvSpPr>
          <p:nvPr/>
        </p:nvSpPr>
        <p:spPr>
          <a:xfrm>
            <a:off x="4746732" y="1225225"/>
            <a:ext cx="3999900" cy="299953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1pPr>
            <a:lvl2pPr marL="914400" marR="0" lvl="1"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L="3200400" marR="0" lvl="6"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L="3657600" marR="0" lvl="7"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8pPr>
            <a:lvl9pPr marL="4114800" marR="0" lvl="8" indent="-304800" algn="l" rtl="0">
              <a:lnSpc>
                <a:spcPct val="115000"/>
              </a:lnSpc>
              <a:spcBef>
                <a:spcPts val="1600"/>
              </a:spcBef>
              <a:spcAft>
                <a:spcPts val="1600"/>
              </a:spcAft>
              <a:buClr>
                <a:schemeClr val="dk1"/>
              </a:buClr>
              <a:buSzPts val="1200"/>
              <a:buFont typeface="Arial"/>
              <a:buChar char="■"/>
              <a:defRPr sz="1200" b="0" i="0" u="none" strike="noStrike" cap="none">
                <a:solidFill>
                  <a:schemeClr val="dk1"/>
                </a:solidFill>
                <a:latin typeface="Arial"/>
                <a:ea typeface="Arial"/>
                <a:cs typeface="Arial"/>
                <a:sym typeface="Arial"/>
              </a:defRPr>
            </a:lvl9pPr>
          </a:lstStyle>
          <a:p>
            <a:pPr marL="0" indent="0">
              <a:buNone/>
            </a:pPr>
            <a:r>
              <a:rPr lang="en-US" b="1" dirty="0" err="1"/>
              <a:t>src</a:t>
            </a:r>
            <a:r>
              <a:rPr lang="en-US" b="1" dirty="0"/>
              <a:t>/components/ </a:t>
            </a:r>
            <a:r>
              <a:rPr lang="en-US" dirty="0"/>
              <a:t>–  reusable building blocks</a:t>
            </a:r>
          </a:p>
          <a:p>
            <a:pPr marL="0" indent="0">
              <a:buFont typeface="Arial"/>
              <a:buNone/>
            </a:pPr>
            <a:r>
              <a:rPr lang="en-US" dirty="0"/>
              <a:t>It stores reusable UI components that can be used in many places across the app, e.g., </a:t>
            </a:r>
            <a:r>
              <a:rPr lang="en-US" dirty="0" err="1"/>
              <a:t>NavBar.vue</a:t>
            </a:r>
            <a:r>
              <a:rPr lang="en-US" dirty="0"/>
              <a:t>, </a:t>
            </a:r>
            <a:r>
              <a:rPr lang="en-US" dirty="0" err="1"/>
              <a:t>Header.vue</a:t>
            </a:r>
            <a:r>
              <a:rPr lang="en-US" dirty="0"/>
              <a:t>, </a:t>
            </a:r>
            <a:r>
              <a:rPr lang="en-US" dirty="0" err="1"/>
              <a:t>Footer.vue</a:t>
            </a:r>
            <a:r>
              <a:rPr lang="en-US" dirty="0"/>
              <a:t>, </a:t>
            </a:r>
            <a:r>
              <a:rPr lang="en-US" dirty="0" err="1"/>
              <a:t>PostCard.vue</a:t>
            </a:r>
            <a:r>
              <a:rPr lang="en-US" dirty="0"/>
              <a:t>, etc.</a:t>
            </a:r>
          </a:p>
          <a:p>
            <a:pPr marL="0" indent="0">
              <a:buFont typeface="Arial"/>
              <a:buNone/>
            </a:pPr>
            <a:endParaRPr lang="en-US" dirty="0"/>
          </a:p>
          <a:p>
            <a:pPr marL="0" indent="0">
              <a:buNone/>
            </a:pPr>
            <a:r>
              <a:rPr lang="en-US" b="1" dirty="0" err="1"/>
              <a:t>src</a:t>
            </a:r>
            <a:r>
              <a:rPr lang="en-US" b="1" dirty="0"/>
              <a:t>/views/ </a:t>
            </a:r>
            <a:r>
              <a:rPr lang="en-US" dirty="0"/>
              <a:t>– route-level pages (screens)</a:t>
            </a:r>
          </a:p>
          <a:p>
            <a:pPr marL="0" indent="0">
              <a:buNone/>
            </a:pPr>
            <a:r>
              <a:rPr lang="en-US" dirty="0"/>
              <a:t>It stores page/view components that represent full screens in your SPA, usually mapped via Vue Router routes (</a:t>
            </a:r>
            <a:r>
              <a:rPr lang="en-US" i="1" dirty="0"/>
              <a:t>router/index.js</a:t>
            </a:r>
            <a:r>
              <a:rPr lang="en-US" dirty="0"/>
              <a:t>)</a:t>
            </a:r>
          </a:p>
          <a:p>
            <a:pPr marL="0" indent="0">
              <a:buNone/>
            </a:pPr>
            <a:r>
              <a:rPr lang="en-US" dirty="0"/>
              <a:t>E.g., </a:t>
            </a:r>
            <a:r>
              <a:rPr lang="en-US" dirty="0" err="1"/>
              <a:t>HomeView.vue</a:t>
            </a:r>
            <a:r>
              <a:rPr lang="en-US" dirty="0"/>
              <a:t>, </a:t>
            </a:r>
            <a:r>
              <a:rPr lang="en-US" dirty="0" err="1"/>
              <a:t>PostsView.vue</a:t>
            </a:r>
            <a:r>
              <a:rPr lang="en-US" dirty="0"/>
              <a:t>, </a:t>
            </a:r>
            <a:r>
              <a:rPr lang="en-US" dirty="0" err="1"/>
              <a:t>LoginView.vue</a:t>
            </a:r>
            <a:r>
              <a:rPr lang="en-US" dirty="0"/>
              <a:t>, etc.</a:t>
            </a:r>
          </a:p>
          <a:p>
            <a:pPr marL="0" indent="0">
              <a:buFont typeface="Arial"/>
              <a:buNone/>
            </a:pPr>
            <a:endParaRPr lang="en-US" dirty="0"/>
          </a:p>
          <a:p>
            <a:pPr marL="0" indent="0">
              <a:buFont typeface="Arial"/>
              <a:buNone/>
            </a:pPr>
            <a:endParaRPr lang="en-US" dirty="0"/>
          </a:p>
          <a:p>
            <a:pPr marL="0" indent="0">
              <a:buFont typeface="Arial"/>
              <a:buNone/>
            </a:pPr>
            <a:endParaRPr lang="en-US" dirty="0"/>
          </a:p>
          <a:p>
            <a:pPr marL="0" indent="0">
              <a:buFont typeface="Arial"/>
              <a:buNone/>
            </a:pPr>
            <a:endParaRPr lang="en-US" dirty="0"/>
          </a:p>
        </p:txBody>
      </p:sp>
    </p:spTree>
    <p:extLst>
      <p:ext uri="{BB962C8B-B14F-4D97-AF65-F5344CB8AC3E}">
        <p14:creationId xmlns:p14="http://schemas.microsoft.com/office/powerpoint/2010/main" val="30849164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6"/>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dirty="0"/>
              <a:t>Template</a:t>
            </a:r>
            <a:endParaRPr dirty="0"/>
          </a:p>
        </p:txBody>
      </p:sp>
      <p:sp>
        <p:nvSpPr>
          <p:cNvPr id="100" name="Google Shape;100;p6"/>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dirty="0"/>
              <a:t>template</a:t>
            </a:r>
            <a:r>
              <a:rPr lang="en" dirty="0"/>
              <a:t> serves as the markup for the Vue component</a:t>
            </a:r>
          </a:p>
          <a:p>
            <a:pPr marL="0" marR="0" lvl="0" indent="0" algn="l" rtl="0">
              <a:lnSpc>
                <a:spcPct val="115000"/>
              </a:lnSpc>
              <a:spcBef>
                <a:spcPts val="0"/>
              </a:spcBef>
              <a:spcAft>
                <a:spcPts val="0"/>
              </a:spcAft>
              <a:buSzPts val="1400"/>
              <a:buNone/>
            </a:pPr>
            <a:endParaRPr dirty="0"/>
          </a:p>
          <a:p>
            <a:pPr marL="0" marR="0" lvl="0" indent="0" algn="l" rtl="0">
              <a:lnSpc>
                <a:spcPct val="115000"/>
              </a:lnSpc>
              <a:spcBef>
                <a:spcPts val="0"/>
              </a:spcBef>
              <a:spcAft>
                <a:spcPts val="0"/>
              </a:spcAft>
              <a:buSzPts val="1400"/>
              <a:buNone/>
            </a:pPr>
            <a:endParaRPr dirty="0"/>
          </a:p>
          <a:p>
            <a:pPr marL="0" marR="0" lvl="0" indent="0" algn="l" rtl="0">
              <a:lnSpc>
                <a:spcPct val="115000"/>
              </a:lnSpc>
              <a:spcBef>
                <a:spcPts val="0"/>
              </a:spcBef>
              <a:spcAft>
                <a:spcPts val="0"/>
              </a:spcAft>
              <a:buSzPts val="1400"/>
              <a:buNone/>
            </a:pPr>
            <a:endParaRPr dirty="0"/>
          </a:p>
          <a:p>
            <a:pPr marL="0" marR="0" lvl="0" indent="0" algn="l" rtl="0">
              <a:lnSpc>
                <a:spcPct val="115000"/>
              </a:lnSpc>
              <a:spcBef>
                <a:spcPts val="0"/>
              </a:spcBef>
              <a:spcAft>
                <a:spcPts val="0"/>
              </a:spcAft>
              <a:buSzPts val="1400"/>
              <a:buNone/>
            </a:pPr>
            <a:r>
              <a:rPr lang="en" dirty="0"/>
              <a:t> </a:t>
            </a:r>
            <a:endParaRPr dirty="0"/>
          </a:p>
          <a:p>
            <a:pPr marL="0" lvl="0" indent="0" algn="l" rtl="0">
              <a:lnSpc>
                <a:spcPct val="115000"/>
              </a:lnSpc>
              <a:spcBef>
                <a:spcPts val="0"/>
              </a:spcBef>
              <a:spcAft>
                <a:spcPts val="0"/>
              </a:spcAft>
              <a:buClr>
                <a:schemeClr val="dk1"/>
              </a:buClr>
              <a:buSzPts val="1100"/>
              <a:buFont typeface="Arial"/>
              <a:buNone/>
            </a:pPr>
            <a:endParaRPr dirty="0"/>
          </a:p>
          <a:p>
            <a:pPr marL="0" marR="0" lvl="0" indent="0" algn="l" rtl="0">
              <a:lnSpc>
                <a:spcPct val="115000"/>
              </a:lnSpc>
              <a:spcBef>
                <a:spcPts val="0"/>
              </a:spcBef>
              <a:spcAft>
                <a:spcPts val="0"/>
              </a:spcAft>
              <a:buSzPts val="1400"/>
              <a:buNone/>
            </a:pPr>
            <a:endParaRPr dirty="0"/>
          </a:p>
          <a:p>
            <a:pPr marL="0" marR="0" lvl="0" indent="0" algn="l" rtl="0">
              <a:lnSpc>
                <a:spcPct val="115000"/>
              </a:lnSpc>
              <a:spcBef>
                <a:spcPts val="0"/>
              </a:spcBef>
              <a:spcAft>
                <a:spcPts val="0"/>
              </a:spcAft>
              <a:buSzPts val="1400"/>
              <a:buNone/>
            </a:pPr>
            <a:endParaRPr dirty="0"/>
          </a:p>
        </p:txBody>
      </p:sp>
      <p:sp>
        <p:nvSpPr>
          <p:cNvPr id="101" name="Google Shape;101;p6"/>
          <p:cNvSpPr txBox="1">
            <a:spLocks noGrp="1"/>
          </p:cNvSpPr>
          <p:nvPr>
            <p:ph type="body" idx="2"/>
          </p:nvPr>
        </p:nvSpPr>
        <p:spPr>
          <a:xfrm>
            <a:off x="4500575" y="1225225"/>
            <a:ext cx="43317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b="1" dirty="0"/>
              <a:t>Example: </a:t>
            </a:r>
            <a:r>
              <a:rPr lang="en" i="1" dirty="0"/>
              <a:t>components/ButtonCounter.vue</a:t>
            </a:r>
          </a:p>
          <a:p>
            <a:pPr marL="0" lvl="0" indent="0" algn="l" rtl="0">
              <a:lnSpc>
                <a:spcPct val="115000"/>
              </a:lnSpc>
              <a:spcBef>
                <a:spcPts val="0"/>
              </a:spcBef>
              <a:spcAft>
                <a:spcPts val="0"/>
              </a:spcAft>
              <a:buClr>
                <a:schemeClr val="dk1"/>
              </a:buClr>
              <a:buSzPts val="1100"/>
              <a:buFont typeface="Arial"/>
              <a:buNone/>
            </a:pPr>
            <a:endParaRPr lang="en" i="1" dirty="0"/>
          </a:p>
          <a:p>
            <a:pPr marL="0" lvl="0" indent="0" algn="l" rtl="0">
              <a:lnSpc>
                <a:spcPct val="115000"/>
              </a:lnSpc>
              <a:spcBef>
                <a:spcPts val="0"/>
              </a:spcBef>
              <a:spcAft>
                <a:spcPts val="0"/>
              </a:spcAft>
              <a:buClr>
                <a:schemeClr val="dk1"/>
              </a:buClr>
              <a:buSzPts val="1100"/>
              <a:buFont typeface="Arial"/>
              <a:buNone/>
            </a:pPr>
            <a:endParaRPr lang="en" i="1" dirty="0"/>
          </a:p>
          <a:p>
            <a:pPr marL="0" lvl="0" indent="0" algn="l" rtl="0">
              <a:lnSpc>
                <a:spcPct val="115000"/>
              </a:lnSpc>
              <a:spcBef>
                <a:spcPts val="0"/>
              </a:spcBef>
              <a:spcAft>
                <a:spcPts val="0"/>
              </a:spcAft>
              <a:buClr>
                <a:schemeClr val="dk1"/>
              </a:buClr>
              <a:buSzPts val="1100"/>
              <a:buFont typeface="Arial"/>
              <a:buNone/>
            </a:pPr>
            <a:r>
              <a:rPr lang="en-US" dirty="0">
                <a:latin typeface="Open Sans" panose="020B0606030504020204" pitchFamily="34" charset="0"/>
                <a:ea typeface="Open Sans" panose="020B0606030504020204" pitchFamily="34" charset="0"/>
                <a:cs typeface="Open Sans" panose="020B0606030504020204" pitchFamily="34" charset="0"/>
              </a:rPr>
              <a:t>&lt;template&gt;</a:t>
            </a:r>
          </a:p>
          <a:p>
            <a:pPr marL="0" lvl="0" indent="0" algn="l" rtl="0">
              <a:lnSpc>
                <a:spcPct val="115000"/>
              </a:lnSpc>
              <a:spcBef>
                <a:spcPts val="0"/>
              </a:spcBef>
              <a:spcAft>
                <a:spcPts val="0"/>
              </a:spcAft>
              <a:buClr>
                <a:schemeClr val="dk1"/>
              </a:buClr>
              <a:buSzPts val="1100"/>
              <a:buFont typeface="Arial"/>
              <a:buNone/>
            </a:pPr>
            <a:r>
              <a:rPr lang="en-US" dirty="0">
                <a:latin typeface="Open Sans" panose="020B0606030504020204" pitchFamily="34" charset="0"/>
                <a:ea typeface="Open Sans" panose="020B0606030504020204" pitchFamily="34" charset="0"/>
                <a:cs typeface="Open Sans" panose="020B0606030504020204" pitchFamily="34" charset="0"/>
              </a:rPr>
              <a:t>    &lt;p&gt;If you like my page, click &lt;/p&gt;</a:t>
            </a:r>
          </a:p>
          <a:p>
            <a:pPr marL="0" lvl="0" indent="0" algn="l" rtl="0">
              <a:lnSpc>
                <a:spcPct val="115000"/>
              </a:lnSpc>
              <a:spcBef>
                <a:spcPts val="0"/>
              </a:spcBef>
              <a:spcAft>
                <a:spcPts val="0"/>
              </a:spcAft>
              <a:buClr>
                <a:schemeClr val="dk1"/>
              </a:buClr>
              <a:buSzPts val="1100"/>
              <a:buFont typeface="Arial"/>
              <a:buNone/>
            </a:pPr>
            <a:r>
              <a:rPr lang="en-US" dirty="0">
                <a:latin typeface="Open Sans" panose="020B0606030504020204" pitchFamily="34" charset="0"/>
                <a:ea typeface="Open Sans" panose="020B0606030504020204" pitchFamily="34" charset="0"/>
                <a:cs typeface="Open Sans" panose="020B0606030504020204" pitchFamily="34" charset="0"/>
              </a:rPr>
              <a:t>    &lt;button @click="count++"&gt;Like&lt;/button&gt;</a:t>
            </a:r>
          </a:p>
          <a:p>
            <a:pPr marL="0" lvl="0" indent="0" algn="l" rtl="0">
              <a:lnSpc>
                <a:spcPct val="115000"/>
              </a:lnSpc>
              <a:spcBef>
                <a:spcPts val="0"/>
              </a:spcBef>
              <a:spcAft>
                <a:spcPts val="0"/>
              </a:spcAft>
              <a:buClr>
                <a:schemeClr val="dk1"/>
              </a:buClr>
              <a:buSzPts val="1100"/>
              <a:buFont typeface="Arial"/>
              <a:buNone/>
            </a:pPr>
            <a:r>
              <a:rPr lang="en-US" dirty="0">
                <a:latin typeface="Open Sans" panose="020B0606030504020204" pitchFamily="34" charset="0"/>
                <a:ea typeface="Open Sans" panose="020B0606030504020204" pitchFamily="34" charset="0"/>
                <a:cs typeface="Open Sans" panose="020B0606030504020204" pitchFamily="34" charset="0"/>
              </a:rPr>
              <a:t>    &lt;p&gt;People liked me {{ count }} times.&lt;/p&gt;</a:t>
            </a:r>
          </a:p>
          <a:p>
            <a:pPr marL="0" lvl="0" indent="0" algn="l" rtl="0">
              <a:lnSpc>
                <a:spcPct val="115000"/>
              </a:lnSpc>
              <a:spcBef>
                <a:spcPts val="0"/>
              </a:spcBef>
              <a:spcAft>
                <a:spcPts val="0"/>
              </a:spcAft>
              <a:buClr>
                <a:schemeClr val="dk1"/>
              </a:buClr>
              <a:buSzPts val="1100"/>
              <a:buFont typeface="Arial"/>
              <a:buNone/>
            </a:pPr>
            <a:r>
              <a:rPr lang="en-US" dirty="0">
                <a:latin typeface="Open Sans" panose="020B0606030504020204" pitchFamily="34" charset="0"/>
                <a:ea typeface="Open Sans" panose="020B0606030504020204" pitchFamily="34" charset="0"/>
                <a:cs typeface="Open Sans" panose="020B0606030504020204" pitchFamily="34" charset="0"/>
              </a:rPr>
              <a:t>    &lt;p v-if="count&gt;2"&gt; I am POPU-LAR.&lt;/p&gt;</a:t>
            </a:r>
          </a:p>
          <a:p>
            <a:pPr marL="0" lvl="0" indent="0" algn="l" rtl="0">
              <a:lnSpc>
                <a:spcPct val="115000"/>
              </a:lnSpc>
              <a:spcBef>
                <a:spcPts val="0"/>
              </a:spcBef>
              <a:spcAft>
                <a:spcPts val="0"/>
              </a:spcAft>
              <a:buClr>
                <a:schemeClr val="dk1"/>
              </a:buClr>
              <a:buSzPts val="1100"/>
              <a:buFont typeface="Arial"/>
              <a:buNone/>
            </a:pPr>
            <a:r>
              <a:rPr lang="en-US" dirty="0">
                <a:latin typeface="Open Sans" panose="020B0606030504020204" pitchFamily="34" charset="0"/>
                <a:ea typeface="Open Sans" panose="020B0606030504020204" pitchFamily="34" charset="0"/>
                <a:cs typeface="Open Sans" panose="020B0606030504020204" pitchFamily="34" charset="0"/>
              </a:rPr>
              <a:t>&lt;/template&gt;</a:t>
            </a:r>
            <a:endParaRPr lang="en"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15000"/>
              </a:lnSpc>
              <a:spcBef>
                <a:spcPts val="0"/>
              </a:spcBef>
              <a:spcAft>
                <a:spcPts val="0"/>
              </a:spcAft>
              <a:buSzPts val="1400"/>
              <a:buNone/>
            </a:pPr>
            <a:endParaRPr dirty="0"/>
          </a:p>
        </p:txBody>
      </p:sp>
      <p:sp>
        <p:nvSpPr>
          <p:cNvPr id="5" name="Google Shape;87;p4">
            <a:extLst>
              <a:ext uri="{FF2B5EF4-FFF2-40B4-BE49-F238E27FC236}">
                <a16:creationId xmlns:a16="http://schemas.microsoft.com/office/drawing/2014/main" id="{7F8E3124-A41D-52E5-8181-A582697770A8}"/>
              </a:ext>
            </a:extLst>
          </p:cNvPr>
          <p:cNvSpPr/>
          <p:nvPr/>
        </p:nvSpPr>
        <p:spPr>
          <a:xfrm>
            <a:off x="548735" y="3035808"/>
            <a:ext cx="2624700" cy="766332"/>
          </a:xfrm>
          <a:prstGeom prst="wedgeRoundRectCallout">
            <a:avLst>
              <a:gd name="adj1" fmla="val 43981"/>
              <a:gd name="adj2" fmla="val 83522"/>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00000"/>
              </a:buClr>
              <a:buSzPts val="1400"/>
              <a:buFont typeface="Arial"/>
              <a:buNone/>
            </a:pPr>
            <a:r>
              <a:rPr lang="en-SG" sz="1400" b="0" i="0" u="none" strike="noStrike" cap="none" dirty="0">
                <a:solidFill>
                  <a:srgbClr val="000000"/>
                </a:solidFill>
                <a:latin typeface="Arial"/>
                <a:ea typeface="Arial"/>
                <a:cs typeface="Arial"/>
                <a:sym typeface="Arial"/>
              </a:rPr>
              <a:t>Intuitively, the template is used to replace the component-element.</a:t>
            </a:r>
            <a:endParaRPr lang="en-SG" sz="1400" b="0" i="0" u="none" strike="noStrike" cap="none" dirty="0">
              <a:solidFill>
                <a:schemeClr val="dk1"/>
              </a:solidFill>
              <a:latin typeface="Arial"/>
              <a:ea typeface="Arial"/>
              <a:cs typeface="Arial"/>
              <a:sym typeface="Arial"/>
            </a:endParaRPr>
          </a:p>
        </p:txBody>
      </p:sp>
      <p:sp>
        <p:nvSpPr>
          <p:cNvPr id="6" name="TextBox 5">
            <a:extLst>
              <a:ext uri="{FF2B5EF4-FFF2-40B4-BE49-F238E27FC236}">
                <a16:creationId xmlns:a16="http://schemas.microsoft.com/office/drawing/2014/main" id="{F5D0AF30-0704-9950-815A-ECBA2F46A02D}"/>
              </a:ext>
            </a:extLst>
          </p:cNvPr>
          <p:cNvSpPr txBox="1"/>
          <p:nvPr/>
        </p:nvSpPr>
        <p:spPr>
          <a:xfrm>
            <a:off x="2611237" y="4056005"/>
            <a:ext cx="1896755" cy="307777"/>
          </a:xfrm>
          <a:prstGeom prst="rect">
            <a:avLst/>
          </a:prstGeom>
          <a:noFill/>
        </p:spPr>
        <p:txBody>
          <a:bodyPr wrap="square" rtlCol="0">
            <a:spAutoFit/>
          </a:bodyPr>
          <a:lstStyle/>
          <a:p>
            <a:r>
              <a:rPr lang="en-SG" dirty="0">
                <a:solidFill>
                  <a:srgbClr val="00B050"/>
                </a:solidFill>
              </a:rPr>
              <a:t>&lt;</a:t>
            </a:r>
            <a:r>
              <a:rPr lang="en-SG" dirty="0" err="1">
                <a:solidFill>
                  <a:srgbClr val="00B050"/>
                </a:solidFill>
              </a:rPr>
              <a:t>ButtonCounter</a:t>
            </a:r>
            <a:r>
              <a:rPr lang="en-SG" dirty="0">
                <a:solidFill>
                  <a:srgbClr val="00B050"/>
                </a:solidFill>
              </a:rPr>
              <a:t> /&gt;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8"/>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dirty="0"/>
              <a:t>Passing Props (1)</a:t>
            </a:r>
            <a:endParaRPr dirty="0"/>
          </a:p>
        </p:txBody>
      </p:sp>
      <p:sp>
        <p:nvSpPr>
          <p:cNvPr id="115" name="Google Shape;115;p8"/>
          <p:cNvSpPr txBox="1">
            <a:spLocks noGrp="1"/>
          </p:cNvSpPr>
          <p:nvPr>
            <p:ph type="body" idx="1"/>
          </p:nvPr>
        </p:nvSpPr>
        <p:spPr>
          <a:xfrm>
            <a:off x="311699" y="1225225"/>
            <a:ext cx="4188875"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dirty="0"/>
              <a:t>Props are custom attributes that are exposed to accept data from the parent component.</a:t>
            </a:r>
          </a:p>
          <a:p>
            <a:pPr marL="0" marR="0" lvl="0" indent="0" algn="l" rtl="0">
              <a:lnSpc>
                <a:spcPct val="115000"/>
              </a:lnSpc>
              <a:spcBef>
                <a:spcPts val="0"/>
              </a:spcBef>
              <a:spcAft>
                <a:spcPts val="0"/>
              </a:spcAft>
              <a:buSzPts val="1400"/>
              <a:buNone/>
            </a:pPr>
            <a:endParaRPr lang="en" dirty="0"/>
          </a:p>
          <a:p>
            <a:pPr marL="0" marR="0" lvl="0" indent="0" algn="l" rtl="0">
              <a:lnSpc>
                <a:spcPct val="115000"/>
              </a:lnSpc>
              <a:spcBef>
                <a:spcPts val="0"/>
              </a:spcBef>
              <a:spcAft>
                <a:spcPts val="0"/>
              </a:spcAft>
              <a:buSzPts val="1400"/>
              <a:buNone/>
            </a:pPr>
            <a:r>
              <a:rPr lang="en" dirty="0"/>
              <a:t>For example, if you are creating a custom card, the card will need the content (text data) from the parent component, so that the cards can have the same visual layout but with different content.</a:t>
            </a:r>
            <a:endParaRPr dirty="0"/>
          </a:p>
          <a:p>
            <a:pPr marL="0" lvl="0" indent="0" algn="l" rtl="0">
              <a:lnSpc>
                <a:spcPct val="115000"/>
              </a:lnSpc>
              <a:spcBef>
                <a:spcPts val="0"/>
              </a:spcBef>
              <a:spcAft>
                <a:spcPts val="0"/>
              </a:spcAft>
              <a:buClr>
                <a:schemeClr val="dk1"/>
              </a:buClr>
              <a:buSzPts val="1100"/>
              <a:buFont typeface="Arial"/>
              <a:buNone/>
            </a:pPr>
            <a:endParaRPr dirty="0"/>
          </a:p>
          <a:p>
            <a:pPr marL="0" marR="0" lvl="0" indent="0" algn="l" rtl="0">
              <a:lnSpc>
                <a:spcPct val="115000"/>
              </a:lnSpc>
              <a:spcBef>
                <a:spcPts val="0"/>
              </a:spcBef>
              <a:spcAft>
                <a:spcPts val="0"/>
              </a:spcAft>
              <a:buSzPts val="1400"/>
              <a:buNone/>
            </a:pPr>
            <a:r>
              <a:rPr lang="en" dirty="0"/>
              <a:t>A component can have as many props and value of various data type can be passed to the props.  </a:t>
            </a:r>
          </a:p>
          <a:p>
            <a:pPr marL="0" marR="0" lvl="0" indent="0" algn="l" rtl="0">
              <a:lnSpc>
                <a:spcPct val="115000"/>
              </a:lnSpc>
              <a:spcBef>
                <a:spcPts val="0"/>
              </a:spcBef>
              <a:spcAft>
                <a:spcPts val="0"/>
              </a:spcAft>
              <a:buSzPts val="1400"/>
              <a:buNone/>
            </a:pPr>
            <a:endParaRPr lang="en" dirty="0"/>
          </a:p>
          <a:p>
            <a:pPr marL="0" marR="0" lvl="0" indent="0" algn="l" rtl="0">
              <a:lnSpc>
                <a:spcPct val="115000"/>
              </a:lnSpc>
              <a:spcBef>
                <a:spcPts val="0"/>
              </a:spcBef>
              <a:spcAft>
                <a:spcPts val="0"/>
              </a:spcAft>
              <a:buSzPts val="1400"/>
              <a:buNone/>
            </a:pPr>
            <a:r>
              <a:rPr lang="en" dirty="0"/>
              <a:t>To use Props, you need to register on the component using </a:t>
            </a:r>
            <a:r>
              <a:rPr lang="en" b="1" dirty="0">
                <a:latin typeface="Open Sans" panose="020B0606030504020204" pitchFamily="34" charset="0"/>
                <a:ea typeface="Open Sans" panose="020B0606030504020204" pitchFamily="34" charset="0"/>
                <a:cs typeface="Open Sans" panose="020B0606030504020204" pitchFamily="34" charset="0"/>
              </a:rPr>
              <a:t>defineProps</a:t>
            </a:r>
          </a:p>
          <a:p>
            <a:pPr marL="0" marR="0" lvl="0" indent="0" algn="l" rtl="0">
              <a:lnSpc>
                <a:spcPct val="115000"/>
              </a:lnSpc>
              <a:spcBef>
                <a:spcPts val="0"/>
              </a:spcBef>
              <a:spcAft>
                <a:spcPts val="0"/>
              </a:spcAft>
              <a:buSzPts val="1400"/>
              <a:buNone/>
            </a:pPr>
            <a:endParaRPr lang="en" b="1"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15000"/>
              </a:lnSpc>
              <a:spcBef>
                <a:spcPts val="0"/>
              </a:spcBef>
              <a:spcAft>
                <a:spcPts val="0"/>
              </a:spcAft>
              <a:buSzPts val="1400"/>
              <a:buNone/>
            </a:pPr>
            <a:r>
              <a:rPr lang="en" b="1" dirty="0">
                <a:latin typeface="Open Sans" panose="020B0606030504020204" pitchFamily="34" charset="0"/>
                <a:ea typeface="Open Sans" panose="020B0606030504020204" pitchFamily="34" charset="0"/>
                <a:cs typeface="Open Sans" panose="020B0606030504020204" pitchFamily="34" charset="0"/>
              </a:rPr>
              <a:t> </a:t>
            </a:r>
          </a:p>
        </p:txBody>
      </p:sp>
      <p:sp>
        <p:nvSpPr>
          <p:cNvPr id="116" name="Google Shape;116;p8"/>
          <p:cNvSpPr txBox="1">
            <a:spLocks noGrp="1"/>
          </p:cNvSpPr>
          <p:nvPr>
            <p:ph type="body" idx="2"/>
          </p:nvPr>
        </p:nvSpPr>
        <p:spPr>
          <a:xfrm>
            <a:off x="4500575" y="1225225"/>
            <a:ext cx="4504088" cy="3354000"/>
          </a:xfrm>
          <a:prstGeom prst="rect">
            <a:avLst/>
          </a:prstGeom>
          <a:noFill/>
          <a:ln>
            <a:noFill/>
          </a:ln>
        </p:spPr>
        <p:txBody>
          <a:bodyPr spcFirstLastPara="1" wrap="square" lIns="91425" tIns="91425" rIns="91425" bIns="91425" anchor="t" anchorCtr="0">
            <a:noAutofit/>
          </a:bodyPr>
          <a:lstStyle/>
          <a:p>
            <a:pPr marL="0" lvl="0" indent="0">
              <a:buSzPts val="1100"/>
              <a:buNone/>
            </a:pPr>
            <a:r>
              <a:rPr lang="en" b="1" dirty="0"/>
              <a:t>Example: </a:t>
            </a:r>
            <a:r>
              <a:rPr lang="en" i="1" dirty="0"/>
              <a:t>components/Product.vue</a:t>
            </a:r>
          </a:p>
          <a:p>
            <a:pPr marL="0" lvl="0" indent="0">
              <a:buSzPts val="1100"/>
              <a:buNone/>
            </a:pPr>
            <a:endParaRPr lang="en" i="1" dirty="0"/>
          </a:p>
          <a:p>
            <a:pPr marL="0" lvl="0" indent="0">
              <a:buSzPts val="1100"/>
              <a:buNone/>
            </a:pPr>
            <a:endParaRPr lang="en" i="1" dirty="0"/>
          </a:p>
          <a:p>
            <a:pPr marL="457200" lvl="1" indent="0">
              <a:spcBef>
                <a:spcPts val="0"/>
              </a:spcBef>
              <a:buSzPts val="1100"/>
              <a:buNone/>
            </a:pPr>
            <a:r>
              <a:rPr lang="en-US" sz="1400" dirty="0">
                <a:latin typeface="Open Sans" panose="020B0606030504020204" pitchFamily="34" charset="0"/>
                <a:ea typeface="Open Sans" panose="020B0606030504020204" pitchFamily="34" charset="0"/>
                <a:cs typeface="Open Sans" panose="020B0606030504020204" pitchFamily="34" charset="0"/>
              </a:rPr>
              <a:t>&lt;script setup&gt;</a:t>
            </a:r>
          </a:p>
          <a:p>
            <a:pPr marL="457200" lvl="1" indent="0">
              <a:spcBef>
                <a:spcPts val="0"/>
              </a:spcBef>
              <a:buSzPts val="1100"/>
              <a:buNone/>
            </a:pPr>
            <a:r>
              <a:rPr lang="en-US" sz="1400" b="1" dirty="0">
                <a:latin typeface="Open Sans" panose="020B0606030504020204" pitchFamily="34" charset="0"/>
                <a:ea typeface="Open Sans" panose="020B0606030504020204" pitchFamily="34" charset="0"/>
                <a:cs typeface="Open Sans" panose="020B0606030504020204" pitchFamily="34" charset="0"/>
              </a:rPr>
              <a:t>   const props = </a:t>
            </a:r>
            <a:r>
              <a:rPr lang="en-US" sz="1400" b="1" dirty="0" err="1">
                <a:latin typeface="Open Sans" panose="020B0606030504020204" pitchFamily="34" charset="0"/>
                <a:ea typeface="Open Sans" panose="020B0606030504020204" pitchFamily="34" charset="0"/>
                <a:cs typeface="Open Sans" panose="020B0606030504020204" pitchFamily="34" charset="0"/>
              </a:rPr>
              <a:t>defineProps</a:t>
            </a:r>
            <a:r>
              <a:rPr lang="en-US" sz="1400" b="1" dirty="0">
                <a:latin typeface="Open Sans" panose="020B0606030504020204" pitchFamily="34" charset="0"/>
                <a:ea typeface="Open Sans" panose="020B0606030504020204" pitchFamily="34" charset="0"/>
                <a:cs typeface="Open Sans" panose="020B0606030504020204" pitchFamily="34" charset="0"/>
              </a:rPr>
              <a:t>([‘name’, ‘price])</a:t>
            </a:r>
          </a:p>
          <a:p>
            <a:pPr marL="457200" lvl="1" indent="0">
              <a:spcBef>
                <a:spcPts val="0"/>
              </a:spcBef>
              <a:buSzPts val="1100"/>
              <a:buNone/>
            </a:pPr>
            <a:r>
              <a:rPr lang="en-US" sz="1400" b="1" dirty="0">
                <a:latin typeface="Open Sans" panose="020B0606030504020204" pitchFamily="34" charset="0"/>
                <a:ea typeface="Open Sans" panose="020B0606030504020204" pitchFamily="34" charset="0"/>
                <a:cs typeface="Open Sans" panose="020B0606030504020204" pitchFamily="34" charset="0"/>
              </a:rPr>
              <a:t>   console.log(props.name)</a:t>
            </a:r>
          </a:p>
          <a:p>
            <a:pPr marL="457200" lvl="1" indent="0">
              <a:spcBef>
                <a:spcPts val="0"/>
              </a:spcBef>
              <a:buSzPts val="1100"/>
              <a:buNone/>
            </a:pPr>
            <a:r>
              <a:rPr lang="en-US" sz="1400" dirty="0">
                <a:latin typeface="Open Sans" panose="020B0606030504020204" pitchFamily="34" charset="0"/>
                <a:ea typeface="Open Sans" panose="020B0606030504020204" pitchFamily="34" charset="0"/>
                <a:cs typeface="Open Sans" panose="020B0606030504020204" pitchFamily="34" charset="0"/>
              </a:rPr>
              <a:t>&lt;/script&gt;</a:t>
            </a:r>
          </a:p>
          <a:p>
            <a:pPr marL="457200" lvl="1" indent="0">
              <a:spcBef>
                <a:spcPts val="0"/>
              </a:spcBef>
              <a:buSzPts val="1100"/>
              <a:buNone/>
            </a:pPr>
            <a:endParaRPr lang="en-US" sz="1400" dirty="0">
              <a:latin typeface="Open Sans" panose="020B0606030504020204" pitchFamily="34" charset="0"/>
              <a:ea typeface="Open Sans" panose="020B0606030504020204" pitchFamily="34" charset="0"/>
              <a:cs typeface="Open Sans" panose="020B0606030504020204" pitchFamily="34" charset="0"/>
            </a:endParaRPr>
          </a:p>
          <a:p>
            <a:pPr marL="457200" lvl="1" indent="0">
              <a:spcBef>
                <a:spcPts val="0"/>
              </a:spcBef>
              <a:buSzPts val="1100"/>
              <a:buNone/>
            </a:pPr>
            <a:r>
              <a:rPr lang="en-US" sz="1400" dirty="0">
                <a:latin typeface="Open Sans" panose="020B0606030504020204" pitchFamily="34" charset="0"/>
                <a:ea typeface="Open Sans" panose="020B0606030504020204" pitchFamily="34" charset="0"/>
                <a:cs typeface="Open Sans" panose="020B0606030504020204" pitchFamily="34" charset="0"/>
              </a:rPr>
              <a:t>&lt;template&gt;</a:t>
            </a:r>
          </a:p>
          <a:p>
            <a:pPr marL="457200" lvl="1" indent="0">
              <a:spcBef>
                <a:spcPts val="0"/>
              </a:spcBef>
              <a:buSzPts val="1100"/>
              <a:buNone/>
            </a:pPr>
            <a:r>
              <a:rPr lang="en-US" sz="1400" dirty="0">
                <a:latin typeface="Open Sans" panose="020B0606030504020204" pitchFamily="34" charset="0"/>
                <a:ea typeface="Open Sans" panose="020B0606030504020204" pitchFamily="34" charset="0"/>
                <a:cs typeface="Open Sans" panose="020B0606030504020204" pitchFamily="34" charset="0"/>
              </a:rPr>
              <a:t>    &lt;h3&gt;Product: {{ name }}&lt;/h3&gt;</a:t>
            </a:r>
          </a:p>
          <a:p>
            <a:pPr marL="457200" lvl="1" indent="0">
              <a:spcBef>
                <a:spcPts val="0"/>
              </a:spcBef>
              <a:buSzPts val="1100"/>
              <a:buNone/>
            </a:pPr>
            <a:r>
              <a:rPr lang="en-US" sz="1400" dirty="0">
                <a:latin typeface="Open Sans" panose="020B0606030504020204" pitchFamily="34" charset="0"/>
                <a:ea typeface="Open Sans" panose="020B0606030504020204" pitchFamily="34" charset="0"/>
                <a:cs typeface="Open Sans" panose="020B0606030504020204" pitchFamily="34" charset="0"/>
              </a:rPr>
              <a:t>&lt;/template&gt;</a:t>
            </a:r>
            <a:endParaRPr lang="en"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2" name="Google Shape;87;p4">
            <a:extLst>
              <a:ext uri="{FF2B5EF4-FFF2-40B4-BE49-F238E27FC236}">
                <a16:creationId xmlns:a16="http://schemas.microsoft.com/office/drawing/2014/main" id="{655A781D-800A-C1D6-A3A3-DD883FBA53D0}"/>
              </a:ext>
            </a:extLst>
          </p:cNvPr>
          <p:cNvSpPr/>
          <p:nvPr/>
        </p:nvSpPr>
        <p:spPr>
          <a:xfrm>
            <a:off x="5710587" y="4269345"/>
            <a:ext cx="2207765" cy="558229"/>
          </a:xfrm>
          <a:prstGeom prst="wedgeRoundRectCallout">
            <a:avLst>
              <a:gd name="adj1" fmla="val 36317"/>
              <a:gd name="adj2" fmla="val 63237"/>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00000"/>
              </a:buClr>
              <a:buSzPts val="1400"/>
              <a:buFont typeface="Arial"/>
              <a:buNone/>
            </a:pPr>
            <a:r>
              <a:rPr lang="en-SG" dirty="0"/>
              <a:t>props are (custom) HTML attributes</a:t>
            </a:r>
            <a:endParaRPr lang="en-SG" sz="1400" b="0" i="0" u="none" strike="noStrike" cap="none" dirty="0">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5C54F847-F359-B786-ACE5-A410B3E2B230}"/>
            </a:ext>
          </a:extLst>
        </p:cNvPr>
        <p:cNvGrpSpPr/>
        <p:nvPr/>
      </p:nvGrpSpPr>
      <p:grpSpPr>
        <a:xfrm>
          <a:off x="0" y="0"/>
          <a:ext cx="0" cy="0"/>
          <a:chOff x="0" y="0"/>
          <a:chExt cx="0" cy="0"/>
        </a:xfrm>
      </p:grpSpPr>
      <p:sp>
        <p:nvSpPr>
          <p:cNvPr id="114" name="Google Shape;114;p8">
            <a:extLst>
              <a:ext uri="{FF2B5EF4-FFF2-40B4-BE49-F238E27FC236}">
                <a16:creationId xmlns:a16="http://schemas.microsoft.com/office/drawing/2014/main" id="{7420E5A2-DE39-2B3C-6B33-BBB193E6E157}"/>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dirty="0"/>
              <a:t>Passing Props (2)</a:t>
            </a:r>
            <a:endParaRPr dirty="0"/>
          </a:p>
        </p:txBody>
      </p:sp>
      <p:sp>
        <p:nvSpPr>
          <p:cNvPr id="115" name="Google Shape;115;p8">
            <a:extLst>
              <a:ext uri="{FF2B5EF4-FFF2-40B4-BE49-F238E27FC236}">
                <a16:creationId xmlns:a16="http://schemas.microsoft.com/office/drawing/2014/main" id="{C19FE8CC-740E-5E1D-F1ED-EC7285CFDAB9}"/>
              </a:ext>
            </a:extLst>
          </p:cNvPr>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SG" dirty="0"/>
              <a:t>Once a prop is registered, you can pass data to it as a custom attribute from parent component</a:t>
            </a:r>
            <a:endParaRPr lang="en" dirty="0">
              <a:latin typeface="Open Sans" panose="020B0606030504020204" pitchFamily="34" charset="0"/>
              <a:ea typeface="Open Sans" panose="020B0606030504020204" pitchFamily="34" charset="0"/>
              <a:cs typeface="Open Sans" panose="020B0606030504020204" pitchFamily="34" charset="0"/>
            </a:endParaRPr>
          </a:p>
        </p:txBody>
      </p:sp>
      <p:sp>
        <p:nvSpPr>
          <p:cNvPr id="116" name="Google Shape;116;p8">
            <a:extLst>
              <a:ext uri="{FF2B5EF4-FFF2-40B4-BE49-F238E27FC236}">
                <a16:creationId xmlns:a16="http://schemas.microsoft.com/office/drawing/2014/main" id="{D30676C3-6E99-A31C-AA8C-50CF6DB22416}"/>
              </a:ext>
            </a:extLst>
          </p:cNvPr>
          <p:cNvSpPr txBox="1">
            <a:spLocks noGrp="1"/>
          </p:cNvSpPr>
          <p:nvPr>
            <p:ph type="body" idx="2"/>
          </p:nvPr>
        </p:nvSpPr>
        <p:spPr>
          <a:xfrm>
            <a:off x="4500575" y="1225225"/>
            <a:ext cx="4331700" cy="3354000"/>
          </a:xfrm>
          <a:prstGeom prst="rect">
            <a:avLst/>
          </a:prstGeom>
          <a:noFill/>
          <a:ln>
            <a:noFill/>
          </a:ln>
        </p:spPr>
        <p:txBody>
          <a:bodyPr spcFirstLastPara="1" wrap="square" lIns="91425" tIns="91425" rIns="91425" bIns="91425" anchor="t" anchorCtr="0">
            <a:noAutofit/>
          </a:bodyPr>
          <a:lstStyle/>
          <a:p>
            <a:pPr marL="0" lvl="0" indent="0">
              <a:buSzPts val="1100"/>
              <a:buNone/>
            </a:pPr>
            <a:r>
              <a:rPr lang="en" b="1" dirty="0"/>
              <a:t>Example: </a:t>
            </a:r>
            <a:r>
              <a:rPr lang="en" i="1" dirty="0"/>
              <a:t>views/Example2View.vue</a:t>
            </a:r>
          </a:p>
          <a:p>
            <a:pPr marL="0" lvl="0" indent="0">
              <a:buSzPts val="1100"/>
              <a:buNone/>
            </a:pPr>
            <a:endParaRPr lang="en" i="1" dirty="0"/>
          </a:p>
          <a:p>
            <a:pPr marL="0" lvl="0" indent="0">
              <a:buSzPts val="1100"/>
              <a:buNone/>
            </a:pPr>
            <a:endParaRPr lang="en" i="1" dirty="0"/>
          </a:p>
          <a:p>
            <a:pPr marL="457200" lvl="1" indent="0">
              <a:spcBef>
                <a:spcPts val="0"/>
              </a:spcBef>
              <a:buSzPts val="1100"/>
              <a:buNone/>
            </a:pPr>
            <a:r>
              <a:rPr lang="en-US" sz="1400" dirty="0">
                <a:latin typeface="Open Sans" panose="020B0606030504020204" pitchFamily="34" charset="0"/>
                <a:ea typeface="Open Sans" panose="020B0606030504020204" pitchFamily="34" charset="0"/>
                <a:cs typeface="Open Sans" panose="020B0606030504020204" pitchFamily="34" charset="0"/>
              </a:rPr>
              <a:t>&lt;script setup&gt;</a:t>
            </a:r>
          </a:p>
          <a:p>
            <a:pPr marL="457200" lvl="1" indent="0">
              <a:spcBef>
                <a:spcPts val="0"/>
              </a:spcBef>
              <a:buSzPts val="1100"/>
              <a:buNone/>
            </a:pPr>
            <a:r>
              <a:rPr lang="en-US" sz="1400" b="1" dirty="0">
                <a:latin typeface="Open Sans" panose="020B0606030504020204" pitchFamily="34" charset="0"/>
                <a:ea typeface="Open Sans" panose="020B0606030504020204" pitchFamily="34" charset="0"/>
                <a:cs typeface="Open Sans" panose="020B0606030504020204" pitchFamily="34" charset="0"/>
              </a:rPr>
              <a:t>   import Product from </a:t>
            </a:r>
          </a:p>
          <a:p>
            <a:pPr marL="457200" lvl="1" indent="0">
              <a:spcBef>
                <a:spcPts val="0"/>
              </a:spcBef>
              <a:buSzPts val="1100"/>
              <a:buNone/>
            </a:pPr>
            <a:r>
              <a:rPr lang="en-US" sz="1400" b="1" dirty="0">
                <a:latin typeface="Open Sans" panose="020B0606030504020204" pitchFamily="34" charset="0"/>
                <a:ea typeface="Open Sans" panose="020B0606030504020204" pitchFamily="34" charset="0"/>
                <a:cs typeface="Open Sans" panose="020B0606030504020204" pitchFamily="34" charset="0"/>
              </a:rPr>
              <a:t>                 ‘../components/</a:t>
            </a:r>
            <a:r>
              <a:rPr lang="en-US" sz="1400" b="1" dirty="0" err="1">
                <a:latin typeface="Open Sans" panose="020B0606030504020204" pitchFamily="34" charset="0"/>
                <a:ea typeface="Open Sans" panose="020B0606030504020204" pitchFamily="34" charset="0"/>
                <a:cs typeface="Open Sans" panose="020B0606030504020204" pitchFamily="34" charset="0"/>
              </a:rPr>
              <a:t>Product.vue</a:t>
            </a:r>
            <a:r>
              <a:rPr lang="en-US" sz="1400" b="1" dirty="0">
                <a:latin typeface="Open Sans" panose="020B0606030504020204" pitchFamily="34" charset="0"/>
                <a:ea typeface="Open Sans" panose="020B0606030504020204" pitchFamily="34" charset="0"/>
                <a:cs typeface="Open Sans" panose="020B0606030504020204" pitchFamily="34" charset="0"/>
              </a:rPr>
              <a:t>’</a:t>
            </a:r>
          </a:p>
          <a:p>
            <a:pPr marL="457200" lvl="1" indent="0">
              <a:spcBef>
                <a:spcPts val="0"/>
              </a:spcBef>
              <a:buSzPts val="1100"/>
              <a:buNone/>
            </a:pPr>
            <a:r>
              <a:rPr lang="en-US" sz="1400" dirty="0">
                <a:latin typeface="Open Sans" panose="020B0606030504020204" pitchFamily="34" charset="0"/>
                <a:ea typeface="Open Sans" panose="020B0606030504020204" pitchFamily="34" charset="0"/>
                <a:cs typeface="Open Sans" panose="020B0606030504020204" pitchFamily="34" charset="0"/>
              </a:rPr>
              <a:t>&lt;/script&gt;</a:t>
            </a:r>
          </a:p>
          <a:p>
            <a:pPr marL="457200" lvl="1" indent="0">
              <a:spcBef>
                <a:spcPts val="0"/>
              </a:spcBef>
              <a:buSzPts val="1100"/>
              <a:buNone/>
            </a:pPr>
            <a:endParaRPr lang="en-US" sz="1400" dirty="0">
              <a:latin typeface="Open Sans" panose="020B0606030504020204" pitchFamily="34" charset="0"/>
              <a:ea typeface="Open Sans" panose="020B0606030504020204" pitchFamily="34" charset="0"/>
              <a:cs typeface="Open Sans" panose="020B0606030504020204" pitchFamily="34" charset="0"/>
            </a:endParaRPr>
          </a:p>
          <a:p>
            <a:pPr marL="457200" lvl="1" indent="0">
              <a:spcBef>
                <a:spcPts val="0"/>
              </a:spcBef>
              <a:buSzPts val="1100"/>
              <a:buNone/>
            </a:pPr>
            <a:r>
              <a:rPr lang="en-US" sz="1400" dirty="0">
                <a:latin typeface="Open Sans" panose="020B0606030504020204" pitchFamily="34" charset="0"/>
                <a:ea typeface="Open Sans" panose="020B0606030504020204" pitchFamily="34" charset="0"/>
                <a:cs typeface="Open Sans" panose="020B0606030504020204" pitchFamily="34" charset="0"/>
              </a:rPr>
              <a:t>&lt;template&gt;</a:t>
            </a:r>
          </a:p>
          <a:p>
            <a:pPr marL="457200" lvl="1" indent="0">
              <a:spcBef>
                <a:spcPts val="0"/>
              </a:spcBef>
              <a:buSzPts val="1100"/>
              <a:buNone/>
            </a:pPr>
            <a:r>
              <a:rPr lang="en-US" sz="1400" dirty="0">
                <a:latin typeface="Open Sans" panose="020B0606030504020204" pitchFamily="34" charset="0"/>
                <a:ea typeface="Open Sans" panose="020B0606030504020204" pitchFamily="34" charset="0"/>
                <a:cs typeface="Open Sans" panose="020B0606030504020204" pitchFamily="34" charset="0"/>
              </a:rPr>
              <a:t>    </a:t>
            </a:r>
            <a:r>
              <a:rPr lang="en-US" sz="1400" b="1" dirty="0">
                <a:latin typeface="Open Sans" panose="020B0606030504020204" pitchFamily="34" charset="0"/>
                <a:ea typeface="Open Sans" panose="020B0606030504020204" pitchFamily="34" charset="0"/>
                <a:cs typeface="Open Sans" panose="020B0606030504020204" pitchFamily="34" charset="0"/>
              </a:rPr>
              <a:t>&lt;product name=“iPhone’ price=‘100’ /&gt;</a:t>
            </a:r>
          </a:p>
          <a:p>
            <a:pPr marL="457200" lvl="1" indent="0">
              <a:spcBef>
                <a:spcPts val="0"/>
              </a:spcBef>
              <a:buSzPts val="1100"/>
              <a:buNone/>
            </a:pPr>
            <a:r>
              <a:rPr lang="en-US" sz="1400" dirty="0">
                <a:latin typeface="Open Sans" panose="020B0606030504020204" pitchFamily="34" charset="0"/>
                <a:ea typeface="Open Sans" panose="020B0606030504020204" pitchFamily="34" charset="0"/>
                <a:cs typeface="Open Sans" panose="020B0606030504020204" pitchFamily="34" charset="0"/>
              </a:rPr>
              <a:t>&lt;/template&gt;</a:t>
            </a:r>
            <a:endParaRPr lang="en"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2" name="Google Shape;87;p4">
            <a:extLst>
              <a:ext uri="{FF2B5EF4-FFF2-40B4-BE49-F238E27FC236}">
                <a16:creationId xmlns:a16="http://schemas.microsoft.com/office/drawing/2014/main" id="{DFF708A1-6CC0-316A-9D0A-37196AC50760}"/>
              </a:ext>
            </a:extLst>
          </p:cNvPr>
          <p:cNvSpPr/>
          <p:nvPr/>
        </p:nvSpPr>
        <p:spPr>
          <a:xfrm>
            <a:off x="1669810" y="2571750"/>
            <a:ext cx="2207765" cy="766332"/>
          </a:xfrm>
          <a:prstGeom prst="wedgeRoundRectCallout">
            <a:avLst>
              <a:gd name="adj1" fmla="val 36317"/>
              <a:gd name="adj2" fmla="val 63237"/>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00000"/>
              </a:buClr>
              <a:buSzPts val="1400"/>
              <a:buFont typeface="Arial"/>
              <a:buNone/>
            </a:pPr>
            <a:r>
              <a:rPr lang="en-SG" dirty="0"/>
              <a:t>props are (custom) HTML attributes</a:t>
            </a:r>
            <a:endParaRPr lang="en-SG" sz="14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899334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6DEC0750-8FC4-DAF5-DD90-63A83CCEECCD}"/>
            </a:ext>
          </a:extLst>
        </p:cNvPr>
        <p:cNvGrpSpPr/>
        <p:nvPr/>
      </p:nvGrpSpPr>
      <p:grpSpPr>
        <a:xfrm>
          <a:off x="0" y="0"/>
          <a:ext cx="0" cy="0"/>
          <a:chOff x="0" y="0"/>
          <a:chExt cx="0" cy="0"/>
        </a:xfrm>
      </p:grpSpPr>
      <p:sp>
        <p:nvSpPr>
          <p:cNvPr id="114" name="Google Shape;114;p8">
            <a:extLst>
              <a:ext uri="{FF2B5EF4-FFF2-40B4-BE49-F238E27FC236}">
                <a16:creationId xmlns:a16="http://schemas.microsoft.com/office/drawing/2014/main" id="{C9A5351B-F5F2-F790-00C1-07E808DAA71C}"/>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dirty="0"/>
              <a:t>Passing Props (3)</a:t>
            </a:r>
            <a:endParaRPr dirty="0"/>
          </a:p>
        </p:txBody>
      </p:sp>
      <p:sp>
        <p:nvSpPr>
          <p:cNvPr id="115" name="Google Shape;115;p8">
            <a:extLst>
              <a:ext uri="{FF2B5EF4-FFF2-40B4-BE49-F238E27FC236}">
                <a16:creationId xmlns:a16="http://schemas.microsoft.com/office/drawing/2014/main" id="{0D06B9D3-88E3-1CF4-E6EE-4BD48D7FC623}"/>
              </a:ext>
            </a:extLst>
          </p:cNvPr>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lvl="0" indent="0">
              <a:buNone/>
            </a:pPr>
            <a:r>
              <a:rPr lang="en-SG" dirty="0"/>
              <a:t>In addition to declaring props using an array of strings, we can also use </a:t>
            </a:r>
            <a:r>
              <a:rPr lang="en-SG" b="1" dirty="0"/>
              <a:t>the object syntax</a:t>
            </a:r>
          </a:p>
          <a:p>
            <a:pPr marL="0" lvl="0" indent="0">
              <a:buNone/>
            </a:pPr>
            <a:endParaRPr lang="en-SG" b="1" dirty="0">
              <a:latin typeface="Open Sans" panose="020B0606030504020204" pitchFamily="34" charset="0"/>
              <a:ea typeface="Open Sans" panose="020B0606030504020204" pitchFamily="34" charset="0"/>
              <a:cs typeface="Open Sans" panose="020B0606030504020204" pitchFamily="34" charset="0"/>
            </a:endParaRPr>
          </a:p>
          <a:p>
            <a:pPr marL="0" lvl="0" indent="0">
              <a:buNone/>
            </a:pPr>
            <a:r>
              <a:rPr lang="en-SG" dirty="0"/>
              <a:t>The key is the name of the prop</a:t>
            </a:r>
          </a:p>
          <a:p>
            <a:pPr marL="0" lvl="0" indent="0">
              <a:buNone/>
            </a:pPr>
            <a:endParaRPr lang="en-SG" dirty="0"/>
          </a:p>
          <a:p>
            <a:pPr marL="0" lvl="0" indent="0">
              <a:buNone/>
            </a:pPr>
            <a:r>
              <a:rPr lang="en-SG" dirty="0"/>
              <a:t>The value is </a:t>
            </a:r>
            <a:r>
              <a:rPr lang="en-SG" b="1" dirty="0"/>
              <a:t>the expected data type</a:t>
            </a:r>
            <a:r>
              <a:rPr lang="en-SG" dirty="0"/>
              <a:t>, e.g., </a:t>
            </a:r>
            <a:r>
              <a:rPr lang="en-SG" dirty="0">
                <a:latin typeface="Open Sans" panose="020B0606030504020204" pitchFamily="34" charset="0"/>
                <a:ea typeface="Open Sans" panose="020B0606030504020204" pitchFamily="34" charset="0"/>
                <a:cs typeface="Open Sans" panose="020B0606030504020204" pitchFamily="34" charset="0"/>
              </a:rPr>
              <a:t>Object, String, Number, Boolean</a:t>
            </a:r>
          </a:p>
          <a:p>
            <a:pPr marL="0" lvl="0" indent="0">
              <a:buNone/>
            </a:pPr>
            <a:endParaRPr lang="en-SG" dirty="0">
              <a:latin typeface="Open Sans" panose="020B0606030504020204" pitchFamily="34" charset="0"/>
              <a:ea typeface="Open Sans" panose="020B0606030504020204" pitchFamily="34" charset="0"/>
              <a:cs typeface="Open Sans" panose="020B0606030504020204" pitchFamily="34" charset="0"/>
            </a:endParaRPr>
          </a:p>
          <a:p>
            <a:pPr marL="0" lvl="0" indent="0">
              <a:buNone/>
            </a:pPr>
            <a:r>
              <a:rPr lang="en-SG" dirty="0">
                <a:latin typeface="+mn-lt"/>
                <a:ea typeface="Open Sans" panose="020B0606030504020204" pitchFamily="34" charset="0"/>
                <a:cs typeface="Open Sans" panose="020B0606030504020204" pitchFamily="34" charset="0"/>
              </a:rPr>
              <a:t>Naming convention when declaring a prop: </a:t>
            </a:r>
            <a:r>
              <a:rPr lang="en-SG" b="1" dirty="0">
                <a:latin typeface="Open Sans" panose="020B0606030504020204" pitchFamily="34" charset="0"/>
                <a:ea typeface="Open Sans" panose="020B0606030504020204" pitchFamily="34" charset="0"/>
                <a:cs typeface="Open Sans" panose="020B0606030504020204" pitchFamily="34" charset="0"/>
              </a:rPr>
              <a:t>camelCase </a:t>
            </a:r>
            <a:endParaRPr lang="en" b="1" dirty="0">
              <a:latin typeface="Open Sans" panose="020B0606030504020204" pitchFamily="34" charset="0"/>
              <a:ea typeface="Open Sans" panose="020B0606030504020204" pitchFamily="34" charset="0"/>
              <a:cs typeface="Open Sans" panose="020B0606030504020204" pitchFamily="34" charset="0"/>
            </a:endParaRPr>
          </a:p>
        </p:txBody>
      </p:sp>
      <p:sp>
        <p:nvSpPr>
          <p:cNvPr id="116" name="Google Shape;116;p8">
            <a:extLst>
              <a:ext uri="{FF2B5EF4-FFF2-40B4-BE49-F238E27FC236}">
                <a16:creationId xmlns:a16="http://schemas.microsoft.com/office/drawing/2014/main" id="{0E17F405-CC14-7968-1A5D-4E070FD0EF03}"/>
              </a:ext>
            </a:extLst>
          </p:cNvPr>
          <p:cNvSpPr txBox="1">
            <a:spLocks noGrp="1"/>
          </p:cNvSpPr>
          <p:nvPr>
            <p:ph type="body" idx="2"/>
          </p:nvPr>
        </p:nvSpPr>
        <p:spPr>
          <a:xfrm>
            <a:off x="4500575" y="1225225"/>
            <a:ext cx="4331700" cy="1030295"/>
          </a:xfrm>
          <a:prstGeom prst="rect">
            <a:avLst/>
          </a:prstGeom>
          <a:noFill/>
          <a:ln>
            <a:noFill/>
          </a:ln>
        </p:spPr>
        <p:txBody>
          <a:bodyPr spcFirstLastPara="1" wrap="square" lIns="91425" tIns="91425" rIns="91425" bIns="91425" anchor="t" anchorCtr="0">
            <a:noAutofit/>
          </a:bodyPr>
          <a:lstStyle/>
          <a:p>
            <a:pPr marL="0" lvl="0" indent="0">
              <a:buSzPts val="1100"/>
              <a:buNone/>
            </a:pPr>
            <a:r>
              <a:rPr lang="en" b="1" dirty="0"/>
              <a:t>Example</a:t>
            </a:r>
            <a:endParaRPr lang="en" i="1" dirty="0"/>
          </a:p>
          <a:p>
            <a:pPr marL="0" lvl="0" indent="0">
              <a:buSzPts val="1100"/>
              <a:buNone/>
            </a:pPr>
            <a:endParaRPr lang="en" i="1" dirty="0"/>
          </a:p>
        </p:txBody>
      </p:sp>
      <p:grpSp>
        <p:nvGrpSpPr>
          <p:cNvPr id="5" name="Group 4">
            <a:extLst>
              <a:ext uri="{FF2B5EF4-FFF2-40B4-BE49-F238E27FC236}">
                <a16:creationId xmlns:a16="http://schemas.microsoft.com/office/drawing/2014/main" id="{3A798A6C-D4F3-777E-0088-32E259803A4E}"/>
              </a:ext>
            </a:extLst>
          </p:cNvPr>
          <p:cNvGrpSpPr/>
          <p:nvPr/>
        </p:nvGrpSpPr>
        <p:grpSpPr>
          <a:xfrm>
            <a:off x="5235622" y="1746116"/>
            <a:ext cx="3645914" cy="2712343"/>
            <a:chOff x="5235622" y="1746116"/>
            <a:chExt cx="3645914" cy="2712343"/>
          </a:xfrm>
        </p:grpSpPr>
        <p:sp>
          <p:nvSpPr>
            <p:cNvPr id="2" name="Google Shape;94;p5">
              <a:extLst>
                <a:ext uri="{FF2B5EF4-FFF2-40B4-BE49-F238E27FC236}">
                  <a16:creationId xmlns:a16="http://schemas.microsoft.com/office/drawing/2014/main" id="{263B7DB3-7978-1BFC-4ED2-9BB79C8034A1}"/>
                </a:ext>
              </a:extLst>
            </p:cNvPr>
            <p:cNvSpPr txBox="1">
              <a:spLocks/>
            </p:cNvSpPr>
            <p:nvPr/>
          </p:nvSpPr>
          <p:spPr>
            <a:xfrm>
              <a:off x="5235622" y="2049232"/>
              <a:ext cx="3507790" cy="2409227"/>
            </a:xfrm>
            <a:prstGeom prst="rect">
              <a:avLst/>
            </a:prstGeom>
            <a:noFill/>
            <a:ln>
              <a:solidFill>
                <a:schemeClr val="tx1"/>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1pPr>
              <a:lvl2pPr marL="914400" marR="0" lvl="1"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L="3200400" marR="0" lvl="6"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L="3657600" marR="0" lvl="7"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8pPr>
              <a:lvl9pPr marL="4114800" marR="0" lvl="8" indent="-304800" algn="l" rtl="0">
                <a:lnSpc>
                  <a:spcPct val="115000"/>
                </a:lnSpc>
                <a:spcBef>
                  <a:spcPts val="1600"/>
                </a:spcBef>
                <a:spcAft>
                  <a:spcPts val="1600"/>
                </a:spcAft>
                <a:buClr>
                  <a:schemeClr val="dk1"/>
                </a:buClr>
                <a:buSzPts val="1200"/>
                <a:buFont typeface="Arial"/>
                <a:buChar char="■"/>
                <a:defRPr sz="1200" b="0" i="0" u="none" strike="noStrike" cap="none">
                  <a:solidFill>
                    <a:schemeClr val="dk1"/>
                  </a:solidFill>
                  <a:latin typeface="Arial"/>
                  <a:ea typeface="Arial"/>
                  <a:cs typeface="Arial"/>
                  <a:sym typeface="Arial"/>
                </a:defRPr>
              </a:lvl9pPr>
            </a:lstStyle>
            <a:p>
              <a:pPr marL="0" lvl="0" indent="0">
                <a:buSzPts val="1100"/>
                <a:buNone/>
              </a:pPr>
              <a:r>
                <a:rPr lang="en-SG" sz="1200" dirty="0">
                  <a:latin typeface="Open Sans" panose="020B0606030504020204" pitchFamily="34" charset="0"/>
                  <a:ea typeface="Open Sans" panose="020B0606030504020204" pitchFamily="34" charset="0"/>
                  <a:cs typeface="Open Sans" panose="020B0606030504020204" pitchFamily="34" charset="0"/>
                </a:rPr>
                <a:t>&lt;script setup&gt;</a:t>
              </a:r>
            </a:p>
            <a:p>
              <a:pPr marL="0" lvl="0" indent="0">
                <a:buSzPts val="1100"/>
                <a:buNone/>
              </a:pPr>
              <a:r>
                <a:rPr lang="en-SG" sz="1200" dirty="0">
                  <a:latin typeface="Open Sans" panose="020B0606030504020204" pitchFamily="34" charset="0"/>
                  <a:ea typeface="Open Sans" panose="020B0606030504020204" pitchFamily="34" charset="0"/>
                  <a:cs typeface="Open Sans" panose="020B0606030504020204" pitchFamily="34" charset="0"/>
                </a:rPr>
                <a:t>    </a:t>
              </a:r>
              <a:r>
                <a:rPr lang="en-SG" sz="1200" dirty="0" err="1">
                  <a:latin typeface="Open Sans" panose="020B0606030504020204" pitchFamily="34" charset="0"/>
                  <a:ea typeface="Open Sans" panose="020B0606030504020204" pitchFamily="34" charset="0"/>
                  <a:cs typeface="Open Sans" panose="020B0606030504020204" pitchFamily="34" charset="0"/>
                </a:rPr>
                <a:t>const</a:t>
              </a:r>
              <a:r>
                <a:rPr lang="en-SG" sz="1200" dirty="0">
                  <a:latin typeface="Open Sans" panose="020B0606030504020204" pitchFamily="34" charset="0"/>
                  <a:ea typeface="Open Sans" panose="020B0606030504020204" pitchFamily="34" charset="0"/>
                  <a:cs typeface="Open Sans" panose="020B0606030504020204" pitchFamily="34" charset="0"/>
                </a:rPr>
                <a:t> props = </a:t>
              </a:r>
              <a:r>
                <a:rPr lang="en-SG" sz="1200" dirty="0" err="1">
                  <a:latin typeface="Open Sans" panose="020B0606030504020204" pitchFamily="34" charset="0"/>
                  <a:ea typeface="Open Sans" panose="020B0606030504020204" pitchFamily="34" charset="0"/>
                  <a:cs typeface="Open Sans" panose="020B0606030504020204" pitchFamily="34" charset="0"/>
                </a:rPr>
                <a:t>defineProps</a:t>
              </a:r>
              <a:r>
                <a:rPr lang="en-SG" sz="1200" b="1" dirty="0">
                  <a:latin typeface="Open Sans" panose="020B0606030504020204" pitchFamily="34" charset="0"/>
                  <a:ea typeface="Open Sans" panose="020B0606030504020204" pitchFamily="34" charset="0"/>
                  <a:cs typeface="Open Sans" panose="020B0606030504020204" pitchFamily="34" charset="0"/>
                </a:rPr>
                <a:t>({ </a:t>
              </a:r>
            </a:p>
            <a:p>
              <a:pPr marL="0" lvl="0" indent="0">
                <a:buSzPts val="1100"/>
                <a:buNone/>
              </a:pPr>
              <a:r>
                <a:rPr lang="en-SG" sz="1200" b="1" dirty="0">
                  <a:latin typeface="Open Sans" panose="020B0606030504020204" pitchFamily="34" charset="0"/>
                  <a:ea typeface="Open Sans" panose="020B0606030504020204" pitchFamily="34" charset="0"/>
                  <a:cs typeface="Open Sans" panose="020B0606030504020204" pitchFamily="34" charset="0"/>
                </a:rPr>
                <a:t>                        </a:t>
              </a:r>
              <a:r>
                <a:rPr lang="en-SG" sz="1200" b="1" dirty="0" err="1">
                  <a:latin typeface="Open Sans" panose="020B0606030504020204" pitchFamily="34" charset="0"/>
                  <a:ea typeface="Open Sans" panose="020B0606030504020204" pitchFamily="34" charset="0"/>
                  <a:cs typeface="Open Sans" panose="020B0606030504020204" pitchFamily="34" charset="0"/>
                </a:rPr>
                <a:t>greetingMessage</a:t>
              </a:r>
              <a:r>
                <a:rPr lang="en-SG" sz="1200" b="1" dirty="0">
                  <a:latin typeface="Open Sans" panose="020B0606030504020204" pitchFamily="34" charset="0"/>
                  <a:ea typeface="Open Sans" panose="020B0606030504020204" pitchFamily="34" charset="0"/>
                  <a:cs typeface="Open Sans" panose="020B0606030504020204" pitchFamily="34" charset="0"/>
                </a:rPr>
                <a:t>: String</a:t>
              </a:r>
            </a:p>
            <a:p>
              <a:pPr marL="0" lvl="0" indent="0">
                <a:buSzPts val="1100"/>
                <a:buNone/>
              </a:pPr>
              <a:r>
                <a:rPr lang="en-SG" sz="1200" b="1" dirty="0">
                  <a:latin typeface="Open Sans" panose="020B0606030504020204" pitchFamily="34" charset="0"/>
                  <a:ea typeface="Open Sans" panose="020B0606030504020204" pitchFamily="34" charset="0"/>
                  <a:cs typeface="Open Sans" panose="020B0606030504020204" pitchFamily="34" charset="0"/>
                </a:rPr>
                <a:t>                    }</a:t>
              </a:r>
              <a:r>
                <a:rPr lang="en-SG" sz="1200" dirty="0">
                  <a:latin typeface="Open Sans" panose="020B0606030504020204" pitchFamily="34" charset="0"/>
                  <a:ea typeface="Open Sans" panose="020B0606030504020204" pitchFamily="34" charset="0"/>
                  <a:cs typeface="Open Sans" panose="020B0606030504020204" pitchFamily="34" charset="0"/>
                </a:rPr>
                <a:t>)</a:t>
              </a:r>
            </a:p>
            <a:p>
              <a:pPr marL="0" lvl="0" indent="0">
                <a:buSzPts val="1100"/>
                <a:buNone/>
              </a:pPr>
              <a:r>
                <a:rPr lang="en-SG" sz="1200" dirty="0">
                  <a:latin typeface="Open Sans" panose="020B0606030504020204" pitchFamily="34" charset="0"/>
                  <a:ea typeface="Open Sans" panose="020B0606030504020204" pitchFamily="34" charset="0"/>
                  <a:cs typeface="Open Sans" panose="020B0606030504020204" pitchFamily="34" charset="0"/>
                </a:rPr>
                <a:t>    console.log(</a:t>
              </a:r>
              <a:r>
                <a:rPr lang="en-SG" sz="1200" dirty="0" err="1">
                  <a:latin typeface="Open Sans" panose="020B0606030504020204" pitchFamily="34" charset="0"/>
                  <a:ea typeface="Open Sans" panose="020B0606030504020204" pitchFamily="34" charset="0"/>
                  <a:cs typeface="Open Sans" panose="020B0606030504020204" pitchFamily="34" charset="0"/>
                </a:rPr>
                <a:t>props.greetingMessage</a:t>
              </a:r>
              <a:r>
                <a:rPr lang="en-SG" sz="1200" dirty="0">
                  <a:latin typeface="Open Sans" panose="020B0606030504020204" pitchFamily="34" charset="0"/>
                  <a:ea typeface="Open Sans" panose="020B0606030504020204" pitchFamily="34" charset="0"/>
                  <a:cs typeface="Open Sans" panose="020B0606030504020204" pitchFamily="34" charset="0"/>
                </a:rPr>
                <a:t>)</a:t>
              </a:r>
            </a:p>
            <a:p>
              <a:pPr marL="0" lvl="0" indent="0">
                <a:buSzPts val="1100"/>
                <a:buNone/>
              </a:pPr>
              <a:r>
                <a:rPr lang="en-SG" sz="1200" dirty="0">
                  <a:latin typeface="Open Sans" panose="020B0606030504020204" pitchFamily="34" charset="0"/>
                  <a:ea typeface="Open Sans" panose="020B0606030504020204" pitchFamily="34" charset="0"/>
                  <a:cs typeface="Open Sans" panose="020B0606030504020204" pitchFamily="34" charset="0"/>
                </a:rPr>
                <a:t>&lt;/script&gt;</a:t>
              </a:r>
            </a:p>
            <a:p>
              <a:pPr marL="0" lvl="0" indent="0">
                <a:buSzPts val="1100"/>
                <a:buNone/>
              </a:pPr>
              <a:endParaRPr lang="en-SG" sz="1200" dirty="0">
                <a:latin typeface="Open Sans" panose="020B0606030504020204" pitchFamily="34" charset="0"/>
                <a:ea typeface="Open Sans" panose="020B0606030504020204" pitchFamily="34" charset="0"/>
                <a:cs typeface="Open Sans" panose="020B0606030504020204" pitchFamily="34" charset="0"/>
              </a:endParaRPr>
            </a:p>
            <a:p>
              <a:pPr marL="0" lvl="0" indent="0">
                <a:buSzPts val="1100"/>
                <a:buNone/>
              </a:pPr>
              <a:endParaRPr lang="en-SG" sz="1200" dirty="0">
                <a:latin typeface="Open Sans" panose="020B0606030504020204" pitchFamily="34" charset="0"/>
                <a:ea typeface="Open Sans" panose="020B0606030504020204" pitchFamily="34" charset="0"/>
                <a:cs typeface="Open Sans" panose="020B0606030504020204" pitchFamily="34" charset="0"/>
              </a:endParaRPr>
            </a:p>
            <a:p>
              <a:pPr marL="0" lvl="0" indent="0">
                <a:buSzPts val="1100"/>
                <a:buNone/>
              </a:pPr>
              <a:r>
                <a:rPr lang="en-SG" sz="1200" dirty="0">
                  <a:latin typeface="Open Sans" panose="020B0606030504020204" pitchFamily="34" charset="0"/>
                  <a:ea typeface="Open Sans" panose="020B0606030504020204" pitchFamily="34" charset="0"/>
                  <a:cs typeface="Open Sans" panose="020B0606030504020204" pitchFamily="34" charset="0"/>
                </a:rPr>
                <a:t>&lt;template&gt;</a:t>
              </a:r>
            </a:p>
            <a:p>
              <a:pPr marL="0" lvl="0" indent="0">
                <a:buSzPts val="1100"/>
                <a:buNone/>
              </a:pPr>
              <a:r>
                <a:rPr lang="en-SG" sz="1200" dirty="0">
                  <a:latin typeface="Open Sans" panose="020B0606030504020204" pitchFamily="34" charset="0"/>
                  <a:ea typeface="Open Sans" panose="020B0606030504020204" pitchFamily="34" charset="0"/>
                  <a:cs typeface="Open Sans" panose="020B0606030504020204" pitchFamily="34" charset="0"/>
                </a:rPr>
                <a:t>     &lt;div v-html=‘</a:t>
              </a:r>
              <a:r>
                <a:rPr lang="en-SG" sz="1200" dirty="0" err="1">
                  <a:latin typeface="Open Sans" panose="020B0606030504020204" pitchFamily="34" charset="0"/>
                  <a:ea typeface="Open Sans" panose="020B0606030504020204" pitchFamily="34" charset="0"/>
                  <a:cs typeface="Open Sans" panose="020B0606030504020204" pitchFamily="34" charset="0"/>
                </a:rPr>
                <a:t>greetingMessage</a:t>
              </a:r>
              <a:r>
                <a:rPr lang="en-SG" sz="1200" dirty="0">
                  <a:latin typeface="Open Sans" panose="020B0606030504020204" pitchFamily="34" charset="0"/>
                  <a:ea typeface="Open Sans" panose="020B0606030504020204" pitchFamily="34" charset="0"/>
                  <a:cs typeface="Open Sans" panose="020B0606030504020204" pitchFamily="34" charset="0"/>
                </a:rPr>
                <a:t>'&gt;&lt;/div&gt;</a:t>
              </a:r>
            </a:p>
            <a:p>
              <a:pPr marL="0" lvl="0" indent="0">
                <a:buSzPts val="1100"/>
                <a:buNone/>
              </a:pPr>
              <a:r>
                <a:rPr lang="en-SG" sz="1200" dirty="0">
                  <a:latin typeface="Open Sans" panose="020B0606030504020204" pitchFamily="34" charset="0"/>
                  <a:ea typeface="Open Sans" panose="020B0606030504020204" pitchFamily="34" charset="0"/>
                  <a:cs typeface="Open Sans" panose="020B0606030504020204" pitchFamily="34" charset="0"/>
                </a:rPr>
                <a:t>&lt;/template&gt;</a:t>
              </a:r>
              <a:endParaRPr lang="en"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TextBox 3">
              <a:extLst>
                <a:ext uri="{FF2B5EF4-FFF2-40B4-BE49-F238E27FC236}">
                  <a16:creationId xmlns:a16="http://schemas.microsoft.com/office/drawing/2014/main" id="{DE46CEE9-4BEE-BC1D-5209-ED37A8E404C6}"/>
                </a:ext>
              </a:extLst>
            </p:cNvPr>
            <p:cNvSpPr txBox="1"/>
            <p:nvPr/>
          </p:nvSpPr>
          <p:spPr>
            <a:xfrm>
              <a:off x="7006432" y="1746116"/>
              <a:ext cx="1875104" cy="307777"/>
            </a:xfrm>
            <a:prstGeom prst="rect">
              <a:avLst/>
            </a:prstGeom>
            <a:noFill/>
          </p:spPr>
          <p:txBody>
            <a:bodyPr wrap="square" rtlCol="0">
              <a:spAutoFit/>
            </a:bodyPr>
            <a:lstStyle/>
            <a:p>
              <a:r>
                <a:rPr lang="en-SG" dirty="0" err="1"/>
                <a:t>ChildComponent.vue</a:t>
              </a:r>
              <a:endParaRPr lang="en-SG" dirty="0"/>
            </a:p>
          </p:txBody>
        </p:sp>
      </p:grpSp>
      <p:sp>
        <p:nvSpPr>
          <p:cNvPr id="6" name="Google Shape;87;p4">
            <a:extLst>
              <a:ext uri="{FF2B5EF4-FFF2-40B4-BE49-F238E27FC236}">
                <a16:creationId xmlns:a16="http://schemas.microsoft.com/office/drawing/2014/main" id="{17C6292A-AA86-B299-D891-93ED2724A51C}"/>
              </a:ext>
            </a:extLst>
          </p:cNvPr>
          <p:cNvSpPr/>
          <p:nvPr/>
        </p:nvSpPr>
        <p:spPr>
          <a:xfrm>
            <a:off x="1750334" y="4098996"/>
            <a:ext cx="2207765" cy="558229"/>
          </a:xfrm>
          <a:prstGeom prst="wedgeRoundRectCallout">
            <a:avLst>
              <a:gd name="adj1" fmla="val 116527"/>
              <a:gd name="adj2" fmla="val -227457"/>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00000"/>
              </a:buClr>
              <a:buSzPts val="1400"/>
              <a:buFont typeface="Arial"/>
              <a:buNone/>
            </a:pPr>
            <a:r>
              <a:rPr lang="en-SG" dirty="0"/>
              <a:t>accessing a prop</a:t>
            </a:r>
            <a:endParaRPr lang="en-SG" sz="14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098927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40F65607-544F-364A-29AD-1CA81ECE8497}"/>
            </a:ext>
          </a:extLst>
        </p:cNvPr>
        <p:cNvGrpSpPr/>
        <p:nvPr/>
      </p:nvGrpSpPr>
      <p:grpSpPr>
        <a:xfrm>
          <a:off x="0" y="0"/>
          <a:ext cx="0" cy="0"/>
          <a:chOff x="0" y="0"/>
          <a:chExt cx="0" cy="0"/>
        </a:xfrm>
      </p:grpSpPr>
      <p:sp>
        <p:nvSpPr>
          <p:cNvPr id="114" name="Google Shape;114;p8">
            <a:extLst>
              <a:ext uri="{FF2B5EF4-FFF2-40B4-BE49-F238E27FC236}">
                <a16:creationId xmlns:a16="http://schemas.microsoft.com/office/drawing/2014/main" id="{CB9825B9-6841-9383-3036-6C5FF68D58EC}"/>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dirty="0"/>
              <a:t>Passing Props (4)</a:t>
            </a:r>
            <a:endParaRPr dirty="0"/>
          </a:p>
        </p:txBody>
      </p:sp>
      <p:sp>
        <p:nvSpPr>
          <p:cNvPr id="115" name="Google Shape;115;p8">
            <a:extLst>
              <a:ext uri="{FF2B5EF4-FFF2-40B4-BE49-F238E27FC236}">
                <a16:creationId xmlns:a16="http://schemas.microsoft.com/office/drawing/2014/main" id="{9BD1C7C1-3BB1-D590-A9D3-60AEFAD67CBC}"/>
              </a:ext>
            </a:extLst>
          </p:cNvPr>
          <p:cNvSpPr txBox="1">
            <a:spLocks noGrp="1"/>
          </p:cNvSpPr>
          <p:nvPr>
            <p:ph type="body" idx="1"/>
          </p:nvPr>
        </p:nvSpPr>
        <p:spPr>
          <a:xfrm>
            <a:off x="311700" y="1225225"/>
            <a:ext cx="3999900" cy="917084"/>
          </a:xfrm>
          <a:prstGeom prst="rect">
            <a:avLst/>
          </a:prstGeom>
          <a:noFill/>
          <a:ln>
            <a:noFill/>
          </a:ln>
        </p:spPr>
        <p:txBody>
          <a:bodyPr spcFirstLastPara="1" wrap="square" lIns="91425" tIns="91425" rIns="91425" bIns="91425" anchor="t" anchorCtr="0">
            <a:noAutofit/>
          </a:bodyPr>
          <a:lstStyle/>
          <a:p>
            <a:pPr marL="0" lvl="0" indent="0">
              <a:buNone/>
            </a:pPr>
            <a:r>
              <a:rPr lang="en-SG" dirty="0">
                <a:latin typeface="+mn-lt"/>
                <a:ea typeface="Open Sans" panose="020B0606030504020204" pitchFamily="34" charset="0"/>
                <a:cs typeface="Open Sans" panose="020B0606030504020204" pitchFamily="34" charset="0"/>
              </a:rPr>
              <a:t>But to align </a:t>
            </a:r>
            <a:r>
              <a:rPr lang="en-SG" dirty="0">
                <a:ea typeface="Open Sans" panose="020B0606030504020204" pitchFamily="34" charset="0"/>
                <a:cs typeface="Open Sans" panose="020B0606030504020204" pitchFamily="34" charset="0"/>
              </a:rPr>
              <a:t>with HTML attributes, </a:t>
            </a:r>
            <a:r>
              <a:rPr lang="en-SG" dirty="0">
                <a:latin typeface="+mn-lt"/>
                <a:ea typeface="Open Sans" panose="020B0606030504020204" pitchFamily="34" charset="0"/>
                <a:cs typeface="Open Sans" panose="020B0606030504020204" pitchFamily="34" charset="0"/>
              </a:rPr>
              <a:t>naming convention when using a prop: </a:t>
            </a:r>
            <a:r>
              <a:rPr lang="en-SG" dirty="0">
                <a:latin typeface="Open Sans" panose="020B0606030504020204" pitchFamily="34" charset="0"/>
                <a:ea typeface="Open Sans" panose="020B0606030504020204" pitchFamily="34" charset="0"/>
                <a:cs typeface="Open Sans" panose="020B0606030504020204" pitchFamily="34" charset="0"/>
              </a:rPr>
              <a:t>kebab-case</a:t>
            </a:r>
            <a:endParaRPr lang="en" dirty="0">
              <a:latin typeface="+mn-lt"/>
              <a:ea typeface="Open Sans" panose="020B0606030504020204" pitchFamily="34" charset="0"/>
              <a:cs typeface="Open Sans" panose="020B0606030504020204" pitchFamily="34" charset="0"/>
            </a:endParaRPr>
          </a:p>
        </p:txBody>
      </p:sp>
      <p:sp>
        <p:nvSpPr>
          <p:cNvPr id="116" name="Google Shape;116;p8">
            <a:extLst>
              <a:ext uri="{FF2B5EF4-FFF2-40B4-BE49-F238E27FC236}">
                <a16:creationId xmlns:a16="http://schemas.microsoft.com/office/drawing/2014/main" id="{3691627D-667C-A05E-CAC8-9D9E5862709F}"/>
              </a:ext>
            </a:extLst>
          </p:cNvPr>
          <p:cNvSpPr txBox="1">
            <a:spLocks noGrp="1"/>
          </p:cNvSpPr>
          <p:nvPr>
            <p:ph type="body" idx="2"/>
          </p:nvPr>
        </p:nvSpPr>
        <p:spPr>
          <a:xfrm>
            <a:off x="4500575" y="1225225"/>
            <a:ext cx="4331700" cy="3668992"/>
          </a:xfrm>
          <a:prstGeom prst="rect">
            <a:avLst/>
          </a:prstGeom>
          <a:noFill/>
          <a:ln>
            <a:noFill/>
          </a:ln>
        </p:spPr>
        <p:txBody>
          <a:bodyPr spcFirstLastPara="1" wrap="square" lIns="91425" tIns="91425" rIns="91425" bIns="91425" anchor="t" anchorCtr="0">
            <a:noAutofit/>
          </a:bodyPr>
          <a:lstStyle/>
          <a:p>
            <a:pPr marL="0" lvl="0" indent="0">
              <a:buSzPts val="1100"/>
              <a:buNone/>
            </a:pPr>
            <a:r>
              <a:rPr lang="en" b="1" dirty="0"/>
              <a:t>Example</a:t>
            </a:r>
            <a:endParaRPr lang="en" i="1" dirty="0"/>
          </a:p>
          <a:p>
            <a:pPr marL="0" lvl="0" indent="0">
              <a:buSzPts val="1100"/>
              <a:buNone/>
            </a:pPr>
            <a:endParaRPr lang="en" i="1" dirty="0"/>
          </a:p>
        </p:txBody>
      </p:sp>
      <p:grpSp>
        <p:nvGrpSpPr>
          <p:cNvPr id="2" name="Group 1">
            <a:extLst>
              <a:ext uri="{FF2B5EF4-FFF2-40B4-BE49-F238E27FC236}">
                <a16:creationId xmlns:a16="http://schemas.microsoft.com/office/drawing/2014/main" id="{1CAAF8F3-72BD-6DDD-9085-A89DDB8B80B8}"/>
              </a:ext>
            </a:extLst>
          </p:cNvPr>
          <p:cNvGrpSpPr/>
          <p:nvPr/>
        </p:nvGrpSpPr>
        <p:grpSpPr>
          <a:xfrm>
            <a:off x="3309257" y="1746116"/>
            <a:ext cx="5572279" cy="2712343"/>
            <a:chOff x="3309257" y="1746116"/>
            <a:chExt cx="5572279" cy="2712343"/>
          </a:xfrm>
        </p:grpSpPr>
        <p:sp>
          <p:nvSpPr>
            <p:cNvPr id="3" name="Google Shape;94;p5">
              <a:extLst>
                <a:ext uri="{FF2B5EF4-FFF2-40B4-BE49-F238E27FC236}">
                  <a16:creationId xmlns:a16="http://schemas.microsoft.com/office/drawing/2014/main" id="{B27FE073-22F9-2CCA-E5EC-2384DE29539C}"/>
                </a:ext>
              </a:extLst>
            </p:cNvPr>
            <p:cNvSpPr txBox="1">
              <a:spLocks/>
            </p:cNvSpPr>
            <p:nvPr/>
          </p:nvSpPr>
          <p:spPr>
            <a:xfrm>
              <a:off x="3309257" y="2049232"/>
              <a:ext cx="5434155" cy="2409227"/>
            </a:xfrm>
            <a:prstGeom prst="rect">
              <a:avLst/>
            </a:prstGeom>
            <a:noFill/>
            <a:ln>
              <a:solidFill>
                <a:schemeClr val="tx1"/>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1pPr>
              <a:lvl2pPr marL="914400" marR="0" lvl="1"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L="3200400" marR="0" lvl="6"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L="3657600" marR="0" lvl="7"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8pPr>
              <a:lvl9pPr marL="4114800" marR="0" lvl="8" indent="-304800" algn="l" rtl="0">
                <a:lnSpc>
                  <a:spcPct val="115000"/>
                </a:lnSpc>
                <a:spcBef>
                  <a:spcPts val="1600"/>
                </a:spcBef>
                <a:spcAft>
                  <a:spcPts val="1600"/>
                </a:spcAft>
                <a:buClr>
                  <a:schemeClr val="dk1"/>
                </a:buClr>
                <a:buSzPts val="1200"/>
                <a:buFont typeface="Arial"/>
                <a:buChar char="■"/>
                <a:defRPr sz="1200" b="0" i="0" u="none" strike="noStrike" cap="none">
                  <a:solidFill>
                    <a:schemeClr val="dk1"/>
                  </a:solidFill>
                  <a:latin typeface="Arial"/>
                  <a:ea typeface="Arial"/>
                  <a:cs typeface="Arial"/>
                  <a:sym typeface="Arial"/>
                </a:defRPr>
              </a:lvl9pPr>
            </a:lstStyle>
            <a:p>
              <a:pPr marL="0" lvl="0" indent="0">
                <a:buSzPts val="1100"/>
                <a:buNone/>
              </a:pPr>
              <a:r>
                <a:rPr lang="en-SG" sz="1200" dirty="0">
                  <a:latin typeface="Open Sans" panose="020B0606030504020204" pitchFamily="34" charset="0"/>
                  <a:ea typeface="Open Sans" panose="020B0606030504020204" pitchFamily="34" charset="0"/>
                  <a:cs typeface="Open Sans" panose="020B0606030504020204" pitchFamily="34" charset="0"/>
                </a:rPr>
                <a:t>&lt;script setup&gt;</a:t>
              </a:r>
            </a:p>
            <a:p>
              <a:pPr marL="0" lvl="0" indent="0">
                <a:buSzPts val="1100"/>
                <a:buNone/>
              </a:pPr>
              <a:r>
                <a:rPr lang="en-SG" sz="1200" dirty="0">
                  <a:latin typeface="Open Sans" panose="020B0606030504020204" pitchFamily="34" charset="0"/>
                  <a:ea typeface="Open Sans" panose="020B0606030504020204" pitchFamily="34" charset="0"/>
                  <a:cs typeface="Open Sans" panose="020B0606030504020204" pitchFamily="34" charset="0"/>
                </a:rPr>
                <a:t>    import </a:t>
              </a:r>
              <a:r>
                <a:rPr lang="en-SG" sz="1200" dirty="0" err="1">
                  <a:latin typeface="Open Sans" panose="020B0606030504020204" pitchFamily="34" charset="0"/>
                  <a:ea typeface="Open Sans" panose="020B0606030504020204" pitchFamily="34" charset="0"/>
                  <a:cs typeface="Open Sans" panose="020B0606030504020204" pitchFamily="34" charset="0"/>
                </a:rPr>
                <a:t>ChildComponent</a:t>
              </a:r>
              <a:r>
                <a:rPr lang="en-SG" sz="1200" dirty="0">
                  <a:latin typeface="Open Sans" panose="020B0606030504020204" pitchFamily="34" charset="0"/>
                  <a:ea typeface="Open Sans" panose="020B0606030504020204" pitchFamily="34" charset="0"/>
                  <a:cs typeface="Open Sans" panose="020B0606030504020204" pitchFamily="34" charset="0"/>
                </a:rPr>
                <a:t> from ‘../components/</a:t>
              </a:r>
              <a:r>
                <a:rPr lang="en-SG" sz="1200" dirty="0" err="1">
                  <a:latin typeface="Open Sans" panose="020B0606030504020204" pitchFamily="34" charset="0"/>
                  <a:ea typeface="Open Sans" panose="020B0606030504020204" pitchFamily="34" charset="0"/>
                  <a:cs typeface="Open Sans" panose="020B0606030504020204" pitchFamily="34" charset="0"/>
                </a:rPr>
                <a:t>ChildComponent.vue</a:t>
              </a:r>
              <a:r>
                <a:rPr lang="en-SG" sz="1200" dirty="0">
                  <a:latin typeface="Open Sans" panose="020B0606030504020204" pitchFamily="34" charset="0"/>
                  <a:ea typeface="Open Sans" panose="020B0606030504020204" pitchFamily="34" charset="0"/>
                  <a:cs typeface="Open Sans" panose="020B0606030504020204" pitchFamily="34" charset="0"/>
                </a:rPr>
                <a:t>’</a:t>
              </a:r>
            </a:p>
            <a:p>
              <a:pPr marL="0" lvl="0" indent="0">
                <a:buSzPts val="1100"/>
                <a:buNone/>
              </a:pPr>
              <a:r>
                <a:rPr lang="en-SG" sz="1200" dirty="0">
                  <a:latin typeface="Open Sans" panose="020B0606030504020204" pitchFamily="34" charset="0"/>
                  <a:ea typeface="Open Sans" panose="020B0606030504020204" pitchFamily="34" charset="0"/>
                  <a:cs typeface="Open Sans" panose="020B0606030504020204" pitchFamily="34" charset="0"/>
                </a:rPr>
                <a:t>&lt;/script&gt;</a:t>
              </a:r>
            </a:p>
            <a:p>
              <a:pPr marL="0" lvl="0" indent="0">
                <a:buSzPts val="1100"/>
                <a:buNone/>
              </a:pPr>
              <a:endParaRPr lang="en-SG" sz="1200" dirty="0">
                <a:latin typeface="Open Sans" panose="020B0606030504020204" pitchFamily="34" charset="0"/>
                <a:ea typeface="Open Sans" panose="020B0606030504020204" pitchFamily="34" charset="0"/>
                <a:cs typeface="Open Sans" panose="020B0606030504020204" pitchFamily="34" charset="0"/>
              </a:endParaRPr>
            </a:p>
            <a:p>
              <a:pPr marL="0" lvl="0" indent="0">
                <a:buSzPts val="1100"/>
                <a:buNone/>
              </a:pPr>
              <a:endParaRPr lang="en-SG" sz="1200" dirty="0">
                <a:latin typeface="Open Sans" panose="020B0606030504020204" pitchFamily="34" charset="0"/>
                <a:ea typeface="Open Sans" panose="020B0606030504020204" pitchFamily="34" charset="0"/>
                <a:cs typeface="Open Sans" panose="020B0606030504020204" pitchFamily="34" charset="0"/>
              </a:endParaRPr>
            </a:p>
            <a:p>
              <a:pPr marL="0" lvl="0" indent="0">
                <a:buSzPts val="1100"/>
                <a:buNone/>
              </a:pPr>
              <a:r>
                <a:rPr lang="en-SG" sz="1200" dirty="0">
                  <a:latin typeface="Open Sans" panose="020B0606030504020204" pitchFamily="34" charset="0"/>
                  <a:ea typeface="Open Sans" panose="020B0606030504020204" pitchFamily="34" charset="0"/>
                  <a:cs typeface="Open Sans" panose="020B0606030504020204" pitchFamily="34" charset="0"/>
                </a:rPr>
                <a:t>&lt;template&gt;</a:t>
              </a:r>
            </a:p>
            <a:p>
              <a:pPr marL="0" lvl="0" indent="0">
                <a:buSzPts val="1100"/>
                <a:buNone/>
              </a:pPr>
              <a:r>
                <a:rPr lang="en-SG" sz="1200" dirty="0">
                  <a:latin typeface="Open Sans" panose="020B0606030504020204" pitchFamily="34" charset="0"/>
                  <a:ea typeface="Open Sans" panose="020B0606030504020204" pitchFamily="34" charset="0"/>
                  <a:cs typeface="Open Sans" panose="020B0606030504020204" pitchFamily="34" charset="0"/>
                </a:rPr>
                <a:t>     &lt;</a:t>
              </a:r>
              <a:r>
                <a:rPr lang="en-SG" sz="1200" dirty="0" err="1">
                  <a:latin typeface="Open Sans" panose="020B0606030504020204" pitchFamily="34" charset="0"/>
                  <a:ea typeface="Open Sans" panose="020B0606030504020204" pitchFamily="34" charset="0"/>
                  <a:cs typeface="Open Sans" panose="020B0606030504020204" pitchFamily="34" charset="0"/>
                </a:rPr>
                <a:t>ChildComponent</a:t>
              </a:r>
              <a:r>
                <a:rPr lang="en-SG" sz="1200" dirty="0">
                  <a:latin typeface="Open Sans" panose="020B0606030504020204" pitchFamily="34" charset="0"/>
                  <a:ea typeface="Open Sans" panose="020B0606030504020204" pitchFamily="34" charset="0"/>
                  <a:cs typeface="Open Sans" panose="020B0606030504020204" pitchFamily="34" charset="0"/>
                </a:rPr>
                <a:t> </a:t>
              </a:r>
              <a:r>
                <a:rPr lang="en-SG" sz="1200" b="1" dirty="0">
                  <a:latin typeface="Open Sans" panose="020B0606030504020204" pitchFamily="34" charset="0"/>
                  <a:ea typeface="Open Sans" panose="020B0606030504020204" pitchFamily="34" charset="0"/>
                  <a:cs typeface="Open Sans" panose="020B0606030504020204" pitchFamily="34" charset="0"/>
                </a:rPr>
                <a:t>greeting-message</a:t>
              </a:r>
              <a:r>
                <a:rPr lang="en-SG" sz="1200" dirty="0">
                  <a:latin typeface="Open Sans" panose="020B0606030504020204" pitchFamily="34" charset="0"/>
                  <a:ea typeface="Open Sans" panose="020B0606030504020204" pitchFamily="34" charset="0"/>
                  <a:cs typeface="Open Sans" panose="020B0606030504020204" pitchFamily="34" charset="0"/>
                </a:rPr>
                <a:t>="hello" /&gt;</a:t>
              </a:r>
              <a:endParaRPr lang="en" sz="1200" dirty="0">
                <a:latin typeface="Open Sans" panose="020B0606030504020204" pitchFamily="34" charset="0"/>
                <a:ea typeface="Open Sans" panose="020B0606030504020204" pitchFamily="34" charset="0"/>
                <a:cs typeface="Open Sans" panose="020B0606030504020204" pitchFamily="34" charset="0"/>
              </a:endParaRPr>
            </a:p>
            <a:p>
              <a:pPr marL="0" lvl="0" indent="0">
                <a:buSzPts val="1100"/>
                <a:buNone/>
              </a:pPr>
              <a:r>
                <a:rPr lang="en-SG" sz="1200" dirty="0">
                  <a:latin typeface="Open Sans" panose="020B0606030504020204" pitchFamily="34" charset="0"/>
                  <a:ea typeface="Open Sans" panose="020B0606030504020204" pitchFamily="34" charset="0"/>
                  <a:cs typeface="Open Sans" panose="020B0606030504020204" pitchFamily="34" charset="0"/>
                </a:rPr>
                <a:t>&lt;/template&gt;</a:t>
              </a:r>
              <a:endParaRPr lang="en"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TextBox 3">
              <a:extLst>
                <a:ext uri="{FF2B5EF4-FFF2-40B4-BE49-F238E27FC236}">
                  <a16:creationId xmlns:a16="http://schemas.microsoft.com/office/drawing/2014/main" id="{B8994DD0-9147-261D-0A46-AFB102E39E16}"/>
                </a:ext>
              </a:extLst>
            </p:cNvPr>
            <p:cNvSpPr txBox="1"/>
            <p:nvPr/>
          </p:nvSpPr>
          <p:spPr>
            <a:xfrm>
              <a:off x="6897189" y="1746116"/>
              <a:ext cx="1984347" cy="307777"/>
            </a:xfrm>
            <a:prstGeom prst="rect">
              <a:avLst/>
            </a:prstGeom>
            <a:noFill/>
          </p:spPr>
          <p:txBody>
            <a:bodyPr wrap="square" rtlCol="0">
              <a:spAutoFit/>
            </a:bodyPr>
            <a:lstStyle/>
            <a:p>
              <a:r>
                <a:rPr lang="en-SG" dirty="0" err="1"/>
                <a:t>ParentComponent.vue</a:t>
              </a:r>
              <a:endParaRPr lang="en-SG" dirty="0"/>
            </a:p>
          </p:txBody>
        </p:sp>
      </p:grpSp>
    </p:spTree>
    <p:extLst>
      <p:ext uri="{BB962C8B-B14F-4D97-AF65-F5344CB8AC3E}">
        <p14:creationId xmlns:p14="http://schemas.microsoft.com/office/powerpoint/2010/main" val="34298427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C0808A05-2149-D7BA-7808-E068CE9A1161}"/>
            </a:ext>
          </a:extLst>
        </p:cNvPr>
        <p:cNvGrpSpPr/>
        <p:nvPr/>
      </p:nvGrpSpPr>
      <p:grpSpPr>
        <a:xfrm>
          <a:off x="0" y="0"/>
          <a:ext cx="0" cy="0"/>
          <a:chOff x="0" y="0"/>
          <a:chExt cx="0" cy="0"/>
        </a:xfrm>
      </p:grpSpPr>
      <p:sp>
        <p:nvSpPr>
          <p:cNvPr id="114" name="Google Shape;114;p8">
            <a:extLst>
              <a:ext uri="{FF2B5EF4-FFF2-40B4-BE49-F238E27FC236}">
                <a16:creationId xmlns:a16="http://schemas.microsoft.com/office/drawing/2014/main" id="{7B800DB4-91EA-F7E3-4D45-C0357E8315C5}"/>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dirty="0"/>
              <a:t>Accessing Props </a:t>
            </a:r>
            <a:endParaRPr dirty="0"/>
          </a:p>
        </p:txBody>
      </p:sp>
      <p:sp>
        <p:nvSpPr>
          <p:cNvPr id="115" name="Google Shape;115;p8">
            <a:extLst>
              <a:ext uri="{FF2B5EF4-FFF2-40B4-BE49-F238E27FC236}">
                <a16:creationId xmlns:a16="http://schemas.microsoft.com/office/drawing/2014/main" id="{BCF4B7E7-AB2C-6499-C2FB-B773601C8B16}"/>
              </a:ext>
            </a:extLst>
          </p:cNvPr>
          <p:cNvSpPr txBox="1">
            <a:spLocks noGrp="1"/>
          </p:cNvSpPr>
          <p:nvPr>
            <p:ph type="body" idx="1"/>
          </p:nvPr>
        </p:nvSpPr>
        <p:spPr>
          <a:xfrm>
            <a:off x="311699" y="1225225"/>
            <a:ext cx="4188875"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endParaRPr lang="en-SG" dirty="0"/>
          </a:p>
          <a:p>
            <a:pPr marL="0" marR="0" lvl="0" indent="0" algn="l" rtl="0">
              <a:lnSpc>
                <a:spcPct val="115000"/>
              </a:lnSpc>
              <a:spcBef>
                <a:spcPts val="0"/>
              </a:spcBef>
              <a:spcAft>
                <a:spcPts val="0"/>
              </a:spcAft>
              <a:buSzPts val="1400"/>
              <a:buNone/>
            </a:pPr>
            <a:endParaRPr lang="en-SG" dirty="0"/>
          </a:p>
          <a:p>
            <a:pPr marL="0" marR="0" lvl="0" indent="0" algn="l" rtl="0">
              <a:lnSpc>
                <a:spcPct val="115000"/>
              </a:lnSpc>
              <a:spcBef>
                <a:spcPts val="0"/>
              </a:spcBef>
              <a:spcAft>
                <a:spcPts val="0"/>
              </a:spcAft>
              <a:buSzPts val="1400"/>
              <a:buNone/>
            </a:pPr>
            <a:endParaRPr lang="en-SG" dirty="0"/>
          </a:p>
          <a:p>
            <a:pPr marL="0" marR="0" lvl="0" indent="0" algn="l" rtl="0">
              <a:lnSpc>
                <a:spcPct val="115000"/>
              </a:lnSpc>
              <a:spcBef>
                <a:spcPts val="0"/>
              </a:spcBef>
              <a:spcAft>
                <a:spcPts val="0"/>
              </a:spcAft>
              <a:buSzPts val="1400"/>
              <a:buNone/>
            </a:pPr>
            <a:r>
              <a:rPr lang="en-SG" dirty="0"/>
              <a:t>In JavaScript context, you can access the props via </a:t>
            </a:r>
            <a:r>
              <a:rPr lang="en-SG" dirty="0">
                <a:latin typeface="Open Sans" panose="020B0606030504020204" pitchFamily="34" charset="0"/>
                <a:ea typeface="Open Sans" panose="020B0606030504020204" pitchFamily="34" charset="0"/>
                <a:cs typeface="Open Sans" panose="020B0606030504020204" pitchFamily="34" charset="0"/>
              </a:rPr>
              <a:t>props.&lt;</a:t>
            </a:r>
            <a:r>
              <a:rPr lang="en-SG" dirty="0" err="1">
                <a:latin typeface="Open Sans" panose="020B0606030504020204" pitchFamily="34" charset="0"/>
                <a:ea typeface="Open Sans" panose="020B0606030504020204" pitchFamily="34" charset="0"/>
                <a:cs typeface="Open Sans" panose="020B0606030504020204" pitchFamily="34" charset="0"/>
              </a:rPr>
              <a:t>propname</a:t>
            </a:r>
            <a:r>
              <a:rPr lang="en-SG" dirty="0">
                <a:latin typeface="Open Sans" panose="020B0606030504020204" pitchFamily="34" charset="0"/>
                <a:ea typeface="Open Sans" panose="020B0606030504020204" pitchFamily="34" charset="0"/>
                <a:cs typeface="Open Sans" panose="020B0606030504020204" pitchFamily="34" charset="0"/>
              </a:rPr>
              <a:t>&gt;</a:t>
            </a:r>
          </a:p>
          <a:p>
            <a:pPr marL="0" marR="0" lvl="0" indent="0" algn="l" rtl="0">
              <a:lnSpc>
                <a:spcPct val="115000"/>
              </a:lnSpc>
              <a:spcBef>
                <a:spcPts val="0"/>
              </a:spcBef>
              <a:spcAft>
                <a:spcPts val="0"/>
              </a:spcAft>
              <a:buSzPts val="1400"/>
              <a:buNone/>
            </a:pPr>
            <a:endParaRPr lang="en-SG" b="1"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15000"/>
              </a:lnSpc>
              <a:spcBef>
                <a:spcPts val="0"/>
              </a:spcBef>
              <a:spcAft>
                <a:spcPts val="0"/>
              </a:spcAft>
              <a:buSzPts val="1400"/>
              <a:buNone/>
            </a:pPr>
            <a:endParaRPr lang="en-SG" b="1"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15000"/>
              </a:lnSpc>
              <a:spcBef>
                <a:spcPts val="0"/>
              </a:spcBef>
              <a:spcAft>
                <a:spcPts val="0"/>
              </a:spcAft>
              <a:buSzPts val="1400"/>
              <a:buNone/>
            </a:pPr>
            <a:endParaRPr lang="en-SG" b="1"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15000"/>
              </a:lnSpc>
              <a:spcBef>
                <a:spcPts val="0"/>
              </a:spcBef>
              <a:spcAft>
                <a:spcPts val="0"/>
              </a:spcAft>
              <a:buSzPts val="1400"/>
              <a:buNone/>
            </a:pPr>
            <a:endParaRPr lang="en-SG" b="1" dirty="0">
              <a:latin typeface="Open Sans" panose="020B0606030504020204" pitchFamily="34" charset="0"/>
              <a:ea typeface="Open Sans" panose="020B0606030504020204" pitchFamily="34" charset="0"/>
              <a:cs typeface="Open Sans" panose="020B0606030504020204" pitchFamily="34" charset="0"/>
            </a:endParaRPr>
          </a:p>
          <a:p>
            <a:pPr marL="0" lvl="0" indent="0">
              <a:buNone/>
            </a:pPr>
            <a:r>
              <a:rPr lang="en-SG" dirty="0"/>
              <a:t>In HTML context (template), you can access the props just like accessing a JavaScript variable</a:t>
            </a:r>
            <a:endParaRPr lang="en" b="1"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15000"/>
              </a:lnSpc>
              <a:spcBef>
                <a:spcPts val="0"/>
              </a:spcBef>
              <a:spcAft>
                <a:spcPts val="0"/>
              </a:spcAft>
              <a:buSzPts val="1400"/>
              <a:buNone/>
            </a:pPr>
            <a:endParaRPr lang="en" b="1"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15000"/>
              </a:lnSpc>
              <a:spcBef>
                <a:spcPts val="0"/>
              </a:spcBef>
              <a:spcAft>
                <a:spcPts val="0"/>
              </a:spcAft>
              <a:buSzPts val="1400"/>
              <a:buNone/>
            </a:pPr>
            <a:r>
              <a:rPr lang="en" b="1" dirty="0">
                <a:latin typeface="Open Sans" panose="020B0606030504020204" pitchFamily="34" charset="0"/>
                <a:ea typeface="Open Sans" panose="020B0606030504020204" pitchFamily="34" charset="0"/>
                <a:cs typeface="Open Sans" panose="020B0606030504020204" pitchFamily="34" charset="0"/>
              </a:rPr>
              <a:t> </a:t>
            </a:r>
          </a:p>
        </p:txBody>
      </p:sp>
      <p:sp>
        <p:nvSpPr>
          <p:cNvPr id="116" name="Google Shape;116;p8">
            <a:extLst>
              <a:ext uri="{FF2B5EF4-FFF2-40B4-BE49-F238E27FC236}">
                <a16:creationId xmlns:a16="http://schemas.microsoft.com/office/drawing/2014/main" id="{6842824A-CB2E-A6B6-8E70-5AA4C4AF9F39}"/>
              </a:ext>
            </a:extLst>
          </p:cNvPr>
          <p:cNvSpPr txBox="1">
            <a:spLocks noGrp="1"/>
          </p:cNvSpPr>
          <p:nvPr>
            <p:ph type="body" idx="2"/>
          </p:nvPr>
        </p:nvSpPr>
        <p:spPr>
          <a:xfrm>
            <a:off x="4500575" y="1225225"/>
            <a:ext cx="4504088" cy="3354000"/>
          </a:xfrm>
          <a:prstGeom prst="rect">
            <a:avLst/>
          </a:prstGeom>
          <a:noFill/>
          <a:ln>
            <a:noFill/>
          </a:ln>
        </p:spPr>
        <p:txBody>
          <a:bodyPr spcFirstLastPara="1" wrap="square" lIns="91425" tIns="91425" rIns="91425" bIns="91425" anchor="t" anchorCtr="0">
            <a:noAutofit/>
          </a:bodyPr>
          <a:lstStyle/>
          <a:p>
            <a:pPr marL="0" lvl="0" indent="0">
              <a:buSzPts val="1100"/>
              <a:buNone/>
            </a:pPr>
            <a:r>
              <a:rPr lang="en" b="1" dirty="0"/>
              <a:t>Example: </a:t>
            </a:r>
            <a:r>
              <a:rPr lang="en" i="1" dirty="0"/>
              <a:t>components/Product.vue</a:t>
            </a:r>
          </a:p>
          <a:p>
            <a:pPr marL="0" lvl="0" indent="0">
              <a:buSzPts val="1100"/>
              <a:buNone/>
            </a:pPr>
            <a:endParaRPr lang="en" i="1" dirty="0"/>
          </a:p>
          <a:p>
            <a:pPr marL="0" lvl="0" indent="0">
              <a:buSzPts val="1100"/>
              <a:buNone/>
            </a:pPr>
            <a:endParaRPr lang="en" i="1" dirty="0"/>
          </a:p>
          <a:p>
            <a:pPr marL="457200" lvl="1" indent="0">
              <a:spcBef>
                <a:spcPts val="0"/>
              </a:spcBef>
              <a:buSzPts val="1100"/>
              <a:buNone/>
            </a:pPr>
            <a:r>
              <a:rPr lang="en-US" sz="1400" dirty="0">
                <a:latin typeface="Open Sans" panose="020B0606030504020204" pitchFamily="34" charset="0"/>
                <a:ea typeface="Open Sans" panose="020B0606030504020204" pitchFamily="34" charset="0"/>
                <a:cs typeface="Open Sans" panose="020B0606030504020204" pitchFamily="34" charset="0"/>
              </a:rPr>
              <a:t>&lt;script setup&gt;</a:t>
            </a:r>
          </a:p>
          <a:p>
            <a:pPr marL="457200" lvl="1" indent="0">
              <a:spcBef>
                <a:spcPts val="0"/>
              </a:spcBef>
              <a:buSzPts val="1100"/>
              <a:buNone/>
            </a:pPr>
            <a:r>
              <a:rPr lang="en-US" sz="1400" b="1" dirty="0">
                <a:latin typeface="Open Sans" panose="020B0606030504020204" pitchFamily="34" charset="0"/>
                <a:ea typeface="Open Sans" panose="020B0606030504020204" pitchFamily="34" charset="0"/>
                <a:cs typeface="Open Sans" panose="020B0606030504020204" pitchFamily="34" charset="0"/>
              </a:rPr>
              <a:t>   </a:t>
            </a:r>
            <a:r>
              <a:rPr lang="en-US" sz="1400" dirty="0">
                <a:latin typeface="Open Sans" panose="020B0606030504020204" pitchFamily="34" charset="0"/>
                <a:ea typeface="Open Sans" panose="020B0606030504020204" pitchFamily="34" charset="0"/>
                <a:cs typeface="Open Sans" panose="020B0606030504020204" pitchFamily="34" charset="0"/>
              </a:rPr>
              <a:t>const props = </a:t>
            </a:r>
            <a:r>
              <a:rPr lang="en-US" sz="1400" dirty="0" err="1">
                <a:latin typeface="Open Sans" panose="020B0606030504020204" pitchFamily="34" charset="0"/>
                <a:ea typeface="Open Sans" panose="020B0606030504020204" pitchFamily="34" charset="0"/>
                <a:cs typeface="Open Sans" panose="020B0606030504020204" pitchFamily="34" charset="0"/>
              </a:rPr>
              <a:t>defineProps</a:t>
            </a:r>
            <a:r>
              <a:rPr lang="en-US" sz="1400" dirty="0">
                <a:latin typeface="Open Sans" panose="020B0606030504020204" pitchFamily="34" charset="0"/>
                <a:ea typeface="Open Sans" panose="020B0606030504020204" pitchFamily="34" charset="0"/>
                <a:cs typeface="Open Sans" panose="020B0606030504020204" pitchFamily="34" charset="0"/>
              </a:rPr>
              <a:t>([‘</a:t>
            </a:r>
            <a:r>
              <a:rPr lang="en-US" sz="1400" b="1" dirty="0">
                <a:latin typeface="Open Sans" panose="020B0606030504020204" pitchFamily="34" charset="0"/>
                <a:ea typeface="Open Sans" panose="020B0606030504020204" pitchFamily="34" charset="0"/>
                <a:cs typeface="Open Sans" panose="020B0606030504020204" pitchFamily="34" charset="0"/>
              </a:rPr>
              <a:t>name</a:t>
            </a:r>
            <a:r>
              <a:rPr lang="en-US" sz="1400" dirty="0">
                <a:latin typeface="Open Sans" panose="020B0606030504020204" pitchFamily="34" charset="0"/>
                <a:ea typeface="Open Sans" panose="020B0606030504020204" pitchFamily="34" charset="0"/>
                <a:cs typeface="Open Sans" panose="020B0606030504020204" pitchFamily="34" charset="0"/>
              </a:rPr>
              <a:t>’, ‘price])</a:t>
            </a:r>
          </a:p>
          <a:p>
            <a:pPr marL="457200" lvl="1" indent="0">
              <a:spcBef>
                <a:spcPts val="0"/>
              </a:spcBef>
              <a:buSzPts val="1100"/>
              <a:buNone/>
            </a:pPr>
            <a:r>
              <a:rPr lang="en-US" sz="1400" b="1" dirty="0">
                <a:latin typeface="Open Sans" panose="020B0606030504020204" pitchFamily="34" charset="0"/>
                <a:ea typeface="Open Sans" panose="020B0606030504020204" pitchFamily="34" charset="0"/>
                <a:cs typeface="Open Sans" panose="020B0606030504020204" pitchFamily="34" charset="0"/>
              </a:rPr>
              <a:t>   </a:t>
            </a:r>
            <a:r>
              <a:rPr lang="en-US" sz="1400" dirty="0">
                <a:latin typeface="Open Sans" panose="020B0606030504020204" pitchFamily="34" charset="0"/>
                <a:ea typeface="Open Sans" panose="020B0606030504020204" pitchFamily="34" charset="0"/>
                <a:cs typeface="Open Sans" panose="020B0606030504020204" pitchFamily="34" charset="0"/>
              </a:rPr>
              <a:t>console.log(</a:t>
            </a:r>
            <a:r>
              <a:rPr lang="en-US" sz="1400" b="1" dirty="0">
                <a:latin typeface="Open Sans" panose="020B0606030504020204" pitchFamily="34" charset="0"/>
                <a:ea typeface="Open Sans" panose="020B0606030504020204" pitchFamily="34" charset="0"/>
                <a:cs typeface="Open Sans" panose="020B0606030504020204" pitchFamily="34" charset="0"/>
              </a:rPr>
              <a:t>props.name</a:t>
            </a:r>
            <a:r>
              <a:rPr lang="en-US" sz="1400" dirty="0">
                <a:latin typeface="Open Sans" panose="020B0606030504020204" pitchFamily="34" charset="0"/>
                <a:ea typeface="Open Sans" panose="020B0606030504020204" pitchFamily="34" charset="0"/>
                <a:cs typeface="Open Sans" panose="020B0606030504020204" pitchFamily="34" charset="0"/>
              </a:rPr>
              <a:t>)</a:t>
            </a:r>
          </a:p>
          <a:p>
            <a:pPr marL="457200" lvl="1" indent="0">
              <a:spcBef>
                <a:spcPts val="0"/>
              </a:spcBef>
              <a:buSzPts val="1100"/>
              <a:buNone/>
            </a:pPr>
            <a:r>
              <a:rPr lang="en-US" sz="1400" dirty="0">
                <a:latin typeface="Open Sans" panose="020B0606030504020204" pitchFamily="34" charset="0"/>
                <a:ea typeface="Open Sans" panose="020B0606030504020204" pitchFamily="34" charset="0"/>
                <a:cs typeface="Open Sans" panose="020B0606030504020204" pitchFamily="34" charset="0"/>
              </a:rPr>
              <a:t>&lt;/script&gt;</a:t>
            </a:r>
          </a:p>
          <a:p>
            <a:pPr marL="457200" lvl="1" indent="0">
              <a:spcBef>
                <a:spcPts val="0"/>
              </a:spcBef>
              <a:buSzPts val="1100"/>
              <a:buNone/>
            </a:pPr>
            <a:endParaRPr lang="en-US" sz="1400" dirty="0">
              <a:latin typeface="Open Sans" panose="020B0606030504020204" pitchFamily="34" charset="0"/>
              <a:ea typeface="Open Sans" panose="020B0606030504020204" pitchFamily="34" charset="0"/>
              <a:cs typeface="Open Sans" panose="020B0606030504020204" pitchFamily="34" charset="0"/>
            </a:endParaRPr>
          </a:p>
          <a:p>
            <a:pPr marL="457200" lvl="1" indent="0">
              <a:spcBef>
                <a:spcPts val="0"/>
              </a:spcBef>
              <a:buSzPts val="1100"/>
              <a:buNone/>
            </a:pPr>
            <a:r>
              <a:rPr lang="en-US" sz="1400" dirty="0">
                <a:latin typeface="Open Sans" panose="020B0606030504020204" pitchFamily="34" charset="0"/>
                <a:ea typeface="Open Sans" panose="020B0606030504020204" pitchFamily="34" charset="0"/>
                <a:cs typeface="Open Sans" panose="020B0606030504020204" pitchFamily="34" charset="0"/>
              </a:rPr>
              <a:t>&lt;template&gt;</a:t>
            </a:r>
          </a:p>
          <a:p>
            <a:pPr marL="457200" lvl="1" indent="0">
              <a:spcBef>
                <a:spcPts val="0"/>
              </a:spcBef>
              <a:buSzPts val="1100"/>
              <a:buNone/>
            </a:pPr>
            <a:r>
              <a:rPr lang="en-US" sz="1400" dirty="0">
                <a:latin typeface="Open Sans" panose="020B0606030504020204" pitchFamily="34" charset="0"/>
                <a:ea typeface="Open Sans" panose="020B0606030504020204" pitchFamily="34" charset="0"/>
                <a:cs typeface="Open Sans" panose="020B0606030504020204" pitchFamily="34" charset="0"/>
              </a:rPr>
              <a:t>    &lt;h3&gt;Product: </a:t>
            </a:r>
            <a:r>
              <a:rPr lang="en-US" sz="1400" b="1" dirty="0">
                <a:latin typeface="Open Sans" panose="020B0606030504020204" pitchFamily="34" charset="0"/>
                <a:ea typeface="Open Sans" panose="020B0606030504020204" pitchFamily="34" charset="0"/>
                <a:cs typeface="Open Sans" panose="020B0606030504020204" pitchFamily="34" charset="0"/>
              </a:rPr>
              <a:t>{{ name }} </a:t>
            </a:r>
            <a:r>
              <a:rPr lang="en-US" sz="1400" dirty="0">
                <a:latin typeface="Open Sans" panose="020B0606030504020204" pitchFamily="34" charset="0"/>
                <a:ea typeface="Open Sans" panose="020B0606030504020204" pitchFamily="34" charset="0"/>
                <a:cs typeface="Open Sans" panose="020B0606030504020204" pitchFamily="34" charset="0"/>
              </a:rPr>
              <a:t>&lt;/h3&gt;</a:t>
            </a:r>
          </a:p>
          <a:p>
            <a:pPr marL="457200" lvl="1" indent="0">
              <a:spcBef>
                <a:spcPts val="0"/>
              </a:spcBef>
              <a:buSzPts val="1100"/>
              <a:buNone/>
            </a:pPr>
            <a:r>
              <a:rPr lang="en-US" sz="1400" dirty="0">
                <a:latin typeface="Open Sans" panose="020B0606030504020204" pitchFamily="34" charset="0"/>
                <a:ea typeface="Open Sans" panose="020B0606030504020204" pitchFamily="34" charset="0"/>
                <a:cs typeface="Open Sans" panose="020B0606030504020204" pitchFamily="34" charset="0"/>
              </a:rPr>
              <a:t>&lt;/template&gt;</a:t>
            </a:r>
            <a:endParaRPr lang="en"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Google Shape;87;p4">
            <a:extLst>
              <a:ext uri="{FF2B5EF4-FFF2-40B4-BE49-F238E27FC236}">
                <a16:creationId xmlns:a16="http://schemas.microsoft.com/office/drawing/2014/main" id="{5DA060D4-CBA8-14E8-6361-82C324814995}"/>
              </a:ext>
            </a:extLst>
          </p:cNvPr>
          <p:cNvSpPr/>
          <p:nvPr/>
        </p:nvSpPr>
        <p:spPr>
          <a:xfrm>
            <a:off x="7192850" y="4454076"/>
            <a:ext cx="1594374" cy="406297"/>
          </a:xfrm>
          <a:prstGeom prst="wedgeRoundRectCallout">
            <a:avLst>
              <a:gd name="adj1" fmla="val -65551"/>
              <a:gd name="adj2" fmla="val -20894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00000"/>
              </a:buClr>
              <a:buSzPts val="1400"/>
              <a:buFont typeface="Arial"/>
              <a:buNone/>
            </a:pPr>
            <a:r>
              <a:rPr lang="en-SG" dirty="0"/>
              <a:t>accessing a prop</a:t>
            </a:r>
            <a:endParaRPr lang="en-SG" sz="14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94463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1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dirty="0"/>
              <a:t>Exercise 1</a:t>
            </a:r>
            <a:endParaRPr dirty="0"/>
          </a:p>
        </p:txBody>
      </p:sp>
      <p:sp>
        <p:nvSpPr>
          <p:cNvPr id="136" name="Google Shape;136;p11"/>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dirty="0"/>
              <a:t>In this exercise, we would like to define a component for displaying “Sound Level”.</a:t>
            </a:r>
            <a:endParaRPr dirty="0"/>
          </a:p>
          <a:p>
            <a:pPr marL="0" marR="0" lvl="0" indent="0" algn="l" rtl="0">
              <a:lnSpc>
                <a:spcPct val="115000"/>
              </a:lnSpc>
              <a:spcBef>
                <a:spcPts val="0"/>
              </a:spcBef>
              <a:spcAft>
                <a:spcPts val="0"/>
              </a:spcAft>
              <a:buSzPts val="1400"/>
              <a:buNone/>
            </a:pPr>
            <a:endParaRPr dirty="0"/>
          </a:p>
          <a:p>
            <a:pPr marL="0" marR="0" lvl="0" indent="0" algn="l" rtl="0">
              <a:lnSpc>
                <a:spcPct val="115000"/>
              </a:lnSpc>
              <a:spcBef>
                <a:spcPts val="0"/>
              </a:spcBef>
              <a:spcAft>
                <a:spcPts val="0"/>
              </a:spcAft>
              <a:buSzPts val="1400"/>
              <a:buNone/>
            </a:pPr>
            <a:r>
              <a:rPr lang="en" dirty="0"/>
              <a:t>Given Ex1View.vue and SoundIcon.vue, complete the TODO such that when the user enters a value between 0 and 3, a corresponding sound-level icon appears on the right. </a:t>
            </a:r>
            <a:endParaRPr sz="2400" dirty="0">
              <a:latin typeface="Arial"/>
              <a:ea typeface="Arial"/>
              <a:cs typeface="Arial"/>
              <a:sym typeface="Arial"/>
            </a:endParaRPr>
          </a:p>
          <a:p>
            <a:pPr marL="0" marR="0" lvl="0" indent="0" algn="l" rtl="0">
              <a:lnSpc>
                <a:spcPct val="115000"/>
              </a:lnSpc>
              <a:spcBef>
                <a:spcPts val="0"/>
              </a:spcBef>
              <a:spcAft>
                <a:spcPts val="0"/>
              </a:spcAft>
              <a:buSzPts val="1400"/>
              <a:buNone/>
            </a:pPr>
            <a:endParaRPr dirty="0"/>
          </a:p>
          <a:p>
            <a:pPr marL="0" marR="0" lvl="0" indent="0" algn="l" rtl="0">
              <a:lnSpc>
                <a:spcPct val="115000"/>
              </a:lnSpc>
              <a:spcBef>
                <a:spcPts val="0"/>
              </a:spcBef>
              <a:spcAft>
                <a:spcPts val="0"/>
              </a:spcAft>
              <a:buSzPts val="1400"/>
              <a:buNone/>
            </a:pPr>
            <a:endParaRPr dirty="0"/>
          </a:p>
          <a:p>
            <a:pPr marL="0" marR="0" lvl="0" indent="0" algn="l" rtl="0">
              <a:lnSpc>
                <a:spcPct val="115000"/>
              </a:lnSpc>
              <a:spcBef>
                <a:spcPts val="0"/>
              </a:spcBef>
              <a:spcAft>
                <a:spcPts val="0"/>
              </a:spcAft>
              <a:buSzPts val="1400"/>
              <a:buNone/>
            </a:pPr>
            <a:endParaRPr dirty="0"/>
          </a:p>
          <a:p>
            <a:pPr marL="0" marR="0" lvl="0" indent="0" algn="l" rtl="0">
              <a:lnSpc>
                <a:spcPct val="115000"/>
              </a:lnSpc>
              <a:spcBef>
                <a:spcPts val="0"/>
              </a:spcBef>
              <a:spcAft>
                <a:spcPts val="0"/>
              </a:spcAft>
              <a:buSzPts val="1400"/>
              <a:buNone/>
            </a:pPr>
            <a:endParaRPr dirty="0"/>
          </a:p>
        </p:txBody>
      </p:sp>
      <p:sp>
        <p:nvSpPr>
          <p:cNvPr id="139" name="Google Shape;139;p11"/>
          <p:cNvSpPr/>
          <p:nvPr/>
        </p:nvSpPr>
        <p:spPr>
          <a:xfrm>
            <a:off x="482200" y="3919825"/>
            <a:ext cx="2624700" cy="659400"/>
          </a:xfrm>
          <a:prstGeom prst="wedgeRoundRectCallout">
            <a:avLst>
              <a:gd name="adj1" fmla="val -44386"/>
              <a:gd name="adj2" fmla="val 69556"/>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Be mindful how values are passed around.</a:t>
            </a:r>
            <a:endParaRPr sz="1400" b="0" i="0" u="none" strike="noStrike" cap="none">
              <a:solidFill>
                <a:schemeClr val="dk1"/>
              </a:solidFill>
              <a:latin typeface="Arial"/>
              <a:ea typeface="Arial"/>
              <a:cs typeface="Arial"/>
              <a:sym typeface="Arial"/>
            </a:endParaRPr>
          </a:p>
        </p:txBody>
      </p:sp>
      <p:grpSp>
        <p:nvGrpSpPr>
          <p:cNvPr id="10" name="Group 9">
            <a:extLst>
              <a:ext uri="{FF2B5EF4-FFF2-40B4-BE49-F238E27FC236}">
                <a16:creationId xmlns:a16="http://schemas.microsoft.com/office/drawing/2014/main" id="{B925726C-FDBB-264D-B4D0-630456474B7A}"/>
              </a:ext>
            </a:extLst>
          </p:cNvPr>
          <p:cNvGrpSpPr/>
          <p:nvPr/>
        </p:nvGrpSpPr>
        <p:grpSpPr>
          <a:xfrm>
            <a:off x="4747846" y="1108126"/>
            <a:ext cx="3559263" cy="3461253"/>
            <a:chOff x="4457701" y="1108126"/>
            <a:chExt cx="3559263" cy="3461253"/>
          </a:xfrm>
        </p:grpSpPr>
        <p:pic>
          <p:nvPicPr>
            <p:cNvPr id="3" name="Picture 2" descr="A picture containing text&#10;&#10;Description automatically generated">
              <a:extLst>
                <a:ext uri="{FF2B5EF4-FFF2-40B4-BE49-F238E27FC236}">
                  <a16:creationId xmlns:a16="http://schemas.microsoft.com/office/drawing/2014/main" id="{F9D3B61D-236A-E647-AD54-91B7364B178B}"/>
                </a:ext>
              </a:extLst>
            </p:cNvPr>
            <p:cNvPicPr>
              <a:picLocks noChangeAspect="1"/>
            </p:cNvPicPr>
            <p:nvPr/>
          </p:nvPicPr>
          <p:blipFill>
            <a:blip r:embed="rId3"/>
            <a:stretch>
              <a:fillRect/>
            </a:stretch>
          </p:blipFill>
          <p:spPr>
            <a:xfrm>
              <a:off x="4575420" y="3670787"/>
              <a:ext cx="3441544" cy="898592"/>
            </a:xfrm>
            <a:prstGeom prst="rect">
              <a:avLst/>
            </a:prstGeom>
          </p:spPr>
        </p:pic>
        <p:pic>
          <p:nvPicPr>
            <p:cNvPr id="5" name="Picture 4" descr="Text&#10;&#10;Description automatically generated with low confidence">
              <a:extLst>
                <a:ext uri="{FF2B5EF4-FFF2-40B4-BE49-F238E27FC236}">
                  <a16:creationId xmlns:a16="http://schemas.microsoft.com/office/drawing/2014/main" id="{2F5FF32F-6400-D545-AC26-541A790DBA55}"/>
                </a:ext>
              </a:extLst>
            </p:cNvPr>
            <p:cNvPicPr>
              <a:picLocks noChangeAspect="1"/>
            </p:cNvPicPr>
            <p:nvPr/>
          </p:nvPicPr>
          <p:blipFill>
            <a:blip r:embed="rId4"/>
            <a:stretch>
              <a:fillRect/>
            </a:stretch>
          </p:blipFill>
          <p:spPr>
            <a:xfrm>
              <a:off x="4457701" y="1108126"/>
              <a:ext cx="3528858" cy="819255"/>
            </a:xfrm>
            <a:prstGeom prst="rect">
              <a:avLst/>
            </a:prstGeom>
          </p:spPr>
        </p:pic>
        <p:pic>
          <p:nvPicPr>
            <p:cNvPr id="7" name="Picture 6" descr="Text&#10;&#10;Description automatically generated with medium confidence">
              <a:extLst>
                <a:ext uri="{FF2B5EF4-FFF2-40B4-BE49-F238E27FC236}">
                  <a16:creationId xmlns:a16="http://schemas.microsoft.com/office/drawing/2014/main" id="{ACBD63DC-D007-154A-A3F6-310472A2098A}"/>
                </a:ext>
              </a:extLst>
            </p:cNvPr>
            <p:cNvPicPr>
              <a:picLocks noChangeAspect="1"/>
            </p:cNvPicPr>
            <p:nvPr/>
          </p:nvPicPr>
          <p:blipFill>
            <a:blip r:embed="rId5"/>
            <a:stretch>
              <a:fillRect/>
            </a:stretch>
          </p:blipFill>
          <p:spPr>
            <a:xfrm>
              <a:off x="4519247" y="2875848"/>
              <a:ext cx="3369151" cy="759771"/>
            </a:xfrm>
            <a:prstGeom prst="rect">
              <a:avLst/>
            </a:prstGeom>
          </p:spPr>
        </p:pic>
        <p:pic>
          <p:nvPicPr>
            <p:cNvPr id="9" name="Picture 8" descr="Text&#10;&#10;Description automatically generated with low confidence">
              <a:extLst>
                <a:ext uri="{FF2B5EF4-FFF2-40B4-BE49-F238E27FC236}">
                  <a16:creationId xmlns:a16="http://schemas.microsoft.com/office/drawing/2014/main" id="{960CA47A-1207-9547-923B-137C9890D0D0}"/>
                </a:ext>
              </a:extLst>
            </p:cNvPr>
            <p:cNvPicPr>
              <a:picLocks noChangeAspect="1"/>
            </p:cNvPicPr>
            <p:nvPr/>
          </p:nvPicPr>
          <p:blipFill>
            <a:blip r:embed="rId6"/>
            <a:stretch>
              <a:fillRect/>
            </a:stretch>
          </p:blipFill>
          <p:spPr>
            <a:xfrm>
              <a:off x="4519247" y="1997641"/>
              <a:ext cx="3358456" cy="807947"/>
            </a:xfrm>
            <a:prstGeom prst="rect">
              <a:avLst/>
            </a:prstGeom>
          </p:spPr>
        </p:pic>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8AF9C87C-52A6-3C96-2FB0-D0B8365E6733}"/>
            </a:ext>
          </a:extLst>
        </p:cNvPr>
        <p:cNvGrpSpPr/>
        <p:nvPr/>
      </p:nvGrpSpPr>
      <p:grpSpPr>
        <a:xfrm>
          <a:off x="0" y="0"/>
          <a:ext cx="0" cy="0"/>
          <a:chOff x="0" y="0"/>
          <a:chExt cx="0" cy="0"/>
        </a:xfrm>
      </p:grpSpPr>
      <p:sp>
        <p:nvSpPr>
          <p:cNvPr id="114" name="Google Shape;114;p8">
            <a:extLst>
              <a:ext uri="{FF2B5EF4-FFF2-40B4-BE49-F238E27FC236}">
                <a16:creationId xmlns:a16="http://schemas.microsoft.com/office/drawing/2014/main" id="{20712F31-2D11-528C-78B4-D2B51B224154}"/>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lvl="0"/>
            <a:r>
              <a:rPr lang="en" dirty="0"/>
              <a:t>Dynamic Properties (1)</a:t>
            </a:r>
            <a:endParaRPr dirty="0"/>
          </a:p>
        </p:txBody>
      </p:sp>
      <p:sp>
        <p:nvSpPr>
          <p:cNvPr id="115" name="Google Shape;115;p8">
            <a:extLst>
              <a:ext uri="{FF2B5EF4-FFF2-40B4-BE49-F238E27FC236}">
                <a16:creationId xmlns:a16="http://schemas.microsoft.com/office/drawing/2014/main" id="{1D864FA9-E03E-7CD2-B882-C4FDB545180F}"/>
              </a:ext>
            </a:extLst>
          </p:cNvPr>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SG" dirty="0"/>
              <a:t>In a typical app, you may need to pass an array of data from your parent component.</a:t>
            </a:r>
          </a:p>
          <a:p>
            <a:pPr marL="0" marR="0" lvl="0" indent="0" algn="l" rtl="0">
              <a:lnSpc>
                <a:spcPct val="115000"/>
              </a:lnSpc>
              <a:spcBef>
                <a:spcPts val="0"/>
              </a:spcBef>
              <a:spcAft>
                <a:spcPts val="0"/>
              </a:spcAft>
              <a:buSzPts val="1400"/>
              <a:buNone/>
            </a:pPr>
            <a:endParaRPr lang="en-SG"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15000"/>
              </a:lnSpc>
              <a:spcBef>
                <a:spcPts val="0"/>
              </a:spcBef>
              <a:spcAft>
                <a:spcPts val="0"/>
              </a:spcAft>
              <a:buSzPts val="1400"/>
              <a:buNone/>
            </a:pPr>
            <a:r>
              <a:rPr lang="en-SG" dirty="0">
                <a:latin typeface="Open Sans" panose="020B0606030504020204" pitchFamily="34" charset="0"/>
                <a:ea typeface="Open Sans" panose="020B0606030504020204" pitchFamily="34" charset="0"/>
                <a:cs typeface="Open Sans" panose="020B0606030504020204" pitchFamily="34" charset="0"/>
              </a:rPr>
              <a:t>In this case, use </a:t>
            </a:r>
            <a:r>
              <a:rPr lang="en-SG" b="1" dirty="0">
                <a:latin typeface="Open Sans" panose="020B0606030504020204" pitchFamily="34" charset="0"/>
                <a:ea typeface="Open Sans" panose="020B0606030504020204" pitchFamily="34" charset="0"/>
                <a:cs typeface="Open Sans" panose="020B0606030504020204" pitchFamily="34" charset="0"/>
              </a:rPr>
              <a:t>v-for</a:t>
            </a:r>
            <a:r>
              <a:rPr lang="en-SG" dirty="0">
                <a:latin typeface="Open Sans" panose="020B0606030504020204" pitchFamily="34" charset="0"/>
                <a:ea typeface="Open Sans" panose="020B0606030504020204" pitchFamily="34" charset="0"/>
                <a:cs typeface="Open Sans" panose="020B0606030504020204" pitchFamily="34" charset="0"/>
              </a:rPr>
              <a:t> and </a:t>
            </a:r>
            <a:r>
              <a:rPr lang="en-SG" b="1" dirty="0">
                <a:latin typeface="Open Sans" panose="020B0606030504020204" pitchFamily="34" charset="0"/>
                <a:ea typeface="Open Sans" panose="020B0606030504020204" pitchFamily="34" charset="0"/>
                <a:cs typeface="Open Sans" panose="020B0606030504020204" pitchFamily="34" charset="0"/>
              </a:rPr>
              <a:t>v-bind</a:t>
            </a:r>
          </a:p>
          <a:p>
            <a:pPr marL="0" marR="0" lvl="0" indent="0" algn="l" rtl="0">
              <a:lnSpc>
                <a:spcPct val="115000"/>
              </a:lnSpc>
              <a:spcBef>
                <a:spcPts val="0"/>
              </a:spcBef>
              <a:spcAft>
                <a:spcPts val="0"/>
              </a:spcAft>
              <a:buSzPts val="1400"/>
              <a:buNone/>
            </a:pPr>
            <a:endParaRPr lang="en-SG" b="1"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15000"/>
              </a:lnSpc>
              <a:spcBef>
                <a:spcPts val="0"/>
              </a:spcBef>
              <a:spcAft>
                <a:spcPts val="0"/>
              </a:spcAft>
              <a:buSzPts val="1400"/>
              <a:buNone/>
            </a:pPr>
            <a:endParaRPr lang="en-SG" dirty="0">
              <a:latin typeface="+mn-lt"/>
              <a:ea typeface="Open Sans" panose="020B0606030504020204" pitchFamily="34" charset="0"/>
              <a:cs typeface="Open Sans" panose="020B0606030504020204" pitchFamily="34" charset="0"/>
            </a:endParaRPr>
          </a:p>
        </p:txBody>
      </p:sp>
      <p:sp>
        <p:nvSpPr>
          <p:cNvPr id="116" name="Google Shape;116;p8">
            <a:extLst>
              <a:ext uri="{FF2B5EF4-FFF2-40B4-BE49-F238E27FC236}">
                <a16:creationId xmlns:a16="http://schemas.microsoft.com/office/drawing/2014/main" id="{7889879C-EED8-EADF-44AB-BD74096C1B78}"/>
              </a:ext>
            </a:extLst>
          </p:cNvPr>
          <p:cNvSpPr txBox="1">
            <a:spLocks noGrp="1"/>
          </p:cNvSpPr>
          <p:nvPr>
            <p:ph type="body" idx="2"/>
          </p:nvPr>
        </p:nvSpPr>
        <p:spPr>
          <a:xfrm>
            <a:off x="4500575" y="1225225"/>
            <a:ext cx="4451836" cy="3782204"/>
          </a:xfrm>
          <a:prstGeom prst="rect">
            <a:avLst/>
          </a:prstGeom>
          <a:noFill/>
          <a:ln>
            <a:noFill/>
          </a:ln>
        </p:spPr>
        <p:txBody>
          <a:bodyPr spcFirstLastPara="1" wrap="square" lIns="91425" tIns="91425" rIns="91425" bIns="91425" anchor="t" anchorCtr="0">
            <a:noAutofit/>
          </a:bodyPr>
          <a:lstStyle/>
          <a:p>
            <a:pPr marL="0" lvl="0" indent="0">
              <a:buSzPts val="1100"/>
              <a:buNone/>
            </a:pPr>
            <a:r>
              <a:rPr lang="en" b="1" dirty="0"/>
              <a:t>Example: </a:t>
            </a:r>
            <a:r>
              <a:rPr lang="en" i="1" dirty="0"/>
              <a:t>views/Example3View.vue</a:t>
            </a:r>
          </a:p>
          <a:p>
            <a:pPr marL="0" lvl="0" indent="0">
              <a:buSzPts val="1100"/>
              <a:buNone/>
            </a:pPr>
            <a:r>
              <a:rPr lang="en" i="1" dirty="0">
                <a:solidFill>
                  <a:srgbClr val="C00000"/>
                </a:solidFill>
                <a:latin typeface="Open Sans" panose="020B0606030504020204" pitchFamily="34" charset="0"/>
                <a:ea typeface="Open Sans" panose="020B0606030504020204" pitchFamily="34" charset="0"/>
                <a:cs typeface="Open Sans" panose="020B0606030504020204" pitchFamily="34" charset="0"/>
              </a:rPr>
              <a:t>// use component</a:t>
            </a:r>
            <a:endParaRPr lang="en" i="1" dirty="0"/>
          </a:p>
          <a:p>
            <a:pPr marL="0" indent="0">
              <a:buSzPts val="1100"/>
              <a:buNone/>
            </a:pPr>
            <a:r>
              <a:rPr lang="en-US" sz="1200" dirty="0">
                <a:latin typeface="Open Sans" panose="020B0606030504020204" pitchFamily="34" charset="0"/>
                <a:ea typeface="Open Sans" panose="020B0606030504020204" pitchFamily="34" charset="0"/>
                <a:cs typeface="Open Sans" panose="020B0606030504020204" pitchFamily="34" charset="0"/>
              </a:rPr>
              <a:t>const products = ref([</a:t>
            </a:r>
          </a:p>
          <a:p>
            <a:pPr marL="0" indent="0">
              <a:buSzPts val="1100"/>
              <a:buNone/>
            </a:pPr>
            <a:r>
              <a:rPr lang="en-US" sz="1200" dirty="0">
                <a:latin typeface="Open Sans" panose="020B0606030504020204" pitchFamily="34" charset="0"/>
                <a:ea typeface="Open Sans" panose="020B0606030504020204" pitchFamily="34" charset="0"/>
                <a:cs typeface="Open Sans" panose="020B0606030504020204" pitchFamily="34" charset="0"/>
              </a:rPr>
              <a:t>        { id: 1, name: 'iPhone’, </a:t>
            </a:r>
          </a:p>
          <a:p>
            <a:pPr marL="0" indent="0">
              <a:buSzPts val="1100"/>
              <a:buNone/>
            </a:pPr>
            <a:r>
              <a:rPr lang="en-US" sz="1200" dirty="0">
                <a:latin typeface="Open Sans" panose="020B0606030504020204" pitchFamily="34" charset="0"/>
                <a:ea typeface="Open Sans" panose="020B0606030504020204" pitchFamily="34" charset="0"/>
                <a:cs typeface="Open Sans" panose="020B0606030504020204" pitchFamily="34" charset="0"/>
              </a:rPr>
              <a:t>             desc: '&lt;p&gt;This is the best phone in the world!&lt;/p&gt;' }, </a:t>
            </a:r>
          </a:p>
          <a:p>
            <a:pPr marL="0" indent="0">
              <a:buSzPts val="1100"/>
              <a:buNone/>
            </a:pPr>
            <a:r>
              <a:rPr lang="en-US" sz="1200" dirty="0">
                <a:latin typeface="Open Sans" panose="020B0606030504020204" pitchFamily="34" charset="0"/>
                <a:ea typeface="Open Sans" panose="020B0606030504020204" pitchFamily="34" charset="0"/>
                <a:cs typeface="Open Sans" panose="020B0606030504020204" pitchFamily="34" charset="0"/>
              </a:rPr>
              <a:t>        { id: 2, name: 'Samsung’, </a:t>
            </a:r>
          </a:p>
          <a:p>
            <a:pPr marL="0" indent="0">
              <a:buSzPts val="1100"/>
              <a:buNone/>
            </a:pPr>
            <a:r>
              <a:rPr lang="en-US" sz="1200" dirty="0">
                <a:latin typeface="Open Sans" panose="020B0606030504020204" pitchFamily="34" charset="0"/>
                <a:ea typeface="Open Sans" panose="020B0606030504020204" pitchFamily="34" charset="0"/>
                <a:cs typeface="Open Sans" panose="020B0606030504020204" pitchFamily="34" charset="0"/>
              </a:rPr>
              <a:t>             desc: '&lt;p&gt;No, mine is the best!&lt;/p&gt;' }, </a:t>
            </a:r>
          </a:p>
          <a:p>
            <a:pPr marL="0" indent="0">
              <a:buSzPts val="1100"/>
              <a:buNone/>
            </a:pPr>
            <a:r>
              <a:rPr lang="en-US" sz="1200" dirty="0">
                <a:latin typeface="Open Sans" panose="020B0606030504020204" pitchFamily="34" charset="0"/>
                <a:ea typeface="Open Sans" panose="020B0606030504020204" pitchFamily="34" charset="0"/>
                <a:cs typeface="Open Sans" panose="020B0606030504020204" pitchFamily="34" charset="0"/>
              </a:rPr>
              <a:t>        { id: 3, name: 'Oppo’, </a:t>
            </a:r>
          </a:p>
          <a:p>
            <a:pPr marL="0" indent="0">
              <a:buSzPts val="1100"/>
              <a:buNone/>
            </a:pPr>
            <a:r>
              <a:rPr lang="en-US" sz="1200" dirty="0">
                <a:latin typeface="Open Sans" panose="020B0606030504020204" pitchFamily="34" charset="0"/>
                <a:ea typeface="Open Sans" panose="020B0606030504020204" pitchFamily="34" charset="0"/>
                <a:cs typeface="Open Sans" panose="020B0606030504020204" pitchFamily="34" charset="0"/>
              </a:rPr>
              <a:t>             desc: '&lt;p&gt;Mine is cheaper and yet as good!&lt;/p&gt;' } </a:t>
            </a:r>
          </a:p>
          <a:p>
            <a:pPr marL="0" indent="0">
              <a:buSzPts val="1100"/>
              <a:buNone/>
            </a:pPr>
            <a:r>
              <a:rPr lang="en-US" sz="1200" dirty="0">
                <a:latin typeface="Open Sans" panose="020B0606030504020204" pitchFamily="34" charset="0"/>
                <a:ea typeface="Open Sans" panose="020B0606030504020204" pitchFamily="34" charset="0"/>
                <a:cs typeface="Open Sans" panose="020B0606030504020204" pitchFamily="34" charset="0"/>
              </a:rPr>
              <a:t>    ])</a:t>
            </a:r>
          </a:p>
          <a:p>
            <a:pPr marL="0" indent="0">
              <a:buSzPts val="1100"/>
              <a:buNone/>
            </a:pPr>
            <a:endParaRPr lang="en-US" sz="1200" dirty="0">
              <a:latin typeface="Open Sans" panose="020B0606030504020204" pitchFamily="34" charset="0"/>
              <a:ea typeface="Open Sans" panose="020B0606030504020204" pitchFamily="34" charset="0"/>
              <a:cs typeface="Open Sans" panose="020B0606030504020204" pitchFamily="34" charset="0"/>
            </a:endParaRPr>
          </a:p>
          <a:p>
            <a:pPr marL="0" indent="0">
              <a:buSzPts val="1100"/>
              <a:buNone/>
            </a:pPr>
            <a:r>
              <a:rPr lang="en-US" sz="1200" dirty="0">
                <a:latin typeface="Open Sans" panose="020B0606030504020204" pitchFamily="34" charset="0"/>
                <a:ea typeface="Open Sans" panose="020B0606030504020204" pitchFamily="34" charset="0"/>
                <a:cs typeface="Open Sans" panose="020B0606030504020204" pitchFamily="34" charset="0"/>
              </a:rPr>
              <a:t>====</a:t>
            </a:r>
          </a:p>
          <a:p>
            <a:pPr marL="0" indent="0">
              <a:buSzPts val="1100"/>
              <a:buNone/>
            </a:pPr>
            <a:r>
              <a:rPr lang="en-US" sz="1200" dirty="0">
                <a:latin typeface="Open Sans" panose="020B0606030504020204" pitchFamily="34" charset="0"/>
                <a:ea typeface="Open Sans" panose="020B0606030504020204" pitchFamily="34" charset="0"/>
                <a:cs typeface="Open Sans" panose="020B0606030504020204" pitchFamily="34" charset="0"/>
              </a:rPr>
              <a:t>&lt;Product</a:t>
            </a:r>
          </a:p>
          <a:p>
            <a:pPr marL="0" indent="0">
              <a:buSzPts val="1100"/>
              <a:buNone/>
            </a:pPr>
            <a:r>
              <a:rPr lang="en-US" sz="1200" dirty="0">
                <a:latin typeface="Open Sans" panose="020B0606030504020204" pitchFamily="34" charset="0"/>
                <a:ea typeface="Open Sans" panose="020B0606030504020204" pitchFamily="34" charset="0"/>
                <a:cs typeface="Open Sans" panose="020B0606030504020204" pitchFamily="34" charset="0"/>
              </a:rPr>
              <a:t>        v-for="product in products"</a:t>
            </a:r>
          </a:p>
          <a:p>
            <a:pPr marL="0" indent="0">
              <a:buSzPts val="1100"/>
              <a:buNone/>
            </a:pPr>
            <a:r>
              <a:rPr lang="en-US" sz="1200" dirty="0">
                <a:latin typeface="Open Sans" panose="020B0606030504020204" pitchFamily="34" charset="0"/>
                <a:ea typeface="Open Sans" panose="020B0606030504020204" pitchFamily="34" charset="0"/>
                <a:cs typeface="Open Sans" panose="020B0606030504020204" pitchFamily="34" charset="0"/>
              </a:rPr>
              <a:t>        </a:t>
            </a:r>
            <a:r>
              <a:rPr lang="en-US" sz="1200" dirty="0" err="1">
                <a:latin typeface="Open Sans" panose="020B0606030504020204" pitchFamily="34" charset="0"/>
                <a:ea typeface="Open Sans" panose="020B0606030504020204" pitchFamily="34" charset="0"/>
                <a:cs typeface="Open Sans" panose="020B0606030504020204" pitchFamily="34" charset="0"/>
              </a:rPr>
              <a:t>v-bind:key</a:t>
            </a:r>
            <a:r>
              <a:rPr lang="en-US" sz="1200" dirty="0">
                <a:latin typeface="Open Sans" panose="020B0606030504020204" pitchFamily="34" charset="0"/>
                <a:ea typeface="Open Sans" panose="020B0606030504020204" pitchFamily="34" charset="0"/>
                <a:cs typeface="Open Sans" panose="020B0606030504020204" pitchFamily="34" charset="0"/>
              </a:rPr>
              <a:t>="product.id"</a:t>
            </a:r>
          </a:p>
          <a:p>
            <a:pPr marL="0" indent="0">
              <a:buSzPts val="1100"/>
              <a:buNone/>
            </a:pPr>
            <a:r>
              <a:rPr lang="en-US" sz="1200" dirty="0">
                <a:latin typeface="Open Sans" panose="020B0606030504020204" pitchFamily="34" charset="0"/>
                <a:ea typeface="Open Sans" panose="020B0606030504020204" pitchFamily="34" charset="0"/>
                <a:cs typeface="Open Sans" panose="020B0606030504020204" pitchFamily="34" charset="0"/>
              </a:rPr>
              <a:t>        </a:t>
            </a:r>
            <a:r>
              <a:rPr lang="en-US" sz="1200" dirty="0" err="1">
                <a:latin typeface="Open Sans" panose="020B0606030504020204" pitchFamily="34" charset="0"/>
                <a:ea typeface="Open Sans" panose="020B0606030504020204" pitchFamily="34" charset="0"/>
                <a:cs typeface="Open Sans" panose="020B0606030504020204" pitchFamily="34" charset="0"/>
              </a:rPr>
              <a:t>v-bind:prod</a:t>
            </a:r>
            <a:r>
              <a:rPr lang="en-US" sz="1200" dirty="0">
                <a:latin typeface="Open Sans" panose="020B0606030504020204" pitchFamily="34" charset="0"/>
                <a:ea typeface="Open Sans" panose="020B0606030504020204" pitchFamily="34" charset="0"/>
                <a:cs typeface="Open Sans" panose="020B0606030504020204" pitchFamily="34" charset="0"/>
              </a:rPr>
              <a:t>="product"</a:t>
            </a:r>
          </a:p>
          <a:p>
            <a:pPr marL="0" indent="0">
              <a:buSzPts val="1100"/>
              <a:buNone/>
            </a:pPr>
            <a:r>
              <a:rPr lang="en-US" sz="1200" dirty="0">
                <a:latin typeface="Open Sans" panose="020B0606030504020204" pitchFamily="34" charset="0"/>
                <a:ea typeface="Open Sans" panose="020B0606030504020204" pitchFamily="34" charset="0"/>
                <a:cs typeface="Open Sans" panose="020B0606030504020204" pitchFamily="34" charset="0"/>
              </a:rPr>
              <a:t>/&gt;</a:t>
            </a:r>
            <a:endParaRPr lang="en"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Google Shape;87;p4">
            <a:extLst>
              <a:ext uri="{FF2B5EF4-FFF2-40B4-BE49-F238E27FC236}">
                <a16:creationId xmlns:a16="http://schemas.microsoft.com/office/drawing/2014/main" id="{44AE8A0B-7E8D-135C-E746-71F47790F134}"/>
              </a:ext>
            </a:extLst>
          </p:cNvPr>
          <p:cNvSpPr/>
          <p:nvPr/>
        </p:nvSpPr>
        <p:spPr>
          <a:xfrm>
            <a:off x="191589" y="3482101"/>
            <a:ext cx="3694243" cy="1438241"/>
          </a:xfrm>
          <a:prstGeom prst="wedgeRoundRectCallout">
            <a:avLst>
              <a:gd name="adj1" fmla="val 75233"/>
              <a:gd name="adj2" fmla="val 15212"/>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nSpc>
                <a:spcPct val="115000"/>
              </a:lnSpc>
              <a:buClr>
                <a:schemeClr val="dk1"/>
              </a:buClr>
              <a:buSzPts val="1100"/>
            </a:pPr>
            <a:r>
              <a:rPr lang="en-US" dirty="0"/>
              <a:t>Note that when using v-for, it is recommended to bind the </a:t>
            </a:r>
            <a:r>
              <a:rPr lang="en-US" b="1" dirty="0"/>
              <a:t>key</a:t>
            </a:r>
            <a:r>
              <a:rPr lang="en-US" dirty="0"/>
              <a:t> attribute with a unique value, so that Vue can correctly track each node based on the unique value.</a:t>
            </a:r>
          </a:p>
          <a:p>
            <a:pPr lvl="0">
              <a:lnSpc>
                <a:spcPct val="115000"/>
              </a:lnSpc>
              <a:buClr>
                <a:schemeClr val="dk1"/>
              </a:buClr>
              <a:buSzPts val="1100"/>
            </a:pPr>
            <a:r>
              <a:rPr lang="en-US" dirty="0">
                <a:hlinkClick r:id="rId3"/>
              </a:rPr>
              <a:t>Refer to this for detail</a:t>
            </a:r>
            <a:endParaRPr lang="en-US" dirty="0"/>
          </a:p>
        </p:txBody>
      </p:sp>
    </p:spTree>
    <p:extLst>
      <p:ext uri="{BB962C8B-B14F-4D97-AF65-F5344CB8AC3E}">
        <p14:creationId xmlns:p14="http://schemas.microsoft.com/office/powerpoint/2010/main" val="41027937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2"/>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dirty="0"/>
              <a:t>Dynamic Properties (2)</a:t>
            </a:r>
            <a:endParaRPr dirty="0"/>
          </a:p>
        </p:txBody>
      </p:sp>
      <p:sp>
        <p:nvSpPr>
          <p:cNvPr id="145" name="Google Shape;145;p12"/>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indent="0">
              <a:buSzPts val="1100"/>
              <a:buNone/>
            </a:pPr>
            <a:r>
              <a:rPr lang="en-SG" dirty="0">
                <a:ea typeface="Open Sans" panose="020B0606030504020204" pitchFamily="34" charset="0"/>
                <a:cs typeface="Open Sans" panose="020B0606030504020204" pitchFamily="34" charset="0"/>
              </a:rPr>
              <a:t>Notice in previous slide how </a:t>
            </a:r>
            <a:r>
              <a:rPr lang="en-SG" b="1" dirty="0" err="1">
                <a:ea typeface="Open Sans" panose="020B0606030504020204" pitchFamily="34" charset="0"/>
                <a:cs typeface="Open Sans" panose="020B0606030504020204" pitchFamily="34" charset="0"/>
              </a:rPr>
              <a:t>v-bind:prod</a:t>
            </a:r>
            <a:r>
              <a:rPr lang="en-SG" b="1" dirty="0">
                <a:ea typeface="Open Sans" panose="020B0606030504020204" pitchFamily="34" charset="0"/>
                <a:cs typeface="Open Sans" panose="020B0606030504020204" pitchFamily="34" charset="0"/>
              </a:rPr>
              <a:t>=“product” </a:t>
            </a:r>
            <a:r>
              <a:rPr lang="en-SG" dirty="0">
                <a:ea typeface="Open Sans" panose="020B0606030504020204" pitchFamily="34" charset="0"/>
                <a:cs typeface="Open Sans" panose="020B0606030504020204" pitchFamily="34" charset="0"/>
              </a:rPr>
              <a:t>is used to pass dynamic prop values. </a:t>
            </a:r>
          </a:p>
          <a:p>
            <a:pPr marL="0" indent="0">
              <a:buSzPts val="1100"/>
              <a:buNone/>
            </a:pPr>
            <a:endParaRPr lang="en-SG" dirty="0">
              <a:ea typeface="Open Sans" panose="020B0606030504020204" pitchFamily="34" charset="0"/>
              <a:cs typeface="Open Sans" panose="020B0606030504020204" pitchFamily="34" charset="0"/>
            </a:endParaRPr>
          </a:p>
          <a:p>
            <a:pPr marL="0" indent="0">
              <a:buSzPts val="1100"/>
              <a:buNone/>
            </a:pPr>
            <a:r>
              <a:rPr lang="en-SG" dirty="0">
                <a:ea typeface="Open Sans" panose="020B0606030504020204" pitchFamily="34" charset="0"/>
                <a:cs typeface="Open Sans" panose="020B0606030504020204" pitchFamily="34" charset="0"/>
              </a:rPr>
              <a:t>This is useful when you don’t know the exact content you are going to render ahead of time, i.e., dynamic data</a:t>
            </a:r>
          </a:p>
          <a:p>
            <a:pPr marL="0" marR="0" lvl="0" indent="0" algn="l" rtl="0">
              <a:lnSpc>
                <a:spcPct val="115000"/>
              </a:lnSpc>
              <a:spcBef>
                <a:spcPts val="0"/>
              </a:spcBef>
              <a:spcAft>
                <a:spcPts val="0"/>
              </a:spcAft>
              <a:buClr>
                <a:schemeClr val="dk1"/>
              </a:buClr>
              <a:buSzPts val="1100"/>
              <a:buFont typeface="Arial"/>
              <a:buNone/>
            </a:pPr>
            <a:endParaRPr lang="en" dirty="0"/>
          </a:p>
          <a:p>
            <a:pPr marL="0" marR="0" lvl="0" indent="0" algn="l" rtl="0">
              <a:lnSpc>
                <a:spcPct val="115000"/>
              </a:lnSpc>
              <a:spcBef>
                <a:spcPts val="0"/>
              </a:spcBef>
              <a:spcAft>
                <a:spcPts val="0"/>
              </a:spcAft>
              <a:buClr>
                <a:schemeClr val="dk1"/>
              </a:buClr>
              <a:buSzPts val="1100"/>
              <a:buFont typeface="Arial"/>
              <a:buNone/>
            </a:pPr>
            <a:r>
              <a:rPr lang="en" dirty="0"/>
              <a:t>Dynamic </a:t>
            </a:r>
            <a:r>
              <a:rPr lang="en"/>
              <a:t>data may be </a:t>
            </a:r>
            <a:r>
              <a:rPr lang="en" dirty="0"/>
              <a:t>obtained from user or </a:t>
            </a:r>
            <a:r>
              <a:rPr lang="en"/>
              <a:t>Asynchronous requests</a:t>
            </a:r>
            <a:endParaRPr lang="en" dirty="0"/>
          </a:p>
          <a:p>
            <a:pPr marL="0" marR="0" lvl="0" indent="0" algn="l" rtl="0">
              <a:lnSpc>
                <a:spcPct val="115000"/>
              </a:lnSpc>
              <a:spcBef>
                <a:spcPts val="0"/>
              </a:spcBef>
              <a:spcAft>
                <a:spcPts val="0"/>
              </a:spcAft>
              <a:buClr>
                <a:schemeClr val="dk1"/>
              </a:buClr>
              <a:buSzPts val="1100"/>
              <a:buFont typeface="Arial"/>
              <a:buNone/>
            </a:pPr>
            <a:endParaRPr lang="en" b="1" dirty="0"/>
          </a:p>
          <a:p>
            <a:pPr marL="0" marR="0" lvl="0" indent="0" algn="l" rtl="0">
              <a:lnSpc>
                <a:spcPct val="115000"/>
              </a:lnSpc>
              <a:spcBef>
                <a:spcPts val="0"/>
              </a:spcBef>
              <a:spcAft>
                <a:spcPts val="0"/>
              </a:spcAft>
              <a:buClr>
                <a:schemeClr val="dk1"/>
              </a:buClr>
              <a:buSzPts val="1100"/>
              <a:buFont typeface="Arial"/>
              <a:buNone/>
            </a:pPr>
            <a:endParaRPr dirty="0"/>
          </a:p>
          <a:p>
            <a:pPr marL="0" lvl="0" indent="0" algn="l" rtl="0">
              <a:lnSpc>
                <a:spcPct val="115000"/>
              </a:lnSpc>
              <a:spcBef>
                <a:spcPts val="0"/>
              </a:spcBef>
              <a:spcAft>
                <a:spcPts val="0"/>
              </a:spcAft>
              <a:buClr>
                <a:schemeClr val="dk1"/>
              </a:buClr>
              <a:buSzPts val="1100"/>
              <a:buFont typeface="Arial"/>
              <a:buNone/>
            </a:pPr>
            <a:endParaRPr b="1" dirty="0"/>
          </a:p>
          <a:p>
            <a:pPr marL="0" marR="0" lvl="0" indent="0" algn="l" rtl="0">
              <a:lnSpc>
                <a:spcPct val="115000"/>
              </a:lnSpc>
              <a:spcBef>
                <a:spcPts val="0"/>
              </a:spcBef>
              <a:spcAft>
                <a:spcPts val="0"/>
              </a:spcAft>
              <a:buSzPts val="1400"/>
              <a:buNone/>
            </a:pPr>
            <a:endParaRPr dirty="0"/>
          </a:p>
          <a:p>
            <a:pPr marL="0" marR="0" lvl="0" indent="0" algn="l" rtl="0">
              <a:lnSpc>
                <a:spcPct val="115000"/>
              </a:lnSpc>
              <a:spcBef>
                <a:spcPts val="0"/>
              </a:spcBef>
              <a:spcAft>
                <a:spcPts val="0"/>
              </a:spcAft>
              <a:buSzPts val="1400"/>
              <a:buNone/>
            </a:pPr>
            <a:endParaRPr dirty="0"/>
          </a:p>
          <a:p>
            <a:pPr marL="0" marR="0" lvl="0" indent="0" algn="l" rtl="0">
              <a:lnSpc>
                <a:spcPct val="115000"/>
              </a:lnSpc>
              <a:spcBef>
                <a:spcPts val="0"/>
              </a:spcBef>
              <a:spcAft>
                <a:spcPts val="0"/>
              </a:spcAft>
              <a:buSzPts val="1400"/>
              <a:buNone/>
            </a:pPr>
            <a:endParaRPr dirty="0"/>
          </a:p>
        </p:txBody>
      </p:sp>
      <p:sp>
        <p:nvSpPr>
          <p:cNvPr id="146" name="Google Shape;146;p12"/>
          <p:cNvSpPr txBox="1">
            <a:spLocks noGrp="1"/>
          </p:cNvSpPr>
          <p:nvPr>
            <p:ph type="body" idx="2"/>
          </p:nvPr>
        </p:nvSpPr>
        <p:spPr>
          <a:xfrm>
            <a:off x="4832400" y="1225224"/>
            <a:ext cx="3999900" cy="3777849"/>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dirty="0"/>
              <a:t>Example: </a:t>
            </a:r>
            <a:r>
              <a:rPr lang="en" i="1" dirty="0"/>
              <a:t>components/Product2.vue</a:t>
            </a:r>
          </a:p>
          <a:p>
            <a:pPr marL="0" indent="0">
              <a:buNone/>
            </a:pPr>
            <a:r>
              <a:rPr lang="en" i="1" dirty="0">
                <a:solidFill>
                  <a:srgbClr val="C00000"/>
                </a:solidFill>
                <a:latin typeface="Open Sans" panose="020B0606030504020204" pitchFamily="34" charset="0"/>
                <a:ea typeface="Open Sans" panose="020B0606030504020204" pitchFamily="34" charset="0"/>
                <a:cs typeface="Open Sans" panose="020B0606030504020204" pitchFamily="34" charset="0"/>
              </a:rPr>
              <a:t>    // define component</a:t>
            </a:r>
          </a:p>
          <a:p>
            <a:pPr marL="139700" indent="0">
              <a:lnSpc>
                <a:spcPts val="1350"/>
              </a:lnSpc>
              <a:buNone/>
            </a:pPr>
            <a:r>
              <a:rPr lang="en-SG" b="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&lt;script setup&gt;</a:t>
            </a:r>
            <a:br>
              <a:rPr lang="en-SG" b="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br>
            <a:r>
              <a:rPr lang="en-SG" b="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r>
              <a:rPr lang="en-SG" b="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const</a:t>
            </a:r>
            <a:r>
              <a:rPr lang="en-SG" b="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props = </a:t>
            </a:r>
            <a:r>
              <a:rPr lang="en-SG" b="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defineProps</a:t>
            </a:r>
            <a:r>
              <a:rPr lang="en-SG" b="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p>
          <a:p>
            <a:pPr marL="139700" indent="0">
              <a:lnSpc>
                <a:spcPts val="1350"/>
              </a:lnSpc>
              <a:buNone/>
            </a:pPr>
            <a:r>
              <a:rPr lang="en-SG"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r>
              <a:rPr lang="en-SG" b="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prod: Object</a:t>
            </a:r>
          </a:p>
          <a:p>
            <a:pPr marL="139700" indent="0">
              <a:lnSpc>
                <a:spcPts val="1350"/>
              </a:lnSpc>
              <a:buNone/>
            </a:pPr>
            <a:r>
              <a:rPr lang="en-SG" b="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br>
              <a:rPr lang="en-SG" b="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br>
            <a:r>
              <a:rPr lang="en-SG" b="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&lt;/script&gt;</a:t>
            </a:r>
          </a:p>
          <a:p>
            <a:pPr marL="139700" indent="0">
              <a:lnSpc>
                <a:spcPts val="1350"/>
              </a:lnSpc>
              <a:buNone/>
            </a:pPr>
            <a:endParaRPr lang="en-SG" b="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139700" indent="0">
              <a:lnSpc>
                <a:spcPts val="1350"/>
              </a:lnSpc>
              <a:buNone/>
            </a:pPr>
            <a:r>
              <a:rPr lang="en-SG" b="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&lt;template&gt;</a:t>
            </a:r>
          </a:p>
          <a:p>
            <a:pPr marL="139700" indent="0">
              <a:lnSpc>
                <a:spcPts val="1350"/>
              </a:lnSpc>
              <a:buNone/>
            </a:pPr>
            <a:r>
              <a:rPr lang="en-SG" b="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&lt;h3&gt; {{ prod.id }} : {{ prod.name }}  &lt;/h3&gt;</a:t>
            </a:r>
          </a:p>
          <a:p>
            <a:pPr marL="139700" indent="0">
              <a:lnSpc>
                <a:spcPts val="1350"/>
              </a:lnSpc>
              <a:buNone/>
            </a:pPr>
            <a:r>
              <a:rPr lang="en-SG" b="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&lt;/template&gt;</a:t>
            </a:r>
          </a:p>
          <a:p>
            <a:pPr marL="139700" indent="0">
              <a:lnSpc>
                <a:spcPts val="1350"/>
              </a:lnSpc>
              <a:buNone/>
            </a:pPr>
            <a:endParaRPr lang="en-SG"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15000"/>
              </a:lnSpc>
              <a:spcBef>
                <a:spcPts val="0"/>
              </a:spcBef>
              <a:spcAft>
                <a:spcPts val="0"/>
              </a:spcAft>
              <a:buSzPts val="1400"/>
              <a:buNone/>
            </a:pPr>
            <a:endParaRPr lang="en-SG" b="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3"/>
          <p:cNvSpPr txBox="1">
            <a:spLocks noGrp="1"/>
          </p:cNvSpPr>
          <p:nvPr>
            <p:ph type="body" idx="2"/>
          </p:nvPr>
        </p:nvSpPr>
        <p:spPr>
          <a:xfrm>
            <a:off x="4832399" y="1225224"/>
            <a:ext cx="4130625" cy="3824325"/>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dirty="0"/>
              <a:t>Example: </a:t>
            </a:r>
            <a:r>
              <a:rPr lang="en" i="1" dirty="0"/>
              <a:t>Example4View.vue, AlertBox.vue, Book.vue</a:t>
            </a:r>
          </a:p>
          <a:p>
            <a:pPr marL="0" lvl="0" indent="0" algn="l" rtl="0">
              <a:lnSpc>
                <a:spcPct val="115000"/>
              </a:lnSpc>
              <a:spcBef>
                <a:spcPts val="0"/>
              </a:spcBef>
              <a:spcAft>
                <a:spcPts val="0"/>
              </a:spcAft>
              <a:buSzPts val="1400"/>
              <a:buNone/>
            </a:pPr>
            <a:endParaRPr lang="en" i="1" dirty="0"/>
          </a:p>
          <a:p>
            <a:pPr marL="0" indent="0">
              <a:lnSpc>
                <a:spcPct val="100000"/>
              </a:lnSpc>
              <a:buSzPts val="1100"/>
              <a:buNone/>
            </a:pPr>
            <a:r>
              <a:rPr lang="en" i="1" dirty="0">
                <a:solidFill>
                  <a:srgbClr val="C00000"/>
                </a:solidFill>
                <a:latin typeface="Open Sans" panose="020B0606030504020204" pitchFamily="34" charset="0"/>
                <a:ea typeface="Open Sans" panose="020B0606030504020204" pitchFamily="34" charset="0"/>
                <a:cs typeface="Open Sans" panose="020B0606030504020204" pitchFamily="34" charset="0"/>
              </a:rPr>
              <a:t>// define (</a:t>
            </a:r>
            <a:r>
              <a:rPr lang="en" i="1" dirty="0" err="1">
                <a:solidFill>
                  <a:srgbClr val="C00000"/>
                </a:solidFill>
                <a:latin typeface="Open Sans" panose="020B0606030504020204" pitchFamily="34" charset="0"/>
                <a:ea typeface="Open Sans" panose="020B0606030504020204" pitchFamily="34" charset="0"/>
                <a:cs typeface="Open Sans" panose="020B0606030504020204" pitchFamily="34" charset="0"/>
              </a:rPr>
              <a:t>AlertBox.vue</a:t>
            </a:r>
            <a:r>
              <a:rPr lang="en" i="1" dirty="0">
                <a:solidFill>
                  <a:srgbClr val="C00000"/>
                </a:solidFill>
                <a:latin typeface="Open Sans" panose="020B0606030504020204" pitchFamily="34" charset="0"/>
                <a:ea typeface="Open Sans" panose="020B0606030504020204" pitchFamily="34" charset="0"/>
                <a:cs typeface="Open Sans" panose="020B0606030504020204" pitchFamily="34" charset="0"/>
              </a:rPr>
              <a:t>)</a:t>
            </a:r>
            <a:endParaRPr lang="en-SG" dirty="0">
              <a:latin typeface="Open Sans" panose="020B0606030504020204" pitchFamily="34" charset="0"/>
              <a:ea typeface="Open Sans" panose="020B0606030504020204" pitchFamily="34" charset="0"/>
              <a:cs typeface="Open Sans" panose="020B0606030504020204" pitchFamily="34" charset="0"/>
            </a:endParaRPr>
          </a:p>
          <a:p>
            <a:pPr marL="0" lvl="0" indent="0">
              <a:lnSpc>
                <a:spcPct val="100000"/>
              </a:lnSpc>
              <a:buSzPts val="1100"/>
              <a:buNone/>
            </a:pPr>
            <a:r>
              <a:rPr lang="en-SG" dirty="0">
                <a:latin typeface="Open Sans" panose="020B0606030504020204" pitchFamily="34" charset="0"/>
                <a:ea typeface="Open Sans" panose="020B0606030504020204" pitchFamily="34" charset="0"/>
                <a:cs typeface="Open Sans" panose="020B0606030504020204" pitchFamily="34" charset="0"/>
              </a:rPr>
              <a:t>&lt;div class=“alert”&gt;</a:t>
            </a:r>
          </a:p>
          <a:p>
            <a:pPr marL="0" lvl="0" indent="0">
              <a:lnSpc>
                <a:spcPct val="100000"/>
              </a:lnSpc>
              <a:buSzPts val="1100"/>
              <a:buNone/>
            </a:pPr>
            <a:r>
              <a:rPr lang="en-SG" dirty="0">
                <a:latin typeface="Open Sans" panose="020B0606030504020204" pitchFamily="34" charset="0"/>
                <a:ea typeface="Open Sans" panose="020B0606030504020204" pitchFamily="34" charset="0"/>
                <a:cs typeface="Open Sans" panose="020B0606030504020204" pitchFamily="34" charset="0"/>
              </a:rPr>
              <a:t>      </a:t>
            </a:r>
            <a:r>
              <a:rPr lang="en-SG" sz="1400" dirty="0">
                <a:latin typeface="Open Sans" panose="020B0606030504020204" pitchFamily="34" charset="0"/>
                <a:ea typeface="Open Sans" panose="020B0606030504020204" pitchFamily="34" charset="0"/>
                <a:cs typeface="Open Sans" panose="020B0606030504020204" pitchFamily="34" charset="0"/>
              </a:rPr>
              <a:t>&lt;slot&gt;&lt;/slot&gt;</a:t>
            </a:r>
          </a:p>
          <a:p>
            <a:pPr marL="0" lvl="0" indent="0">
              <a:lnSpc>
                <a:spcPct val="100000"/>
              </a:lnSpc>
              <a:buSzPts val="1100"/>
              <a:buNone/>
            </a:pPr>
            <a:r>
              <a:rPr lang="en-SG" sz="1400" dirty="0">
                <a:latin typeface="Open Sans" panose="020B0606030504020204" pitchFamily="34" charset="0"/>
                <a:ea typeface="Open Sans" panose="020B0606030504020204" pitchFamily="34" charset="0"/>
                <a:cs typeface="Open Sans" panose="020B0606030504020204" pitchFamily="34" charset="0"/>
              </a:rPr>
              <a:t>&lt;/div&gt;</a:t>
            </a:r>
          </a:p>
          <a:p>
            <a:pPr marL="914400" lvl="2" indent="0">
              <a:lnSpc>
                <a:spcPct val="100000"/>
              </a:lnSpc>
              <a:spcBef>
                <a:spcPts val="0"/>
              </a:spcBef>
              <a:buSzPts val="1100"/>
              <a:buNone/>
            </a:pPr>
            <a:endParaRPr lang="en-SG" sz="1400" dirty="0">
              <a:latin typeface="Open Sans" panose="020B0606030504020204" pitchFamily="34" charset="0"/>
              <a:ea typeface="Open Sans" panose="020B0606030504020204" pitchFamily="34" charset="0"/>
              <a:cs typeface="Open Sans" panose="020B0606030504020204" pitchFamily="34" charset="0"/>
            </a:endParaRPr>
          </a:p>
          <a:p>
            <a:pPr marL="0" indent="0">
              <a:lnSpc>
                <a:spcPct val="100000"/>
              </a:lnSpc>
              <a:buSzPts val="1100"/>
              <a:buNone/>
            </a:pPr>
            <a:r>
              <a:rPr lang="en" i="1" dirty="0">
                <a:solidFill>
                  <a:srgbClr val="C00000"/>
                </a:solidFill>
                <a:latin typeface="Open Sans" panose="020B0606030504020204" pitchFamily="34" charset="0"/>
                <a:ea typeface="Open Sans" panose="020B0606030504020204" pitchFamily="34" charset="0"/>
                <a:cs typeface="Open Sans" panose="020B0606030504020204" pitchFamily="34" charset="0"/>
              </a:rPr>
              <a:t>// use (Example4.vue)</a:t>
            </a:r>
            <a:endParaRPr lang="en-SG" dirty="0">
              <a:latin typeface="Open Sans" panose="020B0606030504020204" pitchFamily="34" charset="0"/>
              <a:ea typeface="Open Sans" panose="020B0606030504020204" pitchFamily="34" charset="0"/>
              <a:cs typeface="Open Sans" panose="020B0606030504020204" pitchFamily="34" charset="0"/>
            </a:endParaRPr>
          </a:p>
          <a:p>
            <a:pPr marL="0" indent="0">
              <a:lnSpc>
                <a:spcPct val="100000"/>
              </a:lnSpc>
              <a:buSzPts val="1100"/>
              <a:buNone/>
            </a:pPr>
            <a:r>
              <a:rPr lang="en-SG" dirty="0">
                <a:latin typeface="Open Sans" panose="020B0606030504020204" pitchFamily="34" charset="0"/>
                <a:ea typeface="Open Sans" panose="020B0606030504020204" pitchFamily="34" charset="0"/>
                <a:cs typeface="Open Sans" panose="020B0606030504020204" pitchFamily="34" charset="0"/>
              </a:rPr>
              <a:t>&lt;alert-box&gt;</a:t>
            </a:r>
          </a:p>
          <a:p>
            <a:pPr marL="0" indent="0">
              <a:lnSpc>
                <a:spcPct val="100000"/>
              </a:lnSpc>
              <a:buSzPts val="1100"/>
              <a:buNone/>
            </a:pPr>
            <a:r>
              <a:rPr lang="en-SG" dirty="0">
                <a:latin typeface="Open Sans" panose="020B0606030504020204" pitchFamily="34" charset="0"/>
                <a:ea typeface="Open Sans" panose="020B0606030504020204" pitchFamily="34" charset="0"/>
                <a:cs typeface="Open Sans" panose="020B0606030504020204" pitchFamily="34" charset="0"/>
              </a:rPr>
              <a:t>      check it out!</a:t>
            </a:r>
          </a:p>
          <a:p>
            <a:pPr marL="0" indent="0">
              <a:lnSpc>
                <a:spcPct val="100000"/>
              </a:lnSpc>
              <a:buSzPts val="1100"/>
              <a:buNone/>
            </a:pPr>
            <a:r>
              <a:rPr lang="en-SG" dirty="0">
                <a:latin typeface="Open Sans" panose="020B0606030504020204" pitchFamily="34" charset="0"/>
                <a:ea typeface="Open Sans" panose="020B0606030504020204" pitchFamily="34" charset="0"/>
                <a:cs typeface="Open Sans" panose="020B0606030504020204" pitchFamily="34" charset="0"/>
              </a:rPr>
              <a:t>&lt;/alert-box&gt;</a:t>
            </a:r>
            <a:endParaRPr lang="en-SG" sz="1400" dirty="0">
              <a:latin typeface="Open Sans" panose="020B0606030504020204" pitchFamily="34" charset="0"/>
              <a:ea typeface="Open Sans" panose="020B0606030504020204" pitchFamily="34" charset="0"/>
              <a:cs typeface="Open Sans" panose="020B0606030504020204" pitchFamily="34" charset="0"/>
            </a:endParaRPr>
          </a:p>
          <a:p>
            <a:pPr marL="0" lvl="0" indent="0">
              <a:buNone/>
            </a:pPr>
            <a:endParaRPr lang="en-SG" dirty="0"/>
          </a:p>
          <a:p>
            <a:pPr marL="0" lvl="0" indent="0" algn="l" rtl="0">
              <a:lnSpc>
                <a:spcPct val="115000"/>
              </a:lnSpc>
              <a:spcBef>
                <a:spcPts val="0"/>
              </a:spcBef>
              <a:spcAft>
                <a:spcPts val="0"/>
              </a:spcAft>
              <a:buSzPts val="1400"/>
              <a:buNone/>
            </a:pPr>
            <a:endParaRPr i="1" dirty="0"/>
          </a:p>
        </p:txBody>
      </p:sp>
      <p:sp>
        <p:nvSpPr>
          <p:cNvPr id="152" name="Google Shape;152;p13"/>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Passing Content via Slot</a:t>
            </a:r>
            <a:endParaRPr/>
          </a:p>
        </p:txBody>
      </p:sp>
      <p:sp>
        <p:nvSpPr>
          <p:cNvPr id="153" name="Google Shape;153;p13"/>
          <p:cNvSpPr txBox="1">
            <a:spLocks noGrp="1"/>
          </p:cNvSpPr>
          <p:nvPr>
            <p:ph type="body" idx="1"/>
          </p:nvPr>
        </p:nvSpPr>
        <p:spPr>
          <a:xfrm>
            <a:off x="311700" y="1225225"/>
            <a:ext cx="3999900" cy="253715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600"/>
              </a:spcBef>
              <a:spcAft>
                <a:spcPts val="0"/>
              </a:spcAft>
              <a:buClr>
                <a:schemeClr val="dk1"/>
              </a:buClr>
              <a:buSzPts val="1100"/>
              <a:buFont typeface="Arial"/>
              <a:buNone/>
            </a:pPr>
            <a:r>
              <a:rPr lang="en" dirty="0"/>
              <a:t>Just like with HTML elements, it’s often useful to be able to pass content to a component. </a:t>
            </a:r>
            <a:endParaRPr dirty="0"/>
          </a:p>
          <a:p>
            <a:pPr marL="0" marR="0" lvl="0" indent="0" algn="l" rtl="0">
              <a:lnSpc>
                <a:spcPct val="115000"/>
              </a:lnSpc>
              <a:spcBef>
                <a:spcPts val="600"/>
              </a:spcBef>
              <a:spcAft>
                <a:spcPts val="0"/>
              </a:spcAft>
              <a:buClr>
                <a:schemeClr val="dk1"/>
              </a:buClr>
              <a:buSzPts val="1100"/>
              <a:buFont typeface="Arial"/>
              <a:buNone/>
            </a:pPr>
            <a:endParaRPr dirty="0"/>
          </a:p>
          <a:p>
            <a:pPr marL="0" marR="0" lvl="0" indent="0" algn="l" rtl="0">
              <a:lnSpc>
                <a:spcPct val="115000"/>
              </a:lnSpc>
              <a:spcBef>
                <a:spcPts val="600"/>
              </a:spcBef>
              <a:spcAft>
                <a:spcPts val="0"/>
              </a:spcAft>
              <a:buClr>
                <a:schemeClr val="dk1"/>
              </a:buClr>
              <a:buSzPts val="1100"/>
              <a:buFont typeface="Arial"/>
              <a:buNone/>
            </a:pPr>
            <a:r>
              <a:rPr lang="en" dirty="0"/>
              <a:t>This can be done with &lt;slot&gt; element.</a:t>
            </a:r>
            <a:endParaRPr dirty="0"/>
          </a:p>
          <a:p>
            <a:pPr marL="0" marR="0" lvl="0" indent="0" algn="l" rtl="0">
              <a:lnSpc>
                <a:spcPct val="115000"/>
              </a:lnSpc>
              <a:spcBef>
                <a:spcPts val="600"/>
              </a:spcBef>
              <a:spcAft>
                <a:spcPts val="0"/>
              </a:spcAft>
              <a:buClr>
                <a:schemeClr val="dk1"/>
              </a:buClr>
              <a:buSzPts val="1100"/>
              <a:buFont typeface="Arial"/>
              <a:buNone/>
            </a:pPr>
            <a:endParaRPr dirty="0"/>
          </a:p>
          <a:p>
            <a:pPr marL="0" lvl="0" indent="0" algn="l" rtl="0">
              <a:lnSpc>
                <a:spcPct val="115000"/>
              </a:lnSpc>
              <a:spcBef>
                <a:spcPts val="600"/>
              </a:spcBef>
              <a:spcAft>
                <a:spcPts val="0"/>
              </a:spcAft>
              <a:buClr>
                <a:schemeClr val="dk1"/>
              </a:buClr>
              <a:buSzPts val="1100"/>
              <a:buFont typeface="Arial"/>
              <a:buNone/>
            </a:pPr>
            <a:r>
              <a:rPr lang="en" dirty="0"/>
              <a:t>Use named-slots when there are multiple slots.</a:t>
            </a:r>
            <a:endParaRPr sz="2400" dirty="0">
              <a:latin typeface="Arial"/>
              <a:ea typeface="Arial"/>
              <a:cs typeface="Arial"/>
              <a:sym typeface="Arial"/>
            </a:endParaRPr>
          </a:p>
          <a:p>
            <a:pPr marL="0" marR="0" lvl="0" indent="0" algn="l" rtl="0">
              <a:lnSpc>
                <a:spcPct val="115000"/>
              </a:lnSpc>
              <a:spcBef>
                <a:spcPts val="600"/>
              </a:spcBef>
              <a:spcAft>
                <a:spcPts val="0"/>
              </a:spcAft>
              <a:buClr>
                <a:schemeClr val="dk1"/>
              </a:buClr>
              <a:buSzPts val="1100"/>
              <a:buFont typeface="Arial"/>
              <a:buNone/>
            </a:pPr>
            <a:endParaRPr dirty="0"/>
          </a:p>
          <a:p>
            <a:pPr marL="0" marR="0" lvl="0" indent="0" algn="l" rtl="0">
              <a:lnSpc>
                <a:spcPct val="115000"/>
              </a:lnSpc>
              <a:spcBef>
                <a:spcPts val="600"/>
              </a:spcBef>
              <a:spcAft>
                <a:spcPts val="0"/>
              </a:spcAft>
              <a:buClr>
                <a:schemeClr val="dk1"/>
              </a:buClr>
              <a:buSzPts val="1100"/>
              <a:buFont typeface="Arial"/>
              <a:buNone/>
            </a:pPr>
            <a:endParaRPr lang="en-US" dirty="0"/>
          </a:p>
          <a:p>
            <a:pPr marL="0" marR="0" lvl="0" indent="0" algn="l" rtl="0">
              <a:lnSpc>
                <a:spcPct val="115000"/>
              </a:lnSpc>
              <a:spcBef>
                <a:spcPts val="600"/>
              </a:spcBef>
              <a:spcAft>
                <a:spcPts val="0"/>
              </a:spcAft>
              <a:buClr>
                <a:schemeClr val="dk1"/>
              </a:buClr>
              <a:buSzPts val="1100"/>
              <a:buFont typeface="Arial"/>
              <a:buNone/>
            </a:pPr>
            <a:endParaRPr dirty="0"/>
          </a:p>
        </p:txBody>
      </p:sp>
      <p:sp>
        <p:nvSpPr>
          <p:cNvPr id="5" name="Google Shape;151;p13">
            <a:extLst>
              <a:ext uri="{FF2B5EF4-FFF2-40B4-BE49-F238E27FC236}">
                <a16:creationId xmlns:a16="http://schemas.microsoft.com/office/drawing/2014/main" id="{381BD435-9EB9-0543-BFC5-7889982663BB}"/>
              </a:ext>
            </a:extLst>
          </p:cNvPr>
          <p:cNvSpPr txBox="1">
            <a:spLocks/>
          </p:cNvSpPr>
          <p:nvPr/>
        </p:nvSpPr>
        <p:spPr>
          <a:xfrm>
            <a:off x="4832399" y="3762375"/>
            <a:ext cx="3999900" cy="12871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1pPr>
            <a:lvl2pPr marL="914400" marR="0" lvl="1"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L="3200400" marR="0" lvl="6"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L="3657600" marR="0" lvl="7"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8pPr>
            <a:lvl9pPr marL="4114800" marR="0" lvl="8" indent="-304800" algn="l" rtl="0">
              <a:lnSpc>
                <a:spcPct val="115000"/>
              </a:lnSpc>
              <a:spcBef>
                <a:spcPts val="1600"/>
              </a:spcBef>
              <a:spcAft>
                <a:spcPts val="1600"/>
              </a:spcAft>
              <a:buClr>
                <a:schemeClr val="dk1"/>
              </a:buClr>
              <a:buSzPts val="1200"/>
              <a:buFont typeface="Arial"/>
              <a:buChar char="■"/>
              <a:defRPr sz="1200" b="0" i="0" u="none" strike="noStrike" cap="none">
                <a:solidFill>
                  <a:schemeClr val="dk1"/>
                </a:solidFill>
                <a:latin typeface="Arial"/>
                <a:ea typeface="Arial"/>
                <a:cs typeface="Arial"/>
                <a:sym typeface="Arial"/>
              </a:defRPr>
            </a:lvl9pPr>
          </a:lstStyle>
          <a:p>
            <a:pPr marL="0" indent="0">
              <a:buFont typeface="Arial"/>
              <a:buNone/>
            </a:pPr>
            <a:r>
              <a:rPr lang="en-SG" b="1" dirty="0">
                <a:latin typeface="Open Sans" panose="020B0606030504020204" pitchFamily="34" charset="0"/>
                <a:ea typeface="Open Sans" panose="020B0606030504020204" pitchFamily="34" charset="0"/>
                <a:cs typeface="Open Sans" panose="020B0606030504020204" pitchFamily="34" charset="0"/>
              </a:rPr>
              <a:t>Named Slots:</a:t>
            </a:r>
            <a:endParaRPr lang="en-SG" i="1" dirty="0">
              <a:latin typeface="Open Sans" panose="020B0606030504020204" pitchFamily="34" charset="0"/>
              <a:ea typeface="Open Sans" panose="020B0606030504020204" pitchFamily="34" charset="0"/>
              <a:cs typeface="Open Sans" panose="020B0606030504020204" pitchFamily="34" charset="0"/>
            </a:endParaRPr>
          </a:p>
          <a:p>
            <a:pPr marL="0" indent="0">
              <a:lnSpc>
                <a:spcPct val="100000"/>
              </a:lnSpc>
              <a:buSzPts val="1100"/>
              <a:buFont typeface="Arial"/>
              <a:buNone/>
            </a:pPr>
            <a:r>
              <a:rPr lang="en-SG" dirty="0">
                <a:latin typeface="Open Sans" panose="020B0606030504020204" pitchFamily="34" charset="0"/>
                <a:ea typeface="Open Sans" panose="020B0606030504020204" pitchFamily="34" charset="0"/>
                <a:cs typeface="Open Sans" panose="020B0606030504020204" pitchFamily="34" charset="0"/>
              </a:rPr>
              <a:t>&lt;div&gt;</a:t>
            </a:r>
          </a:p>
          <a:p>
            <a:pPr marL="0" indent="0">
              <a:lnSpc>
                <a:spcPct val="100000"/>
              </a:lnSpc>
              <a:buSzPts val="1100"/>
              <a:buFont typeface="Arial"/>
              <a:buNone/>
            </a:pPr>
            <a:r>
              <a:rPr lang="en-SG" dirty="0">
                <a:latin typeface="Open Sans" panose="020B0606030504020204" pitchFamily="34" charset="0"/>
                <a:ea typeface="Open Sans" panose="020B0606030504020204" pitchFamily="34" charset="0"/>
                <a:cs typeface="Open Sans" panose="020B0606030504020204" pitchFamily="34" charset="0"/>
              </a:rPr>
              <a:t>     &lt;slot name=‘</a:t>
            </a:r>
            <a:r>
              <a:rPr lang="en-SG" dirty="0" err="1">
                <a:latin typeface="Open Sans" panose="020B0606030504020204" pitchFamily="34" charset="0"/>
                <a:ea typeface="Open Sans" panose="020B0606030504020204" pitchFamily="34" charset="0"/>
                <a:cs typeface="Open Sans" panose="020B0606030504020204" pitchFamily="34" charset="0"/>
              </a:rPr>
              <a:t>slotA</a:t>
            </a:r>
            <a:r>
              <a:rPr lang="en-SG" dirty="0">
                <a:latin typeface="Open Sans" panose="020B0606030504020204" pitchFamily="34" charset="0"/>
                <a:ea typeface="Open Sans" panose="020B0606030504020204" pitchFamily="34" charset="0"/>
                <a:cs typeface="Open Sans" panose="020B0606030504020204" pitchFamily="34" charset="0"/>
              </a:rPr>
              <a:t>’&gt;&lt;/slot&gt;</a:t>
            </a:r>
          </a:p>
          <a:p>
            <a:pPr marL="0" indent="0">
              <a:lnSpc>
                <a:spcPct val="100000"/>
              </a:lnSpc>
              <a:buSzPts val="1100"/>
              <a:buFont typeface="Arial"/>
              <a:buNone/>
            </a:pPr>
            <a:r>
              <a:rPr lang="en-SG" sz="1400" dirty="0">
                <a:latin typeface="Open Sans" panose="020B0606030504020204" pitchFamily="34" charset="0"/>
                <a:ea typeface="Open Sans" panose="020B0606030504020204" pitchFamily="34" charset="0"/>
                <a:cs typeface="Open Sans" panose="020B0606030504020204" pitchFamily="34" charset="0"/>
              </a:rPr>
              <a:t>     &lt;slot name=‘</a:t>
            </a:r>
            <a:r>
              <a:rPr lang="en-SG" sz="1400" dirty="0" err="1">
                <a:latin typeface="Open Sans" panose="020B0606030504020204" pitchFamily="34" charset="0"/>
                <a:ea typeface="Open Sans" panose="020B0606030504020204" pitchFamily="34" charset="0"/>
                <a:cs typeface="Open Sans" panose="020B0606030504020204" pitchFamily="34" charset="0"/>
              </a:rPr>
              <a:t>slotB</a:t>
            </a:r>
            <a:r>
              <a:rPr lang="en-SG" sz="1400" dirty="0">
                <a:latin typeface="Open Sans" panose="020B0606030504020204" pitchFamily="34" charset="0"/>
                <a:ea typeface="Open Sans" panose="020B0606030504020204" pitchFamily="34" charset="0"/>
                <a:cs typeface="Open Sans" panose="020B0606030504020204" pitchFamily="34" charset="0"/>
              </a:rPr>
              <a:t>’&gt;&lt;/slot&gt;</a:t>
            </a:r>
          </a:p>
          <a:p>
            <a:pPr marL="0" indent="0">
              <a:lnSpc>
                <a:spcPct val="100000"/>
              </a:lnSpc>
              <a:buSzPts val="1100"/>
              <a:buFont typeface="Arial"/>
              <a:buNone/>
            </a:pPr>
            <a:r>
              <a:rPr lang="en-SG" sz="1400" dirty="0">
                <a:latin typeface="Open Sans" panose="020B0606030504020204" pitchFamily="34" charset="0"/>
                <a:ea typeface="Open Sans" panose="020B0606030504020204" pitchFamily="34" charset="0"/>
                <a:cs typeface="Open Sans" panose="020B0606030504020204" pitchFamily="34" charset="0"/>
              </a:rPr>
              <a:t>&lt;/div&gt;</a:t>
            </a:r>
            <a:endParaRPr lang="en-SG" dirty="0">
              <a:latin typeface="Open Sans" panose="020B0606030504020204" pitchFamily="34" charset="0"/>
              <a:ea typeface="Open Sans" panose="020B0606030504020204" pitchFamily="34" charset="0"/>
              <a:cs typeface="Open Sans" panose="020B0606030504020204" pitchFamily="34" charset="0"/>
            </a:endParaRPr>
          </a:p>
          <a:p>
            <a:pPr marL="0" indent="0">
              <a:buFont typeface="Arial"/>
              <a:buNone/>
            </a:pPr>
            <a:endParaRPr lang="en-SG" i="1" dirty="0"/>
          </a:p>
        </p:txBody>
      </p:sp>
      <p:sp>
        <p:nvSpPr>
          <p:cNvPr id="2" name="Rectangle 1">
            <a:extLst>
              <a:ext uri="{FF2B5EF4-FFF2-40B4-BE49-F238E27FC236}">
                <a16:creationId xmlns:a16="http://schemas.microsoft.com/office/drawing/2014/main" id="{FF4D8F49-A435-8A09-5976-641D9DF3C961}"/>
              </a:ext>
            </a:extLst>
          </p:cNvPr>
          <p:cNvSpPr/>
          <p:nvPr/>
        </p:nvSpPr>
        <p:spPr>
          <a:xfrm>
            <a:off x="260627" y="3916263"/>
            <a:ext cx="1326600" cy="877600"/>
          </a:xfrm>
          <a:prstGeom prst="rect">
            <a:avLst/>
          </a:prstGeom>
          <a:noFill/>
          <a:ln>
            <a:solidFill>
              <a:srgbClr val="00206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rPr>
              <a:t>&lt;alert-box&gt;</a:t>
            </a:r>
          </a:p>
          <a:p>
            <a:pPr algn="ctr"/>
            <a:endParaRPr lang="en-US" dirty="0">
              <a:solidFill>
                <a:srgbClr val="002060"/>
              </a:solidFill>
            </a:endParaRPr>
          </a:p>
          <a:p>
            <a:pPr algn="ctr"/>
            <a:endParaRPr lang="en-US" dirty="0">
              <a:solidFill>
                <a:srgbClr val="002060"/>
              </a:solidFill>
            </a:endParaRPr>
          </a:p>
          <a:p>
            <a:pPr algn="ctr"/>
            <a:r>
              <a:rPr lang="en-US" dirty="0">
                <a:solidFill>
                  <a:srgbClr val="002060"/>
                </a:solidFill>
              </a:rPr>
              <a:t>&lt;/alert-box&gt;</a:t>
            </a:r>
          </a:p>
        </p:txBody>
      </p:sp>
      <p:sp>
        <p:nvSpPr>
          <p:cNvPr id="3" name="Rounded Rectangle 2">
            <a:extLst>
              <a:ext uri="{FF2B5EF4-FFF2-40B4-BE49-F238E27FC236}">
                <a16:creationId xmlns:a16="http://schemas.microsoft.com/office/drawing/2014/main" id="{20C57D15-8B95-D5EF-474B-DE1FDA3FC47D}"/>
              </a:ext>
            </a:extLst>
          </p:cNvPr>
          <p:cNvSpPr/>
          <p:nvPr/>
        </p:nvSpPr>
        <p:spPr>
          <a:xfrm>
            <a:off x="409575" y="4193138"/>
            <a:ext cx="1047750" cy="323850"/>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002060"/>
                </a:solidFill>
              </a:rPr>
              <a:t>check it out!</a:t>
            </a:r>
          </a:p>
        </p:txBody>
      </p:sp>
      <p:sp>
        <p:nvSpPr>
          <p:cNvPr id="4" name="TextBox 3">
            <a:extLst>
              <a:ext uri="{FF2B5EF4-FFF2-40B4-BE49-F238E27FC236}">
                <a16:creationId xmlns:a16="http://schemas.microsoft.com/office/drawing/2014/main" id="{F3CEBB7C-C21E-D644-346D-E485D5B2C9B9}"/>
              </a:ext>
            </a:extLst>
          </p:cNvPr>
          <p:cNvSpPr txBox="1"/>
          <p:nvPr/>
        </p:nvSpPr>
        <p:spPr>
          <a:xfrm>
            <a:off x="180976" y="3608486"/>
            <a:ext cx="1485900" cy="307777"/>
          </a:xfrm>
          <a:prstGeom prst="rect">
            <a:avLst/>
          </a:prstGeom>
          <a:noFill/>
        </p:spPr>
        <p:txBody>
          <a:bodyPr wrap="square" rtlCol="0">
            <a:spAutoFit/>
          </a:bodyPr>
          <a:lstStyle/>
          <a:p>
            <a:r>
              <a:rPr lang="en-US" dirty="0">
                <a:solidFill>
                  <a:srgbClr val="002060"/>
                </a:solidFill>
              </a:rPr>
              <a:t>Parent template</a:t>
            </a:r>
          </a:p>
        </p:txBody>
      </p:sp>
      <p:sp>
        <p:nvSpPr>
          <p:cNvPr id="6" name="Rectangle 5">
            <a:extLst>
              <a:ext uri="{FF2B5EF4-FFF2-40B4-BE49-F238E27FC236}">
                <a16:creationId xmlns:a16="http://schemas.microsoft.com/office/drawing/2014/main" id="{ADA1A4DA-0320-17AA-8620-504AEC96350D}"/>
              </a:ext>
            </a:extLst>
          </p:cNvPr>
          <p:cNvSpPr/>
          <p:nvPr/>
        </p:nvSpPr>
        <p:spPr>
          <a:xfrm>
            <a:off x="2604074" y="3887688"/>
            <a:ext cx="1916853" cy="877600"/>
          </a:xfrm>
          <a:prstGeom prst="rect">
            <a:avLst/>
          </a:prstGeom>
          <a:noFill/>
          <a:ln>
            <a:solidFill>
              <a:srgbClr val="00206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indent="0">
              <a:lnSpc>
                <a:spcPct val="100000"/>
              </a:lnSpc>
              <a:buSzPts val="1100"/>
              <a:buNone/>
            </a:pPr>
            <a:endParaRPr lang="en-SG" dirty="0">
              <a:solidFill>
                <a:srgbClr val="002060"/>
              </a:solidFill>
            </a:endParaRPr>
          </a:p>
          <a:p>
            <a:pPr lvl="1" algn="ctr">
              <a:buSzPts val="1100"/>
            </a:pPr>
            <a:r>
              <a:rPr lang="en-SG" dirty="0">
                <a:solidFill>
                  <a:srgbClr val="002060"/>
                </a:solidFill>
              </a:rPr>
              <a:t>&lt;div class=“alert”&gt;	     </a:t>
            </a:r>
          </a:p>
          <a:p>
            <a:pPr lvl="1">
              <a:buSzPts val="1100"/>
            </a:pPr>
            <a:endParaRPr lang="en-SG" dirty="0">
              <a:solidFill>
                <a:srgbClr val="002060"/>
              </a:solidFill>
            </a:endParaRPr>
          </a:p>
          <a:p>
            <a:pPr lvl="1">
              <a:buSzPts val="1100"/>
            </a:pPr>
            <a:r>
              <a:rPr lang="en-SG" dirty="0">
                <a:solidFill>
                  <a:srgbClr val="002060"/>
                </a:solidFill>
              </a:rPr>
              <a:t>   &lt;/div&gt;</a:t>
            </a:r>
          </a:p>
          <a:p>
            <a:pPr algn="ctr"/>
            <a:endParaRPr lang="en-US" sz="1200" dirty="0">
              <a:solidFill>
                <a:srgbClr val="002060"/>
              </a:solidFill>
            </a:endParaRPr>
          </a:p>
        </p:txBody>
      </p:sp>
      <p:sp>
        <p:nvSpPr>
          <p:cNvPr id="7" name="Rounded Rectangle 6">
            <a:extLst>
              <a:ext uri="{FF2B5EF4-FFF2-40B4-BE49-F238E27FC236}">
                <a16:creationId xmlns:a16="http://schemas.microsoft.com/office/drawing/2014/main" id="{2308141A-CAF4-E815-6FAF-8A4944A1932A}"/>
              </a:ext>
            </a:extLst>
          </p:cNvPr>
          <p:cNvSpPr/>
          <p:nvPr/>
        </p:nvSpPr>
        <p:spPr>
          <a:xfrm>
            <a:off x="2962470" y="4195465"/>
            <a:ext cx="1125771" cy="323850"/>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002060"/>
                </a:solidFill>
              </a:rPr>
              <a:t>&lt;slot&gt;&lt;/slot&gt;</a:t>
            </a:r>
          </a:p>
        </p:txBody>
      </p:sp>
      <p:sp>
        <p:nvSpPr>
          <p:cNvPr id="8" name="TextBox 7">
            <a:extLst>
              <a:ext uri="{FF2B5EF4-FFF2-40B4-BE49-F238E27FC236}">
                <a16:creationId xmlns:a16="http://schemas.microsoft.com/office/drawing/2014/main" id="{9494A591-045E-E194-03EE-42E7E45890E0}"/>
              </a:ext>
            </a:extLst>
          </p:cNvPr>
          <p:cNvSpPr txBox="1"/>
          <p:nvPr/>
        </p:nvSpPr>
        <p:spPr>
          <a:xfrm>
            <a:off x="2524424" y="3579911"/>
            <a:ext cx="1485900" cy="307777"/>
          </a:xfrm>
          <a:prstGeom prst="rect">
            <a:avLst/>
          </a:prstGeom>
          <a:noFill/>
        </p:spPr>
        <p:txBody>
          <a:bodyPr wrap="square" rtlCol="0">
            <a:spAutoFit/>
          </a:bodyPr>
          <a:lstStyle/>
          <a:p>
            <a:r>
              <a:rPr lang="en-US" dirty="0">
                <a:solidFill>
                  <a:srgbClr val="002060"/>
                </a:solidFill>
              </a:rPr>
              <a:t>Child template</a:t>
            </a:r>
          </a:p>
        </p:txBody>
      </p:sp>
      <p:cxnSp>
        <p:nvCxnSpPr>
          <p:cNvPr id="10" name="Straight Arrow Connector 9">
            <a:extLst>
              <a:ext uri="{FF2B5EF4-FFF2-40B4-BE49-F238E27FC236}">
                <a16:creationId xmlns:a16="http://schemas.microsoft.com/office/drawing/2014/main" id="{BEE9E753-CA81-B475-70C5-BFCB253D5B62}"/>
              </a:ext>
            </a:extLst>
          </p:cNvPr>
          <p:cNvCxnSpPr>
            <a:cxnSpLocks/>
            <a:stCxn id="3" idx="3"/>
            <a:endCxn id="7" idx="1"/>
          </p:cNvCxnSpPr>
          <p:nvPr/>
        </p:nvCxnSpPr>
        <p:spPr>
          <a:xfrm>
            <a:off x="1457325" y="4355063"/>
            <a:ext cx="1505145" cy="232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9">
          <a:extLst>
            <a:ext uri="{FF2B5EF4-FFF2-40B4-BE49-F238E27FC236}">
              <a16:creationId xmlns:a16="http://schemas.microsoft.com/office/drawing/2014/main" id="{8331160A-17D8-0A04-BE55-073B45F7EB79}"/>
            </a:ext>
          </a:extLst>
        </p:cNvPr>
        <p:cNvGrpSpPr/>
        <p:nvPr/>
      </p:nvGrpSpPr>
      <p:grpSpPr>
        <a:xfrm>
          <a:off x="0" y="0"/>
          <a:ext cx="0" cy="0"/>
          <a:chOff x="0" y="0"/>
          <a:chExt cx="0" cy="0"/>
        </a:xfrm>
      </p:grpSpPr>
      <p:sp>
        <p:nvSpPr>
          <p:cNvPr id="171" name="Google Shape;171;p16">
            <a:extLst>
              <a:ext uri="{FF2B5EF4-FFF2-40B4-BE49-F238E27FC236}">
                <a16:creationId xmlns:a16="http://schemas.microsoft.com/office/drawing/2014/main" id="{CC00C7C7-E3F2-A387-9526-1830671D4A62}"/>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sz="2800" dirty="0"/>
              <a:t>(Week5) Running example: A Blog Service (1)</a:t>
            </a:r>
            <a:endParaRPr sz="2800" dirty="0"/>
          </a:p>
        </p:txBody>
      </p:sp>
      <p:sp>
        <p:nvSpPr>
          <p:cNvPr id="172" name="Google Shape;172;p16">
            <a:extLst>
              <a:ext uri="{FF2B5EF4-FFF2-40B4-BE49-F238E27FC236}">
                <a16:creationId xmlns:a16="http://schemas.microsoft.com/office/drawing/2014/main" id="{154FA78E-6649-6473-BD32-ABB3B51F3172}"/>
              </a:ext>
            </a:extLst>
          </p:cNvPr>
          <p:cNvSpPr txBox="1">
            <a:spLocks noGrp="1"/>
          </p:cNvSpPr>
          <p:nvPr>
            <p:ph type="body" idx="1"/>
          </p:nvPr>
        </p:nvSpPr>
        <p:spPr>
          <a:xfrm>
            <a:off x="311699" y="1024505"/>
            <a:ext cx="8520601" cy="2655398"/>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dirty="0"/>
              <a:t>Set up a blog backend service using </a:t>
            </a:r>
            <a:r>
              <a:rPr lang="en" b="1" dirty="0"/>
              <a:t>Node.js + </a:t>
            </a:r>
            <a:r>
              <a:rPr lang="en" b="1" dirty="0" err="1"/>
              <a:t>Express.js</a:t>
            </a:r>
            <a:endParaRPr lang="en" b="1" dirty="0"/>
          </a:p>
          <a:p>
            <a:pPr marL="0" marR="0" lvl="0" indent="0" algn="l" rtl="0">
              <a:lnSpc>
                <a:spcPct val="115000"/>
              </a:lnSpc>
              <a:spcBef>
                <a:spcPts val="0"/>
              </a:spcBef>
              <a:spcAft>
                <a:spcPts val="0"/>
              </a:spcAft>
              <a:buSzPts val="1400"/>
              <a:buNone/>
            </a:pPr>
            <a:r>
              <a:rPr lang="en" dirty="0"/>
              <a:t>These technologies are covered in WAD1. </a:t>
            </a:r>
          </a:p>
          <a:p>
            <a:pPr>
              <a:buFont typeface="Arial"/>
              <a:buAutoNum type="arabicPeriod"/>
            </a:pPr>
            <a:r>
              <a:rPr lang="en-US" sz="1200" dirty="0"/>
              <a:t>Download </a:t>
            </a:r>
            <a:r>
              <a:rPr lang="en-US" sz="1200" b="1" dirty="0" err="1"/>
              <a:t>server.zip</a:t>
            </a:r>
            <a:r>
              <a:rPr lang="en-US" sz="1200" b="1" dirty="0"/>
              <a:t> </a:t>
            </a:r>
            <a:r>
              <a:rPr lang="en-US" sz="1200" dirty="0"/>
              <a:t>and unzip into a folder, say </a:t>
            </a:r>
            <a:r>
              <a:rPr lang="en-US" sz="1200" i="1" dirty="0"/>
              <a:t>server. </a:t>
            </a:r>
            <a:r>
              <a:rPr lang="en-US" sz="1200" dirty="0"/>
              <a:t>It contains a folder ‘</a:t>
            </a:r>
            <a:r>
              <a:rPr lang="en-US" sz="1200" dirty="0">
                <a:highlight>
                  <a:srgbClr val="FFFF00"/>
                </a:highlight>
              </a:rPr>
              <a:t>blog</a:t>
            </a:r>
            <a:r>
              <a:rPr lang="en-US" sz="1200" dirty="0"/>
              <a:t>’ which is a blog backend app.</a:t>
            </a:r>
            <a:endParaRPr lang="en" sz="1200" dirty="0"/>
          </a:p>
          <a:p>
            <a:pPr marL="457200" marR="0" lvl="0" indent="-317500" algn="l" rtl="0">
              <a:lnSpc>
                <a:spcPct val="115000"/>
              </a:lnSpc>
              <a:spcBef>
                <a:spcPts val="0"/>
              </a:spcBef>
              <a:spcAft>
                <a:spcPts val="0"/>
              </a:spcAft>
              <a:buSzPts val="1400"/>
              <a:buAutoNum type="arabicPeriod"/>
            </a:pPr>
            <a:r>
              <a:rPr lang="en" sz="1200" dirty="0"/>
              <a:t>In the terminal, run the following commands to launch this backend service</a:t>
            </a:r>
          </a:p>
          <a:p>
            <a:pPr marL="114300" indent="0">
              <a:lnSpc>
                <a:spcPct val="105000"/>
              </a:lnSpc>
              <a:spcAft>
                <a:spcPts val="600"/>
              </a:spcAft>
              <a:buClr>
                <a:srgbClr val="000000"/>
              </a:buClr>
              <a:buNone/>
            </a:pPr>
            <a:r>
              <a:rPr lang="en-US" sz="1200" dirty="0">
                <a:latin typeface="Open Sans" panose="020B0606030504020204" pitchFamily="34" charset="0"/>
                <a:ea typeface="Open Sans" panose="020B0606030504020204" pitchFamily="34" charset="0"/>
                <a:cs typeface="Open Sans" panose="020B0606030504020204" pitchFamily="34" charset="0"/>
              </a:rPr>
              <a:t>	cd server/blog</a:t>
            </a:r>
          </a:p>
          <a:p>
            <a:pPr marL="114300" indent="0">
              <a:lnSpc>
                <a:spcPct val="105000"/>
              </a:lnSpc>
              <a:spcAft>
                <a:spcPts val="600"/>
              </a:spcAft>
              <a:buClr>
                <a:srgbClr val="000000"/>
              </a:buClr>
              <a:buNone/>
            </a:pPr>
            <a:r>
              <a:rPr lang="en-US" sz="1200" dirty="0">
                <a:latin typeface="Open Sans" panose="020B0606030504020204" pitchFamily="34" charset="0"/>
                <a:ea typeface="Open Sans" panose="020B0606030504020204" pitchFamily="34" charset="0"/>
                <a:cs typeface="Open Sans" panose="020B0606030504020204" pitchFamily="34" charset="0"/>
              </a:rPr>
              <a:t>	</a:t>
            </a:r>
            <a:r>
              <a:rPr lang="en-US" sz="1200" dirty="0" err="1">
                <a:latin typeface="Open Sans" panose="020B0606030504020204" pitchFamily="34" charset="0"/>
                <a:ea typeface="Open Sans" panose="020B0606030504020204" pitchFamily="34" charset="0"/>
                <a:cs typeface="Open Sans" panose="020B0606030504020204" pitchFamily="34" charset="0"/>
              </a:rPr>
              <a:t>pnpm</a:t>
            </a:r>
            <a:r>
              <a:rPr lang="en-US" sz="1200" dirty="0">
                <a:latin typeface="Open Sans" panose="020B0606030504020204" pitchFamily="34" charset="0"/>
                <a:ea typeface="Open Sans" panose="020B0606030504020204" pitchFamily="34" charset="0"/>
                <a:cs typeface="Open Sans" panose="020B0606030504020204" pitchFamily="34" charset="0"/>
              </a:rPr>
              <a:t> install</a:t>
            </a:r>
          </a:p>
          <a:p>
            <a:pPr marL="114300" indent="0">
              <a:lnSpc>
                <a:spcPct val="105000"/>
              </a:lnSpc>
              <a:spcAft>
                <a:spcPts val="600"/>
              </a:spcAft>
              <a:buClr>
                <a:srgbClr val="000000"/>
              </a:buClr>
              <a:buNone/>
            </a:pPr>
            <a:r>
              <a:rPr lang="en-US" sz="1200" dirty="0">
                <a:latin typeface="Open Sans" panose="020B0606030504020204" pitchFamily="34" charset="0"/>
                <a:ea typeface="Open Sans" panose="020B0606030504020204" pitchFamily="34" charset="0"/>
                <a:cs typeface="Open Sans" panose="020B0606030504020204" pitchFamily="34" charset="0"/>
              </a:rPr>
              <a:t>	</a:t>
            </a:r>
            <a:r>
              <a:rPr lang="en-US" sz="1200" dirty="0" err="1">
                <a:latin typeface="Open Sans" panose="020B0606030504020204" pitchFamily="34" charset="0"/>
                <a:ea typeface="Open Sans" panose="020B0606030504020204" pitchFamily="34" charset="0"/>
                <a:cs typeface="Open Sans" panose="020B0606030504020204" pitchFamily="34" charset="0"/>
              </a:rPr>
              <a:t>pnpm</a:t>
            </a:r>
            <a:r>
              <a:rPr lang="en-US" sz="1200" dirty="0">
                <a:latin typeface="Open Sans" panose="020B0606030504020204" pitchFamily="34" charset="0"/>
                <a:ea typeface="Open Sans" panose="020B0606030504020204" pitchFamily="34" charset="0"/>
                <a:cs typeface="Open Sans" panose="020B0606030504020204" pitchFamily="34" charset="0"/>
              </a:rPr>
              <a:t> dev</a:t>
            </a:r>
          </a:p>
          <a:p>
            <a:pPr lvl="1" indent="-317500">
              <a:spcBef>
                <a:spcPts val="0"/>
              </a:spcBef>
              <a:buSzPts val="1400"/>
            </a:pPr>
            <a:endParaRPr lang="en" dirty="0"/>
          </a:p>
          <a:p>
            <a:pPr lvl="1" indent="-317500">
              <a:spcBef>
                <a:spcPts val="0"/>
              </a:spcBef>
              <a:buSzPts val="1400"/>
            </a:pPr>
            <a:endParaRPr lang="en" dirty="0"/>
          </a:p>
          <a:p>
            <a:pPr lvl="1" indent="-317500">
              <a:spcBef>
                <a:spcPts val="0"/>
              </a:spcBef>
              <a:buSzPts val="1400"/>
            </a:pPr>
            <a:endParaRPr lang="en" dirty="0"/>
          </a:p>
          <a:p>
            <a:pPr lvl="1" indent="-317500">
              <a:spcBef>
                <a:spcPts val="0"/>
              </a:spcBef>
              <a:buSzPts val="1400"/>
            </a:pPr>
            <a:endParaRPr lang="en" dirty="0"/>
          </a:p>
          <a:p>
            <a:pPr lvl="1" indent="-317500">
              <a:spcBef>
                <a:spcPts val="0"/>
              </a:spcBef>
              <a:buSzPts val="1400"/>
            </a:pPr>
            <a:endParaRPr lang="en" dirty="0"/>
          </a:p>
          <a:p>
            <a:pPr lvl="1" indent="-317500">
              <a:spcBef>
                <a:spcPts val="0"/>
              </a:spcBef>
              <a:buSzPts val="1400"/>
            </a:pPr>
            <a:endParaRPr lang="en" dirty="0"/>
          </a:p>
          <a:p>
            <a:pPr lvl="1" indent="-317500">
              <a:spcBef>
                <a:spcPts val="0"/>
              </a:spcBef>
              <a:buSzPts val="1400"/>
            </a:pPr>
            <a:endParaRPr lang="en" dirty="0"/>
          </a:p>
          <a:p>
            <a:pPr lvl="1" indent="-317500">
              <a:spcBef>
                <a:spcPts val="0"/>
              </a:spcBef>
              <a:buSzPts val="1400"/>
            </a:pPr>
            <a:endParaRPr lang="en" dirty="0"/>
          </a:p>
          <a:p>
            <a:pPr lvl="1" indent="-317500">
              <a:spcBef>
                <a:spcPts val="0"/>
              </a:spcBef>
              <a:buSzPts val="1400"/>
            </a:pPr>
            <a:endParaRPr lang="en" dirty="0"/>
          </a:p>
          <a:p>
            <a:pPr lvl="1" indent="-317500">
              <a:spcBef>
                <a:spcPts val="0"/>
              </a:spcBef>
              <a:buSzPts val="1400"/>
            </a:pPr>
            <a:endParaRPr lang="en" dirty="0"/>
          </a:p>
        </p:txBody>
      </p:sp>
      <p:pic>
        <p:nvPicPr>
          <p:cNvPr id="3" name="Picture 2" descr="A screenshot of a black screen&#10;&#10;AI-generated content may be incorrect.">
            <a:extLst>
              <a:ext uri="{FF2B5EF4-FFF2-40B4-BE49-F238E27FC236}">
                <a16:creationId xmlns:a16="http://schemas.microsoft.com/office/drawing/2014/main" id="{4817C5A4-4A59-03B5-0A43-F7D0C0B1BCF8}"/>
              </a:ext>
            </a:extLst>
          </p:cNvPr>
          <p:cNvPicPr>
            <a:picLocks noChangeAspect="1"/>
          </p:cNvPicPr>
          <p:nvPr/>
        </p:nvPicPr>
        <p:blipFill>
          <a:blip r:embed="rId3"/>
          <a:stretch>
            <a:fillRect/>
          </a:stretch>
        </p:blipFill>
        <p:spPr>
          <a:xfrm>
            <a:off x="3164609" y="2226961"/>
            <a:ext cx="1515768" cy="2586182"/>
          </a:xfrm>
          <a:prstGeom prst="rect">
            <a:avLst/>
          </a:prstGeom>
        </p:spPr>
      </p:pic>
      <p:pic>
        <p:nvPicPr>
          <p:cNvPr id="5" name="Picture 4" descr="A screenshot of a computer program&#10;&#10;AI-generated content may be incorrect.">
            <a:extLst>
              <a:ext uri="{FF2B5EF4-FFF2-40B4-BE49-F238E27FC236}">
                <a16:creationId xmlns:a16="http://schemas.microsoft.com/office/drawing/2014/main" id="{CD141905-734F-CC15-2EFA-868BAE049C35}"/>
              </a:ext>
            </a:extLst>
          </p:cNvPr>
          <p:cNvPicPr>
            <a:picLocks noChangeAspect="1"/>
          </p:cNvPicPr>
          <p:nvPr/>
        </p:nvPicPr>
        <p:blipFill>
          <a:blip r:embed="rId4"/>
          <a:stretch>
            <a:fillRect/>
          </a:stretch>
        </p:blipFill>
        <p:spPr>
          <a:xfrm>
            <a:off x="5043632" y="2506557"/>
            <a:ext cx="3222914" cy="2026990"/>
          </a:xfrm>
          <a:prstGeom prst="rect">
            <a:avLst/>
          </a:prstGeom>
        </p:spPr>
      </p:pic>
    </p:spTree>
    <p:extLst>
      <p:ext uri="{BB962C8B-B14F-4D97-AF65-F5344CB8AC3E}">
        <p14:creationId xmlns:p14="http://schemas.microsoft.com/office/powerpoint/2010/main" val="3205309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9">
          <a:extLst>
            <a:ext uri="{FF2B5EF4-FFF2-40B4-BE49-F238E27FC236}">
              <a16:creationId xmlns:a16="http://schemas.microsoft.com/office/drawing/2014/main" id="{91A4E7F6-5602-B9BF-A455-2093225978A6}"/>
            </a:ext>
          </a:extLst>
        </p:cNvPr>
        <p:cNvGrpSpPr/>
        <p:nvPr/>
      </p:nvGrpSpPr>
      <p:grpSpPr>
        <a:xfrm>
          <a:off x="0" y="0"/>
          <a:ext cx="0" cy="0"/>
          <a:chOff x="0" y="0"/>
          <a:chExt cx="0" cy="0"/>
        </a:xfrm>
      </p:grpSpPr>
      <p:sp>
        <p:nvSpPr>
          <p:cNvPr id="171" name="Google Shape;171;p16">
            <a:extLst>
              <a:ext uri="{FF2B5EF4-FFF2-40B4-BE49-F238E27FC236}">
                <a16:creationId xmlns:a16="http://schemas.microsoft.com/office/drawing/2014/main" id="{9C627A7E-CE99-0934-2C72-88EAB96A1E25}"/>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lvl="0"/>
            <a:r>
              <a:rPr lang="en" sz="2800" dirty="0"/>
              <a:t>(Week5) Running example: A Blog Service (2)</a:t>
            </a:r>
            <a:endParaRPr sz="2800" dirty="0"/>
          </a:p>
        </p:txBody>
      </p:sp>
      <p:sp>
        <p:nvSpPr>
          <p:cNvPr id="172" name="Google Shape;172;p16">
            <a:extLst>
              <a:ext uri="{FF2B5EF4-FFF2-40B4-BE49-F238E27FC236}">
                <a16:creationId xmlns:a16="http://schemas.microsoft.com/office/drawing/2014/main" id="{2CBC602C-2C10-DB9C-0267-26D50521D156}"/>
              </a:ext>
            </a:extLst>
          </p:cNvPr>
          <p:cNvSpPr txBox="1">
            <a:spLocks noGrp="1"/>
          </p:cNvSpPr>
          <p:nvPr>
            <p:ph type="body" idx="1"/>
          </p:nvPr>
        </p:nvSpPr>
        <p:spPr>
          <a:xfrm>
            <a:off x="311699" y="1024505"/>
            <a:ext cx="8520601" cy="2655398"/>
          </a:xfrm>
          <a:prstGeom prst="rect">
            <a:avLst/>
          </a:prstGeom>
          <a:noFill/>
          <a:ln>
            <a:noFill/>
          </a:ln>
        </p:spPr>
        <p:txBody>
          <a:bodyPr spcFirstLastPara="1" wrap="square" lIns="91425" tIns="91425" rIns="91425" bIns="91425" anchor="t" anchorCtr="0">
            <a:noAutofit/>
          </a:bodyPr>
          <a:lstStyle/>
          <a:p>
            <a:pPr marL="139700" indent="0">
              <a:buNone/>
            </a:pPr>
            <a:r>
              <a:rPr lang="en-US" sz="1200"/>
              <a:t>3. In the browser, run the URL: </a:t>
            </a:r>
            <a:r>
              <a:rPr lang="en-US" sz="1200">
                <a:hlinkClick r:id="rId3"/>
              </a:rPr>
              <a:t>http://localhost:8000/posts</a:t>
            </a:r>
            <a:endParaRPr lang="en-US" sz="1200"/>
          </a:p>
          <a:p>
            <a:pPr marL="139700" indent="0">
              <a:buNone/>
            </a:pPr>
            <a:r>
              <a:rPr lang="en-US" sz="1200"/>
              <a:t>You should observe the JSON data returned by the blog service.</a:t>
            </a:r>
          </a:p>
          <a:p>
            <a:pPr marL="139700" indent="0">
              <a:buNone/>
            </a:pPr>
            <a:endParaRPr lang="en-US" sz="1200"/>
          </a:p>
          <a:p>
            <a:pPr marL="139700" indent="0">
              <a:buNone/>
            </a:pPr>
            <a:endParaRPr lang="en-US" sz="1200"/>
          </a:p>
          <a:p>
            <a:pPr marL="139700" indent="0">
              <a:buNone/>
            </a:pPr>
            <a:endParaRPr lang="en-US" sz="1200"/>
          </a:p>
          <a:p>
            <a:pPr marL="139700" indent="0">
              <a:buNone/>
            </a:pPr>
            <a:endParaRPr lang="en-US" sz="1200"/>
          </a:p>
          <a:p>
            <a:pPr marL="139700" indent="0">
              <a:buNone/>
            </a:pPr>
            <a:endParaRPr lang="en-US" sz="1200"/>
          </a:p>
          <a:p>
            <a:pPr marL="139700" indent="0">
              <a:buNone/>
            </a:pPr>
            <a:endParaRPr lang="en-US" sz="1200"/>
          </a:p>
          <a:p>
            <a:pPr marL="139700" indent="0">
              <a:buNone/>
            </a:pPr>
            <a:endParaRPr lang="en-US" sz="1200"/>
          </a:p>
          <a:p>
            <a:pPr marL="139700" indent="0">
              <a:buNone/>
            </a:pPr>
            <a:r>
              <a:rPr lang="en-US" sz="1200"/>
              <a:t>4. This blog service provides a few APIs. Some of them are:</a:t>
            </a:r>
          </a:p>
          <a:p>
            <a:pPr marL="139700" indent="0">
              <a:buNone/>
            </a:pPr>
            <a:r>
              <a:rPr lang="en-US" sz="1200"/>
              <a:t>	retrieve all posts: </a:t>
            </a:r>
            <a:r>
              <a:rPr lang="en-US" sz="1200">
                <a:latin typeface="Open Sans" panose="020B0606030504020204" pitchFamily="34" charset="0"/>
                <a:ea typeface="Open Sans" panose="020B0606030504020204" pitchFamily="34" charset="0"/>
                <a:cs typeface="Open Sans" panose="020B0606030504020204" pitchFamily="34" charset="0"/>
              </a:rPr>
              <a:t>GET /posts</a:t>
            </a:r>
          </a:p>
          <a:p>
            <a:pPr marL="139700" indent="0">
              <a:buNone/>
            </a:pPr>
            <a:r>
              <a:rPr lang="en-US" sz="1200"/>
              <a:t>	retrieve post with a given id: </a:t>
            </a:r>
            <a:r>
              <a:rPr lang="en-US" sz="1200">
                <a:latin typeface="Open Sans" panose="020B0606030504020204" pitchFamily="34" charset="0"/>
                <a:ea typeface="Open Sans" panose="020B0606030504020204" pitchFamily="34" charset="0"/>
                <a:cs typeface="Open Sans" panose="020B0606030504020204" pitchFamily="34" charset="0"/>
              </a:rPr>
              <a:t>GET /posts/:id</a:t>
            </a:r>
          </a:p>
          <a:p>
            <a:pPr marL="139700" indent="0">
              <a:buNone/>
            </a:pPr>
            <a:r>
              <a:rPr lang="en-US" sz="1200"/>
              <a:t>	create a new post: </a:t>
            </a:r>
            <a:r>
              <a:rPr lang="en-US" sz="1200">
                <a:latin typeface="Open Sans" panose="020B0606030504020204" pitchFamily="34" charset="0"/>
                <a:ea typeface="Open Sans" panose="020B0606030504020204" pitchFamily="34" charset="0"/>
                <a:cs typeface="Open Sans" panose="020B0606030504020204" pitchFamily="34" charset="0"/>
              </a:rPr>
              <a:t>POST /posts</a:t>
            </a:r>
          </a:p>
          <a:p>
            <a:pPr marL="139700" indent="0">
              <a:buNone/>
            </a:pPr>
            <a:r>
              <a:rPr lang="en-US" sz="1200"/>
              <a:t>	update an existing post with a given id: </a:t>
            </a:r>
            <a:r>
              <a:rPr lang="en-US" sz="1200">
                <a:latin typeface="Open Sans" panose="020B0606030504020204" pitchFamily="34" charset="0"/>
                <a:ea typeface="Open Sans" panose="020B0606030504020204" pitchFamily="34" charset="0"/>
                <a:cs typeface="Open Sans" panose="020B0606030504020204" pitchFamily="34" charset="0"/>
              </a:rPr>
              <a:t>PUT /posts/:id</a:t>
            </a:r>
          </a:p>
          <a:p>
            <a:pPr marL="139700" indent="0">
              <a:buNone/>
            </a:pPr>
            <a:r>
              <a:rPr lang="en-US" sz="1200"/>
              <a:t>	delete an existing post with a given id: </a:t>
            </a:r>
            <a:r>
              <a:rPr lang="en-US" sz="1200">
                <a:latin typeface="Open Sans" panose="020B0606030504020204" pitchFamily="34" charset="0"/>
                <a:ea typeface="Open Sans" panose="020B0606030504020204" pitchFamily="34" charset="0"/>
                <a:cs typeface="Open Sans" panose="020B0606030504020204" pitchFamily="34" charset="0"/>
              </a:rPr>
              <a:t>DELETE /posts/:id</a:t>
            </a:r>
            <a:endParaRPr lang="en" sz="1200">
              <a:latin typeface="Open Sans" panose="020B0606030504020204" pitchFamily="34" charset="0"/>
              <a:ea typeface="Open Sans" panose="020B0606030504020204" pitchFamily="34" charset="0"/>
              <a:cs typeface="Open Sans" panose="020B0606030504020204" pitchFamily="34" charset="0"/>
            </a:endParaRPr>
          </a:p>
          <a:p>
            <a:pPr marL="139700" indent="0">
              <a:buNone/>
            </a:pPr>
            <a:endParaRPr lang="en" sz="1200">
              <a:latin typeface="Open Sans" panose="020B0606030504020204" pitchFamily="34" charset="0"/>
              <a:ea typeface="Open Sans" panose="020B0606030504020204" pitchFamily="34" charset="0"/>
              <a:cs typeface="Open Sans" panose="020B0606030504020204" pitchFamily="34" charset="0"/>
            </a:endParaRPr>
          </a:p>
          <a:p>
            <a:pPr marL="139700" indent="0">
              <a:buNone/>
            </a:pPr>
            <a:r>
              <a:rPr lang="en" sz="1200" b="1">
                <a:latin typeface="+mn-lt"/>
                <a:ea typeface="Open Sans" panose="020B0606030504020204" pitchFamily="34" charset="0"/>
                <a:cs typeface="Open Sans" panose="020B0606030504020204" pitchFamily="34" charset="0"/>
              </a:rPr>
              <a:t>Example </a:t>
            </a:r>
            <a:r>
              <a:rPr lang="en" sz="1200" i="1">
                <a:latin typeface="+mn-lt"/>
                <a:ea typeface="Open Sans" panose="020B0606030504020204" pitchFamily="34" charset="0"/>
                <a:cs typeface="Open Sans" panose="020B0606030504020204" pitchFamily="34" charset="0"/>
              </a:rPr>
              <a:t>retrieve post with a given id =&gt;</a:t>
            </a:r>
            <a:endParaRPr lang="en" i="1">
              <a:latin typeface="+mn-lt"/>
            </a:endParaRPr>
          </a:p>
          <a:p>
            <a:pPr lvl="1" indent="-317500">
              <a:spcBef>
                <a:spcPts val="0"/>
              </a:spcBef>
              <a:buSzPts val="1400"/>
            </a:pPr>
            <a:endParaRPr lang="en"/>
          </a:p>
        </p:txBody>
      </p:sp>
      <p:pic>
        <p:nvPicPr>
          <p:cNvPr id="3" name="Picture 2" descr="A screenshot of a computer&#10;&#10;AI-generated content may be incorrect.">
            <a:extLst>
              <a:ext uri="{FF2B5EF4-FFF2-40B4-BE49-F238E27FC236}">
                <a16:creationId xmlns:a16="http://schemas.microsoft.com/office/drawing/2014/main" id="{E17BD5C8-D622-2862-9939-D9517C2D4D6C}"/>
              </a:ext>
            </a:extLst>
          </p:cNvPr>
          <p:cNvPicPr>
            <a:picLocks noChangeAspect="1"/>
          </p:cNvPicPr>
          <p:nvPr/>
        </p:nvPicPr>
        <p:blipFill>
          <a:blip r:embed="rId4"/>
          <a:stretch>
            <a:fillRect/>
          </a:stretch>
        </p:blipFill>
        <p:spPr>
          <a:xfrm>
            <a:off x="685800" y="1794342"/>
            <a:ext cx="6769768" cy="907115"/>
          </a:xfrm>
          <a:prstGeom prst="rect">
            <a:avLst/>
          </a:prstGeom>
        </p:spPr>
      </p:pic>
      <p:pic>
        <p:nvPicPr>
          <p:cNvPr id="5" name="Picture 4" descr="A screenshot of a social media post&#10;&#10;AI-generated content may be incorrect.">
            <a:extLst>
              <a:ext uri="{FF2B5EF4-FFF2-40B4-BE49-F238E27FC236}">
                <a16:creationId xmlns:a16="http://schemas.microsoft.com/office/drawing/2014/main" id="{7A8D2DBB-B4E7-58CC-06BE-148C7532184D}"/>
              </a:ext>
            </a:extLst>
          </p:cNvPr>
          <p:cNvPicPr>
            <a:picLocks noChangeAspect="1"/>
          </p:cNvPicPr>
          <p:nvPr/>
        </p:nvPicPr>
        <p:blipFill>
          <a:blip r:embed="rId5"/>
          <a:stretch>
            <a:fillRect/>
          </a:stretch>
        </p:blipFill>
        <p:spPr>
          <a:xfrm>
            <a:off x="3488481" y="4388483"/>
            <a:ext cx="3256268" cy="572594"/>
          </a:xfrm>
          <a:prstGeom prst="rect">
            <a:avLst/>
          </a:prstGeom>
        </p:spPr>
      </p:pic>
    </p:spTree>
    <p:extLst>
      <p:ext uri="{BB962C8B-B14F-4D97-AF65-F5344CB8AC3E}">
        <p14:creationId xmlns:p14="http://schemas.microsoft.com/office/powerpoint/2010/main" val="41626539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4"/>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dirty="0"/>
              <a:t>Exercise 2</a:t>
            </a:r>
            <a:endParaRPr dirty="0"/>
          </a:p>
        </p:txBody>
      </p:sp>
      <p:sp>
        <p:nvSpPr>
          <p:cNvPr id="159" name="Google Shape;159;p14"/>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dirty="0"/>
              <a:t>Given Ex2View.vue and BlogPost.vue, complete the TODO so that the posts are displayed using ‘BlogPost’ components.</a:t>
            </a:r>
            <a:endParaRPr dirty="0"/>
          </a:p>
          <a:p>
            <a:pPr marL="0" marR="0" lvl="0" indent="0" algn="l" rtl="0">
              <a:lnSpc>
                <a:spcPct val="115000"/>
              </a:lnSpc>
              <a:spcBef>
                <a:spcPts val="1600"/>
              </a:spcBef>
              <a:spcAft>
                <a:spcPts val="0"/>
              </a:spcAft>
              <a:buSzPts val="1400"/>
              <a:buNone/>
            </a:pPr>
            <a:r>
              <a:rPr lang="en" dirty="0"/>
              <a:t>Hint: </a:t>
            </a:r>
          </a:p>
          <a:p>
            <a:pPr marL="457200" lvl="1" indent="0">
              <a:buNone/>
            </a:pPr>
            <a:r>
              <a:rPr lang="en" dirty="0"/>
              <a:t>three images are provided under the folder </a:t>
            </a:r>
            <a:r>
              <a:rPr lang="en" dirty="0">
                <a:latin typeface="Open Sans" panose="020B0606030504020204" pitchFamily="34" charset="0"/>
                <a:ea typeface="Open Sans" panose="020B0606030504020204" pitchFamily="34" charset="0"/>
                <a:cs typeface="Open Sans" panose="020B0606030504020204" pitchFamily="34" charset="0"/>
              </a:rPr>
              <a:t>/src/assets/ </a:t>
            </a:r>
            <a:r>
              <a:rPr lang="en" dirty="0"/>
              <a:t>for different moods.</a:t>
            </a:r>
          </a:p>
          <a:p>
            <a:pPr marL="457200" lvl="1" indent="0">
              <a:buNone/>
            </a:pPr>
            <a:r>
              <a:rPr lang="en-US" dirty="0"/>
              <a:t>Use computed property to bind the image source</a:t>
            </a:r>
            <a:endParaRPr lang="en" dirty="0">
              <a:latin typeface="Menlo" panose="020B0609030804020204" pitchFamily="49" charset="0"/>
              <a:ea typeface="Menlo" panose="020B0609030804020204" pitchFamily="49" charset="0"/>
              <a:cs typeface="Menlo" panose="020B0609030804020204" pitchFamily="49" charset="0"/>
            </a:endParaRPr>
          </a:p>
          <a:p>
            <a:pPr marL="0" marR="0" lvl="0" indent="0" algn="l" rtl="0">
              <a:lnSpc>
                <a:spcPct val="115000"/>
              </a:lnSpc>
              <a:spcBef>
                <a:spcPts val="1600"/>
              </a:spcBef>
              <a:spcAft>
                <a:spcPts val="0"/>
              </a:spcAft>
              <a:buSzPts val="1400"/>
              <a:buNone/>
            </a:pPr>
            <a:endParaRPr dirty="0"/>
          </a:p>
          <a:p>
            <a:pPr marL="0" marR="0" lvl="0" indent="0" algn="l" rtl="0">
              <a:lnSpc>
                <a:spcPct val="115000"/>
              </a:lnSpc>
              <a:spcBef>
                <a:spcPts val="1600"/>
              </a:spcBef>
              <a:spcAft>
                <a:spcPts val="0"/>
              </a:spcAft>
              <a:buSzPts val="1400"/>
              <a:buNone/>
            </a:pPr>
            <a:endParaRPr dirty="0"/>
          </a:p>
          <a:p>
            <a:pPr marL="0" marR="0" lvl="0" indent="0" algn="l" rtl="0">
              <a:lnSpc>
                <a:spcPct val="115000"/>
              </a:lnSpc>
              <a:spcBef>
                <a:spcPts val="1600"/>
              </a:spcBef>
              <a:spcAft>
                <a:spcPts val="1600"/>
              </a:spcAft>
              <a:buSzPts val="1400"/>
              <a:buNone/>
            </a:pPr>
            <a:endParaRPr dirty="0"/>
          </a:p>
        </p:txBody>
      </p:sp>
      <p:pic>
        <p:nvPicPr>
          <p:cNvPr id="3" name="Picture 2">
            <a:extLst>
              <a:ext uri="{FF2B5EF4-FFF2-40B4-BE49-F238E27FC236}">
                <a16:creationId xmlns:a16="http://schemas.microsoft.com/office/drawing/2014/main" id="{17CA3CDD-E0DA-CC25-6EC0-EF5297808F5D}"/>
              </a:ext>
            </a:extLst>
          </p:cNvPr>
          <p:cNvPicPr>
            <a:picLocks noChangeAspect="1"/>
          </p:cNvPicPr>
          <p:nvPr/>
        </p:nvPicPr>
        <p:blipFill>
          <a:blip r:embed="rId3"/>
          <a:stretch>
            <a:fillRect/>
          </a:stretch>
        </p:blipFill>
        <p:spPr>
          <a:xfrm>
            <a:off x="5054813" y="0"/>
            <a:ext cx="1436050" cy="51435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5"/>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dirty="0"/>
              <a:t>Exercise 3</a:t>
            </a:r>
            <a:endParaRPr dirty="0"/>
          </a:p>
        </p:txBody>
      </p:sp>
      <p:sp>
        <p:nvSpPr>
          <p:cNvPr id="166" name="Google Shape;166;p15"/>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dirty="0"/>
              <a:t>After completing Ex2View.vue in Exercise 2, add a ‘delete’ button for each post such that the post can be deleted using the deletePost service given in “blog” application (i.e., </a:t>
            </a:r>
          </a:p>
          <a:p>
            <a:pPr marL="0" indent="0">
              <a:buNone/>
            </a:pPr>
            <a:r>
              <a:rPr lang="en" dirty="0"/>
              <a:t>send Asynchronous DELETE request to </a:t>
            </a:r>
            <a:r>
              <a:rPr lang="en-SG" dirty="0">
                <a:hlinkClick r:id="rId3"/>
              </a:rPr>
              <a:t>http://localhost:8000/posts/:id</a:t>
            </a:r>
            <a:r>
              <a:rPr lang="en-SG" dirty="0"/>
              <a:t>   </a:t>
            </a:r>
          </a:p>
          <a:p>
            <a:pPr marL="0" indent="0">
              <a:buNone/>
            </a:pPr>
            <a:endParaRPr lang="en-SG" dirty="0"/>
          </a:p>
          <a:p>
            <a:pPr marL="0" indent="0">
              <a:buNone/>
            </a:pPr>
            <a:r>
              <a:rPr lang="en-SG" dirty="0"/>
              <a:t>with the blog ‘subject’ parameter</a:t>
            </a:r>
            <a:r>
              <a:rPr lang="en" dirty="0"/>
              <a:t>)</a:t>
            </a:r>
            <a:endParaRPr dirty="0"/>
          </a:p>
          <a:p>
            <a:pPr marL="0" marR="0" lvl="0" indent="0" algn="l" rtl="0">
              <a:lnSpc>
                <a:spcPct val="115000"/>
              </a:lnSpc>
              <a:spcBef>
                <a:spcPts val="1600"/>
              </a:spcBef>
              <a:spcAft>
                <a:spcPts val="0"/>
              </a:spcAft>
              <a:buSzPts val="1400"/>
              <a:buNone/>
            </a:pPr>
            <a:r>
              <a:rPr lang="en" dirty="0"/>
              <a:t>Hint: </a:t>
            </a:r>
          </a:p>
          <a:p>
            <a:pPr marL="285750" indent="-285750"/>
            <a:r>
              <a:rPr lang="en" dirty="0"/>
              <a:t>Use </a:t>
            </a:r>
            <a:r>
              <a:rPr lang="en" b="1" dirty="0"/>
              <a:t>slot</a:t>
            </a:r>
            <a:r>
              <a:rPr lang="en" dirty="0"/>
              <a:t> to add the button</a:t>
            </a:r>
          </a:p>
          <a:p>
            <a:pPr marL="285750" indent="-285750"/>
            <a:r>
              <a:rPr lang="en" dirty="0"/>
              <a:t>Use Axios delete method </a:t>
            </a:r>
          </a:p>
          <a:p>
            <a:pPr marL="742950" lvl="1" indent="-285750">
              <a:spcBef>
                <a:spcPts val="0"/>
              </a:spcBef>
            </a:pPr>
            <a:r>
              <a:rPr lang="en-SG" dirty="0" err="1"/>
              <a:t>axios.delete</a:t>
            </a:r>
            <a:r>
              <a:rPr lang="en-SG" dirty="0"/>
              <a:t>(</a:t>
            </a:r>
            <a:r>
              <a:rPr lang="en-SG" dirty="0" err="1"/>
              <a:t>url</a:t>
            </a:r>
            <a:r>
              <a:rPr lang="en-SG" dirty="0"/>
              <a:t>, { data: { subject: subject } })</a:t>
            </a:r>
            <a:endParaRPr dirty="0"/>
          </a:p>
          <a:p>
            <a:pPr marL="0" marR="0" lvl="0" indent="0" algn="l" rtl="0">
              <a:lnSpc>
                <a:spcPct val="115000"/>
              </a:lnSpc>
              <a:spcBef>
                <a:spcPts val="1600"/>
              </a:spcBef>
              <a:spcAft>
                <a:spcPts val="0"/>
              </a:spcAft>
              <a:buSzPts val="1400"/>
              <a:buNone/>
            </a:pPr>
            <a:endParaRPr dirty="0"/>
          </a:p>
          <a:p>
            <a:pPr marL="0" marR="0" lvl="0" indent="0" algn="l" rtl="0">
              <a:lnSpc>
                <a:spcPct val="115000"/>
              </a:lnSpc>
              <a:spcBef>
                <a:spcPts val="1600"/>
              </a:spcBef>
              <a:spcAft>
                <a:spcPts val="1600"/>
              </a:spcAft>
              <a:buSzPts val="1400"/>
              <a:buNone/>
            </a:pPr>
            <a:endParaRPr dirty="0"/>
          </a:p>
        </p:txBody>
      </p:sp>
      <p:pic>
        <p:nvPicPr>
          <p:cNvPr id="4" name="Picture 3">
            <a:extLst>
              <a:ext uri="{FF2B5EF4-FFF2-40B4-BE49-F238E27FC236}">
                <a16:creationId xmlns:a16="http://schemas.microsoft.com/office/drawing/2014/main" id="{4815EFCC-DC42-2719-C371-1CB1ED42125E}"/>
              </a:ext>
            </a:extLst>
          </p:cNvPr>
          <p:cNvPicPr>
            <a:picLocks noChangeAspect="1"/>
          </p:cNvPicPr>
          <p:nvPr/>
        </p:nvPicPr>
        <p:blipFill>
          <a:blip r:embed="rId4"/>
          <a:stretch>
            <a:fillRect/>
          </a:stretch>
        </p:blipFill>
        <p:spPr>
          <a:xfrm>
            <a:off x="5223244" y="1147225"/>
            <a:ext cx="2581635" cy="367716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26BEC-DFD9-164B-97F5-EEDAD55BF904}"/>
              </a:ext>
            </a:extLst>
          </p:cNvPr>
          <p:cNvSpPr>
            <a:spLocks noGrp="1"/>
          </p:cNvSpPr>
          <p:nvPr>
            <p:ph type="title"/>
          </p:nvPr>
        </p:nvSpPr>
        <p:spPr/>
        <p:txBody>
          <a:bodyPr/>
          <a:lstStyle/>
          <a:p>
            <a:r>
              <a:rPr lang="en-US" sz="3600" dirty="0"/>
              <a:t>Emitting Events (1)</a:t>
            </a:r>
          </a:p>
        </p:txBody>
      </p:sp>
      <p:sp>
        <p:nvSpPr>
          <p:cNvPr id="3" name="Text Placeholder 2">
            <a:extLst>
              <a:ext uri="{FF2B5EF4-FFF2-40B4-BE49-F238E27FC236}">
                <a16:creationId xmlns:a16="http://schemas.microsoft.com/office/drawing/2014/main" id="{52200240-4C38-FB44-B28A-A733AB2137FC}"/>
              </a:ext>
            </a:extLst>
          </p:cNvPr>
          <p:cNvSpPr>
            <a:spLocks noGrp="1"/>
          </p:cNvSpPr>
          <p:nvPr>
            <p:ph type="body" idx="1"/>
          </p:nvPr>
        </p:nvSpPr>
        <p:spPr/>
        <p:txBody>
          <a:bodyPr/>
          <a:lstStyle/>
          <a:p>
            <a:pPr marL="139700" indent="0">
              <a:buNone/>
            </a:pPr>
            <a:r>
              <a:rPr lang="en-US" dirty="0"/>
              <a:t>Sometimes the nodes (</a:t>
            </a:r>
            <a:r>
              <a:rPr lang="en-US" dirty="0" err="1"/>
              <a:t>childs</a:t>
            </a:r>
            <a:r>
              <a:rPr lang="en-US" dirty="0"/>
              <a:t>) in the component may need to communicate to the parent, such as ‘emit an event’</a:t>
            </a:r>
          </a:p>
          <a:p>
            <a:pPr marL="139700" indent="0">
              <a:buNone/>
            </a:pPr>
            <a:endParaRPr lang="en-US" dirty="0"/>
          </a:p>
          <a:p>
            <a:pPr marL="139700" indent="0">
              <a:buNone/>
            </a:pPr>
            <a:r>
              <a:rPr lang="en-US" dirty="0"/>
              <a:t>Suppose we have a button in a component. On clicking the button, it wants to enlarge the text. So the component needs to declare that it will emit events using </a:t>
            </a:r>
            <a:r>
              <a:rPr lang="en-US" b="1" dirty="0" err="1"/>
              <a:t>defineEmits</a:t>
            </a:r>
            <a:r>
              <a:rPr lang="en-US" b="1" dirty="0"/>
              <a:t>()</a:t>
            </a:r>
          </a:p>
          <a:p>
            <a:pPr marL="139700" indent="0">
              <a:buNone/>
            </a:pPr>
            <a:endParaRPr lang="en-US" dirty="0"/>
          </a:p>
          <a:p>
            <a:pPr marL="139700" indent="0">
              <a:buNone/>
            </a:pPr>
            <a:r>
              <a:rPr lang="en-US" dirty="0"/>
              <a:t>Naming convention for event name: same as ‘props’</a:t>
            </a:r>
          </a:p>
        </p:txBody>
      </p:sp>
      <p:sp>
        <p:nvSpPr>
          <p:cNvPr id="4" name="Text Placeholder 3">
            <a:extLst>
              <a:ext uri="{FF2B5EF4-FFF2-40B4-BE49-F238E27FC236}">
                <a16:creationId xmlns:a16="http://schemas.microsoft.com/office/drawing/2014/main" id="{5B42E0ED-4F36-F142-895B-2AE71BD25015}"/>
              </a:ext>
            </a:extLst>
          </p:cNvPr>
          <p:cNvSpPr>
            <a:spLocks noGrp="1"/>
          </p:cNvSpPr>
          <p:nvPr>
            <p:ph type="body" idx="2"/>
          </p:nvPr>
        </p:nvSpPr>
        <p:spPr>
          <a:xfrm>
            <a:off x="4832400" y="1225224"/>
            <a:ext cx="4154846" cy="3803975"/>
          </a:xfrm>
        </p:spPr>
        <p:txBody>
          <a:bodyPr/>
          <a:lstStyle/>
          <a:p>
            <a:pPr marL="0" lvl="0" indent="0">
              <a:buClr>
                <a:srgbClr val="000000"/>
              </a:buClr>
              <a:buNone/>
            </a:pPr>
            <a:r>
              <a:rPr lang="en-SG" b="1" dirty="0">
                <a:solidFill>
                  <a:srgbClr val="000000"/>
                </a:solidFill>
              </a:rPr>
              <a:t>Example: </a:t>
            </a:r>
            <a:r>
              <a:rPr lang="en-SG" i="1" dirty="0">
                <a:solidFill>
                  <a:srgbClr val="000000"/>
                </a:solidFill>
              </a:rPr>
              <a:t>Product3.vue</a:t>
            </a:r>
          </a:p>
          <a:p>
            <a:pPr marL="0" lvl="0" indent="0">
              <a:buClr>
                <a:srgbClr val="000000"/>
              </a:buClr>
              <a:buNone/>
            </a:pPr>
            <a:endParaRPr lang="en-SG" i="1" dirty="0">
              <a:solidFill>
                <a:srgbClr val="000000"/>
              </a:solidFill>
            </a:endParaRPr>
          </a:p>
          <a:p>
            <a:pPr marL="0" lvl="0" indent="0">
              <a:buClr>
                <a:srgbClr val="000000"/>
              </a:buClr>
              <a:buNone/>
            </a:pPr>
            <a:endParaRPr lang="en-SG" i="1" dirty="0">
              <a:solidFill>
                <a:srgbClr val="000000"/>
              </a:solidFill>
            </a:endParaRPr>
          </a:p>
          <a:p>
            <a:pPr marL="0" lvl="0" indent="0">
              <a:buClr>
                <a:srgbClr val="000000"/>
              </a:buClr>
              <a:buNone/>
            </a:pPr>
            <a:r>
              <a:rPr lang="en-SG" dirty="0" err="1">
                <a:latin typeface="Open Sans" panose="020B0606030504020204" pitchFamily="34" charset="0"/>
                <a:ea typeface="Open Sans" panose="020B0606030504020204" pitchFamily="34" charset="0"/>
                <a:cs typeface="Open Sans" panose="020B0606030504020204" pitchFamily="34" charset="0"/>
              </a:rPr>
              <a:t>const</a:t>
            </a:r>
            <a:r>
              <a:rPr lang="en-SG" dirty="0">
                <a:latin typeface="Open Sans" panose="020B0606030504020204" pitchFamily="34" charset="0"/>
                <a:ea typeface="Open Sans" panose="020B0606030504020204" pitchFamily="34" charset="0"/>
                <a:cs typeface="Open Sans" panose="020B0606030504020204" pitchFamily="34" charset="0"/>
              </a:rPr>
              <a:t> emit = </a:t>
            </a:r>
            <a:r>
              <a:rPr lang="en-SG" dirty="0" err="1">
                <a:latin typeface="Open Sans" panose="020B0606030504020204" pitchFamily="34" charset="0"/>
                <a:ea typeface="Open Sans" panose="020B0606030504020204" pitchFamily="34" charset="0"/>
                <a:cs typeface="Open Sans" panose="020B0606030504020204" pitchFamily="34" charset="0"/>
              </a:rPr>
              <a:t>defineEmits</a:t>
            </a:r>
            <a:r>
              <a:rPr lang="en-SG" dirty="0">
                <a:latin typeface="Open Sans" panose="020B0606030504020204" pitchFamily="34" charset="0"/>
                <a:ea typeface="Open Sans" panose="020B0606030504020204" pitchFamily="34" charset="0"/>
                <a:cs typeface="Open Sans" panose="020B0606030504020204" pitchFamily="34" charset="0"/>
              </a:rPr>
              <a:t>(['enlarge', 'shrink'])</a:t>
            </a:r>
          </a:p>
        </p:txBody>
      </p:sp>
    </p:spTree>
    <p:extLst>
      <p:ext uri="{BB962C8B-B14F-4D97-AF65-F5344CB8AC3E}">
        <p14:creationId xmlns:p14="http://schemas.microsoft.com/office/powerpoint/2010/main" val="8774239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B7270-BDDA-8A57-F63E-A6C9F9ACED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3EAFED-8D3E-69F4-5107-6E9BF6833593}"/>
              </a:ext>
            </a:extLst>
          </p:cNvPr>
          <p:cNvSpPr>
            <a:spLocks noGrp="1"/>
          </p:cNvSpPr>
          <p:nvPr>
            <p:ph type="title"/>
          </p:nvPr>
        </p:nvSpPr>
        <p:spPr/>
        <p:txBody>
          <a:bodyPr/>
          <a:lstStyle/>
          <a:p>
            <a:r>
              <a:rPr lang="en-US" sz="3600" dirty="0"/>
              <a:t>Emitting Events (2)</a:t>
            </a:r>
          </a:p>
        </p:txBody>
      </p:sp>
      <p:sp>
        <p:nvSpPr>
          <p:cNvPr id="3" name="Text Placeholder 2">
            <a:extLst>
              <a:ext uri="{FF2B5EF4-FFF2-40B4-BE49-F238E27FC236}">
                <a16:creationId xmlns:a16="http://schemas.microsoft.com/office/drawing/2014/main" id="{B70B6852-656D-BA6F-E20A-74A5D5AD982B}"/>
              </a:ext>
            </a:extLst>
          </p:cNvPr>
          <p:cNvSpPr>
            <a:spLocks noGrp="1"/>
          </p:cNvSpPr>
          <p:nvPr>
            <p:ph type="body" idx="1"/>
          </p:nvPr>
        </p:nvSpPr>
        <p:spPr/>
        <p:txBody>
          <a:bodyPr/>
          <a:lstStyle/>
          <a:p>
            <a:pPr marL="139700" indent="0">
              <a:buNone/>
            </a:pPr>
            <a:r>
              <a:rPr lang="en-US" dirty="0"/>
              <a:t>We can emit an event either inline or inside a function</a:t>
            </a:r>
          </a:p>
          <a:p>
            <a:pPr marL="139700" indent="0">
              <a:buNone/>
            </a:pPr>
            <a:endParaRPr lang="en-US" dirty="0"/>
          </a:p>
          <a:p>
            <a:pPr marL="139700" indent="0">
              <a:buNone/>
            </a:pPr>
            <a:r>
              <a:rPr lang="en-US" dirty="0"/>
              <a:t>For inline emitting, use </a:t>
            </a:r>
            <a:r>
              <a:rPr lang="en-US" b="1" dirty="0"/>
              <a:t>$emit </a:t>
            </a:r>
            <a:r>
              <a:rPr lang="en-US" dirty="0"/>
              <a:t>to emit a custom event </a:t>
            </a:r>
          </a:p>
          <a:p>
            <a:pPr marL="139700" indent="0">
              <a:buNone/>
            </a:pPr>
            <a:endParaRPr lang="en-US" dirty="0"/>
          </a:p>
        </p:txBody>
      </p:sp>
      <p:sp>
        <p:nvSpPr>
          <p:cNvPr id="4" name="Text Placeholder 3">
            <a:extLst>
              <a:ext uri="{FF2B5EF4-FFF2-40B4-BE49-F238E27FC236}">
                <a16:creationId xmlns:a16="http://schemas.microsoft.com/office/drawing/2014/main" id="{6D1171A1-E7D3-8845-AE00-976A39409DD5}"/>
              </a:ext>
            </a:extLst>
          </p:cNvPr>
          <p:cNvSpPr>
            <a:spLocks noGrp="1"/>
          </p:cNvSpPr>
          <p:nvPr>
            <p:ph type="body" idx="2"/>
          </p:nvPr>
        </p:nvSpPr>
        <p:spPr>
          <a:xfrm>
            <a:off x="4832400" y="1225224"/>
            <a:ext cx="4154846" cy="3803975"/>
          </a:xfrm>
        </p:spPr>
        <p:txBody>
          <a:bodyPr/>
          <a:lstStyle/>
          <a:p>
            <a:pPr marL="0" lvl="0" indent="0">
              <a:buClr>
                <a:srgbClr val="000000"/>
              </a:buClr>
              <a:buNone/>
            </a:pPr>
            <a:r>
              <a:rPr lang="en-SG" b="1" dirty="0">
                <a:solidFill>
                  <a:srgbClr val="000000"/>
                </a:solidFill>
              </a:rPr>
              <a:t>Example: </a:t>
            </a:r>
            <a:r>
              <a:rPr lang="en-SG" i="1" dirty="0">
                <a:solidFill>
                  <a:srgbClr val="000000"/>
                </a:solidFill>
              </a:rPr>
              <a:t>Product3.vue</a:t>
            </a:r>
          </a:p>
          <a:p>
            <a:pPr marL="0" lvl="0" indent="0">
              <a:buClr>
                <a:srgbClr val="000000"/>
              </a:buClr>
              <a:buNone/>
            </a:pPr>
            <a:endParaRPr lang="en-SG" dirty="0">
              <a:solidFill>
                <a:srgbClr val="000000"/>
              </a:solidFill>
              <a:latin typeface="Menlo" panose="020B0609030804020204" pitchFamily="49" charset="0"/>
              <a:ea typeface="Menlo" panose="020B0609030804020204" pitchFamily="49" charset="0"/>
              <a:cs typeface="Menlo" panose="020B0609030804020204" pitchFamily="49" charset="0"/>
            </a:endParaRPr>
          </a:p>
          <a:p>
            <a:pPr marL="0" lvl="0" indent="0">
              <a:buClr>
                <a:srgbClr val="000000"/>
              </a:buClr>
              <a:buNone/>
            </a:pPr>
            <a:r>
              <a:rPr lang="en-SG" dirty="0">
                <a:solidFill>
                  <a:srgbClr val="000000"/>
                </a:solidFill>
                <a:latin typeface="Open Sans" panose="020B0606030504020204" pitchFamily="34" charset="0"/>
                <a:ea typeface="Open Sans" panose="020B0606030504020204" pitchFamily="34" charset="0"/>
                <a:cs typeface="Open Sans" panose="020B0606030504020204" pitchFamily="34" charset="0"/>
              </a:rPr>
              <a:t>&lt;div class='product’&gt;</a:t>
            </a:r>
          </a:p>
          <a:p>
            <a:pPr marL="0" lvl="0" indent="0">
              <a:buClr>
                <a:srgbClr val="000000"/>
              </a:buClr>
              <a:buNone/>
            </a:pPr>
            <a:r>
              <a:rPr lang="en-SG" dirty="0">
                <a:solidFill>
                  <a:srgbClr val="000000"/>
                </a:solidFill>
                <a:latin typeface="Open Sans" panose="020B0606030504020204" pitchFamily="34" charset="0"/>
                <a:ea typeface="Open Sans" panose="020B0606030504020204" pitchFamily="34" charset="0"/>
                <a:cs typeface="Open Sans" panose="020B0606030504020204" pitchFamily="34" charset="0"/>
              </a:rPr>
              <a:t>   &lt;h3&gt;{{ </a:t>
            </a:r>
            <a:r>
              <a:rPr lang="en-SG"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prod.name</a:t>
            </a:r>
            <a:r>
              <a:rPr lang="en-SG" dirty="0">
                <a:solidFill>
                  <a:srgbClr val="000000"/>
                </a:solidFill>
                <a:latin typeface="Open Sans" panose="020B0606030504020204" pitchFamily="34" charset="0"/>
                <a:ea typeface="Open Sans" panose="020B0606030504020204" pitchFamily="34" charset="0"/>
                <a:cs typeface="Open Sans" panose="020B0606030504020204" pitchFamily="34" charset="0"/>
              </a:rPr>
              <a:t> }}&lt;/h3&gt;</a:t>
            </a:r>
          </a:p>
          <a:p>
            <a:pPr marL="0" lvl="0" indent="0">
              <a:buClr>
                <a:srgbClr val="000000"/>
              </a:buClr>
              <a:buNone/>
            </a:pPr>
            <a:r>
              <a:rPr lang="en-SG" dirty="0">
                <a:solidFill>
                  <a:srgbClr val="000000"/>
                </a:solidFill>
                <a:latin typeface="Open Sans" panose="020B0606030504020204" pitchFamily="34" charset="0"/>
                <a:ea typeface="Open Sans" panose="020B0606030504020204" pitchFamily="34" charset="0"/>
                <a:cs typeface="Open Sans" panose="020B0606030504020204" pitchFamily="34" charset="0"/>
              </a:rPr>
              <a:t>   &lt;button </a:t>
            </a:r>
            <a:r>
              <a:rPr lang="en-SG"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v-on:click</a:t>
            </a:r>
            <a:r>
              <a:rPr lang="en-SG" b="1" dirty="0">
                <a:solidFill>
                  <a:srgbClr val="000000"/>
                </a:solidFill>
                <a:latin typeface="Open Sans" panose="020B0606030504020204" pitchFamily="34" charset="0"/>
                <a:ea typeface="Open Sans" panose="020B0606030504020204" pitchFamily="34" charset="0"/>
                <a:cs typeface="Open Sans" panose="020B0606030504020204" pitchFamily="34" charset="0"/>
              </a:rPr>
              <a:t>="$emit('enlarge')</a:t>
            </a:r>
            <a:r>
              <a:rPr lang="en-SG" dirty="0">
                <a:solidFill>
                  <a:srgbClr val="000000"/>
                </a:solidFill>
                <a:latin typeface="Open Sans" panose="020B0606030504020204" pitchFamily="34" charset="0"/>
                <a:ea typeface="Open Sans" panose="020B0606030504020204" pitchFamily="34" charset="0"/>
                <a:cs typeface="Open Sans" panose="020B0606030504020204" pitchFamily="34" charset="0"/>
              </a:rPr>
              <a:t>"&gt;</a:t>
            </a:r>
          </a:p>
          <a:p>
            <a:pPr marL="0" lvl="0" indent="0">
              <a:buClr>
                <a:srgbClr val="000000"/>
              </a:buClr>
              <a:buNone/>
            </a:pPr>
            <a:r>
              <a:rPr lang="en-SG" dirty="0">
                <a:solidFill>
                  <a:srgbClr val="000000"/>
                </a:solidFill>
                <a:latin typeface="Open Sans" panose="020B0606030504020204" pitchFamily="34" charset="0"/>
                <a:ea typeface="Open Sans" panose="020B0606030504020204" pitchFamily="34" charset="0"/>
                <a:cs typeface="Open Sans" panose="020B0606030504020204" pitchFamily="34" charset="0"/>
              </a:rPr>
              <a:t>	Enlarge text </a:t>
            </a:r>
          </a:p>
          <a:p>
            <a:pPr marL="0" lvl="0" indent="0">
              <a:buClr>
                <a:srgbClr val="000000"/>
              </a:buClr>
              <a:buNone/>
            </a:pPr>
            <a:r>
              <a:rPr lang="en-SG" dirty="0">
                <a:solidFill>
                  <a:srgbClr val="000000"/>
                </a:solidFill>
                <a:latin typeface="Open Sans" panose="020B0606030504020204" pitchFamily="34" charset="0"/>
                <a:ea typeface="Open Sans" panose="020B0606030504020204" pitchFamily="34" charset="0"/>
                <a:cs typeface="Open Sans" panose="020B0606030504020204" pitchFamily="34" charset="0"/>
              </a:rPr>
              <a:t>   &lt;/button&gt;</a:t>
            </a:r>
          </a:p>
          <a:p>
            <a:pPr marL="0" lvl="0" indent="0">
              <a:buClr>
                <a:srgbClr val="000000"/>
              </a:buClr>
              <a:buNone/>
            </a:pPr>
            <a:r>
              <a:rPr lang="en-SG" dirty="0">
                <a:solidFill>
                  <a:srgbClr val="000000"/>
                </a:solidFill>
                <a:latin typeface="Open Sans" panose="020B0606030504020204" pitchFamily="34" charset="0"/>
                <a:ea typeface="Open Sans" panose="020B0606030504020204" pitchFamily="34" charset="0"/>
                <a:cs typeface="Open Sans" panose="020B0606030504020204" pitchFamily="34" charset="0"/>
              </a:rPr>
              <a:t>   &lt;div v-html='</a:t>
            </a:r>
            <a:r>
              <a:rPr lang="en-SG"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prod.desc</a:t>
            </a:r>
            <a:r>
              <a:rPr lang="en-SG" dirty="0">
                <a:solidFill>
                  <a:srgbClr val="000000"/>
                </a:solidFill>
                <a:latin typeface="Open Sans" panose="020B0606030504020204" pitchFamily="34" charset="0"/>
                <a:ea typeface="Open Sans" panose="020B0606030504020204" pitchFamily="34" charset="0"/>
                <a:cs typeface="Open Sans" panose="020B0606030504020204" pitchFamily="34" charset="0"/>
              </a:rPr>
              <a:t>'&gt;&lt;/div&gt;</a:t>
            </a:r>
          </a:p>
          <a:p>
            <a:pPr marL="0" lvl="0" indent="0">
              <a:buClr>
                <a:srgbClr val="000000"/>
              </a:buClr>
              <a:buNone/>
            </a:pPr>
            <a:r>
              <a:rPr lang="en-SG" dirty="0">
                <a:solidFill>
                  <a:srgbClr val="000000"/>
                </a:solidFill>
                <a:latin typeface="Open Sans" panose="020B0606030504020204" pitchFamily="34" charset="0"/>
                <a:ea typeface="Open Sans" panose="020B0606030504020204" pitchFamily="34" charset="0"/>
                <a:cs typeface="Open Sans" panose="020B0606030504020204" pitchFamily="34" charset="0"/>
              </a:rPr>
              <a:t>&lt;/div&gt;</a:t>
            </a:r>
          </a:p>
          <a:p>
            <a:pPr marL="0" lvl="0" indent="0">
              <a:buClr>
                <a:srgbClr val="000000"/>
              </a:buClr>
              <a:buNone/>
            </a:pPr>
            <a:endParaRPr lang="en-SG" sz="1200" dirty="0">
              <a:solidFill>
                <a:srgbClr val="000000"/>
              </a:solidFill>
              <a:latin typeface="Menlo" panose="020B0609030804020204" pitchFamily="49" charset="0"/>
              <a:ea typeface="Menlo" panose="020B0609030804020204" pitchFamily="49" charset="0"/>
              <a:cs typeface="Menlo" panose="020B0609030804020204" pitchFamily="49" charset="0"/>
            </a:endParaRPr>
          </a:p>
        </p:txBody>
      </p:sp>
    </p:spTree>
    <p:extLst>
      <p:ext uri="{BB962C8B-B14F-4D97-AF65-F5344CB8AC3E}">
        <p14:creationId xmlns:p14="http://schemas.microsoft.com/office/powerpoint/2010/main" val="5257876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D881C-D434-5679-2BBC-AB56437B4A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C3668D-AF57-21E7-240C-3914C259A8A2}"/>
              </a:ext>
            </a:extLst>
          </p:cNvPr>
          <p:cNvSpPr>
            <a:spLocks noGrp="1"/>
          </p:cNvSpPr>
          <p:nvPr>
            <p:ph type="title"/>
          </p:nvPr>
        </p:nvSpPr>
        <p:spPr/>
        <p:txBody>
          <a:bodyPr/>
          <a:lstStyle/>
          <a:p>
            <a:r>
              <a:rPr lang="en-US" sz="3600" dirty="0"/>
              <a:t>Emitting Events (3)</a:t>
            </a:r>
          </a:p>
        </p:txBody>
      </p:sp>
      <p:sp>
        <p:nvSpPr>
          <p:cNvPr id="3" name="Text Placeholder 2">
            <a:extLst>
              <a:ext uri="{FF2B5EF4-FFF2-40B4-BE49-F238E27FC236}">
                <a16:creationId xmlns:a16="http://schemas.microsoft.com/office/drawing/2014/main" id="{6A853790-DBF7-4B57-E4E4-572C491424F3}"/>
              </a:ext>
            </a:extLst>
          </p:cNvPr>
          <p:cNvSpPr>
            <a:spLocks noGrp="1"/>
          </p:cNvSpPr>
          <p:nvPr>
            <p:ph type="body" idx="1"/>
          </p:nvPr>
        </p:nvSpPr>
        <p:spPr/>
        <p:txBody>
          <a:bodyPr/>
          <a:lstStyle/>
          <a:p>
            <a:pPr marL="139700" indent="0">
              <a:buNone/>
            </a:pPr>
            <a:r>
              <a:rPr lang="en-US" dirty="0"/>
              <a:t>We can emit an event either inline or inside a function</a:t>
            </a:r>
          </a:p>
          <a:p>
            <a:pPr marL="139700" indent="0">
              <a:buNone/>
            </a:pPr>
            <a:endParaRPr lang="en-US" dirty="0"/>
          </a:p>
          <a:p>
            <a:pPr marL="139700" indent="0">
              <a:buNone/>
            </a:pPr>
            <a:r>
              <a:rPr lang="en-US" dirty="0"/>
              <a:t>For emitting an event inside a function, use the returned </a:t>
            </a:r>
            <a:r>
              <a:rPr lang="en-US" b="1" dirty="0"/>
              <a:t>emit instance </a:t>
            </a:r>
            <a:r>
              <a:rPr lang="en-US" dirty="0"/>
              <a:t>from </a:t>
            </a:r>
            <a:r>
              <a:rPr lang="en-US" dirty="0" err="1"/>
              <a:t>defineEmits</a:t>
            </a:r>
            <a:r>
              <a:rPr lang="en-US" dirty="0"/>
              <a:t>()</a:t>
            </a:r>
          </a:p>
          <a:p>
            <a:pPr marL="139700" indent="0">
              <a:buNone/>
            </a:pPr>
            <a:endParaRPr lang="en-US" dirty="0"/>
          </a:p>
        </p:txBody>
      </p:sp>
      <p:sp>
        <p:nvSpPr>
          <p:cNvPr id="4" name="Text Placeholder 3">
            <a:extLst>
              <a:ext uri="{FF2B5EF4-FFF2-40B4-BE49-F238E27FC236}">
                <a16:creationId xmlns:a16="http://schemas.microsoft.com/office/drawing/2014/main" id="{EE17BF6D-92A1-9C8B-246D-D07C1431BDE9}"/>
              </a:ext>
            </a:extLst>
          </p:cNvPr>
          <p:cNvSpPr>
            <a:spLocks noGrp="1"/>
          </p:cNvSpPr>
          <p:nvPr>
            <p:ph type="body" idx="2"/>
          </p:nvPr>
        </p:nvSpPr>
        <p:spPr>
          <a:xfrm>
            <a:off x="4832400" y="1225224"/>
            <a:ext cx="4154846" cy="3803975"/>
          </a:xfrm>
        </p:spPr>
        <p:txBody>
          <a:bodyPr/>
          <a:lstStyle/>
          <a:p>
            <a:pPr marL="0" lvl="0" indent="0">
              <a:buClr>
                <a:srgbClr val="000000"/>
              </a:buClr>
              <a:buNone/>
            </a:pPr>
            <a:r>
              <a:rPr lang="en-SG" b="1" dirty="0">
                <a:solidFill>
                  <a:srgbClr val="000000"/>
                </a:solidFill>
              </a:rPr>
              <a:t>Example: </a:t>
            </a:r>
            <a:r>
              <a:rPr lang="en-SG" i="1" dirty="0">
                <a:solidFill>
                  <a:srgbClr val="000000"/>
                </a:solidFill>
              </a:rPr>
              <a:t>Product3.vue</a:t>
            </a:r>
          </a:p>
          <a:p>
            <a:pPr marL="0" lvl="0" indent="0">
              <a:buClr>
                <a:srgbClr val="000000"/>
              </a:buClr>
              <a:buNone/>
            </a:pPr>
            <a:endParaRPr lang="en-SG" dirty="0">
              <a:solidFill>
                <a:srgbClr val="000000"/>
              </a:solidFill>
              <a:latin typeface="Menlo" panose="020B0609030804020204" pitchFamily="49" charset="0"/>
              <a:ea typeface="Menlo" panose="020B0609030804020204" pitchFamily="49" charset="0"/>
              <a:cs typeface="Menlo" panose="020B0609030804020204" pitchFamily="49" charset="0"/>
            </a:endParaRPr>
          </a:p>
          <a:p>
            <a:pPr marL="0" lvl="0" indent="0">
              <a:buClr>
                <a:srgbClr val="000000"/>
              </a:buClr>
              <a:buNone/>
            </a:pPr>
            <a:r>
              <a:rPr lang="en-SG" dirty="0">
                <a:solidFill>
                  <a:srgbClr val="000000"/>
                </a:solidFill>
                <a:latin typeface="Open Sans" panose="020B0606030504020204" pitchFamily="34" charset="0"/>
                <a:ea typeface="Open Sans" panose="020B0606030504020204" pitchFamily="34" charset="0"/>
                <a:cs typeface="Open Sans" panose="020B0606030504020204" pitchFamily="34" charset="0"/>
              </a:rPr>
              <a:t>&lt;script&gt;</a:t>
            </a:r>
          </a:p>
          <a:p>
            <a:pPr marL="0" lvl="0" indent="0">
              <a:buClr>
                <a:srgbClr val="000000"/>
              </a:buClr>
              <a:buNone/>
            </a:pPr>
            <a:r>
              <a:rPr lang="en-SG"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const</a:t>
            </a:r>
            <a:r>
              <a:rPr lang="en-SG" dirty="0">
                <a:solidFill>
                  <a:srgbClr val="000000"/>
                </a:solidFill>
                <a:latin typeface="Open Sans" panose="020B0606030504020204" pitchFamily="34" charset="0"/>
                <a:ea typeface="Open Sans" panose="020B0606030504020204" pitchFamily="34" charset="0"/>
                <a:cs typeface="Open Sans" panose="020B0606030504020204" pitchFamily="34" charset="0"/>
              </a:rPr>
              <a:t> </a:t>
            </a:r>
            <a:r>
              <a:rPr lang="en-SG" b="1" dirty="0">
                <a:solidFill>
                  <a:srgbClr val="000000"/>
                </a:solidFill>
                <a:latin typeface="Open Sans" panose="020B0606030504020204" pitchFamily="34" charset="0"/>
                <a:ea typeface="Open Sans" panose="020B0606030504020204" pitchFamily="34" charset="0"/>
                <a:cs typeface="Open Sans" panose="020B0606030504020204" pitchFamily="34" charset="0"/>
              </a:rPr>
              <a:t>emit</a:t>
            </a:r>
            <a:r>
              <a:rPr lang="en-SG" dirty="0">
                <a:solidFill>
                  <a:srgbClr val="000000"/>
                </a:solidFill>
                <a:latin typeface="Open Sans" panose="020B0606030504020204" pitchFamily="34" charset="0"/>
                <a:ea typeface="Open Sans" panose="020B0606030504020204" pitchFamily="34" charset="0"/>
                <a:cs typeface="Open Sans" panose="020B0606030504020204" pitchFamily="34" charset="0"/>
              </a:rPr>
              <a:t> = </a:t>
            </a:r>
            <a:r>
              <a:rPr lang="en-SG"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defineEmits</a:t>
            </a:r>
            <a:r>
              <a:rPr lang="en-SG" dirty="0">
                <a:solidFill>
                  <a:srgbClr val="000000"/>
                </a:solidFill>
                <a:latin typeface="Open Sans" panose="020B0606030504020204" pitchFamily="34" charset="0"/>
                <a:ea typeface="Open Sans" panose="020B0606030504020204" pitchFamily="34" charset="0"/>
                <a:cs typeface="Open Sans" panose="020B0606030504020204" pitchFamily="34" charset="0"/>
              </a:rPr>
              <a:t>(['enlarge', 'shrink'])</a:t>
            </a:r>
          </a:p>
          <a:p>
            <a:pPr marL="0" lvl="0" indent="0">
              <a:buClr>
                <a:srgbClr val="000000"/>
              </a:buClr>
              <a:buNone/>
            </a:pPr>
            <a:endParaRPr lang="en-SG"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0" lvl="0" indent="0">
              <a:buClr>
                <a:srgbClr val="000000"/>
              </a:buClr>
              <a:buNone/>
            </a:pPr>
            <a:r>
              <a:rPr lang="en-SG" dirty="0">
                <a:solidFill>
                  <a:srgbClr val="000000"/>
                </a:solidFill>
                <a:latin typeface="Open Sans" panose="020B0606030504020204" pitchFamily="34" charset="0"/>
                <a:ea typeface="Open Sans" panose="020B0606030504020204" pitchFamily="34" charset="0"/>
                <a:cs typeface="Open Sans" panose="020B0606030504020204" pitchFamily="34" charset="0"/>
              </a:rPr>
              <a:t>function </a:t>
            </a:r>
            <a:r>
              <a:rPr lang="en-SG" b="1"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doShrink</a:t>
            </a:r>
            <a:r>
              <a:rPr lang="en-SG" b="1" dirty="0">
                <a:solidFill>
                  <a:srgbClr val="000000"/>
                </a:solidFill>
                <a:latin typeface="Open Sans" panose="020B0606030504020204" pitchFamily="34" charset="0"/>
                <a:ea typeface="Open Sans" panose="020B0606030504020204" pitchFamily="34" charset="0"/>
                <a:cs typeface="Open Sans" panose="020B0606030504020204" pitchFamily="34" charset="0"/>
              </a:rPr>
              <a:t>() </a:t>
            </a:r>
            <a:r>
              <a:rPr lang="en-SG" dirty="0">
                <a:solidFill>
                  <a:srgbClr val="000000"/>
                </a:solidFill>
                <a:latin typeface="Open Sans" panose="020B0606030504020204" pitchFamily="34" charset="0"/>
                <a:ea typeface="Open Sans" panose="020B0606030504020204" pitchFamily="34" charset="0"/>
                <a:cs typeface="Open Sans" panose="020B0606030504020204" pitchFamily="34" charset="0"/>
              </a:rPr>
              <a:t>{</a:t>
            </a:r>
          </a:p>
          <a:p>
            <a:pPr marL="0" lvl="0" indent="0">
              <a:buClr>
                <a:srgbClr val="000000"/>
              </a:buClr>
              <a:buNone/>
            </a:pPr>
            <a:r>
              <a:rPr lang="en-SG" dirty="0">
                <a:solidFill>
                  <a:srgbClr val="000000"/>
                </a:solidFill>
                <a:latin typeface="Open Sans" panose="020B0606030504020204" pitchFamily="34" charset="0"/>
                <a:ea typeface="Open Sans" panose="020B0606030504020204" pitchFamily="34" charset="0"/>
                <a:cs typeface="Open Sans" panose="020B0606030504020204" pitchFamily="34" charset="0"/>
              </a:rPr>
              <a:t>    </a:t>
            </a:r>
            <a:r>
              <a:rPr lang="en-SG" b="1" dirty="0">
                <a:solidFill>
                  <a:srgbClr val="000000"/>
                </a:solidFill>
                <a:latin typeface="Open Sans" panose="020B0606030504020204" pitchFamily="34" charset="0"/>
                <a:ea typeface="Open Sans" panose="020B0606030504020204" pitchFamily="34" charset="0"/>
                <a:cs typeface="Open Sans" panose="020B0606030504020204" pitchFamily="34" charset="0"/>
              </a:rPr>
              <a:t>emit('shrink')</a:t>
            </a:r>
          </a:p>
          <a:p>
            <a:pPr marL="0" lvl="0" indent="0">
              <a:buClr>
                <a:srgbClr val="000000"/>
              </a:buClr>
              <a:buNone/>
            </a:pPr>
            <a:r>
              <a:rPr lang="en-SG" dirty="0">
                <a:solidFill>
                  <a:srgbClr val="000000"/>
                </a:solidFill>
                <a:latin typeface="Open Sans" panose="020B0606030504020204" pitchFamily="34" charset="0"/>
                <a:ea typeface="Open Sans" panose="020B0606030504020204" pitchFamily="34" charset="0"/>
                <a:cs typeface="Open Sans" panose="020B0606030504020204" pitchFamily="34" charset="0"/>
              </a:rPr>
              <a:t>}</a:t>
            </a:r>
          </a:p>
          <a:p>
            <a:pPr marL="0" lvl="0" indent="0">
              <a:buClr>
                <a:srgbClr val="000000"/>
              </a:buClr>
              <a:buNone/>
            </a:pPr>
            <a:r>
              <a:rPr lang="en-SG" dirty="0">
                <a:solidFill>
                  <a:srgbClr val="000000"/>
                </a:solidFill>
                <a:latin typeface="Open Sans" panose="020B0606030504020204" pitchFamily="34" charset="0"/>
                <a:ea typeface="Open Sans" panose="020B0606030504020204" pitchFamily="34" charset="0"/>
                <a:cs typeface="Open Sans" panose="020B0606030504020204" pitchFamily="34" charset="0"/>
              </a:rPr>
              <a:t>&lt;/script&gt;</a:t>
            </a:r>
          </a:p>
          <a:p>
            <a:pPr marL="0" lvl="0" indent="0">
              <a:buClr>
                <a:srgbClr val="000000"/>
              </a:buClr>
              <a:buNone/>
            </a:pPr>
            <a:endParaRPr lang="en-SG"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0" lvl="0" indent="0">
              <a:buClr>
                <a:srgbClr val="000000"/>
              </a:buClr>
              <a:buNone/>
            </a:pPr>
            <a:r>
              <a:rPr lang="en-SG" dirty="0">
                <a:solidFill>
                  <a:srgbClr val="000000"/>
                </a:solidFill>
                <a:latin typeface="Open Sans" panose="020B0606030504020204" pitchFamily="34" charset="0"/>
                <a:ea typeface="Open Sans" panose="020B0606030504020204" pitchFamily="34" charset="0"/>
                <a:cs typeface="Open Sans" panose="020B0606030504020204" pitchFamily="34" charset="0"/>
              </a:rPr>
              <a:t>&lt;template&gt;</a:t>
            </a:r>
          </a:p>
          <a:p>
            <a:pPr marL="0" lvl="0" indent="0">
              <a:buClr>
                <a:srgbClr val="000000"/>
              </a:buClr>
              <a:buNone/>
            </a:pPr>
            <a:r>
              <a:rPr lang="en-SG" dirty="0">
                <a:solidFill>
                  <a:srgbClr val="000000"/>
                </a:solidFill>
                <a:latin typeface="Open Sans" panose="020B0606030504020204" pitchFamily="34" charset="0"/>
                <a:ea typeface="Open Sans" panose="020B0606030504020204" pitchFamily="34" charset="0"/>
                <a:cs typeface="Open Sans" panose="020B0606030504020204" pitchFamily="34" charset="0"/>
              </a:rPr>
              <a:t>        &lt;button </a:t>
            </a:r>
            <a:r>
              <a:rPr lang="en-SG"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v-on:click</a:t>
            </a:r>
            <a:r>
              <a:rPr lang="en-SG" dirty="0">
                <a:solidFill>
                  <a:srgbClr val="000000"/>
                </a:solidFill>
                <a:latin typeface="Open Sans" panose="020B0606030504020204" pitchFamily="34" charset="0"/>
                <a:ea typeface="Open Sans" panose="020B0606030504020204" pitchFamily="34" charset="0"/>
                <a:cs typeface="Open Sans" panose="020B0606030504020204" pitchFamily="34" charset="0"/>
              </a:rPr>
              <a:t>="</a:t>
            </a:r>
            <a:r>
              <a:rPr lang="en-SG" b="1"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doShrink</a:t>
            </a:r>
            <a:r>
              <a:rPr lang="en-SG" dirty="0">
                <a:solidFill>
                  <a:srgbClr val="000000"/>
                </a:solidFill>
                <a:latin typeface="Open Sans" panose="020B0606030504020204" pitchFamily="34" charset="0"/>
                <a:ea typeface="Open Sans" panose="020B0606030504020204" pitchFamily="34" charset="0"/>
                <a:cs typeface="Open Sans" panose="020B0606030504020204" pitchFamily="34" charset="0"/>
              </a:rPr>
              <a:t>"&gt;</a:t>
            </a:r>
          </a:p>
          <a:p>
            <a:pPr marL="0" lvl="0" indent="0">
              <a:buClr>
                <a:srgbClr val="000000"/>
              </a:buClr>
              <a:buNone/>
            </a:pPr>
            <a:r>
              <a:rPr lang="en-SG" dirty="0">
                <a:solidFill>
                  <a:srgbClr val="000000"/>
                </a:solidFill>
                <a:latin typeface="Open Sans" panose="020B0606030504020204" pitchFamily="34" charset="0"/>
                <a:ea typeface="Open Sans" panose="020B0606030504020204" pitchFamily="34" charset="0"/>
                <a:cs typeface="Open Sans" panose="020B0606030504020204" pitchFamily="34" charset="0"/>
              </a:rPr>
              <a:t>            Shrink text </a:t>
            </a:r>
          </a:p>
          <a:p>
            <a:pPr marL="0" lvl="0" indent="0">
              <a:buClr>
                <a:srgbClr val="000000"/>
              </a:buClr>
              <a:buNone/>
            </a:pPr>
            <a:r>
              <a:rPr lang="en-SG" dirty="0">
                <a:solidFill>
                  <a:srgbClr val="000000"/>
                </a:solidFill>
                <a:latin typeface="Open Sans" panose="020B0606030504020204" pitchFamily="34" charset="0"/>
                <a:ea typeface="Open Sans" panose="020B0606030504020204" pitchFamily="34" charset="0"/>
                <a:cs typeface="Open Sans" panose="020B0606030504020204" pitchFamily="34" charset="0"/>
              </a:rPr>
              <a:t>        &lt;/button&gt;    </a:t>
            </a:r>
          </a:p>
          <a:p>
            <a:pPr marL="0" lvl="0" indent="0">
              <a:buClr>
                <a:srgbClr val="000000"/>
              </a:buClr>
              <a:buNone/>
            </a:pPr>
            <a:r>
              <a:rPr lang="en-SG" dirty="0">
                <a:solidFill>
                  <a:srgbClr val="000000"/>
                </a:solidFill>
                <a:latin typeface="Open Sans" panose="020B0606030504020204" pitchFamily="34" charset="0"/>
                <a:ea typeface="Open Sans" panose="020B0606030504020204" pitchFamily="34" charset="0"/>
                <a:cs typeface="Open Sans" panose="020B0606030504020204" pitchFamily="34" charset="0"/>
              </a:rPr>
              <a:t>&lt;/template&gt;</a:t>
            </a:r>
            <a:endParaRPr lang="en-SG" sz="1200" dirty="0">
              <a:solidFill>
                <a:srgbClr val="000000"/>
              </a:solidFill>
              <a:latin typeface="Menlo" panose="020B0609030804020204" pitchFamily="49" charset="0"/>
              <a:ea typeface="Menlo" panose="020B0609030804020204" pitchFamily="49" charset="0"/>
              <a:cs typeface="Menlo" panose="020B0609030804020204" pitchFamily="49" charset="0"/>
            </a:endParaRPr>
          </a:p>
        </p:txBody>
      </p:sp>
    </p:spTree>
    <p:extLst>
      <p:ext uri="{BB962C8B-B14F-4D97-AF65-F5344CB8AC3E}">
        <p14:creationId xmlns:p14="http://schemas.microsoft.com/office/powerpoint/2010/main" val="6863525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6E68B-8BE5-FDAE-51AF-EAFF6CAE6F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FBF0FB-3A6C-3737-08A2-7D3744BD86CC}"/>
              </a:ext>
            </a:extLst>
          </p:cNvPr>
          <p:cNvSpPr>
            <a:spLocks noGrp="1"/>
          </p:cNvSpPr>
          <p:nvPr>
            <p:ph type="title"/>
          </p:nvPr>
        </p:nvSpPr>
        <p:spPr/>
        <p:txBody>
          <a:bodyPr/>
          <a:lstStyle/>
          <a:p>
            <a:r>
              <a:rPr lang="en-US" sz="3600" dirty="0"/>
              <a:t>Listening to Events (1)</a:t>
            </a:r>
          </a:p>
        </p:txBody>
      </p:sp>
      <p:sp>
        <p:nvSpPr>
          <p:cNvPr id="3" name="Text Placeholder 2">
            <a:extLst>
              <a:ext uri="{FF2B5EF4-FFF2-40B4-BE49-F238E27FC236}">
                <a16:creationId xmlns:a16="http://schemas.microsoft.com/office/drawing/2014/main" id="{1C9A900B-81D1-A5B8-E474-B27BD3FA9318}"/>
              </a:ext>
            </a:extLst>
          </p:cNvPr>
          <p:cNvSpPr>
            <a:spLocks noGrp="1"/>
          </p:cNvSpPr>
          <p:nvPr>
            <p:ph type="body" idx="1"/>
          </p:nvPr>
        </p:nvSpPr>
        <p:spPr/>
        <p:txBody>
          <a:bodyPr/>
          <a:lstStyle/>
          <a:p>
            <a:pPr marL="139700" indent="0">
              <a:buNone/>
            </a:pPr>
            <a:r>
              <a:rPr lang="en-US" dirty="0"/>
              <a:t>Similar to listening to HTML events, the parent component can listen to the (custom) events emitted by the child component(s) it uses.</a:t>
            </a:r>
          </a:p>
          <a:p>
            <a:pPr marL="139700" indent="0">
              <a:buNone/>
            </a:pPr>
            <a:endParaRPr lang="en-US" dirty="0"/>
          </a:p>
        </p:txBody>
      </p:sp>
      <p:sp>
        <p:nvSpPr>
          <p:cNvPr id="4" name="Text Placeholder 3">
            <a:extLst>
              <a:ext uri="{FF2B5EF4-FFF2-40B4-BE49-F238E27FC236}">
                <a16:creationId xmlns:a16="http://schemas.microsoft.com/office/drawing/2014/main" id="{745787E2-06D3-9197-1E8D-DEBDDC01A4B7}"/>
              </a:ext>
            </a:extLst>
          </p:cNvPr>
          <p:cNvSpPr>
            <a:spLocks noGrp="1"/>
          </p:cNvSpPr>
          <p:nvPr>
            <p:ph type="body" idx="2"/>
          </p:nvPr>
        </p:nvSpPr>
        <p:spPr>
          <a:xfrm>
            <a:off x="4832400" y="1225224"/>
            <a:ext cx="4154846" cy="3803975"/>
          </a:xfrm>
        </p:spPr>
        <p:txBody>
          <a:bodyPr/>
          <a:lstStyle/>
          <a:p>
            <a:pPr marL="0" lvl="0" indent="0">
              <a:buClr>
                <a:srgbClr val="000000"/>
              </a:buClr>
              <a:buNone/>
            </a:pPr>
            <a:r>
              <a:rPr lang="en-SG" b="1" dirty="0">
                <a:solidFill>
                  <a:srgbClr val="000000"/>
                </a:solidFill>
              </a:rPr>
              <a:t>Example: </a:t>
            </a:r>
            <a:r>
              <a:rPr lang="en-SG" i="1" dirty="0">
                <a:solidFill>
                  <a:srgbClr val="000000"/>
                </a:solidFill>
              </a:rPr>
              <a:t>Example5View.vue</a:t>
            </a:r>
          </a:p>
          <a:p>
            <a:pPr marL="0" lvl="0" indent="0">
              <a:buClr>
                <a:srgbClr val="000000"/>
              </a:buClr>
              <a:buNone/>
            </a:pPr>
            <a:endParaRPr lang="en-SG" i="1" dirty="0">
              <a:solidFill>
                <a:srgbClr val="000000"/>
              </a:solidFill>
            </a:endParaRPr>
          </a:p>
          <a:p>
            <a:pPr marL="0" lvl="0" indent="0">
              <a:buClr>
                <a:srgbClr val="000000"/>
              </a:buClr>
              <a:buNone/>
            </a:pPr>
            <a:r>
              <a:rPr lang="en-SG" dirty="0">
                <a:solidFill>
                  <a:schemeClr val="tx1"/>
                </a:solidFill>
                <a:latin typeface="Open Sans" panose="020B0606030504020204" pitchFamily="34" charset="0"/>
                <a:ea typeface="Open Sans" panose="020B0606030504020204" pitchFamily="34" charset="0"/>
                <a:cs typeface="Open Sans" panose="020B0606030504020204" pitchFamily="34" charset="0"/>
              </a:rPr>
              <a:t>&lt;template&gt;</a:t>
            </a:r>
          </a:p>
          <a:p>
            <a:pPr marL="0" lvl="0" indent="0">
              <a:buClr>
                <a:srgbClr val="000000"/>
              </a:buClr>
              <a:buNone/>
            </a:pPr>
            <a:r>
              <a:rPr lang="en-SG" dirty="0">
                <a:solidFill>
                  <a:schemeClr val="tx1"/>
                </a:solidFill>
                <a:latin typeface="Open Sans" panose="020B0606030504020204" pitchFamily="34" charset="0"/>
                <a:ea typeface="Open Sans" panose="020B0606030504020204" pitchFamily="34" charset="0"/>
                <a:cs typeface="Open Sans" panose="020B0606030504020204" pitchFamily="34" charset="0"/>
              </a:rPr>
              <a:t>    &lt;div :style="{ 'font-size': </a:t>
            </a:r>
            <a:r>
              <a:rPr lang="en-SG" dirty="0" err="1">
                <a:solidFill>
                  <a:schemeClr val="tx1"/>
                </a:solidFill>
                <a:latin typeface="Open Sans" panose="020B0606030504020204" pitchFamily="34" charset="0"/>
                <a:ea typeface="Open Sans" panose="020B0606030504020204" pitchFamily="34" charset="0"/>
                <a:cs typeface="Open Sans" panose="020B0606030504020204" pitchFamily="34" charset="0"/>
              </a:rPr>
              <a:t>fontSize</a:t>
            </a:r>
            <a:r>
              <a:rPr lang="en-SG" dirty="0">
                <a:solidFill>
                  <a:schemeClr val="tx1"/>
                </a:solidFill>
                <a:latin typeface="Open Sans" panose="020B0606030504020204" pitchFamily="34" charset="0"/>
                <a:ea typeface="Open Sans" panose="020B0606030504020204" pitchFamily="34" charset="0"/>
                <a:cs typeface="Open Sans" panose="020B0606030504020204" pitchFamily="34" charset="0"/>
              </a:rPr>
              <a:t> + '</a:t>
            </a:r>
            <a:r>
              <a:rPr lang="en-SG" dirty="0" err="1">
                <a:solidFill>
                  <a:schemeClr val="tx1"/>
                </a:solidFill>
                <a:latin typeface="Open Sans" panose="020B0606030504020204" pitchFamily="34" charset="0"/>
                <a:ea typeface="Open Sans" panose="020B0606030504020204" pitchFamily="34" charset="0"/>
                <a:cs typeface="Open Sans" panose="020B0606030504020204" pitchFamily="34" charset="0"/>
              </a:rPr>
              <a:t>em</a:t>
            </a:r>
            <a:r>
              <a:rPr lang="en-SG" dirty="0">
                <a:solidFill>
                  <a:schemeClr val="tx1"/>
                </a:solidFill>
                <a:latin typeface="Open Sans" panose="020B0606030504020204" pitchFamily="34" charset="0"/>
                <a:ea typeface="Open Sans" panose="020B0606030504020204" pitchFamily="34" charset="0"/>
                <a:cs typeface="Open Sans" panose="020B0606030504020204" pitchFamily="34" charset="0"/>
              </a:rPr>
              <a:t>' }"&gt;</a:t>
            </a:r>
          </a:p>
          <a:p>
            <a:pPr marL="0" lvl="0" indent="0">
              <a:buClr>
                <a:srgbClr val="000000"/>
              </a:buClr>
              <a:buNone/>
            </a:pPr>
            <a:r>
              <a:rPr lang="en-SG" dirty="0">
                <a:solidFill>
                  <a:schemeClr val="tx1"/>
                </a:solidFill>
                <a:latin typeface="Open Sans" panose="020B0606030504020204" pitchFamily="34" charset="0"/>
                <a:ea typeface="Open Sans" panose="020B0606030504020204" pitchFamily="34" charset="0"/>
                <a:cs typeface="Open Sans" panose="020B0606030504020204" pitchFamily="34" charset="0"/>
              </a:rPr>
              <a:t>        &lt;Product v-for="product in </a:t>
            </a:r>
            <a:r>
              <a:rPr lang="en-SG" dirty="0" err="1">
                <a:solidFill>
                  <a:schemeClr val="tx1"/>
                </a:solidFill>
                <a:latin typeface="Open Sans" panose="020B0606030504020204" pitchFamily="34" charset="0"/>
                <a:ea typeface="Open Sans" panose="020B0606030504020204" pitchFamily="34" charset="0"/>
                <a:cs typeface="Open Sans" panose="020B0606030504020204" pitchFamily="34" charset="0"/>
              </a:rPr>
              <a:t>productData</a:t>
            </a:r>
            <a:r>
              <a:rPr lang="en-SG"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p>
          <a:p>
            <a:pPr marL="0" lvl="0" indent="0">
              <a:buClr>
                <a:srgbClr val="000000"/>
              </a:buClr>
              <a:buNone/>
            </a:pPr>
            <a:r>
              <a:rPr lang="en-SG" dirty="0">
                <a:solidFill>
                  <a:schemeClr val="tx1"/>
                </a:solidFill>
                <a:latin typeface="Open Sans" panose="020B0606030504020204" pitchFamily="34" charset="0"/>
                <a:ea typeface="Open Sans" panose="020B0606030504020204" pitchFamily="34" charset="0"/>
                <a:cs typeface="Open Sans" panose="020B0606030504020204" pitchFamily="34" charset="0"/>
              </a:rPr>
              <a:t>                        :key="product.id” :prod="product"</a:t>
            </a:r>
          </a:p>
          <a:p>
            <a:pPr marL="0" lvl="0" indent="0">
              <a:buClr>
                <a:srgbClr val="000000"/>
              </a:buClr>
              <a:buNone/>
            </a:pPr>
            <a:r>
              <a:rPr lang="en-SG"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r>
              <a:rPr lang="en-SG" b="1" dirty="0">
                <a:solidFill>
                  <a:schemeClr val="tx1"/>
                </a:solidFill>
                <a:latin typeface="Open Sans" panose="020B0606030504020204" pitchFamily="34" charset="0"/>
                <a:ea typeface="Open Sans" panose="020B0606030504020204" pitchFamily="34" charset="0"/>
                <a:cs typeface="Open Sans" panose="020B0606030504020204" pitchFamily="34" charset="0"/>
              </a:rPr>
              <a:t>@enlarge="fontSize += 0.1" </a:t>
            </a:r>
          </a:p>
          <a:p>
            <a:pPr marL="0" lvl="0" indent="0">
              <a:buClr>
                <a:srgbClr val="000000"/>
              </a:buClr>
              <a:buNone/>
            </a:pPr>
            <a:r>
              <a:rPr lang="en-SG" b="1" dirty="0">
                <a:solidFill>
                  <a:schemeClr val="tx1"/>
                </a:solidFill>
                <a:latin typeface="Open Sans" panose="020B0606030504020204" pitchFamily="34" charset="0"/>
                <a:ea typeface="Open Sans" panose="020B0606030504020204" pitchFamily="34" charset="0"/>
                <a:cs typeface="Open Sans" panose="020B0606030504020204" pitchFamily="34" charset="0"/>
              </a:rPr>
              <a:t>                        @shrink="fontSize -= 0.1"</a:t>
            </a:r>
            <a:endParaRPr lang="en-SG"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marL="0" lvl="0" indent="0">
              <a:buClr>
                <a:srgbClr val="000000"/>
              </a:buClr>
              <a:buNone/>
            </a:pPr>
            <a:r>
              <a:rPr lang="en-SG" dirty="0">
                <a:solidFill>
                  <a:schemeClr val="tx1"/>
                </a:solidFill>
                <a:latin typeface="Open Sans" panose="020B0606030504020204" pitchFamily="34" charset="0"/>
                <a:ea typeface="Open Sans" panose="020B0606030504020204" pitchFamily="34" charset="0"/>
                <a:cs typeface="Open Sans" panose="020B0606030504020204" pitchFamily="34" charset="0"/>
              </a:rPr>
              <a:t>        /&gt;</a:t>
            </a:r>
          </a:p>
          <a:p>
            <a:pPr marL="0" lvl="0" indent="0">
              <a:buClr>
                <a:srgbClr val="000000"/>
              </a:buClr>
              <a:buNone/>
            </a:pPr>
            <a:r>
              <a:rPr lang="en-SG" dirty="0">
                <a:solidFill>
                  <a:schemeClr val="tx1"/>
                </a:solidFill>
                <a:latin typeface="Open Sans" panose="020B0606030504020204" pitchFamily="34" charset="0"/>
                <a:ea typeface="Open Sans" panose="020B0606030504020204" pitchFamily="34" charset="0"/>
                <a:cs typeface="Open Sans" panose="020B0606030504020204" pitchFamily="34" charset="0"/>
              </a:rPr>
              <a:t>    &lt;/div&gt;</a:t>
            </a:r>
          </a:p>
          <a:p>
            <a:pPr marL="0" lvl="0" indent="0">
              <a:buClr>
                <a:srgbClr val="000000"/>
              </a:buClr>
              <a:buNone/>
            </a:pPr>
            <a:r>
              <a:rPr lang="en-SG" dirty="0">
                <a:solidFill>
                  <a:schemeClr val="tx1"/>
                </a:solidFill>
                <a:latin typeface="Open Sans" panose="020B0606030504020204" pitchFamily="34" charset="0"/>
                <a:ea typeface="Open Sans" panose="020B0606030504020204" pitchFamily="34" charset="0"/>
                <a:cs typeface="Open Sans" panose="020B0606030504020204" pitchFamily="34" charset="0"/>
              </a:rPr>
              <a:t>&lt;/template&gt;</a:t>
            </a:r>
            <a:endParaRPr lang="en-SG" sz="12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5540790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DE9F3-AEF0-2F31-7FD4-8110DCF719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599185-4F36-F5C3-659C-2F9172147922}"/>
              </a:ext>
            </a:extLst>
          </p:cNvPr>
          <p:cNvSpPr>
            <a:spLocks noGrp="1"/>
          </p:cNvSpPr>
          <p:nvPr>
            <p:ph type="title"/>
          </p:nvPr>
        </p:nvSpPr>
        <p:spPr/>
        <p:txBody>
          <a:bodyPr/>
          <a:lstStyle/>
          <a:p>
            <a:r>
              <a:rPr lang="en-US" sz="3600" dirty="0"/>
              <a:t>Event Arguments (1)</a:t>
            </a:r>
          </a:p>
        </p:txBody>
      </p:sp>
      <p:sp>
        <p:nvSpPr>
          <p:cNvPr id="3" name="Text Placeholder 2">
            <a:extLst>
              <a:ext uri="{FF2B5EF4-FFF2-40B4-BE49-F238E27FC236}">
                <a16:creationId xmlns:a16="http://schemas.microsoft.com/office/drawing/2014/main" id="{CF4C8A5B-9FF8-9E07-9CCC-4DFFDD039670}"/>
              </a:ext>
            </a:extLst>
          </p:cNvPr>
          <p:cNvSpPr>
            <a:spLocks noGrp="1"/>
          </p:cNvSpPr>
          <p:nvPr>
            <p:ph type="body" idx="1"/>
          </p:nvPr>
        </p:nvSpPr>
        <p:spPr/>
        <p:txBody>
          <a:bodyPr/>
          <a:lstStyle/>
          <a:p>
            <a:pPr marL="139700" indent="0">
              <a:buNone/>
            </a:pPr>
            <a:r>
              <a:rPr lang="en-US" dirty="0"/>
              <a:t>It is sometimes useful or necessary to emit a specific value with an event. </a:t>
            </a:r>
          </a:p>
          <a:p>
            <a:pPr marL="139700" indent="0">
              <a:buNone/>
            </a:pPr>
            <a:endParaRPr lang="en-US" dirty="0"/>
          </a:p>
          <a:p>
            <a:pPr marL="139700" indent="0">
              <a:buNone/>
            </a:pPr>
            <a:r>
              <a:rPr lang="en-SG" dirty="0"/>
              <a:t>For example, we may want the &lt;Product&gt; component to be in charge of how much to enlarge the text by. </a:t>
            </a:r>
          </a:p>
          <a:p>
            <a:pPr marL="139700" indent="0">
              <a:buNone/>
            </a:pPr>
            <a:endParaRPr lang="en-SG" dirty="0"/>
          </a:p>
          <a:p>
            <a:pPr marL="139700" indent="0">
              <a:buNone/>
            </a:pPr>
            <a:r>
              <a:rPr lang="en-SG" dirty="0"/>
              <a:t>In those cases, we can pass an extra argument to provide this value:</a:t>
            </a:r>
            <a:endParaRPr lang="en-US" dirty="0"/>
          </a:p>
        </p:txBody>
      </p:sp>
      <p:sp>
        <p:nvSpPr>
          <p:cNvPr id="4" name="Text Placeholder 3">
            <a:extLst>
              <a:ext uri="{FF2B5EF4-FFF2-40B4-BE49-F238E27FC236}">
                <a16:creationId xmlns:a16="http://schemas.microsoft.com/office/drawing/2014/main" id="{A2FB68CC-FDEA-258D-3E19-60E0AE7D1E29}"/>
              </a:ext>
            </a:extLst>
          </p:cNvPr>
          <p:cNvSpPr>
            <a:spLocks noGrp="1"/>
          </p:cNvSpPr>
          <p:nvPr>
            <p:ph type="body" idx="2"/>
          </p:nvPr>
        </p:nvSpPr>
        <p:spPr>
          <a:xfrm>
            <a:off x="4832400" y="1225224"/>
            <a:ext cx="4154846" cy="3803975"/>
          </a:xfrm>
        </p:spPr>
        <p:txBody>
          <a:bodyPr/>
          <a:lstStyle/>
          <a:p>
            <a:pPr marL="0" lvl="0" indent="0">
              <a:buClr>
                <a:srgbClr val="000000"/>
              </a:buClr>
              <a:buNone/>
            </a:pPr>
            <a:r>
              <a:rPr lang="en-SG" b="1" dirty="0">
                <a:solidFill>
                  <a:srgbClr val="000000"/>
                </a:solidFill>
              </a:rPr>
              <a:t>Example: </a:t>
            </a:r>
            <a:r>
              <a:rPr lang="en-SG" i="1" dirty="0">
                <a:solidFill>
                  <a:srgbClr val="000000"/>
                </a:solidFill>
              </a:rPr>
              <a:t>Product4.vue</a:t>
            </a:r>
          </a:p>
          <a:p>
            <a:pPr marL="0" lvl="0" indent="0">
              <a:buClr>
                <a:srgbClr val="000000"/>
              </a:buClr>
              <a:buNone/>
            </a:pPr>
            <a:endParaRPr lang="en-SG" i="1" dirty="0">
              <a:solidFill>
                <a:srgbClr val="000000"/>
              </a:solidFill>
            </a:endParaRPr>
          </a:p>
          <a:p>
            <a:pPr marL="0" lvl="0" indent="0">
              <a:buClr>
                <a:srgbClr val="000000"/>
              </a:buClr>
              <a:buNone/>
            </a:pPr>
            <a:r>
              <a:rPr lang="en-SG" dirty="0">
                <a:solidFill>
                  <a:srgbClr val="000000"/>
                </a:solidFill>
                <a:latin typeface="Open Sans" panose="020B0606030504020204" pitchFamily="34" charset="0"/>
                <a:ea typeface="Open Sans" panose="020B0606030504020204" pitchFamily="34" charset="0"/>
                <a:cs typeface="Open Sans" panose="020B0606030504020204" pitchFamily="34" charset="0"/>
              </a:rPr>
              <a:t>&lt;div class='product’&gt;</a:t>
            </a:r>
          </a:p>
          <a:p>
            <a:pPr marL="0" lvl="0" indent="0">
              <a:buClr>
                <a:srgbClr val="000000"/>
              </a:buClr>
              <a:buNone/>
            </a:pPr>
            <a:r>
              <a:rPr lang="en-SG" dirty="0">
                <a:solidFill>
                  <a:srgbClr val="000000"/>
                </a:solidFill>
                <a:latin typeface="Open Sans" panose="020B0606030504020204" pitchFamily="34" charset="0"/>
                <a:ea typeface="Open Sans" panose="020B0606030504020204" pitchFamily="34" charset="0"/>
                <a:cs typeface="Open Sans" panose="020B0606030504020204" pitchFamily="34" charset="0"/>
              </a:rPr>
              <a:t>   &lt;h3&gt;{{ </a:t>
            </a:r>
            <a:r>
              <a:rPr lang="en-SG"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prod.name</a:t>
            </a:r>
            <a:r>
              <a:rPr lang="en-SG" dirty="0">
                <a:solidFill>
                  <a:srgbClr val="000000"/>
                </a:solidFill>
                <a:latin typeface="Open Sans" panose="020B0606030504020204" pitchFamily="34" charset="0"/>
                <a:ea typeface="Open Sans" panose="020B0606030504020204" pitchFamily="34" charset="0"/>
                <a:cs typeface="Open Sans" panose="020B0606030504020204" pitchFamily="34" charset="0"/>
              </a:rPr>
              <a:t> }}&lt;/h3&gt;</a:t>
            </a:r>
          </a:p>
          <a:p>
            <a:pPr marL="0" lvl="0" indent="0">
              <a:buClr>
                <a:srgbClr val="000000"/>
              </a:buClr>
              <a:buNone/>
            </a:pPr>
            <a:endParaRPr lang="en-SG"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0" lvl="0" indent="0">
              <a:buClr>
                <a:srgbClr val="000000"/>
              </a:buClr>
              <a:buNone/>
            </a:pPr>
            <a:r>
              <a:rPr lang="en-SG" dirty="0">
                <a:solidFill>
                  <a:schemeClr val="tx1"/>
                </a:solidFill>
                <a:latin typeface="Open Sans" panose="020B0606030504020204" pitchFamily="34" charset="0"/>
                <a:ea typeface="Open Sans" panose="020B0606030504020204" pitchFamily="34" charset="0"/>
                <a:cs typeface="Open Sans" panose="020B0606030504020204" pitchFamily="34" charset="0"/>
              </a:rPr>
              <a:t>   &lt;button </a:t>
            </a:r>
            <a:r>
              <a:rPr lang="en-SG" dirty="0" err="1">
                <a:solidFill>
                  <a:schemeClr val="tx1"/>
                </a:solidFill>
                <a:latin typeface="Open Sans" panose="020B0606030504020204" pitchFamily="34" charset="0"/>
                <a:ea typeface="Open Sans" panose="020B0606030504020204" pitchFamily="34" charset="0"/>
                <a:cs typeface="Open Sans" panose="020B0606030504020204" pitchFamily="34" charset="0"/>
              </a:rPr>
              <a:t>v-on:click</a:t>
            </a:r>
            <a:r>
              <a:rPr lang="en-SG" dirty="0">
                <a:solidFill>
                  <a:schemeClr val="tx1"/>
                </a:solidFill>
                <a:latin typeface="Open Sans" panose="020B0606030504020204" pitchFamily="34" charset="0"/>
                <a:ea typeface="Open Sans" panose="020B0606030504020204" pitchFamily="34" charset="0"/>
                <a:cs typeface="Open Sans" panose="020B0606030504020204" pitchFamily="34" charset="0"/>
              </a:rPr>
              <a:t> = </a:t>
            </a:r>
          </a:p>
          <a:p>
            <a:pPr marL="0" lvl="0" indent="0">
              <a:buClr>
                <a:srgbClr val="000000"/>
              </a:buClr>
              <a:buNone/>
            </a:pPr>
            <a:r>
              <a:rPr lang="en-SG" dirty="0">
                <a:solidFill>
                  <a:schemeClr val="tx1"/>
                </a:solidFill>
                <a:latin typeface="Open Sans" panose="020B0606030504020204" pitchFamily="34" charset="0"/>
                <a:ea typeface="Open Sans" panose="020B0606030504020204" pitchFamily="34" charset="0"/>
                <a:cs typeface="Open Sans" panose="020B0606030504020204" pitchFamily="34" charset="0"/>
              </a:rPr>
              <a:t>                 “$emit('enlarge’, </a:t>
            </a:r>
            <a:r>
              <a:rPr lang="en-SG" b="1" dirty="0">
                <a:solidFill>
                  <a:schemeClr val="tx1"/>
                </a:solidFill>
                <a:latin typeface="Open Sans" panose="020B0606030504020204" pitchFamily="34" charset="0"/>
                <a:ea typeface="Open Sans" panose="020B0606030504020204" pitchFamily="34" charset="0"/>
                <a:cs typeface="Open Sans" panose="020B0606030504020204" pitchFamily="34" charset="0"/>
              </a:rPr>
              <a:t>0.1</a:t>
            </a:r>
            <a:r>
              <a:rPr lang="en-SG" dirty="0">
                <a:solidFill>
                  <a:schemeClr val="tx1"/>
                </a:solidFill>
                <a:latin typeface="Open Sans" panose="020B0606030504020204" pitchFamily="34" charset="0"/>
                <a:ea typeface="Open Sans" panose="020B0606030504020204" pitchFamily="34" charset="0"/>
                <a:cs typeface="Open Sans" panose="020B0606030504020204" pitchFamily="34" charset="0"/>
              </a:rPr>
              <a:t>)"&gt;</a:t>
            </a:r>
          </a:p>
          <a:p>
            <a:pPr marL="0" lvl="0" indent="0">
              <a:buClr>
                <a:srgbClr val="000000"/>
              </a:buClr>
              <a:buNone/>
            </a:pPr>
            <a:r>
              <a:rPr lang="en-SG" dirty="0">
                <a:solidFill>
                  <a:schemeClr val="tx1"/>
                </a:solidFill>
                <a:latin typeface="Open Sans" panose="020B0606030504020204" pitchFamily="34" charset="0"/>
                <a:ea typeface="Open Sans" panose="020B0606030504020204" pitchFamily="34" charset="0"/>
                <a:cs typeface="Open Sans" panose="020B0606030504020204" pitchFamily="34" charset="0"/>
              </a:rPr>
              <a:t>       Enlarge text &lt;/button&gt;</a:t>
            </a:r>
          </a:p>
          <a:p>
            <a:pPr marL="0" lvl="0" indent="0">
              <a:buClr>
                <a:srgbClr val="000000"/>
              </a:buClr>
              <a:buNone/>
            </a:pPr>
            <a:endParaRPr lang="en-SG"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0" lvl="0" indent="0">
              <a:buClr>
                <a:srgbClr val="000000"/>
              </a:buClr>
              <a:buNone/>
            </a:pPr>
            <a:r>
              <a:rPr lang="en-SG" dirty="0">
                <a:solidFill>
                  <a:srgbClr val="000000"/>
                </a:solidFill>
                <a:latin typeface="Open Sans" panose="020B0606030504020204" pitchFamily="34" charset="0"/>
                <a:ea typeface="Open Sans" panose="020B0606030504020204" pitchFamily="34" charset="0"/>
                <a:cs typeface="Open Sans" panose="020B0606030504020204" pitchFamily="34" charset="0"/>
              </a:rPr>
              <a:t>   &lt;div v-html='</a:t>
            </a:r>
            <a:r>
              <a:rPr lang="en-SG"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prod.desc</a:t>
            </a:r>
            <a:r>
              <a:rPr lang="en-SG" dirty="0">
                <a:solidFill>
                  <a:srgbClr val="000000"/>
                </a:solidFill>
                <a:latin typeface="Open Sans" panose="020B0606030504020204" pitchFamily="34" charset="0"/>
                <a:ea typeface="Open Sans" panose="020B0606030504020204" pitchFamily="34" charset="0"/>
                <a:cs typeface="Open Sans" panose="020B0606030504020204" pitchFamily="34" charset="0"/>
              </a:rPr>
              <a:t>'&gt;&lt;/div&gt;</a:t>
            </a:r>
          </a:p>
          <a:p>
            <a:pPr marL="0" lvl="0" indent="0">
              <a:buClr>
                <a:srgbClr val="000000"/>
              </a:buClr>
              <a:buNone/>
            </a:pPr>
            <a:r>
              <a:rPr lang="en-SG" dirty="0">
                <a:solidFill>
                  <a:srgbClr val="000000"/>
                </a:solidFill>
                <a:latin typeface="Open Sans" panose="020B0606030504020204" pitchFamily="34" charset="0"/>
                <a:ea typeface="Open Sans" panose="020B0606030504020204" pitchFamily="34" charset="0"/>
                <a:cs typeface="Open Sans" panose="020B0606030504020204" pitchFamily="34" charset="0"/>
              </a:rPr>
              <a:t>&lt;/div&gt;</a:t>
            </a:r>
          </a:p>
        </p:txBody>
      </p:sp>
    </p:spTree>
    <p:extLst>
      <p:ext uri="{BB962C8B-B14F-4D97-AF65-F5344CB8AC3E}">
        <p14:creationId xmlns:p14="http://schemas.microsoft.com/office/powerpoint/2010/main" val="31368959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26BEC-DFD9-164B-97F5-EEDAD55BF904}"/>
              </a:ext>
            </a:extLst>
          </p:cNvPr>
          <p:cNvSpPr>
            <a:spLocks noGrp="1"/>
          </p:cNvSpPr>
          <p:nvPr>
            <p:ph type="title"/>
          </p:nvPr>
        </p:nvSpPr>
        <p:spPr/>
        <p:txBody>
          <a:bodyPr/>
          <a:lstStyle/>
          <a:p>
            <a:r>
              <a:rPr lang="en-US" sz="3600" dirty="0"/>
              <a:t>Event Arguments (2)</a:t>
            </a:r>
          </a:p>
        </p:txBody>
      </p:sp>
      <p:sp>
        <p:nvSpPr>
          <p:cNvPr id="3" name="Text Placeholder 2">
            <a:extLst>
              <a:ext uri="{FF2B5EF4-FFF2-40B4-BE49-F238E27FC236}">
                <a16:creationId xmlns:a16="http://schemas.microsoft.com/office/drawing/2014/main" id="{52200240-4C38-FB44-B28A-A733AB2137FC}"/>
              </a:ext>
            </a:extLst>
          </p:cNvPr>
          <p:cNvSpPr>
            <a:spLocks noGrp="1"/>
          </p:cNvSpPr>
          <p:nvPr>
            <p:ph type="body" idx="1"/>
          </p:nvPr>
        </p:nvSpPr>
        <p:spPr/>
        <p:txBody>
          <a:bodyPr/>
          <a:lstStyle/>
          <a:p>
            <a:pPr marL="139700" indent="0">
              <a:buNone/>
            </a:pPr>
            <a:r>
              <a:rPr lang="en-US" dirty="0"/>
              <a:t>It is sometimes useful or necessary to emit a specific value with an event. </a:t>
            </a:r>
          </a:p>
          <a:p>
            <a:pPr marL="139700" indent="0">
              <a:buNone/>
            </a:pPr>
            <a:endParaRPr lang="en-US" dirty="0"/>
          </a:p>
          <a:p>
            <a:pPr marL="139700" indent="0">
              <a:buNone/>
            </a:pPr>
            <a:r>
              <a:rPr lang="en-SG" dirty="0"/>
              <a:t>For example, we may want the &lt;Product&gt; component to be in charge of how much to enlarge the text by. </a:t>
            </a:r>
          </a:p>
          <a:p>
            <a:pPr marL="139700" indent="0">
              <a:buNone/>
            </a:pPr>
            <a:endParaRPr lang="en-SG" dirty="0"/>
          </a:p>
          <a:p>
            <a:pPr marL="139700" indent="0">
              <a:buNone/>
            </a:pPr>
            <a:r>
              <a:rPr lang="en-SG" dirty="0"/>
              <a:t>In those cases, we can pass an extra argument to provide this value:</a:t>
            </a:r>
            <a:endParaRPr lang="en-US" dirty="0"/>
          </a:p>
        </p:txBody>
      </p:sp>
      <p:sp>
        <p:nvSpPr>
          <p:cNvPr id="4" name="Text Placeholder 3">
            <a:extLst>
              <a:ext uri="{FF2B5EF4-FFF2-40B4-BE49-F238E27FC236}">
                <a16:creationId xmlns:a16="http://schemas.microsoft.com/office/drawing/2014/main" id="{5B42E0ED-4F36-F142-895B-2AE71BD25015}"/>
              </a:ext>
            </a:extLst>
          </p:cNvPr>
          <p:cNvSpPr>
            <a:spLocks noGrp="1"/>
          </p:cNvSpPr>
          <p:nvPr>
            <p:ph type="body" idx="2"/>
          </p:nvPr>
        </p:nvSpPr>
        <p:spPr>
          <a:xfrm>
            <a:off x="4832400" y="1225224"/>
            <a:ext cx="4154846" cy="3803975"/>
          </a:xfrm>
        </p:spPr>
        <p:txBody>
          <a:bodyPr/>
          <a:lstStyle/>
          <a:p>
            <a:pPr marL="0" lvl="0" indent="0">
              <a:buClr>
                <a:srgbClr val="000000"/>
              </a:buClr>
              <a:buNone/>
            </a:pPr>
            <a:r>
              <a:rPr lang="en-SG" b="1" dirty="0">
                <a:solidFill>
                  <a:srgbClr val="000000"/>
                </a:solidFill>
              </a:rPr>
              <a:t>Example: </a:t>
            </a:r>
            <a:r>
              <a:rPr lang="en-SG" i="1" dirty="0">
                <a:solidFill>
                  <a:srgbClr val="000000"/>
                </a:solidFill>
              </a:rPr>
              <a:t>Product4.vue</a:t>
            </a:r>
          </a:p>
          <a:p>
            <a:pPr marL="0" lvl="0" indent="0">
              <a:buClr>
                <a:srgbClr val="000000"/>
              </a:buClr>
              <a:buNone/>
            </a:pPr>
            <a:endParaRPr lang="en-SG" i="1" dirty="0">
              <a:solidFill>
                <a:srgbClr val="000000"/>
              </a:solidFill>
            </a:endParaRPr>
          </a:p>
          <a:p>
            <a:pPr marL="0" lvl="0" indent="0">
              <a:buClr>
                <a:srgbClr val="000000"/>
              </a:buClr>
              <a:buNone/>
            </a:pPr>
            <a:r>
              <a:rPr lang="en-US" dirty="0">
                <a:solidFill>
                  <a:srgbClr val="000000"/>
                </a:solidFill>
                <a:latin typeface="Open Sans" panose="020B0606030504020204" pitchFamily="34" charset="0"/>
                <a:ea typeface="Open Sans" panose="020B0606030504020204" pitchFamily="34" charset="0"/>
                <a:cs typeface="Open Sans" panose="020B0606030504020204" pitchFamily="34" charset="0"/>
              </a:rPr>
              <a:t>// emit event from a function</a:t>
            </a:r>
          </a:p>
          <a:p>
            <a:pPr marL="0" lvl="0" indent="0">
              <a:buClr>
                <a:srgbClr val="000000"/>
              </a:buClr>
              <a:buNone/>
            </a:pPr>
            <a:r>
              <a:rPr lang="en-US" dirty="0">
                <a:solidFill>
                  <a:srgbClr val="000000"/>
                </a:solidFill>
                <a:latin typeface="Open Sans" panose="020B0606030504020204" pitchFamily="34" charset="0"/>
                <a:ea typeface="Open Sans" panose="020B0606030504020204" pitchFamily="34" charset="0"/>
                <a:cs typeface="Open Sans" panose="020B0606030504020204" pitchFamily="34" charset="0"/>
              </a:rPr>
              <a:t>function </a:t>
            </a:r>
            <a:r>
              <a:rPr lang="en-US"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doShrink</a:t>
            </a:r>
            <a:r>
              <a:rPr lang="en-US" dirty="0">
                <a:solidFill>
                  <a:srgbClr val="000000"/>
                </a:solidFill>
                <a:latin typeface="Open Sans" panose="020B0606030504020204" pitchFamily="34" charset="0"/>
                <a:ea typeface="Open Sans" panose="020B0606030504020204" pitchFamily="34" charset="0"/>
                <a:cs typeface="Open Sans" panose="020B0606030504020204" pitchFamily="34" charset="0"/>
              </a:rPr>
              <a:t>() {</a:t>
            </a:r>
          </a:p>
          <a:p>
            <a:pPr marL="0" lvl="0" indent="0">
              <a:buClr>
                <a:srgbClr val="000000"/>
              </a:buClr>
              <a:buNone/>
            </a:pPr>
            <a:r>
              <a:rPr lang="en-US" dirty="0">
                <a:solidFill>
                  <a:srgbClr val="000000"/>
                </a:solidFill>
                <a:latin typeface="Open Sans" panose="020B0606030504020204" pitchFamily="34" charset="0"/>
                <a:ea typeface="Open Sans" panose="020B0606030504020204" pitchFamily="34" charset="0"/>
                <a:cs typeface="Open Sans" panose="020B0606030504020204" pitchFamily="34" charset="0"/>
              </a:rPr>
              <a:t>    // notice the use of object as emitted data</a:t>
            </a:r>
          </a:p>
          <a:p>
            <a:pPr marL="0" lvl="0" indent="0">
              <a:buClr>
                <a:srgbClr val="000000"/>
              </a:buClr>
              <a:buNone/>
            </a:pPr>
            <a:r>
              <a:rPr lang="en-US" dirty="0">
                <a:solidFill>
                  <a:srgbClr val="000000"/>
                </a:solidFill>
                <a:latin typeface="Open Sans" panose="020B0606030504020204" pitchFamily="34" charset="0"/>
                <a:ea typeface="Open Sans" panose="020B0606030504020204" pitchFamily="34" charset="0"/>
                <a:cs typeface="Open Sans" panose="020B0606030504020204" pitchFamily="34" charset="0"/>
              </a:rPr>
              <a:t>    emit('shrink', </a:t>
            </a:r>
            <a:r>
              <a:rPr lang="en-US" b="1" dirty="0">
                <a:solidFill>
                  <a:srgbClr val="000000"/>
                </a:solidFill>
                <a:latin typeface="Open Sans" panose="020B0606030504020204" pitchFamily="34" charset="0"/>
                <a:ea typeface="Open Sans" panose="020B0606030504020204" pitchFamily="34" charset="0"/>
                <a:cs typeface="Open Sans" panose="020B0606030504020204" pitchFamily="34" charset="0"/>
              </a:rPr>
              <a:t>{ amount: 0.1 })</a:t>
            </a:r>
          </a:p>
          <a:p>
            <a:pPr marL="0" lvl="0" indent="0">
              <a:buClr>
                <a:srgbClr val="000000"/>
              </a:buClr>
              <a:buNone/>
            </a:pPr>
            <a:r>
              <a:rPr lang="en-US" dirty="0">
                <a:solidFill>
                  <a:srgbClr val="000000"/>
                </a:solidFill>
                <a:latin typeface="Open Sans" panose="020B0606030504020204" pitchFamily="34" charset="0"/>
                <a:ea typeface="Open Sans" panose="020B0606030504020204" pitchFamily="34" charset="0"/>
                <a:cs typeface="Open Sans" panose="020B0606030504020204" pitchFamily="34" charset="0"/>
              </a:rPr>
              <a:t>}</a:t>
            </a:r>
            <a:endParaRPr lang="en-SG"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2908230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B6E61-22C6-74BB-8A77-CD1E042E8D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F5FE93-55E4-C3FE-F498-5E8F9DFF7727}"/>
              </a:ext>
            </a:extLst>
          </p:cNvPr>
          <p:cNvSpPr>
            <a:spLocks noGrp="1"/>
          </p:cNvSpPr>
          <p:nvPr>
            <p:ph type="title"/>
          </p:nvPr>
        </p:nvSpPr>
        <p:spPr/>
        <p:txBody>
          <a:bodyPr/>
          <a:lstStyle/>
          <a:p>
            <a:r>
              <a:rPr lang="en-US" sz="3600" dirty="0"/>
              <a:t>Listening to Events (2)</a:t>
            </a:r>
          </a:p>
        </p:txBody>
      </p:sp>
      <p:sp>
        <p:nvSpPr>
          <p:cNvPr id="3" name="Text Placeholder 2">
            <a:extLst>
              <a:ext uri="{FF2B5EF4-FFF2-40B4-BE49-F238E27FC236}">
                <a16:creationId xmlns:a16="http://schemas.microsoft.com/office/drawing/2014/main" id="{8DCDDC4D-130B-229E-8AD8-A6DB54271B15}"/>
              </a:ext>
            </a:extLst>
          </p:cNvPr>
          <p:cNvSpPr>
            <a:spLocks noGrp="1"/>
          </p:cNvSpPr>
          <p:nvPr>
            <p:ph type="body" idx="1"/>
          </p:nvPr>
        </p:nvSpPr>
        <p:spPr/>
        <p:txBody>
          <a:bodyPr/>
          <a:lstStyle/>
          <a:p>
            <a:pPr marL="139700" indent="0">
              <a:buNone/>
            </a:pPr>
            <a:r>
              <a:rPr lang="en-US" dirty="0"/>
              <a:t>Similar to listening to HTML events, the parent component can listen to the (custom) events emitted by the child component(s) it uses.</a:t>
            </a:r>
          </a:p>
          <a:p>
            <a:pPr marL="139700" indent="0">
              <a:buNone/>
            </a:pPr>
            <a:endParaRPr lang="en-US" dirty="0"/>
          </a:p>
          <a:p>
            <a:pPr marL="139700" indent="0">
              <a:buNone/>
            </a:pPr>
            <a:endParaRPr lang="en-US" dirty="0"/>
          </a:p>
          <a:p>
            <a:pPr marL="139700" indent="0">
              <a:buNone/>
            </a:pPr>
            <a:r>
              <a:rPr lang="en-US" dirty="0"/>
              <a:t>It can also retrieve the emitted value inside the handler function:</a:t>
            </a:r>
          </a:p>
        </p:txBody>
      </p:sp>
      <p:sp>
        <p:nvSpPr>
          <p:cNvPr id="4" name="Text Placeholder 3">
            <a:extLst>
              <a:ext uri="{FF2B5EF4-FFF2-40B4-BE49-F238E27FC236}">
                <a16:creationId xmlns:a16="http://schemas.microsoft.com/office/drawing/2014/main" id="{8D3BA8A7-19E8-F383-C4A8-4D0E16118B4E}"/>
              </a:ext>
            </a:extLst>
          </p:cNvPr>
          <p:cNvSpPr>
            <a:spLocks noGrp="1"/>
          </p:cNvSpPr>
          <p:nvPr>
            <p:ph type="body" idx="2"/>
          </p:nvPr>
        </p:nvSpPr>
        <p:spPr>
          <a:xfrm>
            <a:off x="4572000" y="996288"/>
            <a:ext cx="4415246" cy="4032912"/>
          </a:xfrm>
        </p:spPr>
        <p:txBody>
          <a:bodyPr/>
          <a:lstStyle/>
          <a:p>
            <a:pPr marL="0" lvl="0" indent="0">
              <a:buClr>
                <a:srgbClr val="000000"/>
              </a:buClr>
              <a:buNone/>
            </a:pPr>
            <a:r>
              <a:rPr lang="en-SG" b="1" dirty="0">
                <a:solidFill>
                  <a:srgbClr val="000000"/>
                </a:solidFill>
              </a:rPr>
              <a:t>Example: </a:t>
            </a:r>
            <a:r>
              <a:rPr lang="en-SG" i="1" dirty="0">
                <a:solidFill>
                  <a:srgbClr val="000000"/>
                </a:solidFill>
              </a:rPr>
              <a:t>Example6View.vue</a:t>
            </a:r>
          </a:p>
          <a:p>
            <a:pPr marL="0" lvl="0" indent="0">
              <a:buClr>
                <a:srgbClr val="000000"/>
              </a:buClr>
              <a:buNone/>
            </a:pPr>
            <a:endParaRPr lang="en-SG"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marL="0" lvl="0" indent="0">
              <a:buClr>
                <a:srgbClr val="000000"/>
              </a:buClr>
              <a:buNone/>
            </a:pPr>
            <a:r>
              <a:rPr lang="en-SG" dirty="0">
                <a:solidFill>
                  <a:schemeClr val="tx1"/>
                </a:solidFill>
                <a:latin typeface="Open Sans" panose="020B0606030504020204" pitchFamily="34" charset="0"/>
                <a:ea typeface="Open Sans" panose="020B0606030504020204" pitchFamily="34" charset="0"/>
                <a:cs typeface="Open Sans" panose="020B0606030504020204" pitchFamily="34" charset="0"/>
              </a:rPr>
              <a:t>function </a:t>
            </a:r>
            <a:r>
              <a:rPr lang="en-SG" dirty="0" err="1">
                <a:solidFill>
                  <a:schemeClr val="tx1"/>
                </a:solidFill>
                <a:latin typeface="Open Sans" panose="020B0606030504020204" pitchFamily="34" charset="0"/>
                <a:ea typeface="Open Sans" panose="020B0606030504020204" pitchFamily="34" charset="0"/>
                <a:cs typeface="Open Sans" panose="020B0606030504020204" pitchFamily="34" charset="0"/>
              </a:rPr>
              <a:t>onEnlarge</a:t>
            </a:r>
            <a:r>
              <a:rPr lang="en-SG"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r>
              <a:rPr lang="en-SG" b="1" dirty="0" err="1">
                <a:solidFill>
                  <a:schemeClr val="tx1"/>
                </a:solidFill>
                <a:latin typeface="Open Sans" panose="020B0606030504020204" pitchFamily="34" charset="0"/>
                <a:ea typeface="Open Sans" panose="020B0606030504020204" pitchFamily="34" charset="0"/>
                <a:cs typeface="Open Sans" panose="020B0606030504020204" pitchFamily="34" charset="0"/>
              </a:rPr>
              <a:t>enlargeAmount</a:t>
            </a:r>
            <a:r>
              <a:rPr lang="en-SG"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p>
          <a:p>
            <a:pPr marL="0" lvl="0" indent="0">
              <a:buClr>
                <a:srgbClr val="000000"/>
              </a:buClr>
              <a:buNone/>
            </a:pPr>
            <a:r>
              <a:rPr lang="en-SG"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r>
              <a:rPr lang="en-SG" b="1" dirty="0" err="1">
                <a:solidFill>
                  <a:schemeClr val="tx1"/>
                </a:solidFill>
                <a:latin typeface="Open Sans" panose="020B0606030504020204" pitchFamily="34" charset="0"/>
                <a:ea typeface="Open Sans" panose="020B0606030504020204" pitchFamily="34" charset="0"/>
                <a:cs typeface="Open Sans" panose="020B0606030504020204" pitchFamily="34" charset="0"/>
              </a:rPr>
              <a:t>fontSize.value</a:t>
            </a:r>
            <a:r>
              <a:rPr lang="en-SG" b="1" dirty="0">
                <a:solidFill>
                  <a:schemeClr val="tx1"/>
                </a:solidFill>
                <a:latin typeface="Open Sans" panose="020B0606030504020204" pitchFamily="34" charset="0"/>
                <a:ea typeface="Open Sans" panose="020B0606030504020204" pitchFamily="34" charset="0"/>
                <a:cs typeface="Open Sans" panose="020B0606030504020204" pitchFamily="34" charset="0"/>
              </a:rPr>
              <a:t> += </a:t>
            </a:r>
            <a:r>
              <a:rPr lang="en-SG" b="1" dirty="0" err="1">
                <a:solidFill>
                  <a:schemeClr val="tx1"/>
                </a:solidFill>
                <a:latin typeface="Open Sans" panose="020B0606030504020204" pitchFamily="34" charset="0"/>
                <a:ea typeface="Open Sans" panose="020B0606030504020204" pitchFamily="34" charset="0"/>
                <a:cs typeface="Open Sans" panose="020B0606030504020204" pitchFamily="34" charset="0"/>
              </a:rPr>
              <a:t>enlargeAmount</a:t>
            </a:r>
            <a:endParaRPr lang="en-SG"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marL="0" lvl="0" indent="0">
              <a:buClr>
                <a:srgbClr val="000000"/>
              </a:buClr>
              <a:buNone/>
            </a:pPr>
            <a:r>
              <a:rPr lang="en-SG" dirty="0">
                <a:solidFill>
                  <a:schemeClr val="tx1"/>
                </a:solidFill>
                <a:latin typeface="Open Sans" panose="020B0606030504020204" pitchFamily="34" charset="0"/>
                <a:ea typeface="Open Sans" panose="020B0606030504020204" pitchFamily="34" charset="0"/>
                <a:cs typeface="Open Sans" panose="020B0606030504020204" pitchFamily="34" charset="0"/>
              </a:rPr>
              <a:t> }  </a:t>
            </a:r>
          </a:p>
          <a:p>
            <a:pPr marL="0" lvl="0" indent="0">
              <a:buClr>
                <a:srgbClr val="000000"/>
              </a:buClr>
              <a:buNone/>
            </a:pPr>
            <a:r>
              <a:rPr lang="en-SG" dirty="0">
                <a:solidFill>
                  <a:schemeClr val="tx1"/>
                </a:solidFill>
                <a:latin typeface="Open Sans" panose="020B0606030504020204" pitchFamily="34" charset="0"/>
                <a:ea typeface="Open Sans" panose="020B0606030504020204" pitchFamily="34" charset="0"/>
                <a:cs typeface="Open Sans" panose="020B0606030504020204" pitchFamily="34" charset="0"/>
              </a:rPr>
              <a:t>function </a:t>
            </a:r>
            <a:r>
              <a:rPr lang="en-SG" dirty="0" err="1">
                <a:solidFill>
                  <a:schemeClr val="tx1"/>
                </a:solidFill>
                <a:latin typeface="Open Sans" panose="020B0606030504020204" pitchFamily="34" charset="0"/>
                <a:ea typeface="Open Sans" panose="020B0606030504020204" pitchFamily="34" charset="0"/>
                <a:cs typeface="Open Sans" panose="020B0606030504020204" pitchFamily="34" charset="0"/>
              </a:rPr>
              <a:t>onShrink</a:t>
            </a:r>
            <a:r>
              <a:rPr lang="en-SG"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r>
              <a:rPr lang="en-SG" b="1" dirty="0">
                <a:solidFill>
                  <a:schemeClr val="tx1"/>
                </a:solidFill>
                <a:latin typeface="Open Sans" panose="020B0606030504020204" pitchFamily="34" charset="0"/>
                <a:ea typeface="Open Sans" panose="020B0606030504020204" pitchFamily="34" charset="0"/>
                <a:cs typeface="Open Sans" panose="020B0606030504020204" pitchFamily="34" charset="0"/>
              </a:rPr>
              <a:t>shrink</a:t>
            </a:r>
            <a:r>
              <a:rPr lang="en-SG"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p>
          <a:p>
            <a:pPr marL="0" lvl="0" indent="0">
              <a:buClr>
                <a:srgbClr val="000000"/>
              </a:buClr>
              <a:buNone/>
            </a:pPr>
            <a:r>
              <a:rPr lang="en-SG"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r>
              <a:rPr lang="en-SG" b="1" dirty="0" err="1">
                <a:solidFill>
                  <a:schemeClr val="tx1"/>
                </a:solidFill>
                <a:latin typeface="Open Sans" panose="020B0606030504020204" pitchFamily="34" charset="0"/>
                <a:ea typeface="Open Sans" panose="020B0606030504020204" pitchFamily="34" charset="0"/>
                <a:cs typeface="Open Sans" panose="020B0606030504020204" pitchFamily="34" charset="0"/>
              </a:rPr>
              <a:t>fontSize.value</a:t>
            </a:r>
            <a:r>
              <a:rPr lang="en-SG" b="1" dirty="0">
                <a:solidFill>
                  <a:schemeClr val="tx1"/>
                </a:solidFill>
                <a:latin typeface="Open Sans" panose="020B0606030504020204" pitchFamily="34" charset="0"/>
                <a:ea typeface="Open Sans" panose="020B0606030504020204" pitchFamily="34" charset="0"/>
                <a:cs typeface="Open Sans" panose="020B0606030504020204" pitchFamily="34" charset="0"/>
              </a:rPr>
              <a:t> -= </a:t>
            </a:r>
            <a:r>
              <a:rPr lang="en-SG" b="1" dirty="0" err="1">
                <a:solidFill>
                  <a:schemeClr val="tx1"/>
                </a:solidFill>
                <a:latin typeface="Open Sans" panose="020B0606030504020204" pitchFamily="34" charset="0"/>
                <a:ea typeface="Open Sans" panose="020B0606030504020204" pitchFamily="34" charset="0"/>
                <a:cs typeface="Open Sans" panose="020B0606030504020204" pitchFamily="34" charset="0"/>
              </a:rPr>
              <a:t>shrink.amount</a:t>
            </a:r>
            <a:endParaRPr lang="en-SG"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marL="0" lvl="0" indent="0">
              <a:buClr>
                <a:srgbClr val="000000"/>
              </a:buClr>
              <a:buNone/>
            </a:pPr>
            <a:r>
              <a:rPr lang="en-SG"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p>
          <a:p>
            <a:pPr marL="0" lvl="0" indent="0">
              <a:buClr>
                <a:srgbClr val="000000"/>
              </a:buClr>
              <a:buNone/>
            </a:pPr>
            <a:r>
              <a:rPr lang="en-SG"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p>
          <a:p>
            <a:pPr marL="0" lvl="0" indent="0">
              <a:buClr>
                <a:srgbClr val="000000"/>
              </a:buClr>
              <a:buNone/>
            </a:pPr>
            <a:r>
              <a:rPr lang="en-SG" dirty="0">
                <a:solidFill>
                  <a:schemeClr val="tx1"/>
                </a:solidFill>
                <a:latin typeface="Open Sans" panose="020B0606030504020204" pitchFamily="34" charset="0"/>
                <a:ea typeface="Open Sans" panose="020B0606030504020204" pitchFamily="34" charset="0"/>
                <a:cs typeface="Open Sans" panose="020B0606030504020204" pitchFamily="34" charset="0"/>
              </a:rPr>
              <a:t>&lt;div :style="{ 'font-size': </a:t>
            </a:r>
            <a:r>
              <a:rPr lang="en-SG" dirty="0" err="1">
                <a:solidFill>
                  <a:schemeClr val="tx1"/>
                </a:solidFill>
                <a:latin typeface="Open Sans" panose="020B0606030504020204" pitchFamily="34" charset="0"/>
                <a:ea typeface="Open Sans" panose="020B0606030504020204" pitchFamily="34" charset="0"/>
                <a:cs typeface="Open Sans" panose="020B0606030504020204" pitchFamily="34" charset="0"/>
              </a:rPr>
              <a:t>fontSize</a:t>
            </a:r>
            <a:r>
              <a:rPr lang="en-SG" dirty="0">
                <a:solidFill>
                  <a:schemeClr val="tx1"/>
                </a:solidFill>
                <a:latin typeface="Open Sans" panose="020B0606030504020204" pitchFamily="34" charset="0"/>
                <a:ea typeface="Open Sans" panose="020B0606030504020204" pitchFamily="34" charset="0"/>
                <a:cs typeface="Open Sans" panose="020B0606030504020204" pitchFamily="34" charset="0"/>
              </a:rPr>
              <a:t> + '</a:t>
            </a:r>
            <a:r>
              <a:rPr lang="en-SG" dirty="0" err="1">
                <a:solidFill>
                  <a:schemeClr val="tx1"/>
                </a:solidFill>
                <a:latin typeface="Open Sans" panose="020B0606030504020204" pitchFamily="34" charset="0"/>
                <a:ea typeface="Open Sans" panose="020B0606030504020204" pitchFamily="34" charset="0"/>
                <a:cs typeface="Open Sans" panose="020B0606030504020204" pitchFamily="34" charset="0"/>
              </a:rPr>
              <a:t>em</a:t>
            </a:r>
            <a:r>
              <a:rPr lang="en-SG" dirty="0">
                <a:solidFill>
                  <a:schemeClr val="tx1"/>
                </a:solidFill>
                <a:latin typeface="Open Sans" panose="020B0606030504020204" pitchFamily="34" charset="0"/>
                <a:ea typeface="Open Sans" panose="020B0606030504020204" pitchFamily="34" charset="0"/>
                <a:cs typeface="Open Sans" panose="020B0606030504020204" pitchFamily="34" charset="0"/>
              </a:rPr>
              <a:t>' }"&gt;</a:t>
            </a:r>
          </a:p>
          <a:p>
            <a:pPr marL="0" lvl="0" indent="0">
              <a:buClr>
                <a:srgbClr val="000000"/>
              </a:buClr>
              <a:buNone/>
            </a:pPr>
            <a:r>
              <a:rPr lang="en-SG" dirty="0">
                <a:solidFill>
                  <a:schemeClr val="tx1"/>
                </a:solidFill>
                <a:latin typeface="Open Sans" panose="020B0606030504020204" pitchFamily="34" charset="0"/>
                <a:ea typeface="Open Sans" panose="020B0606030504020204" pitchFamily="34" charset="0"/>
                <a:cs typeface="Open Sans" panose="020B0606030504020204" pitchFamily="34" charset="0"/>
              </a:rPr>
              <a:t>        &lt;Product v-for="product in products"    </a:t>
            </a:r>
          </a:p>
          <a:p>
            <a:pPr marL="0" lvl="0" indent="0">
              <a:buClr>
                <a:srgbClr val="000000"/>
              </a:buClr>
              <a:buNone/>
            </a:pPr>
            <a:r>
              <a:rPr lang="en-SG" dirty="0">
                <a:solidFill>
                  <a:schemeClr val="tx1"/>
                </a:solidFill>
                <a:latin typeface="Open Sans" panose="020B0606030504020204" pitchFamily="34" charset="0"/>
                <a:ea typeface="Open Sans" panose="020B0606030504020204" pitchFamily="34" charset="0"/>
                <a:cs typeface="Open Sans" panose="020B0606030504020204" pitchFamily="34" charset="0"/>
              </a:rPr>
              <a:t>         :key="product.id" :prod="product"</a:t>
            </a:r>
          </a:p>
          <a:p>
            <a:pPr marL="0" lvl="0" indent="0">
              <a:buClr>
                <a:srgbClr val="000000"/>
              </a:buClr>
              <a:buNone/>
            </a:pPr>
            <a:r>
              <a:rPr lang="en-SG"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r>
              <a:rPr lang="en-SG" b="1" dirty="0">
                <a:solidFill>
                  <a:schemeClr val="tx1"/>
                </a:solidFill>
                <a:latin typeface="Open Sans" panose="020B0606030504020204" pitchFamily="34" charset="0"/>
                <a:ea typeface="Open Sans" panose="020B0606030504020204" pitchFamily="34" charset="0"/>
                <a:cs typeface="Open Sans" panose="020B0606030504020204" pitchFamily="34" charset="0"/>
              </a:rPr>
              <a:t>@enlarge="onEnlarge“ @shrink="onShrink"</a:t>
            </a:r>
          </a:p>
          <a:p>
            <a:pPr marL="0" lvl="0" indent="0">
              <a:buClr>
                <a:srgbClr val="000000"/>
              </a:buClr>
              <a:buNone/>
            </a:pPr>
            <a:r>
              <a:rPr lang="en-SG" dirty="0">
                <a:solidFill>
                  <a:schemeClr val="tx1"/>
                </a:solidFill>
                <a:latin typeface="Open Sans" panose="020B0606030504020204" pitchFamily="34" charset="0"/>
                <a:ea typeface="Open Sans" panose="020B0606030504020204" pitchFamily="34" charset="0"/>
                <a:cs typeface="Open Sans" panose="020B0606030504020204" pitchFamily="34" charset="0"/>
              </a:rPr>
              <a:t>        /&gt;</a:t>
            </a:r>
          </a:p>
          <a:p>
            <a:pPr marL="0" lvl="0" indent="0">
              <a:buClr>
                <a:srgbClr val="000000"/>
              </a:buClr>
              <a:buNone/>
            </a:pPr>
            <a:r>
              <a:rPr lang="en-SG" dirty="0">
                <a:solidFill>
                  <a:schemeClr val="tx1"/>
                </a:solidFill>
                <a:latin typeface="Open Sans" panose="020B0606030504020204" pitchFamily="34" charset="0"/>
                <a:ea typeface="Open Sans" panose="020B0606030504020204" pitchFamily="34" charset="0"/>
                <a:cs typeface="Open Sans" panose="020B0606030504020204" pitchFamily="34" charset="0"/>
              </a:rPr>
              <a:t>&lt;/div&gt;</a:t>
            </a:r>
          </a:p>
        </p:txBody>
      </p:sp>
    </p:spTree>
    <p:extLst>
      <p:ext uri="{BB962C8B-B14F-4D97-AF65-F5344CB8AC3E}">
        <p14:creationId xmlns:p14="http://schemas.microsoft.com/office/powerpoint/2010/main" val="3770434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5"/>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dirty="0"/>
              <a:t>Exercise 4</a:t>
            </a:r>
            <a:endParaRPr dirty="0"/>
          </a:p>
        </p:txBody>
      </p:sp>
      <p:sp>
        <p:nvSpPr>
          <p:cNvPr id="166" name="Google Shape;166;p15"/>
          <p:cNvSpPr txBox="1">
            <a:spLocks noGrp="1"/>
          </p:cNvSpPr>
          <p:nvPr>
            <p:ph type="body" idx="1"/>
          </p:nvPr>
        </p:nvSpPr>
        <p:spPr>
          <a:xfrm>
            <a:off x="311700" y="1225225"/>
            <a:ext cx="3999900" cy="371825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1600"/>
              </a:spcBef>
              <a:spcAft>
                <a:spcPts val="0"/>
              </a:spcAft>
              <a:buSzPts val="1400"/>
              <a:buNone/>
            </a:pPr>
            <a:r>
              <a:rPr lang="en" dirty="0"/>
              <a:t>Add/modify code in Ex4View.vue and TaskTracker.vue such that when the user enters a new task and deadline and click “Add New Task”, it displays the newly-entered task in the web page.</a:t>
            </a:r>
          </a:p>
          <a:p>
            <a:pPr marL="0" marR="0" lvl="0" indent="0" algn="l" rtl="0">
              <a:lnSpc>
                <a:spcPct val="115000"/>
              </a:lnSpc>
              <a:spcBef>
                <a:spcPts val="1600"/>
              </a:spcBef>
              <a:spcAft>
                <a:spcPts val="0"/>
              </a:spcAft>
              <a:buSzPts val="1400"/>
              <a:buNone/>
            </a:pPr>
            <a:r>
              <a:rPr lang="en" dirty="0"/>
              <a:t>When the user clicks “Done”, the task is removed.</a:t>
            </a:r>
          </a:p>
          <a:p>
            <a:pPr marL="0" marR="0" lvl="0" indent="0" algn="l" rtl="0">
              <a:lnSpc>
                <a:spcPct val="115000"/>
              </a:lnSpc>
              <a:spcBef>
                <a:spcPts val="1600"/>
              </a:spcBef>
              <a:spcAft>
                <a:spcPts val="0"/>
              </a:spcAft>
              <a:buSzPts val="1400"/>
              <a:buNone/>
            </a:pPr>
            <a:r>
              <a:rPr lang="en" dirty="0"/>
              <a:t>You must use the given TaskTracker component to implement the function described above.</a:t>
            </a:r>
          </a:p>
          <a:p>
            <a:pPr marL="0" marR="0" lvl="0" indent="0" algn="l" rtl="0">
              <a:lnSpc>
                <a:spcPct val="115000"/>
              </a:lnSpc>
              <a:spcBef>
                <a:spcPts val="1600"/>
              </a:spcBef>
              <a:spcAft>
                <a:spcPts val="0"/>
              </a:spcAft>
              <a:buSzPts val="1400"/>
              <a:buNone/>
            </a:pPr>
            <a:r>
              <a:rPr lang="en" dirty="0"/>
              <a:t>Hint: Use </a:t>
            </a:r>
            <a:r>
              <a:rPr lang="en" b="1" dirty="0"/>
              <a:t>$emit</a:t>
            </a:r>
            <a:r>
              <a:rPr lang="en" dirty="0"/>
              <a:t> to generate events from component; use Bootstrap Card.</a:t>
            </a:r>
            <a:endParaRPr dirty="0"/>
          </a:p>
        </p:txBody>
      </p:sp>
      <p:pic>
        <p:nvPicPr>
          <p:cNvPr id="3" name="Picture 2" descr="Graphical user interface, application&#10;&#10;Description automatically generated">
            <a:extLst>
              <a:ext uri="{FF2B5EF4-FFF2-40B4-BE49-F238E27FC236}">
                <a16:creationId xmlns:a16="http://schemas.microsoft.com/office/drawing/2014/main" id="{3B62525F-2819-1D42-AF60-D4E7BAA86ACB}"/>
              </a:ext>
            </a:extLst>
          </p:cNvPr>
          <p:cNvPicPr>
            <a:picLocks noChangeAspect="1"/>
          </p:cNvPicPr>
          <p:nvPr/>
        </p:nvPicPr>
        <p:blipFill>
          <a:blip r:embed="rId3"/>
          <a:stretch>
            <a:fillRect/>
          </a:stretch>
        </p:blipFill>
        <p:spPr>
          <a:xfrm>
            <a:off x="5060950" y="626513"/>
            <a:ext cx="3435350" cy="1649573"/>
          </a:xfrm>
          <a:prstGeom prst="rect">
            <a:avLst/>
          </a:prstGeom>
        </p:spPr>
      </p:pic>
      <p:pic>
        <p:nvPicPr>
          <p:cNvPr id="5" name="Picture 4" descr="Graphical user interface, application&#10;&#10;Description automatically generated">
            <a:extLst>
              <a:ext uri="{FF2B5EF4-FFF2-40B4-BE49-F238E27FC236}">
                <a16:creationId xmlns:a16="http://schemas.microsoft.com/office/drawing/2014/main" id="{546BEFEF-92DF-D949-80A3-AB296280D6F0}"/>
              </a:ext>
            </a:extLst>
          </p:cNvPr>
          <p:cNvPicPr>
            <a:picLocks noChangeAspect="1"/>
          </p:cNvPicPr>
          <p:nvPr/>
        </p:nvPicPr>
        <p:blipFill>
          <a:blip r:embed="rId4"/>
          <a:stretch>
            <a:fillRect/>
          </a:stretch>
        </p:blipFill>
        <p:spPr>
          <a:xfrm>
            <a:off x="5060950" y="2735086"/>
            <a:ext cx="3437895" cy="1649573"/>
          </a:xfrm>
          <a:prstGeom prst="rect">
            <a:avLst/>
          </a:prstGeom>
        </p:spPr>
      </p:pic>
    </p:spTree>
    <p:extLst>
      <p:ext uri="{BB962C8B-B14F-4D97-AF65-F5344CB8AC3E}">
        <p14:creationId xmlns:p14="http://schemas.microsoft.com/office/powerpoint/2010/main" val="41007508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44ADAD01-8BF2-C8FA-D320-EFCAC9F0FB95}"/>
            </a:ext>
          </a:extLst>
        </p:cNvPr>
        <p:cNvGrpSpPr/>
        <p:nvPr/>
      </p:nvGrpSpPr>
      <p:grpSpPr>
        <a:xfrm>
          <a:off x="0" y="0"/>
          <a:ext cx="0" cy="0"/>
          <a:chOff x="0" y="0"/>
          <a:chExt cx="0" cy="0"/>
        </a:xfrm>
      </p:grpSpPr>
      <p:sp>
        <p:nvSpPr>
          <p:cNvPr id="114" name="Google Shape;114;p8">
            <a:extLst>
              <a:ext uri="{FF2B5EF4-FFF2-40B4-BE49-F238E27FC236}">
                <a16:creationId xmlns:a16="http://schemas.microsoft.com/office/drawing/2014/main" id="{5578DE21-C621-6A84-E470-AE3252442B7C}"/>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dirty="0"/>
              <a:t>Global Registration</a:t>
            </a:r>
            <a:endParaRPr dirty="0"/>
          </a:p>
        </p:txBody>
      </p:sp>
      <p:sp>
        <p:nvSpPr>
          <p:cNvPr id="115" name="Google Shape;115;p8">
            <a:extLst>
              <a:ext uri="{FF2B5EF4-FFF2-40B4-BE49-F238E27FC236}">
                <a16:creationId xmlns:a16="http://schemas.microsoft.com/office/drawing/2014/main" id="{59AB9CC4-DBFD-FB24-573B-ED00B8E55C1B}"/>
              </a:ext>
            </a:extLst>
          </p:cNvPr>
          <p:cNvSpPr txBox="1">
            <a:spLocks noGrp="1"/>
          </p:cNvSpPr>
          <p:nvPr>
            <p:ph type="body" idx="1"/>
          </p:nvPr>
        </p:nvSpPr>
        <p:spPr>
          <a:xfrm>
            <a:off x="311700" y="1225225"/>
            <a:ext cx="3999900" cy="360235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SG" dirty="0"/>
              <a:t>In our previous examples, components are imported only locally, i.e., a parent component imports a child component to be used in its local template.</a:t>
            </a:r>
          </a:p>
          <a:p>
            <a:pPr marL="0" marR="0" lvl="0" indent="0" algn="l" rtl="0">
              <a:lnSpc>
                <a:spcPct val="115000"/>
              </a:lnSpc>
              <a:spcBef>
                <a:spcPts val="0"/>
              </a:spcBef>
              <a:spcAft>
                <a:spcPts val="0"/>
              </a:spcAft>
              <a:buSzPts val="1400"/>
              <a:buNone/>
            </a:pPr>
            <a:endParaRPr lang="en-SG" dirty="0">
              <a:latin typeface="+mn-lt"/>
              <a:ea typeface="Open Sans" panose="020B0606030504020204" pitchFamily="34" charset="0"/>
              <a:cs typeface="Open Sans" panose="020B0606030504020204" pitchFamily="34" charset="0"/>
            </a:endParaRPr>
          </a:p>
          <a:p>
            <a:pPr marL="0" marR="0" lvl="0" indent="0" algn="l" rtl="0">
              <a:lnSpc>
                <a:spcPct val="115000"/>
              </a:lnSpc>
              <a:spcBef>
                <a:spcPts val="0"/>
              </a:spcBef>
              <a:spcAft>
                <a:spcPts val="0"/>
              </a:spcAft>
              <a:buSzPts val="1400"/>
              <a:buNone/>
            </a:pPr>
            <a:r>
              <a:rPr lang="en-SG" dirty="0">
                <a:latin typeface="+mn-lt"/>
                <a:ea typeface="Open Sans" panose="020B0606030504020204" pitchFamily="34" charset="0"/>
                <a:cs typeface="Open Sans" panose="020B0606030504020204" pitchFamily="34" charset="0"/>
              </a:rPr>
              <a:t>We can also make components available globally using </a:t>
            </a:r>
            <a:r>
              <a:rPr lang="en-SG" b="1" dirty="0">
                <a:latin typeface="+mn-lt"/>
                <a:ea typeface="Open Sans" panose="020B0606030504020204" pitchFamily="34" charset="0"/>
                <a:cs typeface="Open Sans" panose="020B0606030504020204" pitchFamily="34" charset="0"/>
              </a:rPr>
              <a:t>.component() </a:t>
            </a:r>
            <a:r>
              <a:rPr lang="en-SG" dirty="0">
                <a:latin typeface="+mn-lt"/>
                <a:ea typeface="Open Sans" panose="020B0606030504020204" pitchFamily="34" charset="0"/>
                <a:cs typeface="Open Sans" panose="020B0606030504020204" pitchFamily="34" charset="0"/>
              </a:rPr>
              <a:t>method</a:t>
            </a:r>
          </a:p>
          <a:p>
            <a:pPr marL="0" marR="0" lvl="0" indent="0" algn="l" rtl="0">
              <a:lnSpc>
                <a:spcPct val="115000"/>
              </a:lnSpc>
              <a:spcBef>
                <a:spcPts val="0"/>
              </a:spcBef>
              <a:spcAft>
                <a:spcPts val="0"/>
              </a:spcAft>
              <a:buSzPts val="1400"/>
              <a:buNone/>
            </a:pPr>
            <a:endParaRPr lang="en-SG" dirty="0">
              <a:latin typeface="+mn-lt"/>
              <a:ea typeface="Open Sans" panose="020B0606030504020204" pitchFamily="34" charset="0"/>
              <a:cs typeface="Open Sans" panose="020B0606030504020204" pitchFamily="34" charset="0"/>
            </a:endParaRPr>
          </a:p>
          <a:p>
            <a:pPr marL="0" marR="0" lvl="0" indent="0" algn="l" rtl="0">
              <a:lnSpc>
                <a:spcPct val="115000"/>
              </a:lnSpc>
              <a:spcBef>
                <a:spcPts val="0"/>
              </a:spcBef>
              <a:spcAft>
                <a:spcPts val="0"/>
              </a:spcAft>
              <a:buSzPts val="1400"/>
              <a:buNone/>
            </a:pPr>
            <a:endParaRPr lang="en-SG" dirty="0">
              <a:latin typeface="+mn-lt"/>
              <a:ea typeface="Open Sans" panose="020B0606030504020204" pitchFamily="34" charset="0"/>
              <a:cs typeface="Open Sans" panose="020B0606030504020204" pitchFamily="34" charset="0"/>
            </a:endParaRPr>
          </a:p>
          <a:p>
            <a:pPr marL="0" marR="0" lvl="0" indent="0" algn="l" rtl="0">
              <a:lnSpc>
                <a:spcPct val="115000"/>
              </a:lnSpc>
              <a:spcBef>
                <a:spcPts val="0"/>
              </a:spcBef>
              <a:spcAft>
                <a:spcPts val="0"/>
              </a:spcAft>
              <a:buSzPts val="1400"/>
              <a:buNone/>
            </a:pPr>
            <a:endParaRPr lang="en-SG" dirty="0">
              <a:latin typeface="+mn-lt"/>
              <a:ea typeface="Open Sans" panose="020B0606030504020204" pitchFamily="34" charset="0"/>
              <a:cs typeface="Open Sans" panose="020B0606030504020204" pitchFamily="34" charset="0"/>
            </a:endParaRPr>
          </a:p>
          <a:p>
            <a:pPr marL="0" marR="0" lvl="0" indent="0" algn="l" rtl="0">
              <a:lnSpc>
                <a:spcPct val="115000"/>
              </a:lnSpc>
              <a:spcBef>
                <a:spcPts val="0"/>
              </a:spcBef>
              <a:spcAft>
                <a:spcPts val="0"/>
              </a:spcAft>
              <a:buSzPts val="1400"/>
              <a:buNone/>
            </a:pPr>
            <a:endParaRPr lang="en-SG" dirty="0">
              <a:latin typeface="+mn-lt"/>
              <a:ea typeface="Open Sans" panose="020B0606030504020204" pitchFamily="34" charset="0"/>
              <a:cs typeface="Open Sans" panose="020B0606030504020204" pitchFamily="34" charset="0"/>
            </a:endParaRPr>
          </a:p>
          <a:p>
            <a:pPr marL="0" marR="0" lvl="0" indent="0" algn="l" rtl="0">
              <a:lnSpc>
                <a:spcPct val="115000"/>
              </a:lnSpc>
              <a:spcBef>
                <a:spcPts val="0"/>
              </a:spcBef>
              <a:spcAft>
                <a:spcPts val="0"/>
              </a:spcAft>
              <a:buSzPts val="1400"/>
              <a:buNone/>
            </a:pPr>
            <a:r>
              <a:rPr lang="en-SG" dirty="0">
                <a:latin typeface="+mn-lt"/>
                <a:ea typeface="Open Sans" panose="020B0606030504020204" pitchFamily="34" charset="0"/>
                <a:cs typeface="Open Sans" panose="020B0606030504020204" pitchFamily="34" charset="0"/>
              </a:rPr>
              <a:t>Globally registered components can be used in the template of any component within the application</a:t>
            </a:r>
            <a:endParaRPr lang="en" dirty="0">
              <a:latin typeface="+mn-lt"/>
              <a:ea typeface="Open Sans" panose="020B0606030504020204" pitchFamily="34" charset="0"/>
              <a:cs typeface="Open Sans" panose="020B0606030504020204" pitchFamily="34" charset="0"/>
            </a:endParaRPr>
          </a:p>
        </p:txBody>
      </p:sp>
      <p:sp>
        <p:nvSpPr>
          <p:cNvPr id="116" name="Google Shape;116;p8">
            <a:extLst>
              <a:ext uri="{FF2B5EF4-FFF2-40B4-BE49-F238E27FC236}">
                <a16:creationId xmlns:a16="http://schemas.microsoft.com/office/drawing/2014/main" id="{01F745C7-DDAA-FD61-11E9-AACDA32D5938}"/>
              </a:ext>
            </a:extLst>
          </p:cNvPr>
          <p:cNvSpPr txBox="1">
            <a:spLocks noGrp="1"/>
          </p:cNvSpPr>
          <p:nvPr>
            <p:ph type="body" idx="2"/>
          </p:nvPr>
        </p:nvSpPr>
        <p:spPr>
          <a:xfrm>
            <a:off x="4500575" y="1225225"/>
            <a:ext cx="4451836" cy="3782204"/>
          </a:xfrm>
          <a:prstGeom prst="rect">
            <a:avLst/>
          </a:prstGeom>
          <a:noFill/>
          <a:ln>
            <a:noFill/>
          </a:ln>
        </p:spPr>
        <p:txBody>
          <a:bodyPr spcFirstLastPara="1" wrap="square" lIns="91425" tIns="91425" rIns="91425" bIns="91425" anchor="t" anchorCtr="0">
            <a:noAutofit/>
          </a:bodyPr>
          <a:lstStyle/>
          <a:p>
            <a:pPr marL="0" lvl="0" indent="0">
              <a:buSzPts val="1100"/>
              <a:buNone/>
            </a:pPr>
            <a:r>
              <a:rPr lang="en" b="1" dirty="0"/>
              <a:t>Example: </a:t>
            </a:r>
            <a:r>
              <a:rPr lang="en" i="1" dirty="0"/>
              <a:t>main.js, App.vue, HomeView.vue</a:t>
            </a:r>
          </a:p>
          <a:p>
            <a:pPr marL="0" lvl="0" indent="0">
              <a:buSzPts val="1100"/>
              <a:buNone/>
            </a:pPr>
            <a:endParaRPr lang="en" i="1" dirty="0"/>
          </a:p>
          <a:p>
            <a:pPr marL="0" indent="0">
              <a:buSzPts val="1100"/>
              <a:buNone/>
            </a:pPr>
            <a:r>
              <a:rPr lang="en-US" sz="1200" dirty="0">
                <a:latin typeface="Open Sans" panose="020B0606030504020204" pitchFamily="34" charset="0"/>
                <a:ea typeface="Open Sans" panose="020B0606030504020204" pitchFamily="34" charset="0"/>
                <a:cs typeface="Open Sans" panose="020B0606030504020204" pitchFamily="34" charset="0"/>
              </a:rPr>
              <a:t>import </a:t>
            </a:r>
            <a:r>
              <a:rPr lang="en-US" sz="1200" dirty="0" err="1">
                <a:latin typeface="Open Sans" panose="020B0606030504020204" pitchFamily="34" charset="0"/>
                <a:ea typeface="Open Sans" panose="020B0606030504020204" pitchFamily="34" charset="0"/>
                <a:cs typeface="Open Sans" panose="020B0606030504020204" pitchFamily="34" charset="0"/>
              </a:rPr>
              <a:t>ComponentA</a:t>
            </a:r>
            <a:r>
              <a:rPr lang="en-US" sz="1200" dirty="0">
                <a:latin typeface="Open Sans" panose="020B0606030504020204" pitchFamily="34" charset="0"/>
                <a:ea typeface="Open Sans" panose="020B0606030504020204" pitchFamily="34" charset="0"/>
                <a:cs typeface="Open Sans" panose="020B0606030504020204" pitchFamily="34" charset="0"/>
              </a:rPr>
              <a:t> from ‘./components/</a:t>
            </a:r>
            <a:r>
              <a:rPr lang="en-US" sz="1200" dirty="0" err="1">
                <a:latin typeface="Open Sans" panose="020B0606030504020204" pitchFamily="34" charset="0"/>
                <a:ea typeface="Open Sans" panose="020B0606030504020204" pitchFamily="34" charset="0"/>
                <a:cs typeface="Open Sans" panose="020B0606030504020204" pitchFamily="34" charset="0"/>
              </a:rPr>
              <a:t>ComponentA</a:t>
            </a:r>
            <a:r>
              <a:rPr lang="en-US" sz="1200" dirty="0">
                <a:latin typeface="Open Sans" panose="020B0606030504020204" pitchFamily="34" charset="0"/>
                <a:ea typeface="Open Sans" panose="020B0606030504020204" pitchFamily="34" charset="0"/>
                <a:cs typeface="Open Sans" panose="020B0606030504020204" pitchFamily="34" charset="0"/>
              </a:rPr>
              <a:t>’</a:t>
            </a:r>
          </a:p>
          <a:p>
            <a:pPr marL="0" indent="0">
              <a:buSzPts val="1100"/>
              <a:buNone/>
            </a:pPr>
            <a:r>
              <a:rPr lang="en-US" sz="1200" dirty="0">
                <a:latin typeface="Open Sans" panose="020B0606030504020204" pitchFamily="34" charset="0"/>
                <a:ea typeface="Open Sans" panose="020B0606030504020204" pitchFamily="34" charset="0"/>
                <a:cs typeface="Open Sans" panose="020B0606030504020204" pitchFamily="34" charset="0"/>
              </a:rPr>
              <a:t>import </a:t>
            </a:r>
            <a:r>
              <a:rPr lang="en-US" sz="1200" dirty="0" err="1">
                <a:latin typeface="Open Sans" panose="020B0606030504020204" pitchFamily="34" charset="0"/>
                <a:ea typeface="Open Sans" panose="020B0606030504020204" pitchFamily="34" charset="0"/>
                <a:cs typeface="Open Sans" panose="020B0606030504020204" pitchFamily="34" charset="0"/>
              </a:rPr>
              <a:t>ComponentB</a:t>
            </a:r>
            <a:r>
              <a:rPr lang="en-US" sz="1200" dirty="0">
                <a:latin typeface="Open Sans" panose="020B0606030504020204" pitchFamily="34" charset="0"/>
                <a:ea typeface="Open Sans" panose="020B0606030504020204" pitchFamily="34" charset="0"/>
                <a:cs typeface="Open Sans" panose="020B0606030504020204" pitchFamily="34" charset="0"/>
              </a:rPr>
              <a:t> from ‘./components/</a:t>
            </a:r>
            <a:r>
              <a:rPr lang="en-US" sz="1200" dirty="0" err="1">
                <a:latin typeface="Open Sans" panose="020B0606030504020204" pitchFamily="34" charset="0"/>
                <a:ea typeface="Open Sans" panose="020B0606030504020204" pitchFamily="34" charset="0"/>
                <a:cs typeface="Open Sans" panose="020B0606030504020204" pitchFamily="34" charset="0"/>
              </a:rPr>
              <a:t>ComponentB</a:t>
            </a:r>
            <a:r>
              <a:rPr lang="en-US" sz="1200" dirty="0">
                <a:latin typeface="Open Sans" panose="020B0606030504020204" pitchFamily="34" charset="0"/>
                <a:ea typeface="Open Sans" panose="020B0606030504020204" pitchFamily="34" charset="0"/>
                <a:cs typeface="Open Sans" panose="020B0606030504020204" pitchFamily="34" charset="0"/>
              </a:rPr>
              <a:t>’</a:t>
            </a:r>
          </a:p>
          <a:p>
            <a:pPr marL="0" indent="0">
              <a:buSzPts val="1100"/>
              <a:buNone/>
            </a:pPr>
            <a:r>
              <a:rPr lang="en-US" sz="1200" dirty="0">
                <a:latin typeface="Open Sans" panose="020B0606030504020204" pitchFamily="34" charset="0"/>
                <a:ea typeface="Open Sans" panose="020B0606030504020204" pitchFamily="34" charset="0"/>
                <a:cs typeface="Open Sans" panose="020B0606030504020204" pitchFamily="34" charset="0"/>
              </a:rPr>
              <a:t>import </a:t>
            </a:r>
            <a:r>
              <a:rPr lang="en-US" sz="1200" dirty="0" err="1">
                <a:latin typeface="Open Sans" panose="020B0606030504020204" pitchFamily="34" charset="0"/>
                <a:ea typeface="Open Sans" panose="020B0606030504020204" pitchFamily="34" charset="0"/>
                <a:cs typeface="Open Sans" panose="020B0606030504020204" pitchFamily="34" charset="0"/>
              </a:rPr>
              <a:t>ComponentC</a:t>
            </a:r>
            <a:r>
              <a:rPr lang="en-US" sz="1200" dirty="0">
                <a:latin typeface="Open Sans" panose="020B0606030504020204" pitchFamily="34" charset="0"/>
                <a:ea typeface="Open Sans" panose="020B0606030504020204" pitchFamily="34" charset="0"/>
                <a:cs typeface="Open Sans" panose="020B0606030504020204" pitchFamily="34" charset="0"/>
              </a:rPr>
              <a:t> from ‘./components/</a:t>
            </a:r>
            <a:r>
              <a:rPr lang="en-US" sz="1200" dirty="0" err="1">
                <a:latin typeface="Open Sans" panose="020B0606030504020204" pitchFamily="34" charset="0"/>
                <a:ea typeface="Open Sans" panose="020B0606030504020204" pitchFamily="34" charset="0"/>
                <a:cs typeface="Open Sans" panose="020B0606030504020204" pitchFamily="34" charset="0"/>
              </a:rPr>
              <a:t>ComponentC</a:t>
            </a:r>
            <a:r>
              <a:rPr lang="en-US" sz="1200" dirty="0">
                <a:latin typeface="Open Sans" panose="020B0606030504020204" pitchFamily="34" charset="0"/>
                <a:ea typeface="Open Sans" panose="020B0606030504020204" pitchFamily="34" charset="0"/>
                <a:cs typeface="Open Sans" panose="020B0606030504020204" pitchFamily="34" charset="0"/>
              </a:rPr>
              <a:t>’</a:t>
            </a:r>
          </a:p>
          <a:p>
            <a:pPr marL="0" indent="0">
              <a:buSzPts val="1100"/>
              <a:buNone/>
            </a:pPr>
            <a:endParaRPr lang="en-US" sz="1200" dirty="0">
              <a:latin typeface="Open Sans" panose="020B0606030504020204" pitchFamily="34" charset="0"/>
              <a:ea typeface="Open Sans" panose="020B0606030504020204" pitchFamily="34" charset="0"/>
              <a:cs typeface="Open Sans" panose="020B0606030504020204" pitchFamily="34" charset="0"/>
            </a:endParaRPr>
          </a:p>
          <a:p>
            <a:pPr marL="0" indent="0">
              <a:buSzPts val="1100"/>
              <a:buNone/>
            </a:pPr>
            <a:r>
              <a:rPr lang="en-US" sz="1200" dirty="0" err="1">
                <a:latin typeface="Open Sans" panose="020B0606030504020204" pitchFamily="34" charset="0"/>
                <a:ea typeface="Open Sans" panose="020B0606030504020204" pitchFamily="34" charset="0"/>
                <a:cs typeface="Open Sans" panose="020B0606030504020204" pitchFamily="34" charset="0"/>
              </a:rPr>
              <a:t>app.component</a:t>
            </a:r>
            <a:r>
              <a:rPr lang="en-US" sz="1200" dirty="0">
                <a:latin typeface="Open Sans" panose="020B0606030504020204" pitchFamily="34" charset="0"/>
                <a:ea typeface="Open Sans" panose="020B0606030504020204" pitchFamily="34" charset="0"/>
                <a:cs typeface="Open Sans" panose="020B0606030504020204" pitchFamily="34" charset="0"/>
              </a:rPr>
              <a:t>(‘</a:t>
            </a:r>
            <a:r>
              <a:rPr lang="en-US" sz="1200" dirty="0" err="1">
                <a:latin typeface="Open Sans" panose="020B0606030504020204" pitchFamily="34" charset="0"/>
                <a:ea typeface="Open Sans" panose="020B0606030504020204" pitchFamily="34" charset="0"/>
                <a:cs typeface="Open Sans" panose="020B0606030504020204" pitchFamily="34" charset="0"/>
              </a:rPr>
              <a:t>ComponentA</a:t>
            </a:r>
            <a:r>
              <a:rPr lang="en-US" sz="1200" dirty="0">
                <a:latin typeface="Open Sans" panose="020B0606030504020204" pitchFamily="34" charset="0"/>
                <a:ea typeface="Open Sans" panose="020B0606030504020204" pitchFamily="34" charset="0"/>
                <a:cs typeface="Open Sans" panose="020B0606030504020204" pitchFamily="34" charset="0"/>
              </a:rPr>
              <a:t>’, </a:t>
            </a:r>
            <a:r>
              <a:rPr lang="en-US" sz="1200" dirty="0" err="1">
                <a:latin typeface="Open Sans" panose="020B0606030504020204" pitchFamily="34" charset="0"/>
                <a:ea typeface="Open Sans" panose="020B0606030504020204" pitchFamily="34" charset="0"/>
                <a:cs typeface="Open Sans" panose="020B0606030504020204" pitchFamily="34" charset="0"/>
              </a:rPr>
              <a:t>ComponentA</a:t>
            </a:r>
            <a:r>
              <a:rPr lang="en-US" sz="1200" dirty="0">
                <a:latin typeface="Open Sans" panose="020B0606030504020204" pitchFamily="34" charset="0"/>
                <a:ea typeface="Open Sans" panose="020B0606030504020204" pitchFamily="34" charset="0"/>
                <a:cs typeface="Open Sans" panose="020B0606030504020204" pitchFamily="34" charset="0"/>
              </a:rPr>
              <a:t>)</a:t>
            </a:r>
          </a:p>
          <a:p>
            <a:pPr marL="0" indent="0">
              <a:buSzPts val="1100"/>
              <a:buNone/>
            </a:pPr>
            <a:r>
              <a:rPr lang="en-US" sz="1200" dirty="0" err="1">
                <a:latin typeface="Open Sans" panose="020B0606030504020204" pitchFamily="34" charset="0"/>
                <a:ea typeface="Open Sans" panose="020B0606030504020204" pitchFamily="34" charset="0"/>
                <a:cs typeface="Open Sans" panose="020B0606030504020204" pitchFamily="34" charset="0"/>
              </a:rPr>
              <a:t>app.component</a:t>
            </a:r>
            <a:r>
              <a:rPr lang="en-US" sz="1200" dirty="0">
                <a:latin typeface="Open Sans" panose="020B0606030504020204" pitchFamily="34" charset="0"/>
                <a:ea typeface="Open Sans" panose="020B0606030504020204" pitchFamily="34" charset="0"/>
                <a:cs typeface="Open Sans" panose="020B0606030504020204" pitchFamily="34" charset="0"/>
              </a:rPr>
              <a:t>(‘</a:t>
            </a:r>
            <a:r>
              <a:rPr lang="en-US" sz="1200" dirty="0" err="1">
                <a:latin typeface="Open Sans" panose="020B0606030504020204" pitchFamily="34" charset="0"/>
                <a:ea typeface="Open Sans" panose="020B0606030504020204" pitchFamily="34" charset="0"/>
                <a:cs typeface="Open Sans" panose="020B0606030504020204" pitchFamily="34" charset="0"/>
              </a:rPr>
              <a:t>ComponentB</a:t>
            </a:r>
            <a:r>
              <a:rPr lang="en-US" sz="1200" dirty="0">
                <a:latin typeface="Open Sans" panose="020B0606030504020204" pitchFamily="34" charset="0"/>
                <a:ea typeface="Open Sans" panose="020B0606030504020204" pitchFamily="34" charset="0"/>
                <a:cs typeface="Open Sans" panose="020B0606030504020204" pitchFamily="34" charset="0"/>
              </a:rPr>
              <a:t>’, </a:t>
            </a:r>
            <a:r>
              <a:rPr lang="en-US" sz="1200" dirty="0" err="1">
                <a:latin typeface="Open Sans" panose="020B0606030504020204" pitchFamily="34" charset="0"/>
                <a:ea typeface="Open Sans" panose="020B0606030504020204" pitchFamily="34" charset="0"/>
                <a:cs typeface="Open Sans" panose="020B0606030504020204" pitchFamily="34" charset="0"/>
              </a:rPr>
              <a:t>ComponentB</a:t>
            </a:r>
            <a:r>
              <a:rPr lang="en-US" sz="1200" dirty="0">
                <a:latin typeface="Open Sans" panose="020B0606030504020204" pitchFamily="34" charset="0"/>
                <a:ea typeface="Open Sans" panose="020B0606030504020204" pitchFamily="34" charset="0"/>
                <a:cs typeface="Open Sans" panose="020B0606030504020204" pitchFamily="34" charset="0"/>
              </a:rPr>
              <a:t>)</a:t>
            </a:r>
          </a:p>
          <a:p>
            <a:pPr marL="0" indent="0">
              <a:buSzPts val="1100"/>
              <a:buNone/>
            </a:pPr>
            <a:r>
              <a:rPr lang="en-US" sz="1200" dirty="0" err="1">
                <a:latin typeface="Open Sans" panose="020B0606030504020204" pitchFamily="34" charset="0"/>
                <a:ea typeface="Open Sans" panose="020B0606030504020204" pitchFamily="34" charset="0"/>
                <a:cs typeface="Open Sans" panose="020B0606030504020204" pitchFamily="34" charset="0"/>
              </a:rPr>
              <a:t>app.component</a:t>
            </a:r>
            <a:r>
              <a:rPr lang="en-US" sz="1200" dirty="0">
                <a:latin typeface="Open Sans" panose="020B0606030504020204" pitchFamily="34" charset="0"/>
                <a:ea typeface="Open Sans" panose="020B0606030504020204" pitchFamily="34" charset="0"/>
                <a:cs typeface="Open Sans" panose="020B0606030504020204" pitchFamily="34" charset="0"/>
              </a:rPr>
              <a:t>(‘</a:t>
            </a:r>
            <a:r>
              <a:rPr lang="en-US" sz="1200" dirty="0" err="1">
                <a:latin typeface="Open Sans" panose="020B0606030504020204" pitchFamily="34" charset="0"/>
                <a:ea typeface="Open Sans" panose="020B0606030504020204" pitchFamily="34" charset="0"/>
                <a:cs typeface="Open Sans" panose="020B0606030504020204" pitchFamily="34" charset="0"/>
              </a:rPr>
              <a:t>ComponentC</a:t>
            </a:r>
            <a:r>
              <a:rPr lang="en-US" sz="1200" dirty="0">
                <a:latin typeface="Open Sans" panose="020B0606030504020204" pitchFamily="34" charset="0"/>
                <a:ea typeface="Open Sans" panose="020B0606030504020204" pitchFamily="34" charset="0"/>
                <a:cs typeface="Open Sans" panose="020B0606030504020204" pitchFamily="34" charset="0"/>
              </a:rPr>
              <a:t>’, </a:t>
            </a:r>
            <a:r>
              <a:rPr lang="en-US" sz="1200" dirty="0" err="1">
                <a:latin typeface="Open Sans" panose="020B0606030504020204" pitchFamily="34" charset="0"/>
                <a:ea typeface="Open Sans" panose="020B0606030504020204" pitchFamily="34" charset="0"/>
                <a:cs typeface="Open Sans" panose="020B0606030504020204" pitchFamily="34" charset="0"/>
              </a:rPr>
              <a:t>ComponentC</a:t>
            </a:r>
            <a:r>
              <a:rPr lang="en-US" sz="1200" dirty="0">
                <a:latin typeface="Open Sans" panose="020B0606030504020204" pitchFamily="34" charset="0"/>
                <a:ea typeface="Open Sans" panose="020B0606030504020204" pitchFamily="34" charset="0"/>
                <a:cs typeface="Open Sans" panose="020B0606030504020204" pitchFamily="34" charset="0"/>
              </a:rPr>
              <a:t>)</a:t>
            </a:r>
          </a:p>
          <a:p>
            <a:pPr marL="0" indent="0">
              <a:buSzPts val="1100"/>
              <a:buNone/>
            </a:pPr>
            <a:endParaRPr lang="en-US" sz="1200" b="1" dirty="0">
              <a:latin typeface="Open Sans" panose="020B0606030504020204" pitchFamily="34" charset="0"/>
              <a:ea typeface="Open Sans" panose="020B0606030504020204" pitchFamily="34" charset="0"/>
              <a:cs typeface="Open Sans" panose="020B0606030504020204" pitchFamily="34" charset="0"/>
            </a:endParaRPr>
          </a:p>
          <a:p>
            <a:pPr marL="0" indent="0">
              <a:buSzPts val="1100"/>
              <a:buNone/>
            </a:pPr>
            <a:r>
              <a:rPr lang="en-US" sz="1200" b="1" dirty="0">
                <a:latin typeface="Open Sans" panose="020B0606030504020204" pitchFamily="34" charset="0"/>
                <a:ea typeface="Open Sans" panose="020B0606030504020204" pitchFamily="34" charset="0"/>
                <a:cs typeface="Open Sans" panose="020B0606030504020204" pitchFamily="34" charset="0"/>
              </a:rPr>
              <a:t>=====</a:t>
            </a:r>
          </a:p>
          <a:p>
            <a:pPr marL="0" indent="0">
              <a:buSzPts val="1100"/>
              <a:buNone/>
            </a:pPr>
            <a:endParaRPr lang="en-US" sz="1200" b="1" dirty="0">
              <a:latin typeface="Open Sans" panose="020B0606030504020204" pitchFamily="34" charset="0"/>
              <a:ea typeface="Open Sans" panose="020B0606030504020204" pitchFamily="34" charset="0"/>
              <a:cs typeface="Open Sans" panose="020B0606030504020204" pitchFamily="34" charset="0"/>
            </a:endParaRPr>
          </a:p>
          <a:p>
            <a:pPr marL="0" indent="0">
              <a:buSzPts val="1100"/>
              <a:buNone/>
            </a:pPr>
            <a:r>
              <a:rPr lang="en-US" sz="1200" dirty="0">
                <a:latin typeface="Open Sans" panose="020B0606030504020204" pitchFamily="34" charset="0"/>
                <a:ea typeface="Open Sans" panose="020B0606030504020204" pitchFamily="34" charset="0"/>
                <a:cs typeface="Open Sans" panose="020B0606030504020204" pitchFamily="34" charset="0"/>
              </a:rPr>
              <a:t>&lt;!-- this will work in any component inside the app --&gt;</a:t>
            </a:r>
          </a:p>
          <a:p>
            <a:pPr marL="0" indent="0">
              <a:buSzPts val="1100"/>
              <a:buNone/>
            </a:pPr>
            <a:r>
              <a:rPr lang="en-US" sz="1200" dirty="0">
                <a:latin typeface="Open Sans" panose="020B0606030504020204" pitchFamily="34" charset="0"/>
                <a:ea typeface="Open Sans" panose="020B0606030504020204" pitchFamily="34" charset="0"/>
                <a:cs typeface="Open Sans" panose="020B0606030504020204" pitchFamily="34" charset="0"/>
              </a:rPr>
              <a:t>&lt;</a:t>
            </a:r>
            <a:r>
              <a:rPr lang="en-US" sz="1200" dirty="0" err="1">
                <a:latin typeface="Open Sans" panose="020B0606030504020204" pitchFamily="34" charset="0"/>
                <a:ea typeface="Open Sans" panose="020B0606030504020204" pitchFamily="34" charset="0"/>
                <a:cs typeface="Open Sans" panose="020B0606030504020204" pitchFamily="34" charset="0"/>
              </a:rPr>
              <a:t>ComponentA</a:t>
            </a:r>
            <a:r>
              <a:rPr lang="en-US" sz="1200" dirty="0">
                <a:latin typeface="Open Sans" panose="020B0606030504020204" pitchFamily="34" charset="0"/>
                <a:ea typeface="Open Sans" panose="020B0606030504020204" pitchFamily="34" charset="0"/>
                <a:cs typeface="Open Sans" panose="020B0606030504020204" pitchFamily="34" charset="0"/>
              </a:rPr>
              <a:t> /&gt;</a:t>
            </a:r>
          </a:p>
          <a:p>
            <a:pPr marL="0" indent="0">
              <a:buSzPts val="1100"/>
              <a:buNone/>
            </a:pPr>
            <a:r>
              <a:rPr lang="en-US" sz="1200" dirty="0">
                <a:latin typeface="Open Sans" panose="020B0606030504020204" pitchFamily="34" charset="0"/>
                <a:ea typeface="Open Sans" panose="020B0606030504020204" pitchFamily="34" charset="0"/>
                <a:cs typeface="Open Sans" panose="020B0606030504020204" pitchFamily="34" charset="0"/>
              </a:rPr>
              <a:t>&lt;</a:t>
            </a:r>
            <a:r>
              <a:rPr lang="en-US" sz="1200" dirty="0" err="1">
                <a:latin typeface="Open Sans" panose="020B0606030504020204" pitchFamily="34" charset="0"/>
                <a:ea typeface="Open Sans" panose="020B0606030504020204" pitchFamily="34" charset="0"/>
                <a:cs typeface="Open Sans" panose="020B0606030504020204" pitchFamily="34" charset="0"/>
              </a:rPr>
              <a:t>ComponentB</a:t>
            </a:r>
            <a:r>
              <a:rPr lang="en-US" sz="1200" dirty="0">
                <a:latin typeface="Open Sans" panose="020B0606030504020204" pitchFamily="34" charset="0"/>
                <a:ea typeface="Open Sans" panose="020B0606030504020204" pitchFamily="34" charset="0"/>
                <a:cs typeface="Open Sans" panose="020B0606030504020204" pitchFamily="34" charset="0"/>
              </a:rPr>
              <a:t> /&gt;</a:t>
            </a:r>
          </a:p>
          <a:p>
            <a:pPr marL="0" indent="0">
              <a:buSzPts val="1100"/>
              <a:buNone/>
            </a:pPr>
            <a:r>
              <a:rPr lang="en-US" sz="1200" dirty="0">
                <a:latin typeface="Open Sans" panose="020B0606030504020204" pitchFamily="34" charset="0"/>
                <a:ea typeface="Open Sans" panose="020B0606030504020204" pitchFamily="34" charset="0"/>
                <a:cs typeface="Open Sans" panose="020B0606030504020204" pitchFamily="34" charset="0"/>
              </a:rPr>
              <a:t>&lt;</a:t>
            </a:r>
            <a:r>
              <a:rPr lang="en-US" sz="1200" dirty="0" err="1">
                <a:latin typeface="Open Sans" panose="020B0606030504020204" pitchFamily="34" charset="0"/>
                <a:ea typeface="Open Sans" panose="020B0606030504020204" pitchFamily="34" charset="0"/>
                <a:cs typeface="Open Sans" panose="020B0606030504020204" pitchFamily="34" charset="0"/>
              </a:rPr>
              <a:t>ComponentC</a:t>
            </a:r>
            <a:r>
              <a:rPr lang="en-US" sz="1200" dirty="0">
                <a:latin typeface="Open Sans" panose="020B0606030504020204" pitchFamily="34" charset="0"/>
                <a:ea typeface="Open Sans" panose="020B0606030504020204" pitchFamily="34" charset="0"/>
                <a:cs typeface="Open Sans" panose="020B0606030504020204" pitchFamily="34" charset="0"/>
              </a:rPr>
              <a:t> /&gt;</a:t>
            </a:r>
          </a:p>
          <a:p>
            <a:pPr marL="0" indent="0">
              <a:buSzPts val="1100"/>
              <a:buNone/>
            </a:pPr>
            <a:endParaRPr lang="en-US" sz="1200" b="1"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9175056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0465FB7A-7099-688C-96E5-44DCC5044241}"/>
            </a:ext>
          </a:extLst>
        </p:cNvPr>
        <p:cNvGrpSpPr/>
        <p:nvPr/>
      </p:nvGrpSpPr>
      <p:grpSpPr>
        <a:xfrm>
          <a:off x="0" y="0"/>
          <a:ext cx="0" cy="0"/>
          <a:chOff x="0" y="0"/>
          <a:chExt cx="0" cy="0"/>
        </a:xfrm>
      </p:grpSpPr>
      <p:sp>
        <p:nvSpPr>
          <p:cNvPr id="114" name="Google Shape;114;p8">
            <a:extLst>
              <a:ext uri="{FF2B5EF4-FFF2-40B4-BE49-F238E27FC236}">
                <a16:creationId xmlns:a16="http://schemas.microsoft.com/office/drawing/2014/main" id="{376F1653-E62F-8276-E055-2A36F35FE8BD}"/>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sz="3200" dirty="0"/>
              <a:t>Persisting Data wi</a:t>
            </a:r>
            <a:r>
              <a:rPr lang="en-SG" sz="3200" dirty="0" err="1"/>
              <a:t>th</a:t>
            </a:r>
            <a:r>
              <a:rPr lang="en" sz="3200" dirty="0"/>
              <a:t> Local Storage (1)</a:t>
            </a:r>
            <a:endParaRPr sz="3200" dirty="0"/>
          </a:p>
        </p:txBody>
      </p:sp>
      <p:sp>
        <p:nvSpPr>
          <p:cNvPr id="115" name="Google Shape;115;p8">
            <a:extLst>
              <a:ext uri="{FF2B5EF4-FFF2-40B4-BE49-F238E27FC236}">
                <a16:creationId xmlns:a16="http://schemas.microsoft.com/office/drawing/2014/main" id="{81464692-B5FD-749E-229D-6039B7B47E1C}"/>
              </a:ext>
            </a:extLst>
          </p:cNvPr>
          <p:cNvSpPr txBox="1">
            <a:spLocks noGrp="1"/>
          </p:cNvSpPr>
          <p:nvPr>
            <p:ph type="body" idx="1"/>
          </p:nvPr>
        </p:nvSpPr>
        <p:spPr>
          <a:xfrm>
            <a:off x="311700" y="1225225"/>
            <a:ext cx="3999900" cy="360235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SG" dirty="0">
                <a:latin typeface="+mn-lt"/>
                <a:ea typeface="Open Sans" panose="020B0606030504020204" pitchFamily="34" charset="0"/>
                <a:cs typeface="Open Sans" panose="020B0606030504020204" pitchFamily="34" charset="0"/>
              </a:rPr>
              <a:t>Sometimes, a client app like Vue.js application needs to save and load app state locally (in the client’s machine).</a:t>
            </a:r>
          </a:p>
          <a:p>
            <a:pPr marL="0" marR="0" lvl="0" indent="0" algn="l" rtl="0">
              <a:lnSpc>
                <a:spcPct val="115000"/>
              </a:lnSpc>
              <a:spcBef>
                <a:spcPts val="0"/>
              </a:spcBef>
              <a:spcAft>
                <a:spcPts val="0"/>
              </a:spcAft>
              <a:buSzPts val="1400"/>
              <a:buNone/>
            </a:pPr>
            <a:endParaRPr lang="en-SG" dirty="0">
              <a:latin typeface="+mn-lt"/>
              <a:ea typeface="Open Sans" panose="020B0606030504020204" pitchFamily="34" charset="0"/>
              <a:cs typeface="Open Sans" panose="020B0606030504020204" pitchFamily="34" charset="0"/>
            </a:endParaRPr>
          </a:p>
          <a:p>
            <a:pPr marL="0" indent="0">
              <a:buNone/>
            </a:pPr>
            <a:r>
              <a:rPr lang="en-SG" dirty="0">
                <a:ea typeface="Open Sans" panose="020B0606030504020204" pitchFamily="34" charset="0"/>
                <a:cs typeface="Open Sans" panose="020B0606030504020204" pitchFamily="34" charset="0"/>
              </a:rPr>
              <a:t>For example, to persist data across page refresh, browser restart, remember UI preferences such as dark mode, language, etc.</a:t>
            </a:r>
          </a:p>
          <a:p>
            <a:pPr marL="0" indent="0">
              <a:buNone/>
            </a:pPr>
            <a:endParaRPr lang="en-SG" dirty="0">
              <a:ea typeface="Open Sans" panose="020B0606030504020204" pitchFamily="34" charset="0"/>
              <a:cs typeface="Open Sans" panose="020B0606030504020204" pitchFamily="34" charset="0"/>
            </a:endParaRPr>
          </a:p>
          <a:p>
            <a:pPr marL="0" indent="0">
              <a:buNone/>
            </a:pPr>
            <a:r>
              <a:rPr lang="en-US" dirty="0">
                <a:ea typeface="Open Sans" panose="020B0606030504020204" pitchFamily="34" charset="0"/>
                <a:cs typeface="Open Sans" panose="020B0606030504020204" pitchFamily="34" charset="0"/>
              </a:rPr>
              <a:t>Note: avoid storing sensitive data such as passwords, API keys in </a:t>
            </a:r>
            <a:r>
              <a:rPr lang="en-US" dirty="0" err="1">
                <a:ea typeface="Open Sans" panose="020B0606030504020204" pitchFamily="34" charset="0"/>
                <a:cs typeface="Open Sans" panose="020B0606030504020204" pitchFamily="34" charset="0"/>
              </a:rPr>
              <a:t>localStorage</a:t>
            </a:r>
            <a:r>
              <a:rPr lang="en-US" dirty="0">
                <a:ea typeface="Open Sans" panose="020B0606030504020204" pitchFamily="34" charset="0"/>
                <a:cs typeface="Open Sans" panose="020B0606030504020204" pitchFamily="34" charset="0"/>
              </a:rPr>
              <a:t> as any JS on the page can read it</a:t>
            </a:r>
          </a:p>
          <a:p>
            <a:pPr marL="0" indent="0">
              <a:buNone/>
            </a:pPr>
            <a:endParaRPr lang="en-SG" dirty="0">
              <a:ea typeface="Open Sans" panose="020B0606030504020204" pitchFamily="34" charset="0"/>
              <a:cs typeface="Open Sans" panose="020B0606030504020204" pitchFamily="34" charset="0"/>
            </a:endParaRPr>
          </a:p>
          <a:p>
            <a:pPr marL="0" lvl="0" indent="0">
              <a:buNone/>
            </a:pPr>
            <a:endParaRPr lang="en-SG" dirty="0">
              <a:ea typeface="Open Sans" panose="020B0606030504020204" pitchFamily="34" charset="0"/>
              <a:cs typeface="Open Sans" panose="020B0606030504020204" pitchFamily="34" charset="0"/>
            </a:endParaRPr>
          </a:p>
          <a:p>
            <a:pPr marL="0" marR="0" lvl="0" indent="0" algn="l" rtl="0">
              <a:lnSpc>
                <a:spcPct val="115000"/>
              </a:lnSpc>
              <a:spcBef>
                <a:spcPts val="0"/>
              </a:spcBef>
              <a:spcAft>
                <a:spcPts val="0"/>
              </a:spcAft>
              <a:buSzPts val="1400"/>
              <a:buNone/>
            </a:pPr>
            <a:endParaRPr lang="en-SG" dirty="0">
              <a:latin typeface="+mn-lt"/>
              <a:ea typeface="Open Sans" panose="020B0606030504020204" pitchFamily="34" charset="0"/>
              <a:cs typeface="Open Sans" panose="020B0606030504020204" pitchFamily="34" charset="0"/>
            </a:endParaRPr>
          </a:p>
          <a:p>
            <a:pPr marL="0" marR="0" lvl="0" indent="0" algn="l" rtl="0">
              <a:lnSpc>
                <a:spcPct val="115000"/>
              </a:lnSpc>
              <a:spcBef>
                <a:spcPts val="0"/>
              </a:spcBef>
              <a:spcAft>
                <a:spcPts val="0"/>
              </a:spcAft>
              <a:buSzPts val="1400"/>
              <a:buNone/>
            </a:pPr>
            <a:endParaRPr lang="en-SG" dirty="0">
              <a:latin typeface="+mn-lt"/>
              <a:ea typeface="Open Sans" panose="020B0606030504020204" pitchFamily="34" charset="0"/>
              <a:cs typeface="Open Sans" panose="020B0606030504020204" pitchFamily="34" charset="0"/>
            </a:endParaRPr>
          </a:p>
          <a:p>
            <a:pPr marL="0" marR="0" lvl="0" indent="0" algn="l" rtl="0">
              <a:lnSpc>
                <a:spcPct val="115000"/>
              </a:lnSpc>
              <a:spcBef>
                <a:spcPts val="0"/>
              </a:spcBef>
              <a:spcAft>
                <a:spcPts val="0"/>
              </a:spcAft>
              <a:buSzPts val="1400"/>
              <a:buNone/>
            </a:pPr>
            <a:endParaRPr lang="en-SG" dirty="0">
              <a:latin typeface="+mn-lt"/>
              <a:ea typeface="Open Sans" panose="020B0606030504020204" pitchFamily="34" charset="0"/>
              <a:cs typeface="Open Sans" panose="020B0606030504020204" pitchFamily="34" charset="0"/>
            </a:endParaRPr>
          </a:p>
          <a:p>
            <a:pPr marL="0" marR="0" lvl="0" indent="0" algn="l" rtl="0">
              <a:lnSpc>
                <a:spcPct val="115000"/>
              </a:lnSpc>
              <a:spcBef>
                <a:spcPts val="0"/>
              </a:spcBef>
              <a:spcAft>
                <a:spcPts val="0"/>
              </a:spcAft>
              <a:buSzPts val="1400"/>
              <a:buNone/>
            </a:pPr>
            <a:endParaRPr lang="en-SG" dirty="0">
              <a:latin typeface="+mn-lt"/>
              <a:ea typeface="Open Sans" panose="020B0606030504020204" pitchFamily="34" charset="0"/>
              <a:cs typeface="Open Sans" panose="020B0606030504020204" pitchFamily="34" charset="0"/>
            </a:endParaRPr>
          </a:p>
        </p:txBody>
      </p:sp>
      <p:sp>
        <p:nvSpPr>
          <p:cNvPr id="116" name="Google Shape;116;p8">
            <a:extLst>
              <a:ext uri="{FF2B5EF4-FFF2-40B4-BE49-F238E27FC236}">
                <a16:creationId xmlns:a16="http://schemas.microsoft.com/office/drawing/2014/main" id="{AE77D6A9-5010-6134-940C-D9273C681541}"/>
              </a:ext>
            </a:extLst>
          </p:cNvPr>
          <p:cNvSpPr txBox="1">
            <a:spLocks noGrp="1"/>
          </p:cNvSpPr>
          <p:nvPr>
            <p:ph type="body" idx="2"/>
          </p:nvPr>
        </p:nvSpPr>
        <p:spPr>
          <a:xfrm>
            <a:off x="4500575" y="1225225"/>
            <a:ext cx="4451836" cy="3782204"/>
          </a:xfrm>
          <a:prstGeom prst="rect">
            <a:avLst/>
          </a:prstGeom>
          <a:noFill/>
          <a:ln>
            <a:noFill/>
          </a:ln>
        </p:spPr>
        <p:txBody>
          <a:bodyPr spcFirstLastPara="1" wrap="square" lIns="91425" tIns="91425" rIns="91425" bIns="91425" anchor="t" anchorCtr="0">
            <a:noAutofit/>
          </a:bodyPr>
          <a:lstStyle/>
          <a:p>
            <a:pPr marL="0" indent="0">
              <a:buSzPts val="1100"/>
              <a:buNone/>
            </a:pPr>
            <a:r>
              <a:rPr lang="en-SG" b="1" dirty="0">
                <a:solidFill>
                  <a:srgbClr val="000000"/>
                </a:solidFill>
              </a:rPr>
              <a:t>Example: </a:t>
            </a:r>
            <a:r>
              <a:rPr lang="en-SG" i="1" dirty="0">
                <a:solidFill>
                  <a:srgbClr val="000000"/>
                </a:solidFill>
              </a:rPr>
              <a:t>Example7View.vue</a:t>
            </a:r>
          </a:p>
          <a:p>
            <a:pPr marL="0" indent="0">
              <a:buSzPts val="1100"/>
              <a:buNone/>
            </a:pPr>
            <a:endParaRPr lang="en-US" dirty="0">
              <a:latin typeface="+mn-lt"/>
              <a:ea typeface="Open Sans" panose="020B0606030504020204" pitchFamily="34" charset="0"/>
              <a:cs typeface="Open Sans" panose="020B0606030504020204" pitchFamily="34" charset="0"/>
            </a:endParaRPr>
          </a:p>
          <a:p>
            <a:pPr marL="0" lvl="0" indent="0">
              <a:buNone/>
            </a:pPr>
            <a:r>
              <a:rPr lang="en-SG" b="1" u="sng" dirty="0">
                <a:ea typeface="Open Sans" panose="020B0606030504020204" pitchFamily="34" charset="0"/>
                <a:cs typeface="Open Sans" panose="020B0606030504020204" pitchFamily="34" charset="0"/>
              </a:rPr>
              <a:t>Methods:</a:t>
            </a:r>
          </a:p>
          <a:p>
            <a:pPr marL="0" lvl="0" indent="0">
              <a:buNone/>
            </a:pPr>
            <a:endParaRPr lang="en-SG" dirty="0">
              <a:ea typeface="Open Sans" panose="020B0606030504020204" pitchFamily="34" charset="0"/>
              <a:cs typeface="Open Sans" panose="020B0606030504020204" pitchFamily="34" charset="0"/>
            </a:endParaRPr>
          </a:p>
          <a:p>
            <a:pPr marL="0" lvl="0" indent="0">
              <a:buNone/>
            </a:pPr>
            <a:r>
              <a:rPr lang="en-SG" dirty="0" err="1">
                <a:latin typeface="Open Sans" panose="020B0606030504020204" pitchFamily="34" charset="0"/>
                <a:ea typeface="Open Sans" panose="020B0606030504020204" pitchFamily="34" charset="0"/>
                <a:cs typeface="Open Sans" panose="020B0606030504020204" pitchFamily="34" charset="0"/>
              </a:rPr>
              <a:t>localStorage.getItem</a:t>
            </a:r>
            <a:r>
              <a:rPr lang="en-SG" dirty="0">
                <a:latin typeface="Open Sans" panose="020B0606030504020204" pitchFamily="34" charset="0"/>
                <a:ea typeface="Open Sans" panose="020B0606030504020204" pitchFamily="34" charset="0"/>
                <a:cs typeface="Open Sans" panose="020B0606030504020204" pitchFamily="34" charset="0"/>
              </a:rPr>
              <a:t>(key) </a:t>
            </a:r>
            <a:r>
              <a:rPr lang="en-SG" dirty="0">
                <a:ea typeface="Open Sans" panose="020B0606030504020204" pitchFamily="34" charset="0"/>
                <a:cs typeface="Open Sans" panose="020B0606030504020204" pitchFamily="34" charset="0"/>
              </a:rPr>
              <a:t>returns string | null</a:t>
            </a:r>
          </a:p>
          <a:p>
            <a:pPr marL="0" lvl="0" indent="0">
              <a:buNone/>
            </a:pPr>
            <a:endParaRPr lang="en-SG" dirty="0">
              <a:ea typeface="Open Sans" panose="020B0606030504020204" pitchFamily="34" charset="0"/>
              <a:cs typeface="Open Sans" panose="020B0606030504020204" pitchFamily="34" charset="0"/>
            </a:endParaRPr>
          </a:p>
          <a:p>
            <a:pPr marL="0" lvl="0" indent="0">
              <a:buNone/>
            </a:pPr>
            <a:r>
              <a:rPr lang="en-SG" dirty="0" err="1">
                <a:latin typeface="Open Sans" panose="020B0606030504020204" pitchFamily="34" charset="0"/>
                <a:ea typeface="Open Sans" panose="020B0606030504020204" pitchFamily="34" charset="0"/>
                <a:cs typeface="Open Sans" panose="020B0606030504020204" pitchFamily="34" charset="0"/>
              </a:rPr>
              <a:t>localStorage.setItem</a:t>
            </a:r>
            <a:r>
              <a:rPr lang="en-SG" dirty="0">
                <a:latin typeface="Open Sans" panose="020B0606030504020204" pitchFamily="34" charset="0"/>
                <a:ea typeface="Open Sans" panose="020B0606030504020204" pitchFamily="34" charset="0"/>
                <a:cs typeface="Open Sans" panose="020B0606030504020204" pitchFamily="34" charset="0"/>
              </a:rPr>
              <a:t>(key, value) </a:t>
            </a:r>
            <a:r>
              <a:rPr lang="en-SG" dirty="0">
                <a:ea typeface="Open Sans" panose="020B0606030504020204" pitchFamily="34" charset="0"/>
                <a:cs typeface="Open Sans" panose="020B0606030504020204" pitchFamily="34" charset="0"/>
              </a:rPr>
              <a:t>stores strings only</a:t>
            </a:r>
          </a:p>
          <a:p>
            <a:pPr marL="0" lvl="0" indent="0">
              <a:buNone/>
            </a:pPr>
            <a:endParaRPr lang="en-SG" dirty="0">
              <a:ea typeface="Open Sans" panose="020B0606030504020204" pitchFamily="34" charset="0"/>
              <a:cs typeface="Open Sans" panose="020B0606030504020204" pitchFamily="34" charset="0"/>
            </a:endParaRPr>
          </a:p>
          <a:p>
            <a:pPr marL="0" lvl="0" indent="0">
              <a:buNone/>
            </a:pPr>
            <a:r>
              <a:rPr lang="en-SG" dirty="0" err="1">
                <a:latin typeface="Open Sans" panose="020B0606030504020204" pitchFamily="34" charset="0"/>
                <a:ea typeface="Open Sans" panose="020B0606030504020204" pitchFamily="34" charset="0"/>
                <a:cs typeface="Open Sans" panose="020B0606030504020204" pitchFamily="34" charset="0"/>
              </a:rPr>
              <a:t>localStorage.removeItem</a:t>
            </a:r>
            <a:r>
              <a:rPr lang="en-SG" dirty="0">
                <a:latin typeface="Open Sans" panose="020B0606030504020204" pitchFamily="34" charset="0"/>
                <a:ea typeface="Open Sans" panose="020B0606030504020204" pitchFamily="34" charset="0"/>
                <a:cs typeface="Open Sans" panose="020B0606030504020204" pitchFamily="34" charset="0"/>
              </a:rPr>
              <a:t>(key) </a:t>
            </a:r>
            <a:r>
              <a:rPr lang="en-SG" dirty="0">
                <a:ea typeface="Open Sans" panose="020B0606030504020204" pitchFamily="34" charset="0"/>
                <a:cs typeface="Open Sans" panose="020B0606030504020204" pitchFamily="34" charset="0"/>
              </a:rPr>
              <a:t>removes the storage under the given key</a:t>
            </a:r>
          </a:p>
          <a:p>
            <a:pPr marL="0" lvl="0" indent="0">
              <a:buNone/>
            </a:pPr>
            <a:endParaRPr lang="en-SG" dirty="0">
              <a:ea typeface="Open Sans" panose="020B0606030504020204" pitchFamily="34" charset="0"/>
              <a:cs typeface="Open Sans" panose="020B0606030504020204" pitchFamily="34" charset="0"/>
            </a:endParaRPr>
          </a:p>
          <a:p>
            <a:pPr marL="0" lvl="0" indent="0">
              <a:buNone/>
            </a:pPr>
            <a:r>
              <a:rPr lang="en-SG" dirty="0" err="1">
                <a:latin typeface="Open Sans" panose="020B0606030504020204" pitchFamily="34" charset="0"/>
                <a:ea typeface="Open Sans" panose="020B0606030504020204" pitchFamily="34" charset="0"/>
                <a:cs typeface="Open Sans" panose="020B0606030504020204" pitchFamily="34" charset="0"/>
              </a:rPr>
              <a:t>onMounted</a:t>
            </a:r>
            <a:r>
              <a:rPr lang="en-SG" dirty="0">
                <a:latin typeface="Open Sans" panose="020B0606030504020204" pitchFamily="34" charset="0"/>
                <a:ea typeface="Open Sans" panose="020B0606030504020204" pitchFamily="34" charset="0"/>
                <a:cs typeface="Open Sans" panose="020B0606030504020204" pitchFamily="34" charset="0"/>
              </a:rPr>
              <a:t>() </a:t>
            </a:r>
            <a:r>
              <a:rPr lang="en-SG" dirty="0">
                <a:ea typeface="Open Sans" panose="020B0606030504020204" pitchFamily="34" charset="0"/>
                <a:cs typeface="Open Sans" panose="020B0606030504020204" pitchFamily="34" charset="0"/>
              </a:rPr>
              <a:t>is a good place to load initial values</a:t>
            </a:r>
            <a:endParaRPr lang="en" dirty="0">
              <a:ea typeface="Open Sans" panose="020B0606030504020204" pitchFamily="34" charset="0"/>
              <a:cs typeface="Open Sans" panose="020B0606030504020204" pitchFamily="34" charset="0"/>
            </a:endParaRPr>
          </a:p>
          <a:p>
            <a:pPr marL="0" indent="0">
              <a:buSzPts val="1100"/>
              <a:buNone/>
            </a:pPr>
            <a:endParaRPr lang="en-US" dirty="0">
              <a:latin typeface="+mn-lt"/>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3894482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D4671711-DD7E-6FAA-B261-A055B73CF6F7}"/>
            </a:ext>
          </a:extLst>
        </p:cNvPr>
        <p:cNvGrpSpPr/>
        <p:nvPr/>
      </p:nvGrpSpPr>
      <p:grpSpPr>
        <a:xfrm>
          <a:off x="0" y="0"/>
          <a:ext cx="0" cy="0"/>
          <a:chOff x="0" y="0"/>
          <a:chExt cx="0" cy="0"/>
        </a:xfrm>
      </p:grpSpPr>
      <p:sp>
        <p:nvSpPr>
          <p:cNvPr id="114" name="Google Shape;114;p8">
            <a:extLst>
              <a:ext uri="{FF2B5EF4-FFF2-40B4-BE49-F238E27FC236}">
                <a16:creationId xmlns:a16="http://schemas.microsoft.com/office/drawing/2014/main" id="{08B04E19-D274-B8B1-AFD5-9BC4CFE6687A}"/>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kumimoji="0" lang="en" sz="3200" b="0" i="0" u="none" strike="noStrike" kern="0" cap="none" spc="0" normalizeH="0" baseline="0" noProof="0" dirty="0">
                <a:ln>
                  <a:noFill/>
                </a:ln>
                <a:solidFill>
                  <a:srgbClr val="000000"/>
                </a:solidFill>
                <a:effectLst/>
                <a:uLnTx/>
                <a:uFillTx/>
                <a:latin typeface="Arial"/>
                <a:cs typeface="Arial"/>
                <a:sym typeface="Arial"/>
              </a:rPr>
              <a:t>Persisting Data wi</a:t>
            </a:r>
            <a:r>
              <a:rPr kumimoji="0" lang="en-SG" sz="3200" b="0" i="0" u="none" strike="noStrike" kern="0" cap="none" spc="0" normalizeH="0" baseline="0" noProof="0" dirty="0" err="1">
                <a:ln>
                  <a:noFill/>
                </a:ln>
                <a:solidFill>
                  <a:srgbClr val="000000"/>
                </a:solidFill>
                <a:effectLst/>
                <a:uLnTx/>
                <a:uFillTx/>
                <a:latin typeface="Arial"/>
                <a:cs typeface="Arial"/>
                <a:sym typeface="Arial"/>
              </a:rPr>
              <a:t>th</a:t>
            </a:r>
            <a:r>
              <a:rPr kumimoji="0" lang="en" sz="3200" b="0" i="0" u="none" strike="noStrike" kern="0" cap="none" spc="0" normalizeH="0" baseline="0" noProof="0" dirty="0">
                <a:ln>
                  <a:noFill/>
                </a:ln>
                <a:solidFill>
                  <a:srgbClr val="000000"/>
                </a:solidFill>
                <a:effectLst/>
                <a:uLnTx/>
                <a:uFillTx/>
                <a:latin typeface="Arial"/>
                <a:cs typeface="Arial"/>
                <a:sym typeface="Arial"/>
              </a:rPr>
              <a:t> Local Storage (2)</a:t>
            </a:r>
            <a:endParaRPr dirty="0"/>
          </a:p>
        </p:txBody>
      </p:sp>
      <p:sp>
        <p:nvSpPr>
          <p:cNvPr id="115" name="Google Shape;115;p8">
            <a:extLst>
              <a:ext uri="{FF2B5EF4-FFF2-40B4-BE49-F238E27FC236}">
                <a16:creationId xmlns:a16="http://schemas.microsoft.com/office/drawing/2014/main" id="{30279216-F0C0-E82B-A96D-5A51A739AE9A}"/>
              </a:ext>
            </a:extLst>
          </p:cNvPr>
          <p:cNvSpPr txBox="1">
            <a:spLocks noGrp="1"/>
          </p:cNvSpPr>
          <p:nvPr>
            <p:ph type="body" idx="1"/>
          </p:nvPr>
        </p:nvSpPr>
        <p:spPr>
          <a:xfrm>
            <a:off x="311700" y="1225225"/>
            <a:ext cx="3999900" cy="3602350"/>
          </a:xfrm>
          <a:prstGeom prst="rect">
            <a:avLst/>
          </a:prstGeom>
          <a:noFill/>
          <a:ln>
            <a:noFill/>
          </a:ln>
        </p:spPr>
        <p:txBody>
          <a:bodyPr spcFirstLastPara="1" wrap="square" lIns="91425" tIns="91425" rIns="91425" bIns="91425" anchor="t" anchorCtr="0">
            <a:noAutofit/>
          </a:bodyPr>
          <a:lstStyle/>
          <a:p>
            <a:pPr marL="0" lvl="0" indent="0">
              <a:buNone/>
            </a:pPr>
            <a:r>
              <a:rPr lang="en-SG" dirty="0">
                <a:ea typeface="Open Sans" panose="020B0606030504020204" pitchFamily="34" charset="0"/>
                <a:cs typeface="Open Sans" panose="020B0606030504020204" pitchFamily="34" charset="0"/>
              </a:rPr>
              <a:t>Modern browser provide a local storage mechanism using key-value pairs (both stored as strings).</a:t>
            </a:r>
          </a:p>
          <a:p>
            <a:pPr marL="0" lvl="0" indent="0">
              <a:buNone/>
            </a:pPr>
            <a:endParaRPr lang="en-SG" dirty="0">
              <a:ea typeface="Open Sans" panose="020B0606030504020204" pitchFamily="34" charset="0"/>
              <a:cs typeface="Open Sans" panose="020B0606030504020204" pitchFamily="34" charset="0"/>
            </a:endParaRPr>
          </a:p>
          <a:p>
            <a:pPr marL="0" lvl="0" indent="0">
              <a:buNone/>
            </a:pPr>
            <a:r>
              <a:rPr lang="en-SG" dirty="0">
                <a:ea typeface="Open Sans" panose="020B0606030504020204" pitchFamily="34" charset="0"/>
                <a:cs typeface="Open Sans" panose="020B0606030504020204" pitchFamily="34" charset="0"/>
              </a:rPr>
              <a:t>Scope: per origin (same protocol + domain + port), e.g., http://localhost:5173</a:t>
            </a:r>
            <a:endParaRPr lang="en" dirty="0">
              <a:ea typeface="Open Sans" panose="020B0606030504020204" pitchFamily="34" charset="0"/>
              <a:cs typeface="Open Sans" panose="020B0606030504020204" pitchFamily="34" charset="0"/>
            </a:endParaRPr>
          </a:p>
          <a:p>
            <a:pPr marL="0" indent="0">
              <a:buSzPts val="1100"/>
              <a:buNone/>
            </a:pPr>
            <a:endParaRPr lang="en-US" dirty="0">
              <a:ea typeface="Open Sans" panose="020B0606030504020204" pitchFamily="34" charset="0"/>
              <a:cs typeface="Open Sans" panose="020B0606030504020204" pitchFamily="34" charset="0"/>
            </a:endParaRPr>
          </a:p>
          <a:p>
            <a:pPr marL="0" marR="0" lvl="0" indent="0" algn="l" rtl="0">
              <a:lnSpc>
                <a:spcPct val="115000"/>
              </a:lnSpc>
              <a:spcBef>
                <a:spcPts val="0"/>
              </a:spcBef>
              <a:spcAft>
                <a:spcPts val="0"/>
              </a:spcAft>
              <a:buSzPts val="1400"/>
              <a:buNone/>
            </a:pPr>
            <a:endParaRPr lang="en-SG" dirty="0">
              <a:latin typeface="+mn-lt"/>
              <a:ea typeface="Open Sans" panose="020B0606030504020204" pitchFamily="34" charset="0"/>
              <a:cs typeface="Open Sans" panose="020B0606030504020204" pitchFamily="34" charset="0"/>
            </a:endParaRPr>
          </a:p>
          <a:p>
            <a:pPr marL="0" marR="0" lvl="0" indent="0" algn="l" rtl="0">
              <a:lnSpc>
                <a:spcPct val="115000"/>
              </a:lnSpc>
              <a:spcBef>
                <a:spcPts val="0"/>
              </a:spcBef>
              <a:spcAft>
                <a:spcPts val="0"/>
              </a:spcAft>
              <a:buSzPts val="1400"/>
              <a:buNone/>
            </a:pPr>
            <a:endParaRPr lang="en-SG" dirty="0">
              <a:latin typeface="+mn-lt"/>
              <a:ea typeface="Open Sans" panose="020B0606030504020204" pitchFamily="34" charset="0"/>
              <a:cs typeface="Open Sans" panose="020B0606030504020204" pitchFamily="34" charset="0"/>
            </a:endParaRPr>
          </a:p>
          <a:p>
            <a:pPr marL="0" marR="0" lvl="0" indent="0" algn="l" rtl="0">
              <a:lnSpc>
                <a:spcPct val="115000"/>
              </a:lnSpc>
              <a:spcBef>
                <a:spcPts val="0"/>
              </a:spcBef>
              <a:spcAft>
                <a:spcPts val="0"/>
              </a:spcAft>
              <a:buSzPts val="1400"/>
              <a:buNone/>
            </a:pPr>
            <a:endParaRPr lang="en-SG" dirty="0">
              <a:latin typeface="+mn-lt"/>
              <a:ea typeface="Open Sans" panose="020B0606030504020204" pitchFamily="34" charset="0"/>
              <a:cs typeface="Open Sans" panose="020B0606030504020204" pitchFamily="34" charset="0"/>
            </a:endParaRPr>
          </a:p>
          <a:p>
            <a:pPr marL="0" marR="0" lvl="0" indent="0" algn="l" rtl="0">
              <a:lnSpc>
                <a:spcPct val="115000"/>
              </a:lnSpc>
              <a:spcBef>
                <a:spcPts val="0"/>
              </a:spcBef>
              <a:spcAft>
                <a:spcPts val="0"/>
              </a:spcAft>
              <a:buSzPts val="1400"/>
              <a:buNone/>
            </a:pPr>
            <a:endParaRPr lang="en-SG" dirty="0">
              <a:latin typeface="+mn-lt"/>
              <a:ea typeface="Open Sans" panose="020B0606030504020204" pitchFamily="34" charset="0"/>
              <a:cs typeface="Open Sans" panose="020B0606030504020204" pitchFamily="34" charset="0"/>
            </a:endParaRPr>
          </a:p>
        </p:txBody>
      </p:sp>
      <p:sp>
        <p:nvSpPr>
          <p:cNvPr id="116" name="Google Shape;116;p8">
            <a:extLst>
              <a:ext uri="{FF2B5EF4-FFF2-40B4-BE49-F238E27FC236}">
                <a16:creationId xmlns:a16="http://schemas.microsoft.com/office/drawing/2014/main" id="{1A292ED6-6499-DB1A-870E-30BE1503A645}"/>
              </a:ext>
            </a:extLst>
          </p:cNvPr>
          <p:cNvSpPr txBox="1">
            <a:spLocks noGrp="1"/>
          </p:cNvSpPr>
          <p:nvPr>
            <p:ph type="body" idx="2"/>
          </p:nvPr>
        </p:nvSpPr>
        <p:spPr>
          <a:xfrm>
            <a:off x="4500575" y="1225225"/>
            <a:ext cx="4451836" cy="3782204"/>
          </a:xfrm>
          <a:prstGeom prst="rect">
            <a:avLst/>
          </a:prstGeom>
          <a:noFill/>
          <a:ln>
            <a:noFill/>
          </a:ln>
        </p:spPr>
        <p:txBody>
          <a:bodyPr spcFirstLastPara="1" wrap="square" lIns="91425" tIns="91425" rIns="91425" bIns="91425" anchor="t" anchorCtr="0">
            <a:noAutofit/>
          </a:bodyPr>
          <a:lstStyle/>
          <a:p>
            <a:pPr marL="0" indent="0">
              <a:buSzPts val="1100"/>
              <a:buNone/>
            </a:pPr>
            <a:r>
              <a:rPr lang="en-SG" b="1" dirty="0">
                <a:solidFill>
                  <a:srgbClr val="000000"/>
                </a:solidFill>
              </a:rPr>
              <a:t>Example: </a:t>
            </a:r>
            <a:r>
              <a:rPr lang="en-SG" i="1" dirty="0">
                <a:solidFill>
                  <a:srgbClr val="000000"/>
                </a:solidFill>
              </a:rPr>
              <a:t>Example7View.vue</a:t>
            </a:r>
          </a:p>
          <a:p>
            <a:pPr marL="0" lvl="0" indent="0">
              <a:buNone/>
            </a:pPr>
            <a:endParaRPr lang="en-SG" dirty="0">
              <a:ea typeface="Open Sans" panose="020B0606030504020204" pitchFamily="34" charset="0"/>
              <a:cs typeface="Open Sans" panose="020B0606030504020204" pitchFamily="34" charset="0"/>
            </a:endParaRPr>
          </a:p>
          <a:p>
            <a:pPr marL="0" lvl="0" indent="0">
              <a:buNone/>
            </a:pPr>
            <a:r>
              <a:rPr lang="en-SG" b="1" u="sng" dirty="0">
                <a:ea typeface="Open Sans" panose="020B0606030504020204" pitchFamily="34" charset="0"/>
                <a:cs typeface="Open Sans" panose="020B0606030504020204" pitchFamily="34" charset="0"/>
              </a:rPr>
              <a:t>Methods:</a:t>
            </a:r>
          </a:p>
          <a:p>
            <a:pPr marL="0" lvl="0" indent="0">
              <a:buNone/>
            </a:pPr>
            <a:endParaRPr lang="en-SG" dirty="0">
              <a:ea typeface="Open Sans" panose="020B0606030504020204" pitchFamily="34" charset="0"/>
              <a:cs typeface="Open Sans" panose="020B0606030504020204" pitchFamily="34" charset="0"/>
            </a:endParaRPr>
          </a:p>
          <a:p>
            <a:pPr marL="0" lvl="0" indent="0">
              <a:buNone/>
            </a:pPr>
            <a:r>
              <a:rPr lang="en-SG" dirty="0" err="1">
                <a:latin typeface="Open Sans" panose="020B0606030504020204" pitchFamily="34" charset="0"/>
                <a:ea typeface="Open Sans" panose="020B0606030504020204" pitchFamily="34" charset="0"/>
                <a:cs typeface="Open Sans" panose="020B0606030504020204" pitchFamily="34" charset="0"/>
              </a:rPr>
              <a:t>localStorage.getItem</a:t>
            </a:r>
            <a:r>
              <a:rPr lang="en-SG" dirty="0">
                <a:latin typeface="Open Sans" panose="020B0606030504020204" pitchFamily="34" charset="0"/>
                <a:ea typeface="Open Sans" panose="020B0606030504020204" pitchFamily="34" charset="0"/>
                <a:cs typeface="Open Sans" panose="020B0606030504020204" pitchFamily="34" charset="0"/>
              </a:rPr>
              <a:t>(key) </a:t>
            </a:r>
            <a:r>
              <a:rPr lang="en-SG" dirty="0">
                <a:ea typeface="Open Sans" panose="020B0606030504020204" pitchFamily="34" charset="0"/>
                <a:cs typeface="Open Sans" panose="020B0606030504020204" pitchFamily="34" charset="0"/>
              </a:rPr>
              <a:t>returns string | null</a:t>
            </a:r>
          </a:p>
          <a:p>
            <a:pPr marL="0" lvl="0" indent="0">
              <a:buNone/>
            </a:pPr>
            <a:endParaRPr lang="en-SG" dirty="0">
              <a:ea typeface="Open Sans" panose="020B0606030504020204" pitchFamily="34" charset="0"/>
              <a:cs typeface="Open Sans" panose="020B0606030504020204" pitchFamily="34" charset="0"/>
            </a:endParaRPr>
          </a:p>
          <a:p>
            <a:pPr marL="0" lvl="0" indent="0">
              <a:buNone/>
            </a:pPr>
            <a:r>
              <a:rPr lang="en-SG" dirty="0" err="1">
                <a:latin typeface="Open Sans" panose="020B0606030504020204" pitchFamily="34" charset="0"/>
                <a:ea typeface="Open Sans" panose="020B0606030504020204" pitchFamily="34" charset="0"/>
                <a:cs typeface="Open Sans" panose="020B0606030504020204" pitchFamily="34" charset="0"/>
              </a:rPr>
              <a:t>localStorage.setItem</a:t>
            </a:r>
            <a:r>
              <a:rPr lang="en-SG" dirty="0">
                <a:latin typeface="Open Sans" panose="020B0606030504020204" pitchFamily="34" charset="0"/>
                <a:ea typeface="Open Sans" panose="020B0606030504020204" pitchFamily="34" charset="0"/>
                <a:cs typeface="Open Sans" panose="020B0606030504020204" pitchFamily="34" charset="0"/>
              </a:rPr>
              <a:t>(key, value) </a:t>
            </a:r>
            <a:r>
              <a:rPr lang="en-SG" dirty="0">
                <a:ea typeface="Open Sans" panose="020B0606030504020204" pitchFamily="34" charset="0"/>
                <a:cs typeface="Open Sans" panose="020B0606030504020204" pitchFamily="34" charset="0"/>
              </a:rPr>
              <a:t>stores strings only</a:t>
            </a:r>
          </a:p>
          <a:p>
            <a:pPr marL="0" lvl="0" indent="0">
              <a:buNone/>
            </a:pPr>
            <a:endParaRPr lang="en-SG" dirty="0">
              <a:ea typeface="Open Sans" panose="020B0606030504020204" pitchFamily="34" charset="0"/>
              <a:cs typeface="Open Sans" panose="020B0606030504020204" pitchFamily="34" charset="0"/>
            </a:endParaRPr>
          </a:p>
          <a:p>
            <a:pPr marL="0" lvl="0" indent="0">
              <a:buNone/>
            </a:pPr>
            <a:r>
              <a:rPr lang="en-SG" dirty="0" err="1">
                <a:latin typeface="Open Sans" panose="020B0606030504020204" pitchFamily="34" charset="0"/>
                <a:ea typeface="Open Sans" panose="020B0606030504020204" pitchFamily="34" charset="0"/>
                <a:cs typeface="Open Sans" panose="020B0606030504020204" pitchFamily="34" charset="0"/>
              </a:rPr>
              <a:t>onMounted</a:t>
            </a:r>
            <a:r>
              <a:rPr lang="en-SG" dirty="0">
                <a:latin typeface="Open Sans" panose="020B0606030504020204" pitchFamily="34" charset="0"/>
                <a:ea typeface="Open Sans" panose="020B0606030504020204" pitchFamily="34" charset="0"/>
                <a:cs typeface="Open Sans" panose="020B0606030504020204" pitchFamily="34" charset="0"/>
              </a:rPr>
              <a:t>() </a:t>
            </a:r>
            <a:r>
              <a:rPr lang="en-SG" dirty="0">
                <a:ea typeface="Open Sans" panose="020B0606030504020204" pitchFamily="34" charset="0"/>
                <a:cs typeface="Open Sans" panose="020B0606030504020204" pitchFamily="34" charset="0"/>
              </a:rPr>
              <a:t>is a good place to load initial values</a:t>
            </a:r>
            <a:endParaRPr lang="en" dirty="0">
              <a:ea typeface="Open Sans" panose="020B0606030504020204" pitchFamily="34" charset="0"/>
              <a:cs typeface="Open Sans" panose="020B0606030504020204" pitchFamily="34" charset="0"/>
            </a:endParaRPr>
          </a:p>
          <a:p>
            <a:pPr marL="0" indent="0">
              <a:buSzPts val="1100"/>
              <a:buNone/>
            </a:pPr>
            <a:endParaRPr lang="en-US" dirty="0">
              <a:latin typeface="+mn-lt"/>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8420406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AA77EC24-D619-FBBB-EC51-11C02660FD27}"/>
            </a:ext>
          </a:extLst>
        </p:cNvPr>
        <p:cNvGrpSpPr/>
        <p:nvPr/>
      </p:nvGrpSpPr>
      <p:grpSpPr>
        <a:xfrm>
          <a:off x="0" y="0"/>
          <a:ext cx="0" cy="0"/>
          <a:chOff x="0" y="0"/>
          <a:chExt cx="0" cy="0"/>
        </a:xfrm>
      </p:grpSpPr>
      <p:sp>
        <p:nvSpPr>
          <p:cNvPr id="114" name="Google Shape;114;p8">
            <a:extLst>
              <a:ext uri="{FF2B5EF4-FFF2-40B4-BE49-F238E27FC236}">
                <a16:creationId xmlns:a16="http://schemas.microsoft.com/office/drawing/2014/main" id="{3B61461A-570D-1C01-B746-0152AED677F0}"/>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kumimoji="0" lang="en" sz="3200" b="0" i="0" u="none" strike="noStrike" kern="0" cap="none" spc="0" normalizeH="0" baseline="0" noProof="0" dirty="0">
                <a:ln>
                  <a:noFill/>
                </a:ln>
                <a:solidFill>
                  <a:srgbClr val="000000"/>
                </a:solidFill>
                <a:effectLst/>
                <a:uLnTx/>
                <a:uFillTx/>
                <a:latin typeface="Arial"/>
                <a:cs typeface="Arial"/>
                <a:sym typeface="Arial"/>
              </a:rPr>
              <a:t>Persisting Data wi</a:t>
            </a:r>
            <a:r>
              <a:rPr kumimoji="0" lang="en-SG" sz="3200" b="0" i="0" u="none" strike="noStrike" kern="0" cap="none" spc="0" normalizeH="0" baseline="0" noProof="0" dirty="0" err="1">
                <a:ln>
                  <a:noFill/>
                </a:ln>
                <a:solidFill>
                  <a:srgbClr val="000000"/>
                </a:solidFill>
                <a:effectLst/>
                <a:uLnTx/>
                <a:uFillTx/>
                <a:latin typeface="Arial"/>
                <a:cs typeface="Arial"/>
                <a:sym typeface="Arial"/>
              </a:rPr>
              <a:t>th</a:t>
            </a:r>
            <a:r>
              <a:rPr kumimoji="0" lang="en" sz="3200" b="0" i="0" u="none" strike="noStrike" kern="0" cap="none" spc="0" normalizeH="0" baseline="0" noProof="0" dirty="0">
                <a:ln>
                  <a:noFill/>
                </a:ln>
                <a:solidFill>
                  <a:srgbClr val="000000"/>
                </a:solidFill>
                <a:effectLst/>
                <a:uLnTx/>
                <a:uFillTx/>
                <a:latin typeface="Arial"/>
                <a:cs typeface="Arial"/>
                <a:sym typeface="Arial"/>
              </a:rPr>
              <a:t> Local Storage (3)</a:t>
            </a:r>
            <a:endParaRPr dirty="0"/>
          </a:p>
        </p:txBody>
      </p:sp>
      <p:sp>
        <p:nvSpPr>
          <p:cNvPr id="115" name="Google Shape;115;p8">
            <a:extLst>
              <a:ext uri="{FF2B5EF4-FFF2-40B4-BE49-F238E27FC236}">
                <a16:creationId xmlns:a16="http://schemas.microsoft.com/office/drawing/2014/main" id="{D11EC1FE-9A0C-3719-EDE2-121D5754ACC7}"/>
              </a:ext>
            </a:extLst>
          </p:cNvPr>
          <p:cNvSpPr txBox="1">
            <a:spLocks noGrp="1"/>
          </p:cNvSpPr>
          <p:nvPr>
            <p:ph type="body" idx="1"/>
          </p:nvPr>
        </p:nvSpPr>
        <p:spPr>
          <a:xfrm>
            <a:off x="311700" y="1225225"/>
            <a:ext cx="3999900" cy="3602350"/>
          </a:xfrm>
          <a:prstGeom prst="rect">
            <a:avLst/>
          </a:prstGeom>
          <a:noFill/>
          <a:ln>
            <a:noFill/>
          </a:ln>
        </p:spPr>
        <p:txBody>
          <a:bodyPr spcFirstLastPara="1" wrap="square" lIns="91425" tIns="91425" rIns="91425" bIns="91425" anchor="t" anchorCtr="0">
            <a:noAutofit/>
          </a:bodyPr>
          <a:lstStyle/>
          <a:p>
            <a:pPr marL="0" indent="0">
              <a:buSzPts val="1100"/>
              <a:buNone/>
            </a:pPr>
            <a:r>
              <a:rPr lang="en-SG" dirty="0" err="1">
                <a:latin typeface="Open Sans" panose="020B0606030504020204" pitchFamily="34" charset="0"/>
                <a:ea typeface="Open Sans" panose="020B0606030504020204" pitchFamily="34" charset="0"/>
                <a:cs typeface="Open Sans" panose="020B0606030504020204" pitchFamily="34" charset="0"/>
              </a:rPr>
              <a:t>localStorage</a:t>
            </a:r>
            <a:r>
              <a:rPr lang="en-SG" dirty="0">
                <a:ea typeface="Open Sans" panose="020B0606030504020204" pitchFamily="34" charset="0"/>
                <a:cs typeface="Open Sans" panose="020B0606030504020204" pitchFamily="34" charset="0"/>
              </a:rPr>
              <a:t> only supports “string”. If you wish to save an object or an array, use </a:t>
            </a:r>
            <a:r>
              <a:rPr lang="en-SG" dirty="0" err="1">
                <a:latin typeface="Open Sans" panose="020B0606030504020204" pitchFamily="34" charset="0"/>
                <a:ea typeface="Open Sans" panose="020B0606030504020204" pitchFamily="34" charset="0"/>
                <a:cs typeface="Open Sans" panose="020B0606030504020204" pitchFamily="34" charset="0"/>
              </a:rPr>
              <a:t>JSON.stringify</a:t>
            </a:r>
            <a:r>
              <a:rPr lang="en-SG" dirty="0">
                <a:latin typeface="Open Sans" panose="020B0606030504020204" pitchFamily="34" charset="0"/>
                <a:ea typeface="Open Sans" panose="020B0606030504020204" pitchFamily="34" charset="0"/>
                <a:cs typeface="Open Sans" panose="020B0606030504020204" pitchFamily="34" charset="0"/>
              </a:rPr>
              <a:t> </a:t>
            </a:r>
            <a:r>
              <a:rPr lang="en-SG" dirty="0">
                <a:ea typeface="Open Sans" panose="020B0606030504020204" pitchFamily="34" charset="0"/>
                <a:cs typeface="Open Sans" panose="020B0606030504020204" pitchFamily="34" charset="0"/>
              </a:rPr>
              <a:t>and </a:t>
            </a:r>
            <a:r>
              <a:rPr lang="en-SG" dirty="0" err="1">
                <a:latin typeface="Open Sans" panose="020B0606030504020204" pitchFamily="34" charset="0"/>
                <a:ea typeface="Open Sans" panose="020B0606030504020204" pitchFamily="34" charset="0"/>
                <a:cs typeface="Open Sans" panose="020B0606030504020204" pitchFamily="34" charset="0"/>
              </a:rPr>
              <a:t>JSON.parse</a:t>
            </a:r>
            <a:r>
              <a:rPr lang="en-SG" dirty="0">
                <a:latin typeface="Open Sans" panose="020B0606030504020204" pitchFamily="34" charset="0"/>
                <a:ea typeface="Open Sans" panose="020B0606030504020204" pitchFamily="34" charset="0"/>
                <a:cs typeface="Open Sans" panose="020B0606030504020204" pitchFamily="34" charset="0"/>
              </a:rPr>
              <a:t> </a:t>
            </a:r>
            <a:r>
              <a:rPr lang="en-SG" dirty="0">
                <a:ea typeface="Open Sans" panose="020B0606030504020204" pitchFamily="34" charset="0"/>
                <a:cs typeface="Open Sans" panose="020B0606030504020204" pitchFamily="34" charset="0"/>
              </a:rPr>
              <a:t>to serialize and deserialize object/array</a:t>
            </a:r>
          </a:p>
          <a:p>
            <a:pPr marL="0" indent="0">
              <a:buSzPts val="1100"/>
              <a:buNone/>
            </a:pPr>
            <a:endParaRPr lang="en-SG" dirty="0">
              <a:ea typeface="Open Sans" panose="020B0606030504020204" pitchFamily="34" charset="0"/>
              <a:cs typeface="Open Sans" panose="020B0606030504020204" pitchFamily="34" charset="0"/>
            </a:endParaRPr>
          </a:p>
          <a:p>
            <a:pPr marL="0" indent="0">
              <a:buSzPts val="1100"/>
              <a:buNone/>
            </a:pPr>
            <a:r>
              <a:rPr lang="en-US" dirty="0">
                <a:ea typeface="Open Sans" panose="020B0606030504020204" pitchFamily="34" charset="0"/>
                <a:cs typeface="Open Sans" panose="020B0606030504020204" pitchFamily="34" charset="0"/>
              </a:rPr>
              <a:t>Serialization is the process of converting object/array into a standardized, portable format (like text) so it can be stored or transmitted. Deserialization is the exact reverse process.</a:t>
            </a:r>
            <a:endParaRPr lang="en-SG" dirty="0">
              <a:ea typeface="Open Sans" panose="020B0606030504020204" pitchFamily="34" charset="0"/>
              <a:cs typeface="Open Sans" panose="020B0606030504020204" pitchFamily="34" charset="0"/>
            </a:endParaRPr>
          </a:p>
        </p:txBody>
      </p:sp>
      <p:sp>
        <p:nvSpPr>
          <p:cNvPr id="116" name="Google Shape;116;p8">
            <a:extLst>
              <a:ext uri="{FF2B5EF4-FFF2-40B4-BE49-F238E27FC236}">
                <a16:creationId xmlns:a16="http://schemas.microsoft.com/office/drawing/2014/main" id="{89570B1A-2996-11E5-BD1D-92A75AB6A886}"/>
              </a:ext>
            </a:extLst>
          </p:cNvPr>
          <p:cNvSpPr txBox="1">
            <a:spLocks noGrp="1"/>
          </p:cNvSpPr>
          <p:nvPr>
            <p:ph type="body" idx="2"/>
          </p:nvPr>
        </p:nvSpPr>
        <p:spPr>
          <a:xfrm>
            <a:off x="4500574" y="1225225"/>
            <a:ext cx="4520595" cy="3782204"/>
          </a:xfrm>
          <a:prstGeom prst="rect">
            <a:avLst/>
          </a:prstGeom>
          <a:noFill/>
          <a:ln>
            <a:noFill/>
          </a:ln>
        </p:spPr>
        <p:txBody>
          <a:bodyPr spcFirstLastPara="1" wrap="square" lIns="91425" tIns="91425" rIns="91425" bIns="91425" anchor="t" anchorCtr="0">
            <a:noAutofit/>
          </a:bodyPr>
          <a:lstStyle/>
          <a:p>
            <a:pPr marL="0" indent="0">
              <a:buSzPts val="1100"/>
              <a:buNone/>
            </a:pPr>
            <a:r>
              <a:rPr lang="en-SG" b="1" dirty="0">
                <a:latin typeface="+mn-lt"/>
                <a:ea typeface="Open Sans" panose="020B0606030504020204" pitchFamily="34" charset="0"/>
                <a:cs typeface="Open Sans" panose="020B0606030504020204" pitchFamily="34" charset="0"/>
              </a:rPr>
              <a:t>Example</a:t>
            </a:r>
          </a:p>
          <a:p>
            <a:pPr marL="0" indent="0">
              <a:buSzPts val="1100"/>
              <a:buNone/>
            </a:pPr>
            <a:endParaRPr lang="en-SG" b="1" dirty="0">
              <a:latin typeface="+mn-lt"/>
              <a:ea typeface="Open Sans" panose="020B0606030504020204" pitchFamily="34" charset="0"/>
              <a:cs typeface="Open Sans" panose="020B0606030504020204" pitchFamily="34" charset="0"/>
            </a:endParaRPr>
          </a:p>
          <a:p>
            <a:pPr marL="0" indent="0">
              <a:buSzPts val="1100"/>
              <a:buNone/>
            </a:pPr>
            <a:r>
              <a:rPr lang="en-SG" b="1" dirty="0" err="1">
                <a:latin typeface="+mn-lt"/>
                <a:ea typeface="Open Sans" panose="020B0606030504020204" pitchFamily="34" charset="0"/>
                <a:cs typeface="Open Sans" panose="020B0606030504020204" pitchFamily="34" charset="0"/>
              </a:rPr>
              <a:t>const</a:t>
            </a:r>
            <a:r>
              <a:rPr lang="en-SG" b="1" dirty="0">
                <a:latin typeface="+mn-lt"/>
                <a:ea typeface="Open Sans" panose="020B0606030504020204" pitchFamily="34" charset="0"/>
                <a:cs typeface="Open Sans" panose="020B0606030504020204" pitchFamily="34" charset="0"/>
              </a:rPr>
              <a:t> </a:t>
            </a:r>
            <a:r>
              <a:rPr lang="en-SG" b="1" dirty="0" err="1">
                <a:latin typeface="+mn-lt"/>
                <a:ea typeface="Open Sans" panose="020B0606030504020204" pitchFamily="34" charset="0"/>
                <a:cs typeface="Open Sans" panose="020B0606030504020204" pitchFamily="34" charset="0"/>
              </a:rPr>
              <a:t>obj</a:t>
            </a:r>
            <a:r>
              <a:rPr lang="en-SG" b="1" dirty="0">
                <a:latin typeface="+mn-lt"/>
                <a:ea typeface="Open Sans" panose="020B0606030504020204" pitchFamily="34" charset="0"/>
                <a:cs typeface="Open Sans" panose="020B0606030504020204" pitchFamily="34" charset="0"/>
              </a:rPr>
              <a:t> = { name: “Jack” }</a:t>
            </a:r>
          </a:p>
          <a:p>
            <a:pPr marL="0" indent="0">
              <a:buSzPts val="1100"/>
              <a:buNone/>
            </a:pPr>
            <a:r>
              <a:rPr lang="en-SG" dirty="0">
                <a:latin typeface="Open Sans" panose="020B0606030504020204" pitchFamily="34" charset="0"/>
                <a:ea typeface="Open Sans" panose="020B0606030504020204" pitchFamily="34" charset="0"/>
                <a:cs typeface="Open Sans" panose="020B0606030504020204" pitchFamily="34" charset="0"/>
              </a:rPr>
              <a:t>// save data</a:t>
            </a:r>
          </a:p>
          <a:p>
            <a:pPr marL="0" indent="0">
              <a:buSzPts val="1100"/>
              <a:buNone/>
            </a:pPr>
            <a:r>
              <a:rPr lang="en-SG" dirty="0" err="1">
                <a:latin typeface="Open Sans" panose="020B0606030504020204" pitchFamily="34" charset="0"/>
                <a:ea typeface="Open Sans" panose="020B0606030504020204" pitchFamily="34" charset="0"/>
                <a:cs typeface="Open Sans" panose="020B0606030504020204" pitchFamily="34" charset="0"/>
              </a:rPr>
              <a:t>localStorage.setItem</a:t>
            </a:r>
            <a:r>
              <a:rPr lang="en-SG" dirty="0">
                <a:latin typeface="Open Sans" panose="020B0606030504020204" pitchFamily="34" charset="0"/>
                <a:ea typeface="Open Sans" panose="020B0606030504020204" pitchFamily="34" charset="0"/>
                <a:cs typeface="Open Sans" panose="020B0606030504020204" pitchFamily="34" charset="0"/>
              </a:rPr>
              <a:t>( key, </a:t>
            </a:r>
            <a:r>
              <a:rPr lang="en-SG" b="1" dirty="0" err="1">
                <a:latin typeface="Open Sans" panose="020B0606030504020204" pitchFamily="34" charset="0"/>
                <a:ea typeface="Open Sans" panose="020B0606030504020204" pitchFamily="34" charset="0"/>
                <a:cs typeface="Open Sans" panose="020B0606030504020204" pitchFamily="34" charset="0"/>
              </a:rPr>
              <a:t>JSON.stringify</a:t>
            </a:r>
            <a:r>
              <a:rPr lang="en-SG" b="1" dirty="0">
                <a:latin typeface="Open Sans" panose="020B0606030504020204" pitchFamily="34" charset="0"/>
                <a:ea typeface="Open Sans" panose="020B0606030504020204" pitchFamily="34" charset="0"/>
                <a:cs typeface="Open Sans" panose="020B0606030504020204" pitchFamily="34" charset="0"/>
              </a:rPr>
              <a:t>(</a:t>
            </a:r>
            <a:r>
              <a:rPr lang="en-SG" b="1" dirty="0" err="1">
                <a:latin typeface="Open Sans" panose="020B0606030504020204" pitchFamily="34" charset="0"/>
                <a:ea typeface="Open Sans" panose="020B0606030504020204" pitchFamily="34" charset="0"/>
                <a:cs typeface="Open Sans" panose="020B0606030504020204" pitchFamily="34" charset="0"/>
              </a:rPr>
              <a:t>obj</a:t>
            </a:r>
            <a:r>
              <a:rPr lang="en-SG" b="1" dirty="0">
                <a:latin typeface="Open Sans" panose="020B0606030504020204" pitchFamily="34" charset="0"/>
                <a:ea typeface="Open Sans" panose="020B0606030504020204" pitchFamily="34" charset="0"/>
                <a:cs typeface="Open Sans" panose="020B0606030504020204" pitchFamily="34" charset="0"/>
              </a:rPr>
              <a:t>) </a:t>
            </a:r>
            <a:r>
              <a:rPr lang="en-SG" dirty="0">
                <a:latin typeface="Open Sans" panose="020B0606030504020204" pitchFamily="34" charset="0"/>
                <a:ea typeface="Open Sans" panose="020B0606030504020204" pitchFamily="34" charset="0"/>
                <a:cs typeface="Open Sans" panose="020B0606030504020204" pitchFamily="34" charset="0"/>
              </a:rPr>
              <a:t>)</a:t>
            </a:r>
          </a:p>
          <a:p>
            <a:pPr marL="0" indent="0">
              <a:buSzPts val="1100"/>
              <a:buNone/>
            </a:pPr>
            <a:endParaRPr lang="en-SG" dirty="0">
              <a:latin typeface="Open Sans" panose="020B0606030504020204" pitchFamily="34" charset="0"/>
              <a:ea typeface="Open Sans" panose="020B0606030504020204" pitchFamily="34" charset="0"/>
              <a:cs typeface="Open Sans" panose="020B0606030504020204" pitchFamily="34" charset="0"/>
            </a:endParaRPr>
          </a:p>
          <a:p>
            <a:pPr marL="0" indent="0">
              <a:buSzPts val="1100"/>
              <a:buNone/>
            </a:pPr>
            <a:r>
              <a:rPr lang="en-SG" dirty="0">
                <a:latin typeface="Open Sans" panose="020B0606030504020204" pitchFamily="34" charset="0"/>
                <a:ea typeface="Open Sans" panose="020B0606030504020204" pitchFamily="34" charset="0"/>
                <a:cs typeface="Open Sans" panose="020B0606030504020204" pitchFamily="34" charset="0"/>
              </a:rPr>
              <a:t>// load data</a:t>
            </a:r>
          </a:p>
          <a:p>
            <a:pPr marL="0" indent="0">
              <a:buSzPts val="1100"/>
              <a:buNone/>
            </a:pPr>
            <a:r>
              <a:rPr lang="en-SG" dirty="0" err="1">
                <a:latin typeface="Open Sans" panose="020B0606030504020204" pitchFamily="34" charset="0"/>
                <a:ea typeface="Open Sans" panose="020B0606030504020204" pitchFamily="34" charset="0"/>
                <a:cs typeface="Open Sans" panose="020B0606030504020204" pitchFamily="34" charset="0"/>
              </a:rPr>
              <a:t>const</a:t>
            </a:r>
            <a:r>
              <a:rPr lang="en-SG" dirty="0">
                <a:latin typeface="Open Sans" panose="020B0606030504020204" pitchFamily="34" charset="0"/>
                <a:ea typeface="Open Sans" panose="020B0606030504020204" pitchFamily="34" charset="0"/>
                <a:cs typeface="Open Sans" panose="020B0606030504020204" pitchFamily="34" charset="0"/>
              </a:rPr>
              <a:t> data = </a:t>
            </a:r>
            <a:r>
              <a:rPr lang="en-SG" b="1" dirty="0" err="1">
                <a:latin typeface="Open Sans" panose="020B0606030504020204" pitchFamily="34" charset="0"/>
                <a:ea typeface="Open Sans" panose="020B0606030504020204" pitchFamily="34" charset="0"/>
                <a:cs typeface="Open Sans" panose="020B0606030504020204" pitchFamily="34" charset="0"/>
              </a:rPr>
              <a:t>JSON.parse</a:t>
            </a:r>
            <a:r>
              <a:rPr lang="en-SG" dirty="0">
                <a:latin typeface="Open Sans" panose="020B0606030504020204" pitchFamily="34" charset="0"/>
                <a:ea typeface="Open Sans" panose="020B0606030504020204" pitchFamily="34" charset="0"/>
                <a:cs typeface="Open Sans" panose="020B0606030504020204" pitchFamily="34" charset="0"/>
              </a:rPr>
              <a:t>( </a:t>
            </a:r>
            <a:r>
              <a:rPr lang="en-SG" dirty="0" err="1">
                <a:latin typeface="Open Sans" panose="020B0606030504020204" pitchFamily="34" charset="0"/>
                <a:ea typeface="Open Sans" panose="020B0606030504020204" pitchFamily="34" charset="0"/>
                <a:cs typeface="Open Sans" panose="020B0606030504020204" pitchFamily="34" charset="0"/>
              </a:rPr>
              <a:t>localStorage.getItem</a:t>
            </a:r>
            <a:r>
              <a:rPr lang="en-SG" dirty="0">
                <a:latin typeface="Open Sans" panose="020B0606030504020204" pitchFamily="34" charset="0"/>
                <a:ea typeface="Open Sans" panose="020B0606030504020204" pitchFamily="34" charset="0"/>
                <a:cs typeface="Open Sans" panose="020B0606030504020204" pitchFamily="34" charset="0"/>
              </a:rPr>
              <a:t>(key) )</a:t>
            </a:r>
            <a:endParaRPr lang="en-US"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2744201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64">
          <a:extLst>
            <a:ext uri="{FF2B5EF4-FFF2-40B4-BE49-F238E27FC236}">
              <a16:creationId xmlns:a16="http://schemas.microsoft.com/office/drawing/2014/main" id="{52B00658-18C5-89EB-A164-12C492DC1713}"/>
            </a:ext>
          </a:extLst>
        </p:cNvPr>
        <p:cNvGrpSpPr/>
        <p:nvPr/>
      </p:nvGrpSpPr>
      <p:grpSpPr>
        <a:xfrm>
          <a:off x="0" y="0"/>
          <a:ext cx="0" cy="0"/>
          <a:chOff x="0" y="0"/>
          <a:chExt cx="0" cy="0"/>
        </a:xfrm>
      </p:grpSpPr>
      <p:sp>
        <p:nvSpPr>
          <p:cNvPr id="165" name="Google Shape;165;p15">
            <a:extLst>
              <a:ext uri="{FF2B5EF4-FFF2-40B4-BE49-F238E27FC236}">
                <a16:creationId xmlns:a16="http://schemas.microsoft.com/office/drawing/2014/main" id="{DC8A7612-F1A8-25DD-4C1E-60CAADA6F2E7}"/>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dirty="0"/>
              <a:t>Exercise 5</a:t>
            </a:r>
            <a:endParaRPr dirty="0"/>
          </a:p>
        </p:txBody>
      </p:sp>
      <p:sp>
        <p:nvSpPr>
          <p:cNvPr id="166" name="Google Shape;166;p15">
            <a:extLst>
              <a:ext uri="{FF2B5EF4-FFF2-40B4-BE49-F238E27FC236}">
                <a16:creationId xmlns:a16="http://schemas.microsoft.com/office/drawing/2014/main" id="{EC4DA9B8-B0D9-6A6D-B2E0-0CAB94FB1A12}"/>
              </a:ext>
            </a:extLst>
          </p:cNvPr>
          <p:cNvSpPr txBox="1">
            <a:spLocks noGrp="1"/>
          </p:cNvSpPr>
          <p:nvPr>
            <p:ph type="body" idx="1"/>
          </p:nvPr>
        </p:nvSpPr>
        <p:spPr>
          <a:xfrm>
            <a:off x="311700" y="1225225"/>
            <a:ext cx="3999900" cy="371825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1600"/>
              </a:spcBef>
              <a:spcAft>
                <a:spcPts val="0"/>
              </a:spcAft>
              <a:buSzPts val="1400"/>
              <a:buNone/>
            </a:pPr>
            <a:r>
              <a:rPr lang="en" dirty="0"/>
              <a:t>Add/modify code in Ex5View.vue and SettingPanel.vue to persist an object { theme, fontSize } in localStorage using event handlers.</a:t>
            </a:r>
          </a:p>
          <a:p>
            <a:pPr marL="0" marR="0" lvl="0" indent="0" algn="l" rtl="0">
              <a:lnSpc>
                <a:spcPct val="115000"/>
              </a:lnSpc>
              <a:spcBef>
                <a:spcPts val="1600"/>
              </a:spcBef>
              <a:spcAft>
                <a:spcPts val="0"/>
              </a:spcAft>
              <a:buSzPts val="1400"/>
              <a:buNone/>
            </a:pPr>
            <a:r>
              <a:rPr lang="en" dirty="0"/>
              <a:t>Requirements:</a:t>
            </a:r>
          </a:p>
          <a:p>
            <a:pPr marL="285750" indent="-285750">
              <a:spcBef>
                <a:spcPts val="1600"/>
              </a:spcBef>
            </a:pPr>
            <a:r>
              <a:rPr lang="en-SG" dirty="0"/>
              <a:t>S</a:t>
            </a:r>
            <a:r>
              <a:rPr lang="en" dirty="0"/>
              <a:t>ave settings whenever the user changes:</a:t>
            </a:r>
          </a:p>
          <a:p>
            <a:pPr marL="742950" lvl="1" indent="-285750">
              <a:spcBef>
                <a:spcPts val="0"/>
              </a:spcBef>
            </a:pPr>
            <a:r>
              <a:rPr lang="en" sz="1400" dirty="0"/>
              <a:t>Theme dropdown (@change)</a:t>
            </a:r>
          </a:p>
          <a:p>
            <a:pPr marL="742950" lvl="1" indent="-285750">
              <a:spcBef>
                <a:spcPts val="0"/>
              </a:spcBef>
            </a:pPr>
            <a:r>
              <a:rPr lang="en" sz="1400" dirty="0"/>
              <a:t>Font size input (@input or @change)</a:t>
            </a:r>
          </a:p>
          <a:p>
            <a:pPr marL="285750" indent="-285750"/>
            <a:r>
              <a:rPr lang="en" dirty="0"/>
              <a:t>Load settings on startup using onMounted</a:t>
            </a:r>
          </a:p>
          <a:p>
            <a:pPr marL="285750" indent="-285750"/>
            <a:r>
              <a:rPr lang="en" dirty="0"/>
              <a:t>Reset clears both UI state and localStorage</a:t>
            </a:r>
            <a:endParaRPr dirty="0"/>
          </a:p>
        </p:txBody>
      </p:sp>
      <p:pic>
        <p:nvPicPr>
          <p:cNvPr id="3" name="Picture 2">
            <a:extLst>
              <a:ext uri="{FF2B5EF4-FFF2-40B4-BE49-F238E27FC236}">
                <a16:creationId xmlns:a16="http://schemas.microsoft.com/office/drawing/2014/main" id="{36FC1B23-8214-4DCA-4D22-7989CE030B42}"/>
              </a:ext>
            </a:extLst>
          </p:cNvPr>
          <p:cNvPicPr>
            <a:picLocks noChangeAspect="1"/>
          </p:cNvPicPr>
          <p:nvPr/>
        </p:nvPicPr>
        <p:blipFill>
          <a:blip r:embed="rId3"/>
          <a:stretch>
            <a:fillRect/>
          </a:stretch>
        </p:blipFill>
        <p:spPr>
          <a:xfrm>
            <a:off x="4752275" y="2176551"/>
            <a:ext cx="4160636" cy="1201710"/>
          </a:xfrm>
          <a:prstGeom prst="rect">
            <a:avLst/>
          </a:prstGeom>
        </p:spPr>
      </p:pic>
    </p:spTree>
    <p:extLst>
      <p:ext uri="{BB962C8B-B14F-4D97-AF65-F5344CB8AC3E}">
        <p14:creationId xmlns:p14="http://schemas.microsoft.com/office/powerpoint/2010/main" val="42507244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6"/>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Take Away Message</a:t>
            </a:r>
            <a:endParaRPr/>
          </a:p>
        </p:txBody>
      </p:sp>
      <p:sp>
        <p:nvSpPr>
          <p:cNvPr id="173" name="Google Shape;173;p16"/>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buSzPts val="1800"/>
              <a:buNone/>
            </a:pPr>
            <a:r>
              <a:rPr lang="en" dirty="0"/>
              <a:t>Define reusable templates as components. </a:t>
            </a:r>
            <a:endParaRPr dirty="0"/>
          </a:p>
          <a:p>
            <a:pPr marL="0" lvl="0" indent="0" algn="l" rtl="0">
              <a:lnSpc>
                <a:spcPct val="115000"/>
              </a:lnSpc>
              <a:buSzPts val="1800"/>
              <a:buNone/>
            </a:pPr>
            <a:endParaRPr lang="en" dirty="0"/>
          </a:p>
          <a:p>
            <a:pPr marL="0" lvl="0" indent="0" algn="l" rtl="0">
              <a:lnSpc>
                <a:spcPct val="115000"/>
              </a:lnSpc>
              <a:buSzPts val="1800"/>
              <a:buNone/>
            </a:pPr>
            <a:r>
              <a:rPr lang="en" dirty="0"/>
              <a:t>Use props, slots to pass data to </a:t>
            </a:r>
            <a:r>
              <a:rPr lang="en" dirty="0">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components</a:t>
            </a:r>
            <a:r>
              <a:rPr lang="en" dirty="0"/>
              <a:t>.</a:t>
            </a:r>
          </a:p>
          <a:p>
            <a:pPr marL="0" lvl="0" indent="0" algn="l" rtl="0">
              <a:lnSpc>
                <a:spcPct val="115000"/>
              </a:lnSpc>
              <a:buSzPts val="1800"/>
              <a:buNone/>
            </a:pPr>
            <a:endParaRPr lang="en" dirty="0"/>
          </a:p>
          <a:p>
            <a:pPr marL="0" lvl="0" indent="0" algn="l" rtl="0">
              <a:lnSpc>
                <a:spcPct val="115000"/>
              </a:lnSpc>
              <a:buSzPts val="1800"/>
              <a:buNone/>
            </a:pPr>
            <a:r>
              <a:rPr lang="en" dirty="0"/>
              <a:t>Use $emit and custom events, with argument, to pass data from component back to its parents.</a:t>
            </a:r>
          </a:p>
          <a:p>
            <a:pPr marL="0" lvl="0" indent="0" algn="l" rtl="0">
              <a:lnSpc>
                <a:spcPct val="115000"/>
              </a:lnSpc>
              <a:buSzPts val="1800"/>
              <a:buNone/>
            </a:pPr>
            <a:endParaRPr lang="en" dirty="0"/>
          </a:p>
          <a:p>
            <a:pPr marL="0" lvl="0" indent="0" algn="l" rtl="0">
              <a:lnSpc>
                <a:spcPct val="115000"/>
              </a:lnSpc>
              <a:buSzPts val="1800"/>
              <a:buNone/>
            </a:pPr>
            <a:r>
              <a:rPr lang="en" dirty="0"/>
              <a:t>Use localStorage mechanism provided by Modern browsers to persist (non-sensitive) data such as user preferences</a:t>
            </a:r>
          </a:p>
        </p:txBody>
      </p:sp>
    </p:spTree>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6951d41b-6b8e-4636-984f-012bff14ba18}" enabled="1" method="Privileged" siteId="{c98a79ca-5a9a-4791-a243-f06afd67464d}" removed="0"/>
</clbl:labelList>
</file>

<file path=docProps/app.xml><?xml version="1.0" encoding="utf-8"?>
<Properties xmlns="http://schemas.openxmlformats.org/officeDocument/2006/extended-properties" xmlns:vt="http://schemas.openxmlformats.org/officeDocument/2006/docPropsVTypes">
  <TotalTime>21614</TotalTime>
  <Words>3533</Words>
  <Application>Microsoft Macintosh PowerPoint</Application>
  <PresentationFormat>On-screen Show (16:9)</PresentationFormat>
  <Paragraphs>513</Paragraphs>
  <Slides>35</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Calibri</vt:lpstr>
      <vt:lpstr>Inter var experimental</vt:lpstr>
      <vt:lpstr>Menlo</vt:lpstr>
      <vt:lpstr>Open Sans</vt:lpstr>
      <vt:lpstr>Luxe</vt:lpstr>
      <vt:lpstr>Web Application Development II</vt:lpstr>
      <vt:lpstr>Agenda</vt:lpstr>
      <vt:lpstr>Components</vt:lpstr>
      <vt:lpstr>Naming Convention</vt:lpstr>
      <vt:lpstr>Defining a Component</vt:lpstr>
      <vt:lpstr>Using a Component</vt:lpstr>
      <vt:lpstr>src/components/ vs src/views/</vt:lpstr>
      <vt:lpstr>Template</vt:lpstr>
      <vt:lpstr>Passing Props (1)</vt:lpstr>
      <vt:lpstr>Passing Props (2)</vt:lpstr>
      <vt:lpstr>Passing Props (3)</vt:lpstr>
      <vt:lpstr>Passing Props (4)</vt:lpstr>
      <vt:lpstr>Accessing Props </vt:lpstr>
      <vt:lpstr>Exercise 1</vt:lpstr>
      <vt:lpstr>Dynamic Properties (1)</vt:lpstr>
      <vt:lpstr>Dynamic Properties (2)</vt:lpstr>
      <vt:lpstr>Passing Content via Slot</vt:lpstr>
      <vt:lpstr>(Week5) Running example: A Blog Service (1)</vt:lpstr>
      <vt:lpstr>(Week5) Running example: A Blog Service (2)</vt:lpstr>
      <vt:lpstr>Exercise 2</vt:lpstr>
      <vt:lpstr>Exercise 3</vt:lpstr>
      <vt:lpstr>Emitting Events (1)</vt:lpstr>
      <vt:lpstr>Emitting Events (2)</vt:lpstr>
      <vt:lpstr>Emitting Events (3)</vt:lpstr>
      <vt:lpstr>Listening to Events (1)</vt:lpstr>
      <vt:lpstr>Event Arguments (1)</vt:lpstr>
      <vt:lpstr>Event Arguments (2)</vt:lpstr>
      <vt:lpstr>Listening to Events (2)</vt:lpstr>
      <vt:lpstr>Exercise 4</vt:lpstr>
      <vt:lpstr>Global Registration</vt:lpstr>
      <vt:lpstr>Persisting Data with Local Storage (1)</vt:lpstr>
      <vt:lpstr>Persisting Data with Local Storage (2)</vt:lpstr>
      <vt:lpstr>Persisting Data with Local Storage (3)</vt:lpstr>
      <vt:lpstr>Exercise 5</vt:lpstr>
      <vt:lpstr>Take Away Message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Application Development II</dc:title>
  <cp:lastModifiedBy>SHAR Lwin Khin</cp:lastModifiedBy>
  <cp:revision>49</cp:revision>
  <dcterms:modified xsi:type="dcterms:W3CDTF">2026-08-13T06:54:55Z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951d41b-6b8e-4636-984f-012bff14ba18_Enabled">
    <vt:lpwstr>true</vt:lpwstr>
  </property>
  <property fmtid="{D5CDD505-2E9C-101B-9397-08002B2CF9AE}" pid="3" name="MSIP_Label_6951d41b-6b8e-4636-984f-012bff14ba18_SetDate">
    <vt:lpwstr>2022-06-26T07:07:13Z</vt:lpwstr>
  </property>
  <property fmtid="{D5CDD505-2E9C-101B-9397-08002B2CF9AE}" pid="4" name="MSIP_Label_6951d41b-6b8e-4636-984f-012bff14ba18_Method">
    <vt:lpwstr>Privileged</vt:lpwstr>
  </property>
  <property fmtid="{D5CDD505-2E9C-101B-9397-08002B2CF9AE}" pid="5" name="MSIP_Label_6951d41b-6b8e-4636-984f-012bff14ba18_Name">
    <vt:lpwstr>6951d41b-6b8e-4636-984f-012bff14ba18</vt:lpwstr>
  </property>
  <property fmtid="{D5CDD505-2E9C-101B-9397-08002B2CF9AE}" pid="6" name="MSIP_Label_6951d41b-6b8e-4636-984f-012bff14ba18_SiteId">
    <vt:lpwstr>c98a79ca-5a9a-4791-a243-f06afd67464d</vt:lpwstr>
  </property>
  <property fmtid="{D5CDD505-2E9C-101B-9397-08002B2CF9AE}" pid="7" name="MSIP_Label_6951d41b-6b8e-4636-984f-012bff14ba18_ActionId">
    <vt:lpwstr>82005998-7c00-4593-ae37-952e7d7056bd</vt:lpwstr>
  </property>
  <property fmtid="{D5CDD505-2E9C-101B-9397-08002B2CF9AE}" pid="8" name="MSIP_Label_6951d41b-6b8e-4636-984f-012bff14ba18_ContentBits">
    <vt:lpwstr>1</vt:lpwstr>
  </property>
  <property fmtid="{D5CDD505-2E9C-101B-9397-08002B2CF9AE}" pid="9" name="ClassificationContentMarkingHeaderLocations">
    <vt:lpwstr>Luxe:3</vt:lpwstr>
  </property>
  <property fmtid="{D5CDD505-2E9C-101B-9397-08002B2CF9AE}" pid="10" name="ClassificationContentMarkingHeaderText">
    <vt:lpwstr>SMU Classification: Restricted</vt:lpwstr>
  </property>
</Properties>
</file>